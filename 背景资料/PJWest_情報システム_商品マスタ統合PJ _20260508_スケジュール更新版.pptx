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7"/>
  </p:notesMasterIdLst>
  <p:sldIdLst>
    <p:sldId id="256" r:id="rId5"/>
    <p:sldId id="257" r:id="rId6"/>
    <p:sldId id="258" r:id="rId7"/>
    <p:sldId id="2147476302" r:id="rId8"/>
    <p:sldId id="2147476288" r:id="rId9"/>
    <p:sldId id="2147476299" r:id="rId10"/>
    <p:sldId id="2147476304" r:id="rId11"/>
    <p:sldId id="2147476301" r:id="rId12"/>
    <p:sldId id="2147476225" r:id="rId13"/>
    <p:sldId id="260" r:id="rId14"/>
    <p:sldId id="261" r:id="rId15"/>
    <p:sldId id="2147476307" r:id="rId16"/>
    <p:sldId id="262" r:id="rId17"/>
    <p:sldId id="2147476291" r:id="rId18"/>
    <p:sldId id="2147476290" r:id="rId19"/>
    <p:sldId id="2147476308" r:id="rId20"/>
    <p:sldId id="265" r:id="rId21"/>
    <p:sldId id="267" r:id="rId22"/>
    <p:sldId id="2147476287" r:id="rId23"/>
    <p:sldId id="2147476286" r:id="rId24"/>
    <p:sldId id="2147476272" r:id="rId25"/>
    <p:sldId id="268" r:id="rId26"/>
    <p:sldId id="269" r:id="rId27"/>
    <p:sldId id="270" r:id="rId28"/>
    <p:sldId id="271" r:id="rId29"/>
    <p:sldId id="2147476306" r:id="rId30"/>
    <p:sldId id="2147476228" r:id="rId31"/>
    <p:sldId id="2147476300" r:id="rId32"/>
    <p:sldId id="2147476260" r:id="rId33"/>
    <p:sldId id="2147476247" r:id="rId34"/>
    <p:sldId id="345" r:id="rId35"/>
    <p:sldId id="272" r:id="rId3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9A7C06EC-35CA-4999-AE15-400CC7ED03A2}">
          <p14:sldIdLst>
            <p14:sldId id="256"/>
            <p14:sldId id="257"/>
          </p14:sldIdLst>
        </p14:section>
        <p14:section name="1. 背景・目的・ゴール" id="{141E471E-C1B5-492A-A13F-C7103F1B9E66}">
          <p14:sldIdLst>
            <p14:sldId id="258"/>
          </p14:sldIdLst>
        </p14:section>
        <p14:section name="2. 概要・アプローチ" id="{9B642111-DB92-4379-A38E-F93A5B75D5DE}">
          <p14:sldIdLst>
            <p14:sldId id="2147476302"/>
            <p14:sldId id="2147476288"/>
            <p14:sldId id="2147476299"/>
            <p14:sldId id="2147476304"/>
            <p14:sldId id="2147476301"/>
            <p14:sldId id="2147476225"/>
          </p14:sldIdLst>
        </p14:section>
        <p14:section name="3. スコープ" id="{EE015522-B417-4F44-9DBA-4D9FA037A8DE}">
          <p14:sldIdLst>
            <p14:sldId id="260"/>
          </p14:sldIdLst>
        </p14:section>
        <p14:section name="4. スケジュール" id="{E0D56DA6-EAC3-492B-BE2E-08A44583F75E}">
          <p14:sldIdLst>
            <p14:sldId id="261"/>
            <p14:sldId id="2147476307"/>
          </p14:sldIdLst>
        </p14:section>
        <p14:section name="5. コスト" id="{74EE4FDE-8806-4AA5-8753-47E366CB87A4}">
          <p14:sldIdLst>
            <p14:sldId id="262"/>
          </p14:sldIdLst>
        </p14:section>
        <p14:section name="6. 体制・役割" id="{DB1F5675-7CFB-4942-B114-3A48892A2879}">
          <p14:sldIdLst>
            <p14:sldId id="2147476291"/>
            <p14:sldId id="2147476290"/>
          </p14:sldIdLst>
        </p14:section>
        <p14:section name="7. 会議体" id="{40834AF2-0366-46F2-90EB-9A4E16DB0746}">
          <p14:sldIdLst>
            <p14:sldId id="2147476308"/>
          </p14:sldIdLst>
        </p14:section>
        <p14:section name="8. 課題・リスク" id="{D9515300-6DC5-4763-AD5A-E79F12FCE587}">
          <p14:sldIdLst>
            <p14:sldId id="265"/>
            <p14:sldId id="267"/>
            <p14:sldId id="2147476287"/>
            <p14:sldId id="2147476286"/>
            <p14:sldId id="2147476272"/>
            <p14:sldId id="268"/>
            <p14:sldId id="269"/>
            <p14:sldId id="270"/>
            <p14:sldId id="271"/>
            <p14:sldId id="2147476306"/>
            <p14:sldId id="2147476228"/>
            <p14:sldId id="2147476300"/>
            <p14:sldId id="2147476260"/>
            <p14:sldId id="2147476247"/>
            <p14:sldId id="345"/>
            <p14:sldId id="272"/>
          </p14:sldIdLst>
        </p14:section>
      </p14:sectionLst>
    </p:ext>
    <p:ext uri="{EFAFB233-063F-42B5-8137-9DF3F51BA10A}">
      <p15:sldGuideLst xmlns:p15="http://schemas.microsoft.com/office/powerpoint/2012/main">
        <p15:guide id="1" pos="3840">
          <p15:clr>
            <a:srgbClr val="A4A3A4"/>
          </p15:clr>
        </p15:guide>
        <p15:guide id="2" orient="horz" pos="754">
          <p15:clr>
            <a:srgbClr val="A4A3A4"/>
          </p15:clr>
        </p15:guide>
        <p15:guide id="3" pos="7287">
          <p15:clr>
            <a:srgbClr val="A4A3A4"/>
          </p15:clr>
        </p15:guide>
        <p15:guide id="4" orient="horz" pos="2319">
          <p15:clr>
            <a:srgbClr val="A4A3A4"/>
          </p15:clr>
        </p15:guide>
        <p15:guide id="5" orient="horz" pos="3929">
          <p15:clr>
            <a:srgbClr val="A4A3A4"/>
          </p15:clr>
        </p15:guide>
        <p15:guide id="6" pos="393">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8" roundtripDataSignature="AMtx7mi2PMtdP9/WAWq9XfiXBUndQufY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874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BE290C-12B3-8BE9-BC0B-DE7C5B3329D0}" v="1" dt="2026-06-01T05:55:52.469"/>
    <p1510:client id="{124E0774-6AB9-5A52-7A1A-0AE6BCEA1FF0}" v="1" dt="2026-06-02T04:03:46.702"/>
  </p1510:revLst>
</p1510:revInfo>
</file>

<file path=ppt/tableStyles.xml><?xml version="1.0" encoding="utf-8"?>
<a:tblStyleLst xmlns:a="http://schemas.openxmlformats.org/drawingml/2006/main" def="{16DD54E9-F15A-4EFF-A1D8-E2CBB5DF2B52}">
  <a:tblStyle styleId="{16DD54E9-F15A-4EFF-A1D8-E2CBB5DF2B5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6" d="100"/>
          <a:sy n="96" d="100"/>
        </p:scale>
        <p:origin x="1050" y="312"/>
      </p:cViewPr>
      <p:guideLst>
        <p:guide pos="3840"/>
        <p:guide orient="horz" pos="754"/>
        <p:guide pos="7287"/>
        <p:guide orient="horz" pos="2319"/>
        <p:guide orient="horz" pos="3929"/>
        <p:guide pos="39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customschemas.google.com/relationships/presentationmetadata" Target="meta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AKI, Shota (佐々木 将太)" userId="S::1206304@seiyu.com::5195836b-93f6-4494-94e8-35ea55a1458e" providerId="AD" clId="Web-{6223541C-1020-5298-D470-A01422DCB290}"/>
    <pc:docChg chg="modSld">
      <pc:chgData name="SASAKI, Shota (佐々木 将太)" userId="S::1206304@seiyu.com::5195836b-93f6-4494-94e8-35ea55a1458e" providerId="AD" clId="Web-{6223541C-1020-5298-D470-A01422DCB290}" dt="2026-05-12T00:43:29.856" v="6"/>
      <pc:docMkLst>
        <pc:docMk/>
      </pc:docMkLst>
      <pc:sldChg chg="delSp modSp">
        <pc:chgData name="SASAKI, Shota (佐々木 将太)" userId="S::1206304@seiyu.com::5195836b-93f6-4494-94e8-35ea55a1458e" providerId="AD" clId="Web-{6223541C-1020-5298-D470-A01422DCB290}" dt="2026-05-12T00:43:29.856" v="6"/>
        <pc:sldMkLst>
          <pc:docMk/>
          <pc:sldMk cId="411100707" sldId="2147476291"/>
        </pc:sldMkLst>
      </pc:sldChg>
    </pc:docChg>
  </pc:docChgLst>
  <pc:docChgLst>
    <pc:chgData name="SASAKI, Shota (佐々木 将太)" userId="S::1206304@seiyu.com::5195836b-93f6-4494-94e8-35ea55a1458e" providerId="AD" clId="Web-{124E0774-6AB9-5A52-7A1A-0AE6BCEA1FF0}"/>
    <pc:docChg chg="modSld">
      <pc:chgData name="SASAKI, Shota (佐々木 将太)" userId="S::1206304@seiyu.com::5195836b-93f6-4494-94e8-35ea55a1458e" providerId="AD" clId="Web-{124E0774-6AB9-5A52-7A1A-0AE6BCEA1FF0}" dt="2026-06-02T04:03:46.702" v="0" actId="1076"/>
      <pc:docMkLst>
        <pc:docMk/>
      </pc:docMkLst>
      <pc:sldChg chg="modSp">
        <pc:chgData name="SASAKI, Shota (佐々木 将太)" userId="S::1206304@seiyu.com::5195836b-93f6-4494-94e8-35ea55a1458e" providerId="AD" clId="Web-{124E0774-6AB9-5A52-7A1A-0AE6BCEA1FF0}" dt="2026-06-02T04:03:46.702" v="0" actId="1076"/>
        <pc:sldMkLst>
          <pc:docMk/>
          <pc:sldMk cId="0" sldId="261"/>
        </pc:sldMkLst>
        <pc:grpChg chg="mod">
          <ac:chgData name="SASAKI, Shota (佐々木 将太)" userId="S::1206304@seiyu.com::5195836b-93f6-4494-94e8-35ea55a1458e" providerId="AD" clId="Web-{124E0774-6AB9-5A52-7A1A-0AE6BCEA1FF0}" dt="2026-06-02T04:03:46.702" v="0" actId="1076"/>
          <ac:grpSpMkLst>
            <pc:docMk/>
            <pc:sldMk cId="0" sldId="261"/>
            <ac:grpSpMk id="121" creationId="{00000000-0000-0000-0000-000000000000}"/>
          </ac:grpSpMkLst>
        </pc:grpChg>
      </pc:sldChg>
    </pc:docChg>
  </pc:docChgLst>
  <pc:docChgLst>
    <pc:chgData name="SASAKI, Shota (佐々木 将太)" userId="S::1206304@seiyu.com::5195836b-93f6-4494-94e8-35ea55a1458e" providerId="AD" clId="Web-{3886851D-6BC1-2EF2-32BF-A3B17B3B8F5B}"/>
    <pc:docChg chg="modSld">
      <pc:chgData name="SASAKI, Shota (佐々木 将太)" userId="S::1206304@seiyu.com::5195836b-93f6-4494-94e8-35ea55a1458e" providerId="AD" clId="Web-{3886851D-6BC1-2EF2-32BF-A3B17B3B8F5B}" dt="2026-05-12T07:49:50.918" v="1"/>
      <pc:docMkLst>
        <pc:docMk/>
      </pc:docMkLst>
      <pc:sldChg chg="addSp delSp">
        <pc:chgData name="SASAKI, Shota (佐々木 将太)" userId="S::1206304@seiyu.com::5195836b-93f6-4494-94e8-35ea55a1458e" providerId="AD" clId="Web-{3886851D-6BC1-2EF2-32BF-A3B17B3B8F5B}" dt="2026-05-12T07:49:50.918" v="1"/>
        <pc:sldMkLst>
          <pc:docMk/>
          <pc:sldMk cId="0" sldId="261"/>
        </pc:sldMkLst>
      </pc:sldChg>
    </pc:docChg>
  </pc:docChgLst>
  <pc:docChgLst>
    <pc:chgData name="KODAI, Hayato (小鯛 颯人)" userId="S::1286335@seiyu.com::f5e977ef-d9c3-4c95-b235-4ba6476fea60" providerId="AD" clId="Web-{11BE290C-12B3-8BE9-BC0B-DE7C5B3329D0}"/>
    <pc:docChg chg="sldOrd">
      <pc:chgData name="KODAI, Hayato (小鯛 颯人)" userId="S::1286335@seiyu.com::f5e977ef-d9c3-4c95-b235-4ba6476fea60" providerId="AD" clId="Web-{11BE290C-12B3-8BE9-BC0B-DE7C5B3329D0}" dt="2026-06-01T05:55:52.469" v="0"/>
      <pc:docMkLst>
        <pc:docMk/>
      </pc:docMkLst>
      <pc:sldChg chg="ord">
        <pc:chgData name="KODAI, Hayato (小鯛 颯人)" userId="S::1286335@seiyu.com::f5e977ef-d9c3-4c95-b235-4ba6476fea60" providerId="AD" clId="Web-{11BE290C-12B3-8BE9-BC0B-DE7C5B3329D0}" dt="2026-06-01T05:55:52.469" v="0"/>
        <pc:sldMkLst>
          <pc:docMk/>
          <pc:sldMk cId="457670749" sldId="2147476307"/>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4448584641363197E-2"/>
          <c:y val="7.8494119532768344E-2"/>
          <c:w val="0.89910202919486859"/>
          <c:h val="0.62418117582630417"/>
        </c:manualLayout>
      </c:layout>
      <c:lineChart>
        <c:grouping val="standard"/>
        <c:varyColors val="0"/>
        <c:ser>
          <c:idx val="0"/>
          <c:order val="0"/>
          <c:tx>
            <c:strRef>
              <c:f>Sheet1!$A$2</c:f>
              <c:strCache>
                <c:ptCount val="1"/>
                <c:pt idx="0">
                  <c:v>予算</c:v>
                </c:pt>
              </c:strCache>
            </c:strRef>
          </c:tx>
          <c:spPr>
            <a:ln w="57150" cap="rnd">
              <a:solidFill>
                <a:schemeClr val="bg1">
                  <a:lumMod val="75000"/>
                </a:schemeClr>
              </a:solidFill>
              <a:round/>
            </a:ln>
            <a:effectLst/>
          </c:spPr>
          <c:marker>
            <c:symbol val="none"/>
          </c:marker>
          <c:dLbls>
            <c:spPr>
              <a:noFill/>
              <a:ln>
                <a:noFill/>
              </a:ln>
              <a:effectLst/>
            </c:spPr>
            <c:txPr>
              <a:bodyPr rot="0" spcFirstLastPara="1" vertOverflow="ellipsis" vert="horz" wrap="square" anchor="ctr" anchorCtr="1"/>
              <a:lstStyle/>
              <a:p>
                <a:pPr>
                  <a:defRPr lang="ja-JP" sz="1050" b="1" i="0" u="none" strike="noStrike" kern="1200" baseline="0">
                    <a:solidFill>
                      <a:schemeClr val="tx1">
                        <a:lumMod val="75000"/>
                        <a:lumOff val="25000"/>
                      </a:schemeClr>
                    </a:solidFill>
                    <a:latin typeface="メイリオ" panose="020B0604030504040204" pitchFamily="50" charset="-128"/>
                    <a:ea typeface="メイリオ" panose="020B0604030504040204" pitchFamily="50" charset="-128"/>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Sheet1!$B$1:$Y$1</c:f>
              <c:strCache>
                <c:ptCount val="24"/>
                <c:pt idx="0">
                  <c:v>2025/1</c:v>
                </c:pt>
                <c:pt idx="1">
                  <c:v>2025/2</c:v>
                </c:pt>
                <c:pt idx="2">
                  <c:v>2025/3</c:v>
                </c:pt>
                <c:pt idx="3">
                  <c:v>2025/4</c:v>
                </c:pt>
                <c:pt idx="4">
                  <c:v>2025/5</c:v>
                </c:pt>
                <c:pt idx="5">
                  <c:v>2025/6</c:v>
                </c:pt>
                <c:pt idx="6">
                  <c:v>2025/7</c:v>
                </c:pt>
                <c:pt idx="7">
                  <c:v>2025/8</c:v>
                </c:pt>
                <c:pt idx="8">
                  <c:v>2025/9</c:v>
                </c:pt>
                <c:pt idx="9">
                  <c:v>2025/10</c:v>
                </c:pt>
                <c:pt idx="10">
                  <c:v>2025/11</c:v>
                </c:pt>
                <c:pt idx="11">
                  <c:v>2025/12</c:v>
                </c:pt>
                <c:pt idx="12">
                  <c:v>2026/1</c:v>
                </c:pt>
                <c:pt idx="13">
                  <c:v>2026/2</c:v>
                </c:pt>
                <c:pt idx="14">
                  <c:v>2026/3</c:v>
                </c:pt>
                <c:pt idx="15">
                  <c:v>2026/4</c:v>
                </c:pt>
                <c:pt idx="16">
                  <c:v>2026/5</c:v>
                </c:pt>
                <c:pt idx="17">
                  <c:v>2026/6</c:v>
                </c:pt>
                <c:pt idx="18">
                  <c:v>2026/7</c:v>
                </c:pt>
                <c:pt idx="19">
                  <c:v>2026/8</c:v>
                </c:pt>
                <c:pt idx="20">
                  <c:v>2026/9</c:v>
                </c:pt>
                <c:pt idx="21">
                  <c:v>2026/10</c:v>
                </c:pt>
                <c:pt idx="22">
                  <c:v>2026/11</c:v>
                </c:pt>
                <c:pt idx="23">
                  <c:v>2026/12</c:v>
                </c:pt>
              </c:strCache>
            </c:strRef>
          </c:cat>
          <c:val>
            <c:numRef>
              <c:f>Sheet1!$B$2:$Y$2</c:f>
              <c:numCache>
                <c:formatCode>#,###</c:formatCode>
                <c:ptCount val="24"/>
                <c:pt idx="0">
                  <c:v>91</c:v>
                </c:pt>
                <c:pt idx="1">
                  <c:v>91</c:v>
                </c:pt>
                <c:pt idx="2">
                  <c:v>123</c:v>
                </c:pt>
                <c:pt idx="3">
                  <c:v>123</c:v>
                </c:pt>
                <c:pt idx="4">
                  <c:v>127</c:v>
                </c:pt>
                <c:pt idx="5">
                  <c:v>135</c:v>
                </c:pt>
                <c:pt idx="6">
                  <c:v>135</c:v>
                </c:pt>
                <c:pt idx="7">
                  <c:v>136</c:v>
                </c:pt>
                <c:pt idx="8">
                  <c:v>137</c:v>
                </c:pt>
                <c:pt idx="9">
                  <c:v>137</c:v>
                </c:pt>
                <c:pt idx="10">
                  <c:v>137</c:v>
                </c:pt>
                <c:pt idx="11">
                  <c:v>140</c:v>
                </c:pt>
                <c:pt idx="12">
                  <c:v>146</c:v>
                </c:pt>
                <c:pt idx="13">
                  <c:v>146</c:v>
                </c:pt>
                <c:pt idx="14">
                  <c:v>146</c:v>
                </c:pt>
                <c:pt idx="15">
                  <c:v>149</c:v>
                </c:pt>
                <c:pt idx="16">
                  <c:v>150</c:v>
                </c:pt>
                <c:pt idx="17">
                  <c:v>160</c:v>
                </c:pt>
                <c:pt idx="18">
                  <c:v>165</c:v>
                </c:pt>
                <c:pt idx="19">
                  <c:v>170</c:v>
                </c:pt>
                <c:pt idx="20">
                  <c:v>175</c:v>
                </c:pt>
                <c:pt idx="21">
                  <c:v>180</c:v>
                </c:pt>
                <c:pt idx="22">
                  <c:v>180</c:v>
                </c:pt>
                <c:pt idx="23">
                  <c:v>180</c:v>
                </c:pt>
              </c:numCache>
            </c:numRef>
          </c:val>
          <c:smooth val="0"/>
          <c:extLst>
            <c:ext xmlns:c16="http://schemas.microsoft.com/office/drawing/2014/chart" uri="{C3380CC4-5D6E-409C-BE32-E72D297353CC}">
              <c16:uniqueId val="{00000000-8CA5-455B-A56B-563EAF30A552}"/>
            </c:ext>
          </c:extLst>
        </c:ser>
        <c:ser>
          <c:idx val="1"/>
          <c:order val="1"/>
          <c:tx>
            <c:strRef>
              <c:f>Sheet1!$A$3</c:f>
              <c:strCache>
                <c:ptCount val="1"/>
                <c:pt idx="0">
                  <c:v>実績＋見込</c:v>
                </c:pt>
              </c:strCache>
            </c:strRef>
          </c:tx>
          <c:spPr>
            <a:ln w="57150" cap="rnd">
              <a:solidFill>
                <a:schemeClr val="accent6"/>
              </a:solidFill>
              <a:round/>
            </a:ln>
            <a:effectLst/>
          </c:spPr>
          <c:marker>
            <c:symbol val="none"/>
          </c:marker>
          <c:dLbls>
            <c:dLbl>
              <c:idx val="10"/>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77C3-43B1-9083-2685ADDA52A7}"/>
                </c:ext>
              </c:extLst>
            </c:dLbl>
            <c:dLbl>
              <c:idx val="11"/>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77C3-43B1-9083-2685ADDA52A7}"/>
                </c:ext>
              </c:extLst>
            </c:dLbl>
            <c:dLbl>
              <c:idx val="12"/>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C3-43B1-9083-2685ADDA52A7}"/>
                </c:ext>
              </c:extLst>
            </c:dLbl>
            <c:dLbl>
              <c:idx val="13"/>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77C3-43B1-9083-2685ADDA52A7}"/>
                </c:ext>
              </c:extLst>
            </c:dLbl>
            <c:dLbl>
              <c:idx val="14"/>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77C3-43B1-9083-2685ADDA52A7}"/>
                </c:ext>
              </c:extLst>
            </c:dLbl>
            <c:spPr>
              <a:noFill/>
              <a:ln>
                <a:noFill/>
              </a:ln>
              <a:effectLst/>
            </c:spPr>
            <c:txPr>
              <a:bodyPr rot="0" spcFirstLastPara="1" vertOverflow="ellipsis" vert="horz" wrap="square" anchor="ctr" anchorCtr="1"/>
              <a:lstStyle/>
              <a:p>
                <a:pPr>
                  <a:defRPr lang="ja-JP" sz="1050" b="1" i="0" u="none" strike="noStrike" kern="1200" baseline="0">
                    <a:solidFill>
                      <a:schemeClr val="accent6"/>
                    </a:solidFill>
                    <a:latin typeface="メイリオ" panose="020B0604030504040204" pitchFamily="50" charset="-128"/>
                    <a:ea typeface="メイリオ" panose="020B0604030504040204" pitchFamily="50" charset="-128"/>
                    <a:cs typeface="+mn-cs"/>
                  </a:defRPr>
                </a:pPr>
                <a:endParaRPr lang="en-US"/>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Sheet1!$B$1:$Y$1</c:f>
              <c:strCache>
                <c:ptCount val="24"/>
                <c:pt idx="0">
                  <c:v>2025/1</c:v>
                </c:pt>
                <c:pt idx="1">
                  <c:v>2025/2</c:v>
                </c:pt>
                <c:pt idx="2">
                  <c:v>2025/3</c:v>
                </c:pt>
                <c:pt idx="3">
                  <c:v>2025/4</c:v>
                </c:pt>
                <c:pt idx="4">
                  <c:v>2025/5</c:v>
                </c:pt>
                <c:pt idx="5">
                  <c:v>2025/6</c:v>
                </c:pt>
                <c:pt idx="6">
                  <c:v>2025/7</c:v>
                </c:pt>
                <c:pt idx="7">
                  <c:v>2025/8</c:v>
                </c:pt>
                <c:pt idx="8">
                  <c:v>2025/9</c:v>
                </c:pt>
                <c:pt idx="9">
                  <c:v>2025/10</c:v>
                </c:pt>
                <c:pt idx="10">
                  <c:v>2025/11</c:v>
                </c:pt>
                <c:pt idx="11">
                  <c:v>2025/12</c:v>
                </c:pt>
                <c:pt idx="12">
                  <c:v>2026/1</c:v>
                </c:pt>
                <c:pt idx="13">
                  <c:v>2026/2</c:v>
                </c:pt>
                <c:pt idx="14">
                  <c:v>2026/3</c:v>
                </c:pt>
                <c:pt idx="15">
                  <c:v>2026/4</c:v>
                </c:pt>
                <c:pt idx="16">
                  <c:v>2026/5</c:v>
                </c:pt>
                <c:pt idx="17">
                  <c:v>2026/6</c:v>
                </c:pt>
                <c:pt idx="18">
                  <c:v>2026/7</c:v>
                </c:pt>
                <c:pt idx="19">
                  <c:v>2026/8</c:v>
                </c:pt>
                <c:pt idx="20">
                  <c:v>2026/9</c:v>
                </c:pt>
                <c:pt idx="21">
                  <c:v>2026/10</c:v>
                </c:pt>
                <c:pt idx="22">
                  <c:v>2026/11</c:v>
                </c:pt>
                <c:pt idx="23">
                  <c:v>2026/12</c:v>
                </c:pt>
              </c:strCache>
            </c:strRef>
          </c:cat>
          <c:val>
            <c:numRef>
              <c:f>Sheet1!$B$3:$Y$3</c:f>
              <c:numCache>
                <c:formatCode>#,###</c:formatCode>
                <c:ptCount val="24"/>
                <c:pt idx="0">
                  <c:v>81</c:v>
                </c:pt>
                <c:pt idx="1">
                  <c:v>81</c:v>
                </c:pt>
                <c:pt idx="2">
                  <c:v>83</c:v>
                </c:pt>
                <c:pt idx="3">
                  <c:v>98</c:v>
                </c:pt>
                <c:pt idx="4">
                  <c:v>117</c:v>
                </c:pt>
                <c:pt idx="5">
                  <c:v>117</c:v>
                </c:pt>
                <c:pt idx="6">
                  <c:v>117</c:v>
                </c:pt>
                <c:pt idx="7">
                  <c:v>125</c:v>
                </c:pt>
                <c:pt idx="8">
                  <c:v>125</c:v>
                </c:pt>
              </c:numCache>
            </c:numRef>
          </c:val>
          <c:smooth val="0"/>
          <c:extLst>
            <c:ext xmlns:c16="http://schemas.microsoft.com/office/drawing/2014/chart" uri="{C3380CC4-5D6E-409C-BE32-E72D297353CC}">
              <c16:uniqueId val="{00000001-8CA5-455B-A56B-563EAF30A552}"/>
            </c:ext>
          </c:extLst>
        </c:ser>
        <c:dLbls>
          <c:dLblPos val="t"/>
          <c:showLegendKey val="0"/>
          <c:showVal val="1"/>
          <c:showCatName val="0"/>
          <c:showSerName val="0"/>
          <c:showPercent val="0"/>
          <c:showBubbleSize val="0"/>
        </c:dLbls>
        <c:smooth val="0"/>
        <c:axId val="1169809888"/>
        <c:axId val="1169811808"/>
      </c:lineChart>
      <c:catAx>
        <c:axId val="1169809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lang="ja-JP" sz="90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p>
        </c:txPr>
        <c:crossAx val="1169811808"/>
        <c:crosses val="autoZero"/>
        <c:auto val="1"/>
        <c:lblAlgn val="ctr"/>
        <c:lblOffset val="100"/>
        <c:noMultiLvlLbl val="0"/>
      </c:catAx>
      <c:valAx>
        <c:axId val="1169811808"/>
        <c:scaling>
          <c:orientation val="minMax"/>
        </c:scaling>
        <c:delete val="0"/>
        <c:axPos val="l"/>
        <c:majorGridlines>
          <c:spPr>
            <a:ln w="9525" cap="flat" cmpd="sng" algn="ctr">
              <a:solidFill>
                <a:schemeClr val="tx1">
                  <a:lumMod val="15000"/>
                  <a:lumOff val="85000"/>
                </a:schemeClr>
              </a:solidFill>
              <a:round/>
            </a:ln>
            <a:effectLst/>
          </c:spPr>
        </c:majorGridlines>
        <c:numFmt formatCode="#,###" sourceLinked="1"/>
        <c:majorTickMark val="none"/>
        <c:minorTickMark val="none"/>
        <c:tickLblPos val="nextTo"/>
        <c:spPr>
          <a:noFill/>
          <a:ln>
            <a:noFill/>
          </a:ln>
          <a:effectLst/>
        </c:spPr>
        <c:txPr>
          <a:bodyPr rot="-60000000" spcFirstLastPara="1" vertOverflow="ellipsis" vert="horz" wrap="square" anchor="ctr" anchorCtr="1"/>
          <a:lstStyle/>
          <a:p>
            <a:pPr>
              <a:defRPr lang="ja-JP" sz="105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p>
        </c:txPr>
        <c:crossAx val="1169809888"/>
        <c:crosses val="autoZero"/>
        <c:crossBetween val="between"/>
      </c:valAx>
      <c:spPr>
        <a:noFill/>
        <a:ln>
          <a:noFill/>
        </a:ln>
        <a:effectLst/>
      </c:spPr>
    </c:plotArea>
    <c:legend>
      <c:legendPos val="t"/>
      <c:legendEntry>
        <c:idx val="1"/>
        <c:txPr>
          <a:bodyPr rot="0" spcFirstLastPara="1" vertOverflow="ellipsis" vert="horz" wrap="square" anchor="ctr" anchorCtr="1"/>
          <a:lstStyle/>
          <a:p>
            <a:pPr>
              <a:defRPr sz="105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p>
        </c:txPr>
      </c:legendEntry>
      <c:layout>
        <c:manualLayout>
          <c:xMode val="edge"/>
          <c:yMode val="edge"/>
          <c:x val="8.6444727680447073E-2"/>
          <c:y val="5.0861466744137905E-2"/>
          <c:w val="0.15439605664627962"/>
          <c:h val="0.13245256556670876"/>
        </c:manualLayout>
      </c:layout>
      <c:overlay val="0"/>
      <c:spPr>
        <a:noFill/>
        <a:ln>
          <a:noFill/>
        </a:ln>
        <a:effectLst/>
      </c:spPr>
      <c:txPr>
        <a:bodyPr rot="0" spcFirstLastPara="1" vertOverflow="ellipsis" vert="horz" wrap="square" anchor="ctr" anchorCtr="1"/>
        <a:lstStyle/>
        <a:p>
          <a:pPr>
            <a:defRPr lang="ja-JP" sz="1050" b="0" i="0" u="none" strike="noStrike" kern="1200" baseline="0">
              <a:solidFill>
                <a:schemeClr val="tx1">
                  <a:lumMod val="65000"/>
                  <a:lumOff val="35000"/>
                </a:schemeClr>
              </a:solidFill>
              <a:latin typeface="メイリオ" panose="020B0604030504040204" pitchFamily="50" charset="-128"/>
              <a:ea typeface="メイリオ" panose="020B0604030504040204" pitchFamily="50" charset="-128"/>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2700">
      <a:solidFill>
        <a:schemeClr val="bg1">
          <a:lumMod val="85000"/>
        </a:schemeClr>
      </a:solidFill>
    </a:ln>
    <a:effectLst/>
  </c:spPr>
  <c:txPr>
    <a:bodyPr/>
    <a:lstStyle/>
    <a:p>
      <a:pPr>
        <a:defRPr sz="1050">
          <a:latin typeface="メイリオ" panose="020B0604030504040204" pitchFamily="50" charset="-128"/>
          <a:ea typeface="メイリオ" panose="020B0604030504040204" pitchFamily="50" charset="-128"/>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 name="Google Shape;3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5" name="Google Shape;4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46" name="Google Shape;4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altLang="ja-JP"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 name="Google Shape;5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F6335-23F0-1349-6F95-2051C53F6D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837A8E1-4396-4213-84FF-D6784B2F630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7E9690D-789D-9A77-7B9C-DF506FCCAB8B}"/>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7C40BE9-3957-8797-081B-439C1AE42A4E}"/>
              </a:ext>
            </a:extLst>
          </p:cNvPr>
          <p:cNvSpPr>
            <a:spLocks noGrp="1"/>
          </p:cNvSpPr>
          <p:nvPr>
            <p:ph type="sldNum" sz="quarter" idx="5"/>
          </p:nvPr>
        </p:nvSpPr>
        <p:spPr/>
        <p:txBody>
          <a:bodyPr/>
          <a:lstStyle/>
          <a:p>
            <a:fld id="{006BE02D-20C0-F840-AFAC-BEA99C74FDC2}" type="slidenum">
              <a:rPr lang="en-US" smtClean="0"/>
              <a:pPr/>
              <a:t>6</a:t>
            </a:fld>
            <a:endParaRPr lang="en-US"/>
          </a:p>
        </p:txBody>
      </p:sp>
    </p:spTree>
    <p:extLst>
      <p:ext uri="{BB962C8B-B14F-4D97-AF65-F5344CB8AC3E}">
        <p14:creationId xmlns:p14="http://schemas.microsoft.com/office/powerpoint/2010/main" val="29278940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4DF62-833C-D480-3CA6-B6AE894AF3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B20249-113A-C7EE-455E-2B6E18952CB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C4CFA1-2A50-43E5-9B48-366C0A891F9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C67A568E-0E78-836F-52C4-CDBFF13E70C7}"/>
              </a:ext>
            </a:extLst>
          </p:cNvPr>
          <p:cNvSpPr>
            <a:spLocks noGrp="1"/>
          </p:cNvSpPr>
          <p:nvPr>
            <p:ph type="sldNum" sz="quarter" idx="5"/>
          </p:nvPr>
        </p:nvSpPr>
        <p:spPr/>
        <p:txBody>
          <a:bodyPr/>
          <a:lstStyle/>
          <a:p>
            <a:fld id="{006BE02D-20C0-F840-AFAC-BEA99C74FDC2}" type="slidenum">
              <a:rPr lang="en-US" smtClean="0"/>
              <a:pPr/>
              <a:t>7</a:t>
            </a:fld>
            <a:endParaRPr lang="en-US"/>
          </a:p>
        </p:txBody>
      </p:sp>
    </p:spTree>
    <p:extLst>
      <p:ext uri="{BB962C8B-B14F-4D97-AF65-F5344CB8AC3E}">
        <p14:creationId xmlns:p14="http://schemas.microsoft.com/office/powerpoint/2010/main" val="29344031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14" name="Google Shape;114;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Arial"/>
                <a:ea typeface="Arial"/>
                <a:cs typeface="Arial"/>
                <a:sym typeface="Arial"/>
              </a:rPr>
              <a:t>11</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a:extLst>
            <a:ext uri="{FF2B5EF4-FFF2-40B4-BE49-F238E27FC236}">
              <a16:creationId xmlns:a16="http://schemas.microsoft.com/office/drawing/2014/main" id="{FE621695-62D7-FDD3-9A7E-288E344A5576}"/>
            </a:ext>
          </a:extLst>
        </p:cNvPr>
        <p:cNvGrpSpPr/>
        <p:nvPr/>
      </p:nvGrpSpPr>
      <p:grpSpPr>
        <a:xfrm>
          <a:off x="0" y="0"/>
          <a:ext cx="0" cy="0"/>
          <a:chOff x="0" y="0"/>
          <a:chExt cx="0" cy="0"/>
        </a:xfrm>
      </p:grpSpPr>
      <p:sp>
        <p:nvSpPr>
          <p:cNvPr id="112" name="Google Shape;112;p7:notes">
            <a:extLst>
              <a:ext uri="{FF2B5EF4-FFF2-40B4-BE49-F238E27FC236}">
                <a16:creationId xmlns:a16="http://schemas.microsoft.com/office/drawing/2014/main" id="{08208C60-34A6-01AC-3C04-138810BF4E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 name="Google Shape;113;p7:notes">
            <a:extLst>
              <a:ext uri="{FF2B5EF4-FFF2-40B4-BE49-F238E27FC236}">
                <a16:creationId xmlns:a16="http://schemas.microsoft.com/office/drawing/2014/main" id="{20E7CBB4-DFE6-FA9F-603D-001802F103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14" name="Google Shape;114;p7:notes">
            <a:extLst>
              <a:ext uri="{FF2B5EF4-FFF2-40B4-BE49-F238E27FC236}">
                <a16:creationId xmlns:a16="http://schemas.microsoft.com/office/drawing/2014/main" id="{966A5003-402A-A398-6D2B-97BBE52F47EE}"/>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Arial"/>
                <a:ea typeface="Arial"/>
                <a:cs typeface="Arial"/>
                <a:sym typeface="Arial"/>
              </a:rPr>
              <a:t>12</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36997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34" name="Google Shape;134;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Arial"/>
                <a:ea typeface="Arial"/>
                <a:cs typeface="Arial"/>
                <a:sym typeface="Arial"/>
              </a:rPr>
              <a:t>13</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975BD452-F530-631E-D1CA-0B5CF474BFA3}"/>
            </a:ext>
          </a:extLst>
        </p:cNvPr>
        <p:cNvGrpSpPr/>
        <p:nvPr/>
      </p:nvGrpSpPr>
      <p:grpSpPr>
        <a:xfrm>
          <a:off x="0" y="0"/>
          <a:ext cx="0" cy="0"/>
          <a:chOff x="0" y="0"/>
          <a:chExt cx="0" cy="0"/>
        </a:xfrm>
      </p:grpSpPr>
      <p:sp>
        <p:nvSpPr>
          <p:cNvPr id="140" name="Google Shape;140;p9:notes">
            <a:extLst>
              <a:ext uri="{FF2B5EF4-FFF2-40B4-BE49-F238E27FC236}">
                <a16:creationId xmlns:a16="http://schemas.microsoft.com/office/drawing/2014/main" id="{A151EBEF-0A1A-58B8-C511-1D73F58F2F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9:notes">
            <a:extLst>
              <a:ext uri="{FF2B5EF4-FFF2-40B4-BE49-F238E27FC236}">
                <a16:creationId xmlns:a16="http://schemas.microsoft.com/office/drawing/2014/main" id="{2C0405F2-9172-7E92-3663-B9B921D9F9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42" name="Google Shape;142;p9:notes">
            <a:extLst>
              <a:ext uri="{FF2B5EF4-FFF2-40B4-BE49-F238E27FC236}">
                <a16:creationId xmlns:a16="http://schemas.microsoft.com/office/drawing/2014/main" id="{0AA60172-A429-2051-B52E-694AEF61EBDC}"/>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Arial"/>
                <a:ea typeface="Arial"/>
                <a:cs typeface="Arial"/>
                <a:sym typeface="Arial"/>
              </a:rPr>
              <a:t>14</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88826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a:extLst>
            <a:ext uri="{FF2B5EF4-FFF2-40B4-BE49-F238E27FC236}">
              <a16:creationId xmlns:a16="http://schemas.microsoft.com/office/drawing/2014/main" id="{D8AEAF12-1BF5-50E3-6558-881D421BAFD8}"/>
            </a:ext>
          </a:extLst>
        </p:cNvPr>
        <p:cNvGrpSpPr/>
        <p:nvPr/>
      </p:nvGrpSpPr>
      <p:grpSpPr>
        <a:xfrm>
          <a:off x="0" y="0"/>
          <a:ext cx="0" cy="0"/>
          <a:chOff x="0" y="0"/>
          <a:chExt cx="0" cy="0"/>
        </a:xfrm>
      </p:grpSpPr>
      <p:sp>
        <p:nvSpPr>
          <p:cNvPr id="140" name="Google Shape;140;p9:notes">
            <a:extLst>
              <a:ext uri="{FF2B5EF4-FFF2-40B4-BE49-F238E27FC236}">
                <a16:creationId xmlns:a16="http://schemas.microsoft.com/office/drawing/2014/main" id="{DE66ADAD-4621-1B71-230C-9F7455832C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1" name="Google Shape;141;p9:notes">
            <a:extLst>
              <a:ext uri="{FF2B5EF4-FFF2-40B4-BE49-F238E27FC236}">
                <a16:creationId xmlns:a16="http://schemas.microsoft.com/office/drawing/2014/main" id="{EDE5C5C8-8B75-E904-7B34-BCA50D8F74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42" name="Google Shape;142;p9:notes">
            <a:extLst>
              <a:ext uri="{FF2B5EF4-FFF2-40B4-BE49-F238E27FC236}">
                <a16:creationId xmlns:a16="http://schemas.microsoft.com/office/drawing/2014/main" id="{779A1B14-FCC6-7F00-76EB-947500211B5A}"/>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Arial"/>
                <a:ea typeface="Arial"/>
                <a:cs typeface="Arial"/>
                <a:sym typeface="Arial"/>
              </a:rPr>
              <a:t>15</a:t>
            </a:fld>
            <a:endParaRPr sz="12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71282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4" name="Google Shape;18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0" name="Google Shape;19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2" name="Google Shape;20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19</a:t>
            </a:fld>
            <a:endParaRPr lang="en-US"/>
          </a:p>
        </p:txBody>
      </p:sp>
    </p:spTree>
    <p:extLst>
      <p:ext uri="{BB962C8B-B14F-4D97-AF65-F5344CB8AC3E}">
        <p14:creationId xmlns:p14="http://schemas.microsoft.com/office/powerpoint/2010/main" val="31085293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ここからは、各領域についてポイントをお伝えしたいと思います。</a:t>
            </a:r>
            <a:endParaRPr kumimoji="1" lang="en-US" altLang="ja-JP"/>
          </a:p>
          <a:p>
            <a:endParaRPr kumimoji="1" lang="en-US" altLang="ja-JP"/>
          </a:p>
          <a:p>
            <a:r>
              <a:rPr kumimoji="1" lang="ja-JP" altLang="en-US"/>
              <a:t>まず、マスタについては、大きく３つのステップがあり、ビジネスやお取引先にも影響が出てまいります。</a:t>
            </a:r>
            <a:endParaRPr kumimoji="1" lang="en-US" altLang="ja-JP"/>
          </a:p>
          <a:p>
            <a:endParaRPr kumimoji="1" lang="en-US" altLang="ja-JP"/>
          </a:p>
          <a:p>
            <a:r>
              <a:rPr kumimoji="1" lang="en-US" altLang="ja-JP"/>
              <a:t>Step1</a:t>
            </a:r>
            <a:r>
              <a:rPr kumimoji="1" lang="ja-JP" altLang="en-US"/>
              <a:t>：別のページでも説明致しますが、新規・マスタメンテについて、システムとして窓口一本化になるようデータ連携を行なう事を考えています。</a:t>
            </a:r>
            <a:endParaRPr kumimoji="1" lang="en-US" altLang="ja-JP"/>
          </a:p>
          <a:p>
            <a:endParaRPr kumimoji="1" lang="en-US" altLang="ja-JP"/>
          </a:p>
          <a:p>
            <a:r>
              <a:rPr kumimoji="1" lang="en-US" altLang="ja-JP"/>
              <a:t>Step</a:t>
            </a:r>
            <a:r>
              <a:rPr kumimoji="1" lang="ja-JP" altLang="en-US"/>
              <a:t>２：一度サスペンドにさせていただきました「マスタ刷新プロジェクト」ですが、財務とも検討した結果、</a:t>
            </a:r>
            <a:r>
              <a:rPr kumimoji="1" lang="en-US" altLang="ja-JP"/>
              <a:t>2024</a:t>
            </a:r>
            <a:r>
              <a:rPr kumimoji="1" lang="ja-JP" altLang="en-US"/>
              <a:t>年</a:t>
            </a:r>
            <a:r>
              <a:rPr kumimoji="1" lang="en-US" altLang="ja-JP"/>
              <a:t>10</a:t>
            </a:r>
            <a:r>
              <a:rPr kumimoji="1" lang="ja-JP" altLang="en-US"/>
              <a:t>月より進めてきており、投資案件としても既にかなりの費用をかけてきているため、しっかり資産化をすることで、</a:t>
            </a:r>
            <a:endParaRPr kumimoji="1" lang="en-US" altLang="ja-JP"/>
          </a:p>
          <a:p>
            <a:r>
              <a:rPr kumimoji="1" lang="ja-JP" altLang="en-US"/>
              <a:t>　　　　　　会社への</a:t>
            </a:r>
            <a:r>
              <a:rPr kumimoji="1" lang="en-US" altLang="ja-JP"/>
              <a:t>P/L</a:t>
            </a:r>
            <a:r>
              <a:rPr kumimoji="1" lang="ja-JP" altLang="en-US"/>
              <a:t>へインパクトを与えないことを最重要とする判断となりました。よって、このあとプロジェクト再開のメールをさせていただきますが、</a:t>
            </a:r>
            <a:r>
              <a:rPr kumimoji="1" lang="en-US" altLang="ja-JP"/>
              <a:t>2026</a:t>
            </a:r>
            <a:r>
              <a:rPr kumimoji="1" lang="ja-JP" altLang="en-US"/>
              <a:t>年より再開させていただきます。何卒、ご協力の程よろしくお願いします。</a:t>
            </a:r>
            <a:endParaRPr kumimoji="1" lang="en-US" altLang="ja-JP"/>
          </a:p>
          <a:p>
            <a:endParaRPr kumimoji="1" lang="en-US" altLang="ja-JP"/>
          </a:p>
          <a:p>
            <a:r>
              <a:rPr kumimoji="1" lang="en-US" altLang="ja-JP"/>
              <a:t>Step3</a:t>
            </a:r>
            <a:r>
              <a:rPr kumimoji="1" lang="ja-JP" altLang="en-US"/>
              <a:t>：こちらは最終的にトライアル・西友の共通マスタ登録システム構築に向けてのスケジュールになります。</a:t>
            </a:r>
            <a:br>
              <a:rPr kumimoji="1" lang="en-US" altLang="ja-JP"/>
            </a:br>
            <a:r>
              <a:rPr kumimoji="1" lang="ja-JP" altLang="en-US"/>
              <a:t>　　　　　　ただし、</a:t>
            </a:r>
            <a:r>
              <a:rPr kumimoji="1" lang="en-US" altLang="ja-JP"/>
              <a:t>Step2</a:t>
            </a:r>
            <a:r>
              <a:rPr kumimoji="1" lang="ja-JP" altLang="en-US"/>
              <a:t>をやりながら</a:t>
            </a:r>
            <a:r>
              <a:rPr kumimoji="1" lang="en-US" altLang="ja-JP"/>
              <a:t>Step3</a:t>
            </a:r>
            <a:r>
              <a:rPr kumimoji="1" lang="ja-JP" altLang="en-US"/>
              <a:t>を並行して進めるのには、ビジネスリソースが重複するため、トライアル・西友のシステムでシステム構成やプロセスなどの検討を行い、要所要所でビジネスへのレビューをお願いして、要件を固めていくようにしたいと思っています。</a:t>
            </a:r>
            <a:br>
              <a:rPr kumimoji="1" lang="en-US" altLang="ja-JP"/>
            </a:br>
            <a:r>
              <a:rPr kumimoji="1" lang="ja-JP" altLang="en-US"/>
              <a:t>　　　　　　そして、商品部の皆さんへはやはりマスタのデータ移行に向けての計画や推進で入っていただく事を考えています。</a:t>
            </a:r>
            <a:br>
              <a:rPr kumimoji="1" lang="en-US" altLang="ja-JP"/>
            </a:br>
            <a:br>
              <a:rPr kumimoji="1" lang="en-US" altLang="ja-JP"/>
            </a:br>
            <a:r>
              <a:rPr kumimoji="1" lang="ja-JP" altLang="en-US"/>
              <a:t>次ページよりもう少し詳しくビジネスの皆さんへの関わり方について説明をさせていただきます。</a:t>
            </a:r>
            <a:br>
              <a:rPr kumimoji="1" lang="en-US" altLang="ja-JP"/>
            </a:br>
            <a:br>
              <a:rPr kumimoji="1" lang="en-US" altLang="ja-JP"/>
            </a:br>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21</a:t>
            </a:fld>
            <a:endParaRPr lang="en-US"/>
          </a:p>
        </p:txBody>
      </p:sp>
    </p:spTree>
    <p:extLst>
      <p:ext uri="{BB962C8B-B14F-4D97-AF65-F5344CB8AC3E}">
        <p14:creationId xmlns:p14="http://schemas.microsoft.com/office/powerpoint/2010/main" val="23715463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208" name="Google Shape;208;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Calibri"/>
                <a:ea typeface="Calibri"/>
                <a:cs typeface="Calibri"/>
                <a:sym typeface="Calibri"/>
              </a:rPr>
              <a:t>22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217" name="Google Shape;21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Calibri"/>
                <a:ea typeface="Calibri"/>
                <a:cs typeface="Calibri"/>
                <a:sym typeface="Calibri"/>
              </a:rPr>
              <a:t>23</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3" name="Google Shape;22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solidFill>
                <a:srgbClr val="FF0000"/>
              </a:solidFill>
              <a:latin typeface="Arial"/>
              <a:ea typeface="Arial"/>
              <a:cs typeface="Arial"/>
              <a:sym typeface="Arial"/>
            </a:endParaRPr>
          </a:p>
        </p:txBody>
      </p:sp>
      <p:sp>
        <p:nvSpPr>
          <p:cNvPr id="224" name="Google Shape;224;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000000"/>
                </a:solidFill>
                <a:latin typeface="Arial"/>
                <a:ea typeface="Arial"/>
                <a:cs typeface="Arial"/>
                <a:sym typeface="Arial"/>
              </a:rPr>
              <a:t>24</a:t>
            </a:fld>
            <a:endParaRPr sz="12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252" name="Google Shape;252;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US" altLang="ja-JP" sz="1400" b="0" i="0" u="none" strike="noStrike" cap="none">
                <a:solidFill>
                  <a:srgbClr val="000000"/>
                </a:solidFill>
                <a:latin typeface="Arial"/>
                <a:ea typeface="Arial"/>
                <a:cs typeface="Arial"/>
                <a:sym typeface="Arial"/>
              </a:rPr>
              <a:t>25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lang="ja-JP" altLang="en-US" sz="1200"/>
              <a:t>説明時のポイント</a:t>
            </a:r>
          </a:p>
          <a:p>
            <a:pPr algn="l"/>
            <a:endParaRPr kumimoji="1" lang="en-US" altLang="ja-JP" sz="1200"/>
          </a:p>
          <a:p>
            <a:pPr algn="l"/>
            <a:r>
              <a:rPr kumimoji="1" lang="ja-JP" altLang="en-US" sz="1200"/>
              <a:t>よって、トライアル・西友ビジネス間でまずは運用面の違いを今後どうしていくのかは、一緒に検討をしていただく事が重要になります。</a:t>
            </a:r>
            <a:endParaRPr kumimoji="1" lang="en-US" altLang="ja-JP" sz="1200"/>
          </a:p>
          <a:p>
            <a:pPr algn="l"/>
            <a:endParaRPr kumimoji="1" lang="en-US" altLang="ja-JP" sz="1200"/>
          </a:p>
          <a:p>
            <a:pPr algn="l"/>
            <a:r>
              <a:rPr lang="ja-JP" altLang="en-US" sz="1200"/>
              <a:t>標準化・プロセスはシンプルにIT基盤は一つにすると効率的あるべき業務を両社で協議してより効率的なものへしていく。</a:t>
            </a:r>
            <a:endParaRPr lang="en-US" altLang="ja-JP" sz="1200"/>
          </a:p>
          <a:p>
            <a:pPr algn="l"/>
            <a:r>
              <a:rPr lang="ja-JP" altLang="en-US" sz="1200"/>
              <a:t>そして、検討の中では、ROIも考えていく</a:t>
            </a:r>
          </a:p>
          <a:p>
            <a:pPr algn="l"/>
            <a:endParaRPr lang="en-US" altLang="ja-JP" sz="1200"/>
          </a:p>
          <a:p>
            <a:pPr algn="l"/>
            <a:r>
              <a:rPr lang="ja-JP" altLang="en-US" sz="1200"/>
              <a:t>環境・設備要因は、短期的にはできるようにしないといけない</a:t>
            </a:r>
            <a:endParaRPr lang="en-US" altLang="ja-JP" sz="1200"/>
          </a:p>
          <a:p>
            <a:pPr algn="l"/>
            <a:endParaRPr kumimoji="1" lang="en-US" altLang="ja-JP" sz="1200"/>
          </a:p>
          <a:p>
            <a:pPr algn="l"/>
            <a:r>
              <a:rPr kumimoji="1" lang="ja-JP" altLang="en-US" sz="1200"/>
              <a:t>自動発注、棚割は、次期システムをトライアルで開発中・</a:t>
            </a:r>
            <a:r>
              <a:rPr kumimoji="1" lang="en-US" altLang="ja-JP" sz="1200"/>
              <a:t>POC</a:t>
            </a:r>
            <a:r>
              <a:rPr kumimoji="1" lang="ja-JP" altLang="en-US" sz="1200"/>
              <a:t>中のため、現行のシステムで統合ではなく、次期システムでより良いものとして統合できればと思っています。</a:t>
            </a:r>
            <a:endParaRPr kumimoji="1" lang="ja-JP" altLang="en-US"/>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27</a:t>
            </a:fld>
            <a:endParaRPr lang="en-US"/>
          </a:p>
        </p:txBody>
      </p:sp>
    </p:spTree>
    <p:extLst>
      <p:ext uri="{BB962C8B-B14F-4D97-AF65-F5344CB8AC3E}">
        <p14:creationId xmlns:p14="http://schemas.microsoft.com/office/powerpoint/2010/main" val="15235646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ここからは、各領域についてポイントをお伝えしたいと思います。</a:t>
            </a:r>
            <a:endParaRPr kumimoji="1" lang="en-US" altLang="ja-JP"/>
          </a:p>
          <a:p>
            <a:endParaRPr kumimoji="1" lang="en-US" altLang="ja-JP"/>
          </a:p>
          <a:p>
            <a:r>
              <a:rPr kumimoji="1" lang="ja-JP" altLang="en-US"/>
              <a:t>まず、マスタについては、大きく３つのステップがあり、ビジネスやお取引先にも影響が出てまいります。</a:t>
            </a:r>
            <a:endParaRPr kumimoji="1" lang="en-US" altLang="ja-JP"/>
          </a:p>
          <a:p>
            <a:endParaRPr kumimoji="1" lang="en-US" altLang="ja-JP"/>
          </a:p>
          <a:p>
            <a:r>
              <a:rPr kumimoji="1" lang="en-US" altLang="ja-JP"/>
              <a:t>Step1</a:t>
            </a:r>
            <a:r>
              <a:rPr kumimoji="1" lang="ja-JP" altLang="en-US"/>
              <a:t>：別のページでも説明致しますが、新規・マスタメンテについて、システムとして窓口一本化になるようデータ連携を行なう事を考えています。</a:t>
            </a:r>
            <a:endParaRPr kumimoji="1" lang="en-US" altLang="ja-JP"/>
          </a:p>
          <a:p>
            <a:endParaRPr kumimoji="1" lang="en-US" altLang="ja-JP"/>
          </a:p>
          <a:p>
            <a:r>
              <a:rPr kumimoji="1" lang="en-US" altLang="ja-JP"/>
              <a:t>Step</a:t>
            </a:r>
            <a:r>
              <a:rPr kumimoji="1" lang="ja-JP" altLang="en-US"/>
              <a:t>２：一度サスペンドにさせていただきました「マスタ刷新プロジェクト」ですが、財務とも検討した結果、</a:t>
            </a:r>
            <a:r>
              <a:rPr kumimoji="1" lang="en-US" altLang="ja-JP"/>
              <a:t>2024</a:t>
            </a:r>
            <a:r>
              <a:rPr kumimoji="1" lang="ja-JP" altLang="en-US"/>
              <a:t>年</a:t>
            </a:r>
            <a:r>
              <a:rPr kumimoji="1" lang="en-US" altLang="ja-JP"/>
              <a:t>10</a:t>
            </a:r>
            <a:r>
              <a:rPr kumimoji="1" lang="ja-JP" altLang="en-US"/>
              <a:t>月より進めてきており、投資案件としても既にかなりの費用をかけてきているため、しっかり資産化をすることで、</a:t>
            </a:r>
            <a:endParaRPr kumimoji="1" lang="en-US" altLang="ja-JP"/>
          </a:p>
          <a:p>
            <a:r>
              <a:rPr kumimoji="1" lang="ja-JP" altLang="en-US"/>
              <a:t>　　　　　　会社への</a:t>
            </a:r>
            <a:r>
              <a:rPr kumimoji="1" lang="en-US" altLang="ja-JP"/>
              <a:t>P/L</a:t>
            </a:r>
            <a:r>
              <a:rPr kumimoji="1" lang="ja-JP" altLang="en-US"/>
              <a:t>へインパクトを与えないことを最重要とする判断となりました。よって、このあとプロジェクト再開のメールをさせていただきますが、</a:t>
            </a:r>
            <a:r>
              <a:rPr kumimoji="1" lang="en-US" altLang="ja-JP"/>
              <a:t>2026</a:t>
            </a:r>
            <a:r>
              <a:rPr kumimoji="1" lang="ja-JP" altLang="en-US"/>
              <a:t>年より再開させていただきます。何卒、ご協力の程よろしくお願いします。</a:t>
            </a:r>
            <a:endParaRPr kumimoji="1" lang="en-US" altLang="ja-JP"/>
          </a:p>
          <a:p>
            <a:endParaRPr kumimoji="1" lang="en-US" altLang="ja-JP"/>
          </a:p>
          <a:p>
            <a:r>
              <a:rPr kumimoji="1" lang="en-US" altLang="ja-JP"/>
              <a:t>Step3</a:t>
            </a:r>
            <a:r>
              <a:rPr kumimoji="1" lang="ja-JP" altLang="en-US"/>
              <a:t>：こちらは最終的にトライアル・西友の共通マスタ登録システム構築に向けてのスケジュールになります。</a:t>
            </a:r>
            <a:br>
              <a:rPr kumimoji="1" lang="en-US" altLang="ja-JP"/>
            </a:br>
            <a:r>
              <a:rPr kumimoji="1" lang="ja-JP" altLang="en-US"/>
              <a:t>　　　　　　ただし、</a:t>
            </a:r>
            <a:r>
              <a:rPr kumimoji="1" lang="en-US" altLang="ja-JP"/>
              <a:t>Step2</a:t>
            </a:r>
            <a:r>
              <a:rPr kumimoji="1" lang="ja-JP" altLang="en-US"/>
              <a:t>をやりながら</a:t>
            </a:r>
            <a:r>
              <a:rPr kumimoji="1" lang="en-US" altLang="ja-JP"/>
              <a:t>Step3</a:t>
            </a:r>
            <a:r>
              <a:rPr kumimoji="1" lang="ja-JP" altLang="en-US"/>
              <a:t>を並行して進めるのには、ビジネスリソースが重複するため、トライアル・西友のシステムでシステム構成やプロセスなどの検討を行い、要所要所でビジネスへのレビューをお願いして、要件を固めていくようにしたいと思っています。</a:t>
            </a:r>
            <a:br>
              <a:rPr kumimoji="1" lang="en-US" altLang="ja-JP"/>
            </a:br>
            <a:r>
              <a:rPr kumimoji="1" lang="ja-JP" altLang="en-US"/>
              <a:t>　　　　　　そして、商品部の皆さんへはやはりマスタのデータ移行に向けての計画や推進で入っていただく事を考えています。</a:t>
            </a:r>
            <a:br>
              <a:rPr kumimoji="1" lang="en-US" altLang="ja-JP"/>
            </a:br>
            <a:br>
              <a:rPr kumimoji="1" lang="en-US" altLang="ja-JP"/>
            </a:br>
            <a:r>
              <a:rPr kumimoji="1" lang="ja-JP" altLang="en-US"/>
              <a:t>次ページよりもう少し詳しくビジネスの皆さんへの関わり方について説明をさせていただきます。</a:t>
            </a:r>
            <a:br>
              <a:rPr kumimoji="1" lang="en-US" altLang="ja-JP"/>
            </a:br>
            <a:br>
              <a:rPr kumimoji="1" lang="en-US" altLang="ja-JP"/>
            </a:br>
            <a:endParaRPr kumimoji="1" lang="en-US" altLang="ja-JP"/>
          </a:p>
          <a:p>
            <a:endParaRPr kumimoji="1" lang="ja-JP" altLang="en-US"/>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28</a:t>
            </a:fld>
            <a:endParaRPr lang="en-US"/>
          </a:p>
        </p:txBody>
      </p:sp>
    </p:spTree>
    <p:extLst>
      <p:ext uri="{BB962C8B-B14F-4D97-AF65-F5344CB8AC3E}">
        <p14:creationId xmlns:p14="http://schemas.microsoft.com/office/powerpoint/2010/main" val="23715463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まず、「マスタデータ移行」というのは、何か？という点ですが、</a:t>
            </a:r>
            <a:endParaRPr kumimoji="1" lang="en-US" altLang="ja-JP"/>
          </a:p>
          <a:p>
            <a:endParaRPr kumimoji="1" lang="en-US" altLang="ja-JP"/>
          </a:p>
          <a:p>
            <a:r>
              <a:rPr kumimoji="1" lang="ja-JP" altLang="en-US"/>
              <a:t>今</a:t>
            </a:r>
            <a:r>
              <a:rPr kumimoji="1" lang="en-US" altLang="ja-JP" err="1"/>
              <a:t>TomorrowChain</a:t>
            </a:r>
            <a:r>
              <a:rPr kumimoji="1" lang="ja-JP" altLang="en-US"/>
              <a:t>に登録されているデータのうち、何を新しいトライアル西友の</a:t>
            </a:r>
            <a:r>
              <a:rPr kumimoji="1" lang="en-US" altLang="ja-JP"/>
              <a:t>MD</a:t>
            </a:r>
            <a:r>
              <a:rPr kumimoji="1" lang="ja-JP" altLang="en-US"/>
              <a:t>基幹へ移行するべきなのかを特定させて、</a:t>
            </a:r>
            <a:r>
              <a:rPr kumimoji="1" lang="en-US" altLang="ja-JP"/>
              <a:t>2027</a:t>
            </a:r>
            <a:r>
              <a:rPr kumimoji="1" lang="ja-JP" altLang="en-US"/>
              <a:t>年５月までには移行を完了させて、</a:t>
            </a:r>
            <a:r>
              <a:rPr kumimoji="1" lang="en-US" altLang="ja-JP"/>
              <a:t>2027</a:t>
            </a:r>
            <a:r>
              <a:rPr kumimoji="1" lang="ja-JP" altLang="en-US"/>
              <a:t>年６月より本格稼働する周辺システムとの連携、店舗コンバージョンへと進めます。</a:t>
            </a:r>
            <a:endParaRPr kumimoji="1" lang="en-US" altLang="ja-JP"/>
          </a:p>
          <a:p>
            <a:endParaRPr kumimoji="1" lang="en-US" altLang="ja-JP"/>
          </a:p>
          <a:p>
            <a:r>
              <a:rPr kumimoji="1" lang="ja-JP" altLang="en-US"/>
              <a:t>マスタ移行対象となるマスタの特定をします</a:t>
            </a:r>
            <a:endParaRPr kumimoji="1" lang="en-US" altLang="ja-JP"/>
          </a:p>
          <a:p>
            <a:endParaRPr kumimoji="1" lang="en-US" altLang="ja-JP"/>
          </a:p>
          <a:p>
            <a:r>
              <a:rPr kumimoji="1" lang="ja-JP" altLang="en-US"/>
              <a:t>しかし、商品マスタなどは現在約</a:t>
            </a:r>
            <a:r>
              <a:rPr kumimoji="1" lang="en-US" altLang="ja-JP"/>
              <a:t>74</a:t>
            </a:r>
            <a:r>
              <a:rPr kumimoji="1" lang="ja-JP" altLang="en-US"/>
              <a:t>万件あり、この規模での移行というのは、移行方法次第では、かなりワークロードを要する作業にもなり、リソースが必要となってきます。</a:t>
            </a:r>
            <a:endParaRPr kumimoji="1" lang="en-US" altLang="ja-JP"/>
          </a:p>
          <a:p>
            <a:r>
              <a:rPr kumimoji="1" lang="ja-JP" altLang="en-US"/>
              <a:t>カーブアウト切替当時をご存知の方は、マスタ不備で１年以上業務に影響を与えた記憶がまだあると思いますが、</a:t>
            </a:r>
            <a:endParaRPr kumimoji="1" lang="en-US" altLang="ja-JP"/>
          </a:p>
          <a:p>
            <a:endParaRPr kumimoji="1" lang="en-US" altLang="ja-JP"/>
          </a:p>
          <a:p>
            <a:r>
              <a:rPr kumimoji="1" lang="ja-JP" altLang="en-US"/>
              <a:t>マスタは絶対に軽くしておく必要があります。そのためにも「マスタデータクレンジング」は必要となります。</a:t>
            </a:r>
            <a:endParaRPr kumimoji="1" lang="en-US" altLang="ja-JP"/>
          </a:p>
          <a:p>
            <a:r>
              <a:rPr kumimoji="1" lang="ja-JP" altLang="en-US"/>
              <a:t>　　ここにも記載していますが、ある一定のルールを設けて、削除や売り尽くしなどをしていく、「今後使うから」は必要になったときに登録をし直すことを考えて、移行前に削除をして「軽くする」ことを最優先にしていただきたいと思います。</a:t>
            </a:r>
            <a:endParaRPr kumimoji="1" lang="en-US" altLang="ja-JP"/>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29</a:t>
            </a:fld>
            <a:endParaRPr lang="en-US"/>
          </a:p>
        </p:txBody>
      </p:sp>
    </p:spTree>
    <p:extLst>
      <p:ext uri="{BB962C8B-B14F-4D97-AF65-F5344CB8AC3E}">
        <p14:creationId xmlns:p14="http://schemas.microsoft.com/office/powerpoint/2010/main" val="16401982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前のページと重複しますが、マスタデータ移行には、マスタのデータクレンジング、稼働している商品が存在しているように、一部の店舗で倉庫で眠っているような商品があれば、</a:t>
            </a:r>
            <a:endParaRPr kumimoji="1" lang="en-US" altLang="ja-JP"/>
          </a:p>
          <a:p>
            <a:r>
              <a:rPr kumimoji="1" lang="ja-JP" altLang="en-US"/>
              <a:t>売りつくして、マスタは削除するような対応をとらなければ、なかなかデータは減らないと思いますので、ご理解の程お願いします。</a:t>
            </a:r>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30</a:t>
            </a:fld>
            <a:endParaRPr lang="en-US"/>
          </a:p>
        </p:txBody>
      </p:sp>
    </p:spTree>
    <p:extLst>
      <p:ext uri="{BB962C8B-B14F-4D97-AF65-F5344CB8AC3E}">
        <p14:creationId xmlns:p14="http://schemas.microsoft.com/office/powerpoint/2010/main" val="37620620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006BE02D-20C0-F840-AFAC-BEA99C74FDC2}" type="slidenum">
              <a:rPr lang="en-US" smtClean="0"/>
              <a:pPr/>
              <a:t>31</a:t>
            </a:fld>
            <a:endParaRPr lang="en-US"/>
          </a:p>
        </p:txBody>
      </p:sp>
    </p:spTree>
    <p:extLst>
      <p:ext uri="{BB962C8B-B14F-4D97-AF65-F5344CB8AC3E}">
        <p14:creationId xmlns:p14="http://schemas.microsoft.com/office/powerpoint/2010/main" val="1757842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0" name="Google Shape;260;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p:cSld name="タイトル">
    <p:spTree>
      <p:nvGrpSpPr>
        <p:cNvPr id="1" name="Shape 14"/>
        <p:cNvGrpSpPr/>
        <p:nvPr/>
      </p:nvGrpSpPr>
      <p:grpSpPr>
        <a:xfrm>
          <a:off x="0" y="0"/>
          <a:ext cx="0" cy="0"/>
          <a:chOff x="0" y="0"/>
          <a:chExt cx="0" cy="0"/>
        </a:xfrm>
      </p:grpSpPr>
      <p:sp>
        <p:nvSpPr>
          <p:cNvPr id="15" name="Google Shape;15;p33"/>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pic>
        <p:nvPicPr>
          <p:cNvPr id="16" name="Google Shape;16;p33"/>
          <p:cNvPicPr preferRelativeResize="0"/>
          <p:nvPr/>
        </p:nvPicPr>
        <p:blipFill rotWithShape="1">
          <a:blip r:embed="rId2">
            <a:alphaModFix/>
          </a:blip>
          <a:srcRect/>
          <a:stretch/>
        </p:blipFill>
        <p:spPr>
          <a:xfrm>
            <a:off x="7277477" y="1460782"/>
            <a:ext cx="3761558" cy="37920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 Title Only">
  <p:cSld name="D. Title Only">
    <p:spTree>
      <p:nvGrpSpPr>
        <p:cNvPr id="1" name="Shape 17"/>
        <p:cNvGrpSpPr/>
        <p:nvPr/>
      </p:nvGrpSpPr>
      <p:grpSpPr>
        <a:xfrm>
          <a:off x="0" y="0"/>
          <a:ext cx="0" cy="0"/>
          <a:chOff x="0" y="0"/>
          <a:chExt cx="0" cy="0"/>
        </a:xfrm>
      </p:grpSpPr>
      <p:sp>
        <p:nvSpPr>
          <p:cNvPr id="18" name="Google Shape;18;p38"/>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rgbClr val="012916"/>
              </a:buClr>
              <a:buSzPts val="1800"/>
              <a:buFont typeface="MS PGothic"/>
              <a:buNone/>
              <a:defRPr sz="2400" b="1" i="0" u="none" strike="noStrike" cap="none">
                <a:solidFill>
                  <a:srgbClr val="2B2B2B"/>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pic>
        <p:nvPicPr>
          <p:cNvPr id="19" name="Google Shape;19;p38" descr="アイコン&#10;&#10;自動的に生成された説明"/>
          <p:cNvPicPr preferRelativeResize="0"/>
          <p:nvPr/>
        </p:nvPicPr>
        <p:blipFill rotWithShape="1">
          <a:blip r:embed="rId2">
            <a:alphaModFix/>
          </a:blip>
          <a:srcRect/>
          <a:stretch/>
        </p:blipFill>
        <p:spPr>
          <a:xfrm>
            <a:off x="253410" y="6356353"/>
            <a:ext cx="1956391" cy="351081"/>
          </a:xfrm>
          <a:prstGeom prst="rect">
            <a:avLst/>
          </a:prstGeom>
          <a:noFill/>
          <a:ln>
            <a:noFill/>
          </a:ln>
        </p:spPr>
      </p:pic>
      <p:pic>
        <p:nvPicPr>
          <p:cNvPr id="20" name="Google Shape;20;p38"/>
          <p:cNvPicPr preferRelativeResize="0"/>
          <p:nvPr/>
        </p:nvPicPr>
        <p:blipFill rotWithShape="1">
          <a:blip r:embed="rId3">
            <a:alphaModFix amt="20000"/>
          </a:blip>
          <a:srcRect t="15420"/>
          <a:stretch/>
        </p:blipFill>
        <p:spPr>
          <a:xfrm>
            <a:off x="10776779" y="164638"/>
            <a:ext cx="1223877" cy="696044"/>
          </a:xfrm>
          <a:prstGeom prst="rect">
            <a:avLst/>
          </a:prstGeom>
          <a:noFill/>
          <a:ln>
            <a:noFill/>
          </a:ln>
        </p:spPr>
      </p:pic>
      <p:pic>
        <p:nvPicPr>
          <p:cNvPr id="21" name="Google Shape;21;p38" descr="グラフィカル ユーザー インターフェイス&#10;&#10;低い精度で自動的に生成された説明"/>
          <p:cNvPicPr preferRelativeResize="0"/>
          <p:nvPr/>
        </p:nvPicPr>
        <p:blipFill rotWithShape="1">
          <a:blip r:embed="rId4">
            <a:alphaModFix/>
          </a:blip>
          <a:srcRect l="38795" t="87818" r="49091" b="6361"/>
          <a:stretch/>
        </p:blipFill>
        <p:spPr>
          <a:xfrm>
            <a:off x="2209800" y="6345751"/>
            <a:ext cx="1230285" cy="3324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タイトル">
  <p:cSld name="2_タイトル">
    <p:spTree>
      <p:nvGrpSpPr>
        <p:cNvPr id="1" name="Shape 22"/>
        <p:cNvGrpSpPr/>
        <p:nvPr/>
      </p:nvGrpSpPr>
      <p:grpSpPr>
        <a:xfrm>
          <a:off x="0" y="0"/>
          <a:ext cx="0" cy="0"/>
          <a:chOff x="0" y="0"/>
          <a:chExt cx="0" cy="0"/>
        </a:xfrm>
      </p:grpSpPr>
      <p:sp>
        <p:nvSpPr>
          <p:cNvPr id="23" name="Google Shape;23;p3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pic>
        <p:nvPicPr>
          <p:cNvPr id="24" name="Google Shape;24;p36"/>
          <p:cNvPicPr preferRelativeResize="0"/>
          <p:nvPr/>
        </p:nvPicPr>
        <p:blipFill rotWithShape="1">
          <a:blip r:embed="rId2">
            <a:alphaModFix amt="20000"/>
          </a:blip>
          <a:srcRect/>
          <a:stretch/>
        </p:blipFill>
        <p:spPr>
          <a:xfrm>
            <a:off x="7277477" y="1460782"/>
            <a:ext cx="3761558" cy="3792041"/>
          </a:xfrm>
          <a:prstGeom prst="rect">
            <a:avLst/>
          </a:prstGeom>
          <a:noFill/>
          <a:ln>
            <a:noFill/>
          </a:ln>
        </p:spPr>
      </p:pic>
      <p:sp>
        <p:nvSpPr>
          <p:cNvPr id="25" name="Google Shape;25;p36"/>
          <p:cNvSpPr txBox="1">
            <a:spLocks noGrp="1"/>
          </p:cNvSpPr>
          <p:nvPr>
            <p:ph type="title"/>
          </p:nvPr>
        </p:nvSpPr>
        <p:spPr>
          <a:xfrm>
            <a:off x="515380" y="2852936"/>
            <a:ext cx="4932548" cy="1184009"/>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ユーザー設定レイアウト">
  <p:cSld name="2_ユーザー設定レイアウト">
    <p:spTree>
      <p:nvGrpSpPr>
        <p:cNvPr id="1" name="Shape 26"/>
        <p:cNvGrpSpPr/>
        <p:nvPr/>
      </p:nvGrpSpPr>
      <p:grpSpPr>
        <a:xfrm>
          <a:off x="0" y="0"/>
          <a:ext cx="0" cy="0"/>
          <a:chOff x="0" y="0"/>
          <a:chExt cx="0" cy="0"/>
        </a:xfrm>
      </p:grpSpPr>
      <p:pic>
        <p:nvPicPr>
          <p:cNvPr id="27" name="Google Shape;27;p37" descr="黒い背景と白い文字&#10;&#10;自動的に生成された説明"/>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28" name="Google Shape;28;p3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pic>
        <p:nvPicPr>
          <p:cNvPr id="29" name="Google Shape;29;p37"/>
          <p:cNvPicPr preferRelativeResize="0"/>
          <p:nvPr/>
        </p:nvPicPr>
        <p:blipFill rotWithShape="1">
          <a:blip r:embed="rId3">
            <a:alphaModFix/>
          </a:blip>
          <a:srcRect/>
          <a:stretch/>
        </p:blipFill>
        <p:spPr>
          <a:xfrm>
            <a:off x="4215221" y="1545171"/>
            <a:ext cx="3761558" cy="379204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タイトル">
  <p:cSld name="1_タイトル">
    <p:spTree>
      <p:nvGrpSpPr>
        <p:cNvPr id="1" name="Shape 30"/>
        <p:cNvGrpSpPr/>
        <p:nvPr/>
      </p:nvGrpSpPr>
      <p:grpSpPr>
        <a:xfrm>
          <a:off x="0" y="0"/>
          <a:ext cx="0" cy="0"/>
          <a:chOff x="0" y="0"/>
          <a:chExt cx="0" cy="0"/>
        </a:xfrm>
      </p:grpSpPr>
      <p:sp>
        <p:nvSpPr>
          <p:cNvPr id="31" name="Google Shape;31;p3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050"/>
              <a:buFont typeface="Arial"/>
              <a:buNone/>
            </a:pPr>
            <a:endParaRPr sz="1050" b="0" i="0" u="none" strike="noStrike" cap="none">
              <a:solidFill>
                <a:schemeClr val="lt1"/>
              </a:solidFill>
              <a:latin typeface="Arial"/>
              <a:ea typeface="Arial"/>
              <a:cs typeface="Arial"/>
              <a:sym typeface="Arial"/>
            </a:endParaRPr>
          </a:p>
        </p:txBody>
      </p:sp>
      <p:pic>
        <p:nvPicPr>
          <p:cNvPr id="32" name="Google Shape;32;p35"/>
          <p:cNvPicPr preferRelativeResize="0"/>
          <p:nvPr/>
        </p:nvPicPr>
        <p:blipFill rotWithShape="1">
          <a:blip r:embed="rId2">
            <a:alphaModFix amt="20000"/>
          </a:blip>
          <a:srcRect/>
          <a:stretch/>
        </p:blipFill>
        <p:spPr>
          <a:xfrm>
            <a:off x="7277477" y="1460782"/>
            <a:ext cx="3761558" cy="3792041"/>
          </a:xfrm>
          <a:prstGeom prst="rect">
            <a:avLst/>
          </a:prstGeom>
          <a:noFill/>
          <a:ln>
            <a:noFill/>
          </a:ln>
        </p:spPr>
      </p:pic>
      <p:sp>
        <p:nvSpPr>
          <p:cNvPr id="33" name="Google Shape;33;p35"/>
          <p:cNvSpPr txBox="1">
            <a:spLocks noGrp="1"/>
          </p:cNvSpPr>
          <p:nvPr>
            <p:ph type="title"/>
          </p:nvPr>
        </p:nvSpPr>
        <p:spPr>
          <a:xfrm>
            <a:off x="515380" y="2852936"/>
            <a:ext cx="4932548" cy="1184009"/>
          </a:xfrm>
          <a:prstGeom prst="rect">
            <a:avLst/>
          </a:prstGeom>
          <a:noFill/>
          <a:ln>
            <a:noFill/>
          </a:ln>
        </p:spPr>
        <p:txBody>
          <a:bodyPr spcFirstLastPara="1" wrap="square" lIns="0" tIns="0" rIns="0" bIns="0" anchor="ctr" anchorCtr="0">
            <a:noAutofit/>
          </a:bodyPr>
          <a:lstStyle>
            <a:lvl1pPr marR="0" lvl="0" algn="l" rtl="0">
              <a:lnSpc>
                <a:spcPct val="90000"/>
              </a:lnSpc>
              <a:spcBef>
                <a:spcPts val="0"/>
              </a:spcBef>
              <a:spcAft>
                <a:spcPts val="0"/>
              </a:spcAft>
              <a:buClr>
                <a:schemeClr val="dk1"/>
              </a:buClr>
              <a:buSzPts val="2800"/>
              <a:buFont typeface="Arial"/>
              <a:buNone/>
              <a:defRPr sz="28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白紙">
    <p:spTree>
      <p:nvGrpSpPr>
        <p:cNvPr id="1" name=""/>
        <p:cNvGrpSpPr/>
        <p:nvPr/>
      </p:nvGrpSpPr>
      <p:grpSpPr>
        <a:xfrm>
          <a:off x="0" y="0"/>
          <a:ext cx="0" cy="0"/>
          <a:chOff x="0" y="0"/>
          <a:chExt cx="0" cy="0"/>
        </a:xfrm>
      </p:grpSpPr>
      <p:sp>
        <p:nvSpPr>
          <p:cNvPr id="2" name="Google Shape;10;p11">
            <a:extLst>
              <a:ext uri="{FF2B5EF4-FFF2-40B4-BE49-F238E27FC236}">
                <a16:creationId xmlns:a16="http://schemas.microsoft.com/office/drawing/2014/main" id="{72FE1597-8F99-3302-1E76-F0A098CA90D4}"/>
              </a:ext>
            </a:extLst>
          </p:cNvPr>
          <p:cNvSpPr txBox="1">
            <a:spLocks noGrp="1"/>
          </p:cNvSpPr>
          <p:nvPr>
            <p:ph type="title"/>
          </p:nvPr>
        </p:nvSpPr>
        <p:spPr>
          <a:xfrm>
            <a:off x="527760" y="396301"/>
            <a:ext cx="1093360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012916"/>
              </a:buClr>
              <a:buSzPts val="1800"/>
              <a:buFont typeface="MS PGothic"/>
              <a:buNone/>
              <a:defRPr sz="2400" b="1">
                <a:latin typeface="Meiryo"/>
                <a:ea typeface="Meiryo"/>
                <a:cs typeface="Meiryo"/>
                <a:sym typeface="Meiryo"/>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extLst>
      <p:ext uri="{BB962C8B-B14F-4D97-AF65-F5344CB8AC3E}">
        <p14:creationId xmlns:p14="http://schemas.microsoft.com/office/powerpoint/2010/main" val="2795976722"/>
      </p:ext>
    </p:extLst>
  </p:cSld>
  <p:clrMapOvr>
    <a:masterClrMapping/>
  </p:clrMapOvr>
  <p:extLst>
    <p:ext uri="{DCECCB84-F9BA-43D5-87BE-67443E8EF086}">
      <p15:sldGuideLst xmlns:p15="http://schemas.microsoft.com/office/powerpoint/2012/main">
        <p15:guide id="1" pos="3840">
          <p15:clr>
            <a:srgbClr val="FBAE40"/>
          </p15:clr>
        </p15:guide>
        <p15:guide id="2" orient="horz" pos="3952">
          <p15:clr>
            <a:srgbClr val="FBAE40"/>
          </p15:clr>
        </p15:guide>
        <p15:guide id="3" pos="325">
          <p15:clr>
            <a:srgbClr val="FBAE40"/>
          </p15:clr>
        </p15:guide>
        <p15:guide id="4" pos="7355">
          <p15:clr>
            <a:srgbClr val="FBAE40"/>
          </p15:clr>
        </p15:guide>
        <p15:guide id="5" orient="horz" pos="686">
          <p15:clr>
            <a:srgbClr val="FBAE40"/>
          </p15:clr>
        </p15:guide>
        <p15:guide id="6" orient="horz" pos="231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32" descr="アイコン&#10;&#10;自動的に生成された説明"/>
          <p:cNvPicPr preferRelativeResize="0"/>
          <p:nvPr/>
        </p:nvPicPr>
        <p:blipFill rotWithShape="1">
          <a:blip r:embed="rId8">
            <a:alphaModFix/>
          </a:blip>
          <a:srcRect/>
          <a:stretch/>
        </p:blipFill>
        <p:spPr>
          <a:xfrm>
            <a:off x="253410" y="6356353"/>
            <a:ext cx="1956391" cy="351081"/>
          </a:xfrm>
          <a:prstGeom prst="rect">
            <a:avLst/>
          </a:prstGeom>
          <a:noFill/>
          <a:ln>
            <a:noFill/>
          </a:ln>
        </p:spPr>
      </p:pic>
      <p:pic>
        <p:nvPicPr>
          <p:cNvPr id="11" name="Google Shape;11;p32" descr="グラフィカル ユーザー インターフェイス&#10;&#10;低い精度で自動的に生成された説明"/>
          <p:cNvPicPr preferRelativeResize="0"/>
          <p:nvPr/>
        </p:nvPicPr>
        <p:blipFill rotWithShape="1">
          <a:blip r:embed="rId9">
            <a:alphaModFix/>
          </a:blip>
          <a:srcRect l="38795" t="87818" r="49091" b="6361"/>
          <a:stretch/>
        </p:blipFill>
        <p:spPr>
          <a:xfrm>
            <a:off x="2209800" y="6345751"/>
            <a:ext cx="1230285" cy="332400"/>
          </a:xfrm>
          <a:prstGeom prst="rect">
            <a:avLst/>
          </a:prstGeom>
          <a:noFill/>
          <a:ln>
            <a:noFill/>
          </a:ln>
        </p:spPr>
      </p:pic>
      <p:pic>
        <p:nvPicPr>
          <p:cNvPr id="12" name="Google Shape;12;p32"/>
          <p:cNvPicPr preferRelativeResize="0"/>
          <p:nvPr/>
        </p:nvPicPr>
        <p:blipFill rotWithShape="1">
          <a:blip r:embed="rId10">
            <a:alphaModFix amt="20000"/>
          </a:blip>
          <a:srcRect t="15420"/>
          <a:stretch/>
        </p:blipFill>
        <p:spPr>
          <a:xfrm>
            <a:off x="10776520" y="152636"/>
            <a:ext cx="1223877" cy="696044"/>
          </a:xfrm>
          <a:prstGeom prst="rect">
            <a:avLst/>
          </a:prstGeom>
          <a:noFill/>
          <a:ln>
            <a:noFill/>
          </a:ln>
        </p:spPr>
      </p:pic>
      <p:sp>
        <p:nvSpPr>
          <p:cNvPr id="13" name="Google Shape;13;p32"/>
          <p:cNvSpPr txBox="1"/>
          <p:nvPr/>
        </p:nvSpPr>
        <p:spPr>
          <a:xfrm>
            <a:off x="10848528" y="6273316"/>
            <a:ext cx="826807" cy="280759"/>
          </a:xfrm>
          <a:prstGeom prst="rect">
            <a:avLst/>
          </a:prstGeom>
          <a:noFill/>
          <a:ln>
            <a:noFill/>
          </a:ln>
        </p:spPr>
        <p:txBody>
          <a:bodyPr spcFirstLastPara="1" wrap="square" lIns="90000"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altLang="ja-JP" sz="1200" b="0" i="0" u="none" strike="noStrike" cap="none">
                <a:solidFill>
                  <a:srgbClr val="888888"/>
                </a:solidFill>
                <a:latin typeface="Arial"/>
                <a:ea typeface="Arial"/>
                <a:cs typeface="Arial"/>
                <a:sym typeface="Arial"/>
              </a:rPr>
              <a:t>‹#›</a:t>
            </a:fld>
            <a:endParaRPr sz="1200" b="0" i="0" u="none" strike="noStrike" cap="none">
              <a:solidFill>
                <a:srgbClr val="888888"/>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11.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pic>
        <p:nvPicPr>
          <p:cNvPr id="38" name="Google Shape;38;p2" descr="赤い背景と白い文字&#10;&#10;自動的に生成された説明"/>
          <p:cNvPicPr preferRelativeResize="0"/>
          <p:nvPr/>
        </p:nvPicPr>
        <p:blipFill rotWithShape="1">
          <a:blip r:embed="rId3">
            <a:alphaModFix/>
          </a:blip>
          <a:srcRect/>
          <a:stretch/>
        </p:blipFill>
        <p:spPr>
          <a:xfrm>
            <a:off x="7277477" y="1460782"/>
            <a:ext cx="3763072" cy="3791885"/>
          </a:xfrm>
          <a:prstGeom prst="rect">
            <a:avLst/>
          </a:prstGeom>
          <a:noFill/>
          <a:ln>
            <a:noFill/>
          </a:ln>
        </p:spPr>
      </p:pic>
      <p:sp>
        <p:nvSpPr>
          <p:cNvPr id="39" name="Google Shape;39;p2"/>
          <p:cNvSpPr/>
          <p:nvPr/>
        </p:nvSpPr>
        <p:spPr>
          <a:xfrm>
            <a:off x="630001" y="5403998"/>
            <a:ext cx="4004344" cy="27699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ja-JP" sz="1800" b="1" i="0" u="none" strike="noStrike" cap="none">
                <a:solidFill>
                  <a:schemeClr val="tx1"/>
                </a:solidFill>
                <a:latin typeface="Meiryo"/>
                <a:ea typeface="Meiryo"/>
                <a:cs typeface="Meiryo"/>
                <a:sym typeface="Meiryo"/>
              </a:rPr>
              <a:t>20</a:t>
            </a:r>
            <a:r>
              <a:rPr lang="en-US" altLang="ja-JP" sz="1800" b="1">
                <a:solidFill>
                  <a:schemeClr val="tx1"/>
                </a:solidFill>
                <a:latin typeface="Meiryo"/>
                <a:ea typeface="Meiryo"/>
                <a:cs typeface="Meiryo"/>
                <a:sym typeface="Meiryo"/>
              </a:rPr>
              <a:t>26</a:t>
            </a:r>
            <a:r>
              <a:rPr lang="ja-JP" sz="1800" b="1" i="0" u="none" strike="noStrike" cap="none">
                <a:solidFill>
                  <a:schemeClr val="tx1"/>
                </a:solidFill>
                <a:latin typeface="Meiryo"/>
                <a:ea typeface="Meiryo"/>
                <a:cs typeface="Meiryo"/>
                <a:sym typeface="Meiryo"/>
              </a:rPr>
              <a:t>年</a:t>
            </a:r>
            <a:r>
              <a:rPr lang="en-US" altLang="ja-JP" sz="1800" b="1">
                <a:solidFill>
                  <a:schemeClr val="tx1"/>
                </a:solidFill>
                <a:latin typeface="Meiryo"/>
                <a:ea typeface="Meiryo"/>
                <a:cs typeface="Meiryo"/>
                <a:sym typeface="Meiryo"/>
              </a:rPr>
              <a:t>３</a:t>
            </a:r>
            <a:r>
              <a:rPr lang="ja-JP" sz="1800" b="1" i="0" u="none" strike="noStrike" cap="none">
                <a:solidFill>
                  <a:schemeClr val="tx1"/>
                </a:solidFill>
                <a:latin typeface="Meiryo"/>
                <a:ea typeface="Meiryo"/>
                <a:cs typeface="Meiryo"/>
                <a:sym typeface="Meiryo"/>
              </a:rPr>
              <a:t>月</a:t>
            </a:r>
            <a:r>
              <a:rPr lang="en-US" altLang="ja-JP" sz="1800" b="1">
                <a:solidFill>
                  <a:schemeClr val="tx1"/>
                </a:solidFill>
                <a:latin typeface="Meiryo"/>
                <a:ea typeface="Meiryo"/>
                <a:cs typeface="Meiryo"/>
                <a:sym typeface="Meiryo"/>
              </a:rPr>
              <a:t>31日</a:t>
            </a:r>
            <a:r>
              <a:rPr lang="en-US" altLang="ja-JP" sz="1800" b="1" i="0" u="none" strike="noStrike" cap="none">
                <a:solidFill>
                  <a:schemeClr val="tx1"/>
                </a:solidFill>
                <a:latin typeface="Meiryo"/>
                <a:ea typeface="Meiryo"/>
                <a:cs typeface="Meiryo"/>
                <a:sym typeface="Meiryo"/>
              </a:rPr>
              <a:t> </a:t>
            </a:r>
            <a:r>
              <a:rPr lang="en-US" altLang="ja-JP" sz="1800" b="1">
                <a:solidFill>
                  <a:schemeClr val="tx1"/>
                </a:solidFill>
                <a:latin typeface="Meiryo"/>
                <a:ea typeface="Meiryo"/>
                <a:cs typeface="Meiryo"/>
                <a:sym typeface="Meiryo"/>
              </a:rPr>
              <a:t>MDSCM</a:t>
            </a:r>
            <a:r>
              <a:rPr lang="ja-JP" altLang="en-US" sz="1800" b="1">
                <a:solidFill>
                  <a:schemeClr val="tx1"/>
                </a:solidFill>
                <a:latin typeface="Meiryo"/>
                <a:ea typeface="Meiryo"/>
                <a:cs typeface="Meiryo"/>
                <a:sym typeface="Meiryo"/>
              </a:rPr>
              <a:t>グループ</a:t>
            </a:r>
            <a:endParaRPr sz="1800" b="1" i="0" u="none" strike="noStrike" cap="none">
              <a:solidFill>
                <a:schemeClr val="tx1"/>
              </a:solidFill>
              <a:latin typeface="Meiryo"/>
              <a:ea typeface="Meiryo"/>
              <a:cs typeface="Meiryo"/>
              <a:sym typeface="Meiryo"/>
            </a:endParaRPr>
          </a:p>
        </p:txBody>
      </p:sp>
      <p:sp>
        <p:nvSpPr>
          <p:cNvPr id="41" name="Google Shape;41;p2"/>
          <p:cNvSpPr txBox="1"/>
          <p:nvPr/>
        </p:nvSpPr>
        <p:spPr>
          <a:xfrm>
            <a:off x="630001" y="1304917"/>
            <a:ext cx="6359670" cy="2442464"/>
          </a:xfrm>
          <a:prstGeom prst="rect">
            <a:avLst/>
          </a:prstGeom>
          <a:noFill/>
          <a:ln>
            <a:noFill/>
          </a:ln>
        </p:spPr>
        <p:txBody>
          <a:bodyPr spcFirstLastPara="1" wrap="square" lIns="0" tIns="0" rIns="0" bIns="0" anchor="t" anchorCtr="0">
            <a:spAutoFit/>
          </a:bodyPr>
          <a:lstStyle/>
          <a:p>
            <a:pPr marL="0" marR="0" lvl="0" indent="0" algn="l" rtl="0">
              <a:lnSpc>
                <a:spcPct val="127777"/>
              </a:lnSpc>
              <a:spcBef>
                <a:spcPts val="0"/>
              </a:spcBef>
              <a:spcAft>
                <a:spcPts val="0"/>
              </a:spcAft>
              <a:buClr>
                <a:schemeClr val="dk1"/>
              </a:buClr>
              <a:buSzPts val="3200"/>
              <a:buFont typeface="Meiryo"/>
              <a:buNone/>
            </a:pPr>
            <a:r>
              <a:rPr lang="ja-JP" sz="2000" b="1" i="0" u="none" strike="noStrike" cap="none">
                <a:solidFill>
                  <a:srgbClr val="7F7F7F"/>
                </a:solidFill>
                <a:latin typeface="Meiryo"/>
                <a:ea typeface="Meiryo"/>
                <a:cs typeface="Meiryo"/>
                <a:sym typeface="Meiryo"/>
              </a:rPr>
              <a:t>Project West</a:t>
            </a:r>
            <a:br>
              <a:rPr lang="ja-JP" sz="2000" b="1" i="0" u="none" strike="noStrike" cap="none">
                <a:latin typeface="Meiryo"/>
                <a:ea typeface="Meiryo"/>
                <a:cs typeface="Meiryo"/>
              </a:rPr>
            </a:br>
            <a:r>
              <a:rPr lang="ja-JP" sz="2000" b="1" i="0" u="none" strike="noStrike" cap="none">
                <a:solidFill>
                  <a:srgbClr val="7F7F7F"/>
                </a:solidFill>
                <a:latin typeface="Meiryo"/>
                <a:ea typeface="Meiryo"/>
                <a:cs typeface="Meiryo"/>
                <a:sym typeface="Meiryo"/>
              </a:rPr>
              <a:t>情報システム・施策番号：</a:t>
            </a:r>
            <a:r>
              <a:rPr lang="en-US" altLang="ja-JP" sz="2000" b="1">
                <a:solidFill>
                  <a:srgbClr val="7F7F7F"/>
                </a:solidFill>
                <a:latin typeface="Meiryo"/>
                <a:ea typeface="Meiryo"/>
                <a:cs typeface="Meiryo"/>
                <a:sym typeface="Meiryo"/>
              </a:rPr>
              <a:t>11</a:t>
            </a:r>
            <a:endParaRPr lang="en-US" altLang="ja-JP" sz="2000" b="1">
              <a:solidFill>
                <a:schemeClr val="bg1">
                  <a:lumMod val="50000"/>
                </a:schemeClr>
              </a:solidFill>
              <a:latin typeface="Meiryo"/>
              <a:ea typeface="Meiryo"/>
            </a:endParaRPr>
          </a:p>
          <a:p>
            <a:pPr marL="0" marR="0" lvl="0" indent="0" algn="l" rtl="0">
              <a:lnSpc>
                <a:spcPct val="127777"/>
              </a:lnSpc>
              <a:spcBef>
                <a:spcPts val="0"/>
              </a:spcBef>
              <a:spcAft>
                <a:spcPts val="0"/>
              </a:spcAft>
              <a:buClr>
                <a:schemeClr val="dk1"/>
              </a:buClr>
              <a:buSzPts val="3200"/>
              <a:buFont typeface="Meiryo"/>
              <a:buNone/>
            </a:pPr>
            <a:endParaRPr sz="2000" b="1" i="0" u="none" strike="noStrike" cap="none">
              <a:solidFill>
                <a:schemeClr val="accent5"/>
              </a:solidFill>
              <a:latin typeface="Meiryo"/>
              <a:ea typeface="Meiryo"/>
              <a:cs typeface="Meiryo"/>
              <a:sym typeface="Meiryo"/>
            </a:endParaRPr>
          </a:p>
          <a:p>
            <a:pPr marL="0" marR="0" lvl="0" indent="0" algn="l" rtl="0">
              <a:lnSpc>
                <a:spcPct val="127777"/>
              </a:lnSpc>
              <a:spcBef>
                <a:spcPts val="0"/>
              </a:spcBef>
              <a:spcAft>
                <a:spcPts val="0"/>
              </a:spcAft>
              <a:buClr>
                <a:schemeClr val="dk1"/>
              </a:buClr>
              <a:buSzPts val="3200"/>
              <a:buFont typeface="Meiryo"/>
              <a:buNone/>
            </a:pPr>
            <a:r>
              <a:rPr lang="ja-JP" altLang="en-US" sz="3200" b="1">
                <a:solidFill>
                  <a:schemeClr val="tx1"/>
                </a:solidFill>
                <a:latin typeface="Meiryo"/>
                <a:ea typeface="Meiryo"/>
                <a:cs typeface="Meiryo"/>
                <a:sym typeface="Meiryo"/>
              </a:rPr>
              <a:t>商品マスタ統合</a:t>
            </a:r>
            <a:br>
              <a:rPr lang="ja-JP" sz="3200" b="1" i="0" u="none" strike="noStrike" cap="none">
                <a:latin typeface="Meiryo"/>
                <a:ea typeface="Meiryo"/>
                <a:cs typeface="Meiryo"/>
              </a:rPr>
            </a:br>
            <a:r>
              <a:rPr lang="ja-JP" sz="3200" b="1" i="0" u="none" strike="noStrike" cap="none">
                <a:solidFill>
                  <a:schemeClr val="dk1"/>
                </a:solidFill>
                <a:latin typeface="Meiryo"/>
                <a:ea typeface="Meiryo"/>
                <a:cs typeface="Meiryo"/>
                <a:sym typeface="Meiryo"/>
              </a:rPr>
              <a:t>プロジェクト計画書</a:t>
            </a:r>
            <a:endParaRPr sz="4000" b="1" i="0" u="none" strike="noStrike" cap="none">
              <a:solidFill>
                <a:schemeClr val="dk1"/>
              </a:solidFill>
              <a:latin typeface="Meiryo"/>
              <a:ea typeface="Meiryo"/>
              <a:cs typeface="Meiryo"/>
            </a:endParaRPr>
          </a:p>
        </p:txBody>
      </p:sp>
      <p:sp>
        <p:nvSpPr>
          <p:cNvPr id="2" name="四角形: 角を丸くする 1">
            <a:extLst>
              <a:ext uri="{FF2B5EF4-FFF2-40B4-BE49-F238E27FC236}">
                <a16:creationId xmlns:a16="http://schemas.microsoft.com/office/drawing/2014/main" id="{C86AD113-BDE5-FF61-A846-371150353358}"/>
              </a:ext>
            </a:extLst>
          </p:cNvPr>
          <p:cNvSpPr/>
          <p:nvPr/>
        </p:nvSpPr>
        <p:spPr>
          <a:xfrm>
            <a:off x="8835887" y="327992"/>
            <a:ext cx="1878496" cy="4572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dirty="0"/>
              <a:t>2026/5/8</a:t>
            </a:r>
            <a:r>
              <a:rPr kumimoji="1" lang="ja-JP" altLang="en-US" dirty="0"/>
              <a:t>更新版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
        <p:cNvGrpSpPr/>
        <p:nvPr/>
      </p:nvGrpSpPr>
      <p:grpSpPr>
        <a:xfrm>
          <a:off x="0" y="0"/>
          <a:ext cx="0" cy="0"/>
          <a:chOff x="0" y="0"/>
          <a:chExt cx="0" cy="0"/>
        </a:xfrm>
      </p:grpSpPr>
      <p:graphicFrame>
        <p:nvGraphicFramePr>
          <p:cNvPr id="48" name="Google Shape;48;p3"/>
          <p:cNvGraphicFramePr/>
          <p:nvPr>
            <p:extLst>
              <p:ext uri="{D42A27DB-BD31-4B8C-83A1-F6EECF244321}">
                <p14:modId xmlns:p14="http://schemas.microsoft.com/office/powerpoint/2010/main" val="1617628185"/>
              </p:ext>
            </p:extLst>
          </p:nvPr>
        </p:nvGraphicFramePr>
        <p:xfrm>
          <a:off x="1007435" y="1556792"/>
          <a:ext cx="10177125" cy="4431600"/>
        </p:xfrm>
        <a:graphic>
          <a:graphicData uri="http://schemas.openxmlformats.org/drawingml/2006/table">
            <a:tbl>
              <a:tblPr>
                <a:noFill/>
                <a:tableStyleId>{16DD54E9-F15A-4EFF-A1D8-E2CBB5DF2B52}</a:tableStyleId>
              </a:tblPr>
              <a:tblGrid>
                <a:gridCol w="545800">
                  <a:extLst>
                    <a:ext uri="{9D8B030D-6E8A-4147-A177-3AD203B41FA5}">
                      <a16:colId xmlns:a16="http://schemas.microsoft.com/office/drawing/2014/main" val="20000"/>
                    </a:ext>
                  </a:extLst>
                </a:gridCol>
                <a:gridCol w="8417325">
                  <a:extLst>
                    <a:ext uri="{9D8B030D-6E8A-4147-A177-3AD203B41FA5}">
                      <a16:colId xmlns:a16="http://schemas.microsoft.com/office/drawing/2014/main" val="20001"/>
                    </a:ext>
                  </a:extLst>
                </a:gridCol>
                <a:gridCol w="1214000">
                  <a:extLst>
                    <a:ext uri="{9D8B030D-6E8A-4147-A177-3AD203B41FA5}">
                      <a16:colId xmlns:a16="http://schemas.microsoft.com/office/drawing/2014/main" val="20002"/>
                    </a:ext>
                  </a:extLst>
                </a:gridCol>
              </a:tblGrid>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1</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背景・目的・ゴール</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ja-JP" altLang="en-US" sz="1900" b="1" i="0" u="none" strike="noStrike" cap="none">
                          <a:solidFill>
                            <a:srgbClr val="2B2B2B"/>
                          </a:solidFill>
                          <a:latin typeface="Meiryo"/>
                          <a:ea typeface="Meiryo"/>
                          <a:cs typeface="Meiryo"/>
                        </a:rPr>
                        <a:t>P.３</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2</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概要・アプローチ</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a:lnSpc>
                          <a:spcPct val="100000"/>
                        </a:lnSpc>
                        <a:spcBef>
                          <a:spcPts val="0"/>
                        </a:spcBef>
                        <a:spcAft>
                          <a:spcPts val="0"/>
                        </a:spcAft>
                        <a:buNone/>
                      </a:pPr>
                      <a:r>
                        <a:rPr lang="en-US" altLang="ja-JP" sz="1900" b="1" i="0" u="none" strike="noStrike" cap="none">
                          <a:solidFill>
                            <a:srgbClr val="2B2B2B"/>
                          </a:solidFill>
                          <a:latin typeface="Meiryo"/>
                          <a:ea typeface="Meiryo"/>
                          <a:cs typeface="Meiryo"/>
                        </a:rPr>
                        <a:t>P.4-9</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3</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スコープ</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a:lnSpc>
                          <a:spcPct val="100000"/>
                        </a:lnSpc>
                        <a:spcBef>
                          <a:spcPts val="0"/>
                        </a:spcBef>
                        <a:spcAft>
                          <a:spcPts val="0"/>
                        </a:spcAft>
                        <a:buNone/>
                      </a:pPr>
                      <a:r>
                        <a:rPr lang="en-US" altLang="ja-JP" sz="1900" b="1" i="0" u="none" strike="noStrike" cap="none">
                          <a:solidFill>
                            <a:srgbClr val="2B2B2B"/>
                          </a:solidFill>
                          <a:latin typeface="Meiryo"/>
                          <a:ea typeface="Meiryo"/>
                          <a:cs typeface="Meiryo"/>
                        </a:rPr>
                        <a:t>P.10</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4</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スケジュール</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a:lnSpc>
                          <a:spcPct val="100000"/>
                        </a:lnSpc>
                        <a:spcBef>
                          <a:spcPts val="0"/>
                        </a:spcBef>
                        <a:spcAft>
                          <a:spcPts val="0"/>
                        </a:spcAft>
                        <a:buNone/>
                      </a:pPr>
                      <a:r>
                        <a:rPr lang="en-US" altLang="ja-JP" sz="1900" b="1" i="0" u="none" strike="noStrike" cap="none">
                          <a:solidFill>
                            <a:srgbClr val="2B2B2B"/>
                          </a:solidFill>
                          <a:latin typeface="Meiryo"/>
                          <a:ea typeface="Meiryo"/>
                          <a:cs typeface="Meiryo"/>
                        </a:rPr>
                        <a:t>P.11-12</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5</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コスト</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altLang="ja-JP" sz="1900" b="1" i="0" u="none" strike="noStrike" cap="none">
                          <a:solidFill>
                            <a:srgbClr val="2B2B2B"/>
                          </a:solidFill>
                          <a:latin typeface="Meiryo"/>
                          <a:ea typeface="Meiryo"/>
                          <a:cs typeface="Meiryo"/>
                        </a:rPr>
                        <a:t>P.13</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6</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体制・役割</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altLang="ja-JP" sz="1900" b="1" i="0" u="none" strike="noStrike" cap="none">
                          <a:solidFill>
                            <a:srgbClr val="2B2B2B"/>
                          </a:solidFill>
                          <a:latin typeface="Meiryo"/>
                          <a:ea typeface="Meiryo"/>
                          <a:cs typeface="Meiryo"/>
                        </a:rPr>
                        <a:t>P.14-15</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7</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会議体</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tc>
                  <a:txBody>
                    <a:bodyPr/>
                    <a:lstStyle/>
                    <a:p>
                      <a:pPr marL="0" marR="0" lvl="0" indent="0" algn="ctr">
                        <a:lnSpc>
                          <a:spcPct val="100000"/>
                        </a:lnSpc>
                        <a:spcBef>
                          <a:spcPts val="0"/>
                        </a:spcBef>
                        <a:spcAft>
                          <a:spcPts val="0"/>
                        </a:spcAft>
                        <a:buNone/>
                      </a:pPr>
                      <a:r>
                        <a:rPr lang="en-US" altLang="ja-JP" sz="1900" b="1" i="0" u="none" strike="noStrike" cap="none">
                          <a:solidFill>
                            <a:srgbClr val="2B2B2B"/>
                          </a:solidFill>
                          <a:latin typeface="Meiryo"/>
                          <a:ea typeface="Meiryo"/>
                          <a:cs typeface="Meiryo"/>
                        </a:rPr>
                        <a:t>P.16</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476475">
                <a:tc>
                  <a:txBody>
                    <a:bodyPr/>
                    <a:lstStyle/>
                    <a:p>
                      <a:pPr marL="0" marR="0" lvl="0" indent="0" algn="ctr" rtl="0">
                        <a:lnSpc>
                          <a:spcPct val="100000"/>
                        </a:lnSpc>
                        <a:spcBef>
                          <a:spcPts val="0"/>
                        </a:spcBef>
                        <a:spcAft>
                          <a:spcPts val="0"/>
                        </a:spcAft>
                        <a:buClr>
                          <a:srgbClr val="000000"/>
                        </a:buClr>
                        <a:buSzPts val="1800"/>
                        <a:buFont typeface="Arial"/>
                        <a:buNone/>
                      </a:pPr>
                      <a:r>
                        <a:rPr lang="ja-JP" sz="1900" b="1" u="none" strike="noStrike" cap="none">
                          <a:solidFill>
                            <a:schemeClr val="lt1"/>
                          </a:solidFill>
                          <a:latin typeface="Meiryo"/>
                          <a:ea typeface="Meiryo"/>
                          <a:cs typeface="Meiryo"/>
                          <a:sym typeface="Meiryo"/>
                        </a:rPr>
                        <a:t>8</a:t>
                      </a:r>
                      <a:endParaRPr sz="1900" b="1" u="none" strike="noStrike" cap="none">
                        <a:solidFill>
                          <a:schemeClr val="lt1"/>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38100" cap="flat" cmpd="sng">
                      <a:solidFill>
                        <a:schemeClr val="lt1"/>
                      </a:solidFill>
                      <a:prstDash val="solid"/>
                      <a:round/>
                      <a:headEnd type="none" w="sm" len="sm"/>
                      <a:tailEnd type="none" w="sm" len="sm"/>
                    </a:lnR>
                    <a:lnT w="38100" cap="flat" cmpd="sng">
                      <a:solidFill>
                        <a:schemeClr val="lt1"/>
                      </a:solidFill>
                      <a:prstDash val="solid"/>
                      <a:round/>
                      <a:headEnd type="none" w="sm" len="sm"/>
                      <a:tailEnd type="none" w="sm" len="sm"/>
                    </a:lnT>
                    <a:lnB w="381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ja-JP" sz="1900" b="1" i="0" u="none" strike="noStrike" cap="none">
                          <a:solidFill>
                            <a:srgbClr val="2B2B2B"/>
                          </a:solidFill>
                          <a:latin typeface="Meiryo"/>
                          <a:ea typeface="Meiryo"/>
                          <a:cs typeface="Meiryo"/>
                          <a:sym typeface="Meiryo"/>
                        </a:rPr>
                        <a:t>課題・リスク</a:t>
                      </a:r>
                      <a:endParaRPr sz="1900" u="none" strike="noStrike" cap="none">
                        <a:solidFill>
                          <a:srgbClr val="2B2B2B"/>
                        </a:solidFill>
                      </a:endParaRPr>
                    </a:p>
                  </a:txBody>
                  <a:tcPr marL="120000" marR="120000" marT="96000" marB="96000" anchor="ctr">
                    <a:lnL w="38100" cap="flat" cmpd="sng">
                      <a:solidFill>
                        <a:schemeClr val="lt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lgn="ctr">
                      <a:solidFill>
                        <a:srgbClr val="D8D8D8"/>
                      </a:solidFill>
                      <a:prstDash val="solid"/>
                      <a:round/>
                      <a:headEnd type="none" w="sm" len="sm"/>
                      <a:tailEnd type="none" w="sm" len="sm"/>
                    </a:lnB>
                    <a:solidFill>
                      <a:schemeClr val="lt1"/>
                    </a:solidFill>
                  </a:tcPr>
                </a:tc>
                <a:tc>
                  <a:txBody>
                    <a:bodyPr/>
                    <a:lstStyle/>
                    <a:p>
                      <a:pPr marL="0" marR="0" lvl="0" indent="0" algn="ctr">
                        <a:lnSpc>
                          <a:spcPct val="100000"/>
                        </a:lnSpc>
                        <a:spcBef>
                          <a:spcPts val="0"/>
                        </a:spcBef>
                        <a:spcAft>
                          <a:spcPts val="0"/>
                        </a:spcAft>
                        <a:buNone/>
                      </a:pPr>
                      <a:r>
                        <a:rPr lang="en-US" altLang="ja-JP" sz="1900" b="1" i="0" u="none" strike="noStrike" cap="none">
                          <a:solidFill>
                            <a:srgbClr val="2B2B2B"/>
                          </a:solidFill>
                          <a:latin typeface="Meiryo"/>
                          <a:ea typeface="Meiryo"/>
                          <a:cs typeface="Meiryo"/>
                        </a:rPr>
                        <a:t>P.17</a:t>
                      </a:r>
                      <a:endParaRPr sz="1900" b="1" i="0" u="none" strike="noStrike" cap="none">
                        <a:solidFill>
                          <a:srgbClr val="2B2B2B"/>
                        </a:solidFill>
                        <a:latin typeface="Meiryo"/>
                        <a:ea typeface="Meiryo"/>
                        <a:cs typeface="Meiryo"/>
                        <a:sym typeface="Meiryo"/>
                      </a:endParaRPr>
                    </a:p>
                  </a:txBody>
                  <a:tcPr marL="120000" marR="120000" marT="96000" marB="960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9050" cap="flat" cmpd="sng">
                      <a:solidFill>
                        <a:srgbClr val="D8D8D8"/>
                      </a:solidFill>
                      <a:prstDash val="solid"/>
                      <a:round/>
                      <a:headEnd type="none" w="sm" len="sm"/>
                      <a:tailEnd type="none" w="sm" len="sm"/>
                    </a:lnT>
                    <a:lnB w="19050" cap="flat" cmpd="sng" algn="ctr">
                      <a:solidFill>
                        <a:srgbClr val="D8D8D8"/>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49" name="Google Shape;49;p3"/>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目次</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4"/>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1. 背景・目的・ゴール</a:t>
            </a:r>
            <a:endParaRPr/>
          </a:p>
        </p:txBody>
      </p:sp>
      <p:sp>
        <p:nvSpPr>
          <p:cNvPr id="55" name="Google Shape;55;p4"/>
          <p:cNvSpPr/>
          <p:nvPr/>
        </p:nvSpPr>
        <p:spPr>
          <a:xfrm>
            <a:off x="630000" y="1196975"/>
            <a:ext cx="10937584" cy="5040313"/>
          </a:xfrm>
          <a:prstGeom prst="rect">
            <a:avLst/>
          </a:prstGeom>
          <a:gradFill>
            <a:gsLst>
              <a:gs pos="0">
                <a:srgbClr val="D8D8D8"/>
              </a:gs>
              <a:gs pos="5000">
                <a:srgbClr val="F2F2F2"/>
              </a:gs>
              <a:gs pos="10000">
                <a:schemeClr val="lt1"/>
              </a:gs>
              <a:gs pos="90000">
                <a:schemeClr val="lt1"/>
              </a:gs>
              <a:gs pos="95000">
                <a:srgbClr val="F2F2F2"/>
              </a:gs>
              <a:gs pos="100000">
                <a:srgbClr val="D8D8D8"/>
              </a:gs>
            </a:gsLst>
            <a:lin ang="5400000" scaled="0"/>
          </a:gradFill>
          <a:ln>
            <a:noFill/>
          </a:ln>
        </p:spPr>
        <p:txBody>
          <a:bodyPr spcFirstLastPara="1" wrap="square" lIns="121900" tIns="60925" rIns="121900" bIns="60925" anchor="t" anchorCtr="0">
            <a:noAutofit/>
          </a:bodyPr>
          <a:lstStyle/>
          <a:p>
            <a:pPr algn="ctr"/>
            <a:r>
              <a:rPr kumimoji="1" lang="ja-JP" altLang="en-US" sz="1600" b="1">
                <a:latin typeface="メイリオ"/>
                <a:ea typeface="メイリオ"/>
              </a:rPr>
              <a:t>商品マスタに関わるステップとして下記の３段階を計画していたが、本プロジェクトでは、Step3を対象とする</a:t>
            </a:r>
            <a:endParaRPr lang="ja-JP" altLang="en-US" sz="1600" b="1">
              <a:latin typeface="メイリオ"/>
              <a:ea typeface="メイリオ"/>
            </a:endParaRPr>
          </a:p>
        </p:txBody>
      </p:sp>
      <p:graphicFrame>
        <p:nvGraphicFramePr>
          <p:cNvPr id="56" name="Google Shape;56;p4"/>
          <p:cNvGraphicFramePr/>
          <p:nvPr>
            <p:extLst>
              <p:ext uri="{D42A27DB-BD31-4B8C-83A1-F6EECF244321}">
                <p14:modId xmlns:p14="http://schemas.microsoft.com/office/powerpoint/2010/main" val="4034295035"/>
              </p:ext>
            </p:extLst>
          </p:nvPr>
        </p:nvGraphicFramePr>
        <p:xfrm>
          <a:off x="624416" y="1560266"/>
          <a:ext cx="3677420" cy="1787700"/>
        </p:xfrm>
        <a:graphic>
          <a:graphicData uri="http://schemas.openxmlformats.org/drawingml/2006/table">
            <a:tbl>
              <a:tblPr>
                <a:noFill/>
                <a:tableStyleId>{16DD54E9-F15A-4EFF-A1D8-E2CBB5DF2B52}</a:tableStyleId>
              </a:tblPr>
              <a:tblGrid>
                <a:gridCol w="3677420">
                  <a:extLst>
                    <a:ext uri="{9D8B030D-6E8A-4147-A177-3AD203B41FA5}">
                      <a16:colId xmlns:a16="http://schemas.microsoft.com/office/drawing/2014/main" val="20000"/>
                    </a:ext>
                  </a:extLst>
                </a:gridCol>
              </a:tblGrid>
              <a:tr h="335300">
                <a:tc>
                  <a:txBody>
                    <a:bodyPr/>
                    <a:lstStyle/>
                    <a:p>
                      <a:pPr marL="0" marR="0" lvl="0" indent="0" algn="ctr" rtl="0">
                        <a:lnSpc>
                          <a:spcPct val="100000"/>
                        </a:lnSpc>
                        <a:spcBef>
                          <a:spcPts val="0"/>
                        </a:spcBef>
                        <a:spcAft>
                          <a:spcPts val="0"/>
                        </a:spcAft>
                        <a:buClr>
                          <a:srgbClr val="000000"/>
                        </a:buClr>
                        <a:buSzPts val="1200"/>
                        <a:buFont typeface="Arial"/>
                        <a:buNone/>
                      </a:pPr>
                      <a:r>
                        <a:rPr lang="en-US" altLang="ja-JP" sz="1600" b="1" u="none" strike="noStrike" cap="none">
                          <a:solidFill>
                            <a:schemeClr val="lt1"/>
                          </a:solidFill>
                          <a:latin typeface="メイリオ" panose="020B0604030504040204" pitchFamily="50" charset="-128"/>
                          <a:ea typeface="メイリオ" panose="020B0604030504040204" pitchFamily="50" charset="-128"/>
                          <a:sym typeface="Meiryo"/>
                        </a:rPr>
                        <a:t>Step1 </a:t>
                      </a:r>
                      <a:r>
                        <a:rPr lang="ja-JP" altLang="en-US" sz="1600" b="1" u="none" strike="noStrike" cap="none">
                          <a:solidFill>
                            <a:schemeClr val="lt1"/>
                          </a:solidFill>
                          <a:latin typeface="メイリオ" panose="020B0604030504040204" pitchFamily="50" charset="-128"/>
                          <a:ea typeface="メイリオ" panose="020B0604030504040204" pitchFamily="50" charset="-128"/>
                          <a:sym typeface="Meiryo"/>
                        </a:rPr>
                        <a:t>　商品マスタデータ連携</a:t>
                      </a:r>
                      <a:endParaRPr sz="1900" b="1" u="none" strike="noStrike" cap="none">
                        <a:latin typeface="メイリオ" panose="020B0604030504040204" pitchFamily="50" charset="-128"/>
                        <a:ea typeface="メイリオ" panose="020B0604030504040204" pitchFamily="50" charset="-128"/>
                      </a:endParaRPr>
                    </a:p>
                  </a:txBody>
                  <a:tcPr marL="91425" marR="91425"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1452400">
                <a:tc>
                  <a:txBody>
                    <a:bodyPr/>
                    <a:lstStyle/>
                    <a:p>
                      <a:pPr marL="87630" marR="0" lvl="0" indent="0" algn="ctr" rtl="0">
                        <a:lnSpc>
                          <a:spcPct val="100000"/>
                        </a:lnSpc>
                        <a:spcBef>
                          <a:spcPts val="0"/>
                        </a:spcBef>
                        <a:spcAft>
                          <a:spcPts val="0"/>
                        </a:spcAft>
                        <a:buClr>
                          <a:srgbClr val="BFBFBF"/>
                        </a:buClr>
                        <a:buSzPts val="1100"/>
                        <a:buNone/>
                      </a:pPr>
                      <a:r>
                        <a:rPr lang="ja-JP" altLang="en-US" sz="1500" b="1" u="none" strike="noStrike" cap="none">
                          <a:solidFill>
                            <a:srgbClr val="2B2B2B"/>
                          </a:solidFill>
                          <a:latin typeface="メイリオ"/>
                          <a:ea typeface="メイリオ"/>
                        </a:rPr>
                        <a:t>２月ビジネス部門より</a:t>
                      </a:r>
                    </a:p>
                    <a:p>
                      <a:pPr marL="87630" marR="0" lvl="0" indent="0" algn="ctr">
                        <a:lnSpc>
                          <a:spcPct val="100000"/>
                        </a:lnSpc>
                        <a:spcBef>
                          <a:spcPts val="0"/>
                        </a:spcBef>
                        <a:spcAft>
                          <a:spcPts val="0"/>
                        </a:spcAft>
                        <a:buSzPts val="1100"/>
                        <a:buNone/>
                      </a:pPr>
                      <a:r>
                        <a:rPr lang="ja-JP" altLang="en-US" sz="1500" b="1" u="none" strike="noStrike" cap="none">
                          <a:solidFill>
                            <a:srgbClr val="2B2B2B"/>
                          </a:solidFill>
                          <a:latin typeface="メイリオ"/>
                          <a:ea typeface="メイリオ"/>
                        </a:rPr>
                        <a:t>運用面でTR-BYの負荷が継続するため</a:t>
                      </a:r>
                    </a:p>
                    <a:p>
                      <a:pPr marL="87630" marR="0" lvl="0" indent="0" algn="ctr">
                        <a:lnSpc>
                          <a:spcPct val="100000"/>
                        </a:lnSpc>
                        <a:spcBef>
                          <a:spcPts val="0"/>
                        </a:spcBef>
                        <a:spcAft>
                          <a:spcPts val="0"/>
                        </a:spcAft>
                        <a:buSzPts val="1100"/>
                        <a:buNone/>
                      </a:pPr>
                      <a:r>
                        <a:rPr lang="ja-JP" altLang="en-US" sz="1500" b="1" u="none" strike="noStrike" cap="none">
                          <a:solidFill>
                            <a:schemeClr val="accent5"/>
                          </a:solidFill>
                          <a:latin typeface="メイリオ"/>
                          <a:ea typeface="メイリオ"/>
                        </a:rPr>
                        <a:t>現状継続・「取下げ」決定</a:t>
                      </a:r>
                    </a:p>
                  </a:txBody>
                  <a:tcPr marL="108000" marR="108000" marT="108000" marB="10800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57" name="Google Shape;57;p4"/>
          <p:cNvGraphicFramePr/>
          <p:nvPr>
            <p:extLst>
              <p:ext uri="{D42A27DB-BD31-4B8C-83A1-F6EECF244321}">
                <p14:modId xmlns:p14="http://schemas.microsoft.com/office/powerpoint/2010/main" val="1512769581"/>
              </p:ext>
            </p:extLst>
          </p:nvPr>
        </p:nvGraphicFramePr>
        <p:xfrm>
          <a:off x="633488" y="4265021"/>
          <a:ext cx="10937584" cy="2364840"/>
        </p:xfrm>
        <a:graphic>
          <a:graphicData uri="http://schemas.openxmlformats.org/drawingml/2006/table">
            <a:tbl>
              <a:tblPr>
                <a:noFill/>
                <a:tableStyleId>{16DD54E9-F15A-4EFF-A1D8-E2CBB5DF2B52}</a:tableStyleId>
              </a:tblPr>
              <a:tblGrid>
                <a:gridCol w="10937584">
                  <a:extLst>
                    <a:ext uri="{9D8B030D-6E8A-4147-A177-3AD203B41FA5}">
                      <a16:colId xmlns:a16="http://schemas.microsoft.com/office/drawing/2014/main" val="20000"/>
                    </a:ext>
                  </a:extLst>
                </a:gridCol>
              </a:tblGrid>
              <a:tr h="2097637">
                <a:tc>
                  <a:txBody>
                    <a:bodyPr/>
                    <a:lstStyle/>
                    <a:p>
                      <a:pPr marL="285750" marR="0" lvl="0" indent="-198120" algn="l" rtl="0">
                        <a:lnSpc>
                          <a:spcPct val="100000"/>
                        </a:lnSpc>
                        <a:spcBef>
                          <a:spcPts val="0"/>
                        </a:spcBef>
                        <a:spcAft>
                          <a:spcPts val="0"/>
                        </a:spcAft>
                        <a:buClr>
                          <a:srgbClr val="E0E2E3"/>
                        </a:buClr>
                        <a:buSzPts val="1100"/>
                        <a:buFont typeface="Noto Sans Symbols"/>
                        <a:buChar char="■"/>
                      </a:pPr>
                      <a:r>
                        <a:rPr lang="ja-JP" altLang="en-US" sz="1400" b="1" u="none" strike="noStrike" cap="none">
                          <a:solidFill>
                            <a:srgbClr val="2B2B2B"/>
                          </a:solidFill>
                          <a:latin typeface="メイリオ" panose="020B0604030504040204" pitchFamily="50" charset="-128"/>
                          <a:ea typeface="メイリオ" panose="020B0604030504040204" pitchFamily="50" charset="-128"/>
                        </a:rPr>
                        <a:t>2027年4月リリースまでは、同一商品の取扱いの場合、西友・トライアル両システムへの商品登録を継続する（ダブルメンテ）</a:t>
                      </a:r>
                    </a:p>
                    <a:p>
                      <a:pPr marL="285750" marR="0" lvl="0" indent="-198120" algn="l">
                        <a:lnSpc>
                          <a:spcPct val="100000"/>
                        </a:lnSpc>
                        <a:spcBef>
                          <a:spcPts val="0"/>
                        </a:spcBef>
                        <a:spcAft>
                          <a:spcPts val="0"/>
                        </a:spcAft>
                        <a:buClr>
                          <a:srgbClr val="E0E2E3"/>
                        </a:buClr>
                        <a:buSzPts val="1100"/>
                        <a:buFont typeface="Noto Sans Symbols"/>
                        <a:buChar char="■"/>
                      </a:pPr>
                      <a:r>
                        <a:rPr lang="ja-JP" altLang="en-US" sz="1400" b="1" u="none" strike="noStrike" cap="none">
                          <a:solidFill>
                            <a:srgbClr val="2B2B2B"/>
                          </a:solidFill>
                          <a:latin typeface="メイリオ" panose="020B0604030504040204" pitchFamily="50" charset="-128"/>
                          <a:ea typeface="メイリオ" panose="020B0604030504040204" pitchFamily="50" charset="-128"/>
                        </a:rPr>
                        <a:t>西友・トライアル共通の商談システム（窓口一本化）をユーザー（取引先・商品部）へ提供する（惣菜は別PJで対応）</a:t>
                      </a:r>
                      <a:endParaRPr lang="ja-JP" altLang="en-US" sz="1400" b="1" u="none" strike="noStrike" cap="none">
                        <a:solidFill>
                          <a:srgbClr val="2B2B2B"/>
                        </a:solidFill>
                        <a:latin typeface="メイリオ" panose="020B0604030504040204" pitchFamily="50" charset="-128"/>
                        <a:ea typeface="メイリオ" panose="020B0604030504040204" pitchFamily="50" charset="-128"/>
                        <a:sym typeface="Meiryo"/>
                      </a:endParaRPr>
                    </a:p>
                    <a:p>
                      <a:pPr marL="285750" marR="0" lvl="0" indent="-198120" algn="l" rtl="0">
                        <a:lnSpc>
                          <a:spcPct val="100000"/>
                        </a:lnSpc>
                        <a:spcBef>
                          <a:spcPts val="0"/>
                        </a:spcBef>
                        <a:spcAft>
                          <a:spcPts val="0"/>
                        </a:spcAft>
                        <a:buClr>
                          <a:srgbClr val="E0E2E3"/>
                        </a:buClr>
                        <a:buSzPts val="1100"/>
                        <a:buFont typeface="Noto Sans Symbols"/>
                        <a:buChar char="■"/>
                      </a:pPr>
                      <a:r>
                        <a:rPr lang="ja-JP" altLang="en-US" sz="1400" b="1" u="none" strike="noStrike" cap="none">
                          <a:solidFill>
                            <a:srgbClr val="2B2B2B"/>
                          </a:solidFill>
                          <a:latin typeface="メイリオ" panose="020B0604030504040204" pitchFamily="50" charset="-128"/>
                          <a:ea typeface="メイリオ" panose="020B0604030504040204" pitchFamily="50" charset="-128"/>
                        </a:rPr>
                        <a:t>現行の商談システム（非生鮮）は性能面で課題があるため、性能改善も併せて対応する</a:t>
                      </a:r>
                    </a:p>
                    <a:p>
                      <a:pPr marL="285750" marR="0" lvl="0" indent="-198120" algn="l">
                        <a:lnSpc>
                          <a:spcPct val="100000"/>
                        </a:lnSpc>
                        <a:spcBef>
                          <a:spcPts val="300"/>
                        </a:spcBef>
                        <a:spcAft>
                          <a:spcPts val="0"/>
                        </a:spcAft>
                        <a:buClr>
                          <a:srgbClr val="E0E2E3"/>
                        </a:buClr>
                        <a:buSzPts val="1100"/>
                        <a:buFont typeface="Noto Sans Symbols"/>
                        <a:buChar char="■"/>
                      </a:pPr>
                      <a:r>
                        <a:rPr lang="en-US" altLang="ja-JP" sz="1400" b="1" u="none" strike="noStrike" cap="none" err="1">
                          <a:solidFill>
                            <a:srgbClr val="2B2B2B"/>
                          </a:solidFill>
                          <a:latin typeface="メイリオ" panose="020B0604030504040204" pitchFamily="50" charset="-128"/>
                          <a:ea typeface="メイリオ" panose="020B0604030504040204" pitchFamily="50" charset="-128"/>
                        </a:rPr>
                        <a:t>メーカー基本商品情報連携については、現行のR-MELOS継続または外部サービス連携か、会社の方針を確認の上、実装</a:t>
                      </a:r>
                      <a:endParaRPr lang="en-US" sz="1400">
                        <a:latin typeface="メイリオ" panose="020B0604030504040204" pitchFamily="50" charset="-128"/>
                        <a:ea typeface="メイリオ" panose="020B0604030504040204" pitchFamily="50" charset="-128"/>
                      </a:endParaRPr>
                    </a:p>
                    <a:p>
                      <a:pPr marL="285750" marR="0" lvl="0" indent="-198120" algn="l">
                        <a:lnSpc>
                          <a:spcPct val="100000"/>
                        </a:lnSpc>
                        <a:spcBef>
                          <a:spcPts val="300"/>
                        </a:spcBef>
                        <a:spcAft>
                          <a:spcPts val="0"/>
                        </a:spcAft>
                        <a:buClr>
                          <a:srgbClr val="E0E2E3"/>
                        </a:buClr>
                        <a:buSzPts val="1100"/>
                        <a:buFont typeface="Noto Sans Symbols"/>
                        <a:buChar char="■"/>
                      </a:pPr>
                      <a:r>
                        <a:rPr lang="en-US" sz="1400" b="1" i="0" u="none" strike="noStrike" cap="none" noProof="0">
                          <a:solidFill>
                            <a:srgbClr val="2B2B2B"/>
                          </a:solidFill>
                          <a:latin typeface="メイリオ" panose="020B0604030504040204" pitchFamily="50" charset="-128"/>
                          <a:ea typeface="メイリオ" panose="020B0604030504040204" pitchFamily="50" charset="-128"/>
                        </a:rPr>
                        <a:t>西友既存ECを2028年3月まで維持するためのECに関わる過渡期対応（最低限の機能）をする</a:t>
                      </a:r>
                      <a:endParaRPr lang="en-US" altLang="ja-JP" sz="1400" b="1" u="none" strike="noStrike" cap="none">
                        <a:solidFill>
                          <a:srgbClr val="2B2B2B"/>
                        </a:solidFill>
                        <a:latin typeface="メイリオ" panose="020B0604030504040204" pitchFamily="50" charset="-128"/>
                        <a:ea typeface="メイリオ" panose="020B0604030504040204" pitchFamily="50" charset="-128"/>
                      </a:endParaRPr>
                    </a:p>
                    <a:p>
                      <a:pPr marL="285750" marR="0" lvl="0" indent="-198120" algn="l">
                        <a:lnSpc>
                          <a:spcPct val="100000"/>
                        </a:lnSpc>
                        <a:spcBef>
                          <a:spcPts val="300"/>
                        </a:spcBef>
                        <a:spcAft>
                          <a:spcPts val="0"/>
                        </a:spcAft>
                        <a:buClr>
                          <a:srgbClr val="E0E2E3"/>
                        </a:buClr>
                        <a:buSzPts val="1100"/>
                        <a:buFont typeface="Noto Sans Symbols"/>
                        <a:buChar char="■"/>
                      </a:pPr>
                      <a:r>
                        <a:rPr lang="en-US" altLang="ja-JP" sz="1400" b="1" u="none" strike="noStrike" cap="none">
                          <a:solidFill>
                            <a:srgbClr val="2B2B2B"/>
                          </a:solidFill>
                          <a:latin typeface="メイリオ" panose="020B0604030504040204" pitchFamily="50" charset="-128"/>
                          <a:ea typeface="メイリオ" panose="020B0604030504040204" pitchFamily="50" charset="-128"/>
                        </a:rPr>
                        <a:t>前提条件として、商品マスタ情報登録の上で、下記の3点はリリース前に実装されている</a:t>
                      </a:r>
                    </a:p>
                    <a:p>
                      <a:pPr marL="87630" marR="0" lvl="0" indent="0" algn="l">
                        <a:lnSpc>
                          <a:spcPct val="100000"/>
                        </a:lnSpc>
                        <a:spcBef>
                          <a:spcPts val="300"/>
                        </a:spcBef>
                        <a:spcAft>
                          <a:spcPts val="0"/>
                        </a:spcAft>
                        <a:buClr>
                          <a:srgbClr val="E0E2E3"/>
                        </a:buClr>
                        <a:buSzPts val="1100"/>
                        <a:buNone/>
                      </a:pPr>
                      <a:r>
                        <a:rPr lang="en-US" altLang="ja-JP" sz="1400" b="1" u="none" strike="noStrike" cap="none">
                          <a:solidFill>
                            <a:srgbClr val="2B2B2B"/>
                          </a:solidFill>
                          <a:latin typeface="メイリオ" panose="020B0604030504040204" pitchFamily="50" charset="-128"/>
                          <a:ea typeface="メイリオ" panose="020B0604030504040204" pitchFamily="50" charset="-128"/>
                        </a:rPr>
                        <a:t>　　①</a:t>
                      </a:r>
                      <a:r>
                        <a:rPr lang="en-US" altLang="ja-JP" sz="1400" b="1" u="none" strike="noStrike" cap="none" err="1">
                          <a:solidFill>
                            <a:srgbClr val="2B2B2B"/>
                          </a:solidFill>
                          <a:latin typeface="メイリオ" panose="020B0604030504040204" pitchFamily="50" charset="-128"/>
                          <a:ea typeface="メイリオ" panose="020B0604030504040204" pitchFamily="50" charset="-128"/>
                        </a:rPr>
                        <a:t>マスタデータクレンジング（不要なデータ削除・移行データの最小化</a:t>
                      </a:r>
                      <a:r>
                        <a:rPr lang="en-US" altLang="ja-JP" sz="1400" b="1" u="none" strike="noStrike" cap="none">
                          <a:solidFill>
                            <a:srgbClr val="2B2B2B"/>
                          </a:solidFill>
                          <a:latin typeface="メイリオ" panose="020B0604030504040204" pitchFamily="50" charset="-128"/>
                          <a:ea typeface="メイリオ" panose="020B0604030504040204" pitchFamily="50" charset="-128"/>
                        </a:rPr>
                        <a:t>）</a:t>
                      </a:r>
                    </a:p>
                    <a:p>
                      <a:pPr marL="87630" marR="0" lvl="0" indent="0" algn="l">
                        <a:lnSpc>
                          <a:spcPct val="100000"/>
                        </a:lnSpc>
                        <a:spcBef>
                          <a:spcPts val="300"/>
                        </a:spcBef>
                        <a:spcAft>
                          <a:spcPts val="0"/>
                        </a:spcAft>
                        <a:buClr>
                          <a:srgbClr val="E0E2E3"/>
                        </a:buClr>
                        <a:buSzPts val="1100"/>
                        <a:buNone/>
                      </a:pPr>
                      <a:r>
                        <a:rPr lang="en-US" altLang="ja-JP" sz="1400" b="1" u="none" strike="noStrike" cap="none">
                          <a:solidFill>
                            <a:srgbClr val="2B2B2B"/>
                          </a:solidFill>
                          <a:latin typeface="メイリオ" panose="020B0604030504040204" pitchFamily="50" charset="-128"/>
                          <a:ea typeface="メイリオ" panose="020B0604030504040204" pitchFamily="50" charset="-128"/>
                        </a:rPr>
                        <a:t>　　②</a:t>
                      </a:r>
                      <a:r>
                        <a:rPr lang="en-US" altLang="ja-JP" sz="1400" b="1" u="none" strike="noStrike" cap="none" err="1">
                          <a:solidFill>
                            <a:srgbClr val="2B2B2B"/>
                          </a:solidFill>
                          <a:latin typeface="メイリオ" panose="020B0604030504040204" pitchFamily="50" charset="-128"/>
                          <a:ea typeface="メイリオ" panose="020B0604030504040204" pitchFamily="50" charset="-128"/>
                        </a:rPr>
                        <a:t>店舗コード統合（拠点コード含む</a:t>
                      </a:r>
                      <a:r>
                        <a:rPr lang="en-US" altLang="ja-JP" sz="1400" b="1" u="none" strike="noStrike" cap="none">
                          <a:solidFill>
                            <a:srgbClr val="2B2B2B"/>
                          </a:solidFill>
                          <a:latin typeface="メイリオ" panose="020B0604030504040204" pitchFamily="50" charset="-128"/>
                          <a:ea typeface="メイリオ" panose="020B0604030504040204" pitchFamily="50" charset="-128"/>
                        </a:rPr>
                        <a:t>）・</a:t>
                      </a:r>
                      <a:r>
                        <a:rPr lang="en-US" altLang="ja-JP" sz="1400" b="1" u="none" strike="noStrike" cap="none" err="1">
                          <a:solidFill>
                            <a:srgbClr val="2B2B2B"/>
                          </a:solidFill>
                          <a:latin typeface="メイリオ" panose="020B0604030504040204" pitchFamily="50" charset="-128"/>
                          <a:ea typeface="メイリオ" panose="020B0604030504040204" pitchFamily="50" charset="-128"/>
                        </a:rPr>
                        <a:t>仕入先コード登録（仕入先コードの統合は必須ではない</a:t>
                      </a:r>
                      <a:r>
                        <a:rPr lang="en-US" altLang="ja-JP" sz="1400" b="1" u="none" strike="noStrike" cap="none">
                          <a:solidFill>
                            <a:srgbClr val="2B2B2B"/>
                          </a:solidFill>
                          <a:latin typeface="メイリオ" panose="020B0604030504040204" pitchFamily="50" charset="-128"/>
                          <a:ea typeface="メイリオ" panose="020B0604030504040204" pitchFamily="50" charset="-128"/>
                        </a:rPr>
                        <a:t>）</a:t>
                      </a:r>
                    </a:p>
                    <a:p>
                      <a:pPr marL="87630" marR="0" lvl="0" indent="0" algn="l">
                        <a:lnSpc>
                          <a:spcPct val="100000"/>
                        </a:lnSpc>
                        <a:spcBef>
                          <a:spcPts val="300"/>
                        </a:spcBef>
                        <a:spcAft>
                          <a:spcPts val="0"/>
                        </a:spcAft>
                        <a:buSzPts val="1100"/>
                        <a:buNone/>
                      </a:pPr>
                      <a:r>
                        <a:rPr lang="en-US" altLang="ja-JP" sz="1400" b="1" u="none" strike="noStrike" cap="none">
                          <a:solidFill>
                            <a:srgbClr val="2B2B2B"/>
                          </a:solidFill>
                          <a:latin typeface="メイリオ" panose="020B0604030504040204" pitchFamily="50" charset="-128"/>
                          <a:ea typeface="メイリオ" panose="020B0604030504040204" pitchFamily="50" charset="-128"/>
                        </a:rPr>
                        <a:t>　　③</a:t>
                      </a:r>
                      <a:r>
                        <a:rPr lang="en-US" altLang="ja-JP" sz="1400" b="1" u="none" strike="noStrike" cap="none" err="1">
                          <a:solidFill>
                            <a:srgbClr val="2B2B2B"/>
                          </a:solidFill>
                          <a:latin typeface="メイリオ" panose="020B0604030504040204" pitchFamily="50" charset="-128"/>
                          <a:ea typeface="メイリオ" panose="020B0604030504040204" pitchFamily="50" charset="-128"/>
                        </a:rPr>
                        <a:t>トライアル商品階層への移行に向けた部門・商品の紐付け変更</a:t>
                      </a:r>
                    </a:p>
                  </a:txBody>
                  <a:tcPr marL="108000" marR="108000" marT="108000" marB="108000" anchor="ctr">
                    <a:lnL w="9525" cap="flat" cmpd="sng">
                      <a:solidFill>
                        <a:schemeClr val="accent5"/>
                      </a:solidFill>
                      <a:prstDash val="solid"/>
                      <a:round/>
                      <a:headEnd type="none" w="sm" len="sm"/>
                      <a:tailEnd type="none" w="sm" len="sm"/>
                    </a:lnL>
                    <a:lnR w="9525" cap="flat" cmpd="sng">
                      <a:solidFill>
                        <a:schemeClr val="accent5"/>
                      </a:solidFill>
                      <a:prstDash val="solid"/>
                      <a:round/>
                      <a:headEnd type="none" w="sm" len="sm"/>
                      <a:tailEnd type="none" w="sm" len="sm"/>
                    </a:lnR>
                    <a:lnT w="9525" cap="flat" cmpd="sng">
                      <a:solidFill>
                        <a:schemeClr val="accent5"/>
                      </a:solidFill>
                      <a:prstDash val="solid"/>
                      <a:round/>
                      <a:headEnd type="none" w="sm" len="sm"/>
                      <a:tailEnd type="none" w="sm" len="sm"/>
                    </a:lnT>
                    <a:lnB w="9525" cap="flat" cmpd="sng">
                      <a:solidFill>
                        <a:schemeClr val="accent5"/>
                      </a:solidFill>
                      <a:prstDash val="solid"/>
                      <a:round/>
                      <a:headEnd type="none" w="sm" len="sm"/>
                      <a:tailEnd type="none" w="sm" len="sm"/>
                    </a:lnB>
                    <a:solidFill>
                      <a:srgbClr val="FDEDED"/>
                    </a:solidFill>
                  </a:tcPr>
                </a:tc>
                <a:extLst>
                  <a:ext uri="{0D108BD9-81ED-4DB2-BD59-A6C34878D82A}">
                    <a16:rowId xmlns:a16="http://schemas.microsoft.com/office/drawing/2014/main" val="10000"/>
                  </a:ext>
                </a:extLst>
              </a:tr>
            </a:tbl>
          </a:graphicData>
        </a:graphic>
      </p:graphicFrame>
      <p:sp>
        <p:nvSpPr>
          <p:cNvPr id="58" name="Google Shape;58;p4"/>
          <p:cNvSpPr/>
          <p:nvPr/>
        </p:nvSpPr>
        <p:spPr>
          <a:xfrm>
            <a:off x="5669868" y="3450167"/>
            <a:ext cx="878934" cy="734917"/>
          </a:xfrm>
          <a:prstGeom prst="downArrow">
            <a:avLst>
              <a:gd name="adj1" fmla="val 50000"/>
              <a:gd name="adj2" fmla="val 50000"/>
            </a:avLst>
          </a:prstGeom>
          <a:solidFill>
            <a:srgbClr val="BFBFB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Meiryo"/>
              <a:ea typeface="Meiryo"/>
              <a:cs typeface="Meiryo"/>
              <a:sym typeface="Meiryo"/>
            </a:endParaRPr>
          </a:p>
        </p:txBody>
      </p:sp>
      <p:sp>
        <p:nvSpPr>
          <p:cNvPr id="59" name="Google Shape;59;p4"/>
          <p:cNvSpPr/>
          <p:nvPr/>
        </p:nvSpPr>
        <p:spPr>
          <a:xfrm>
            <a:off x="9088933" y="3450167"/>
            <a:ext cx="791244" cy="696707"/>
          </a:xfrm>
          <a:prstGeom prst="downArrow">
            <a:avLst>
              <a:gd name="adj1" fmla="val 50000"/>
              <a:gd name="adj2" fmla="val 50000"/>
            </a:avLst>
          </a:prstGeom>
          <a:solidFill>
            <a:srgbClr val="BFBFB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Meiryo"/>
              <a:ea typeface="Meiryo"/>
              <a:cs typeface="Meiryo"/>
              <a:sym typeface="Meiryo"/>
            </a:endParaRPr>
          </a:p>
        </p:txBody>
      </p:sp>
      <p:graphicFrame>
        <p:nvGraphicFramePr>
          <p:cNvPr id="61" name="Google Shape;61;p4"/>
          <p:cNvGraphicFramePr/>
          <p:nvPr>
            <p:extLst>
              <p:ext uri="{D42A27DB-BD31-4B8C-83A1-F6EECF244321}">
                <p14:modId xmlns:p14="http://schemas.microsoft.com/office/powerpoint/2010/main" val="1552406091"/>
              </p:ext>
            </p:extLst>
          </p:nvPr>
        </p:nvGraphicFramePr>
        <p:xfrm>
          <a:off x="8208817" y="1560266"/>
          <a:ext cx="3353183" cy="1808600"/>
        </p:xfrm>
        <a:graphic>
          <a:graphicData uri="http://schemas.openxmlformats.org/drawingml/2006/table">
            <a:tbl>
              <a:tblPr>
                <a:noFill/>
                <a:tableStyleId>{16DD54E9-F15A-4EFF-A1D8-E2CBB5DF2B52}</a:tableStyleId>
              </a:tblPr>
              <a:tblGrid>
                <a:gridCol w="3353183">
                  <a:extLst>
                    <a:ext uri="{9D8B030D-6E8A-4147-A177-3AD203B41FA5}">
                      <a16:colId xmlns:a16="http://schemas.microsoft.com/office/drawing/2014/main" val="20000"/>
                    </a:ext>
                  </a:extLst>
                </a:gridCol>
              </a:tblGrid>
              <a:tr h="335300">
                <a:tc>
                  <a:txBody>
                    <a:bodyPr/>
                    <a:lstStyle/>
                    <a:p>
                      <a:pPr marL="0" marR="0" lvl="0" indent="0" algn="ctr" rtl="0">
                        <a:lnSpc>
                          <a:spcPct val="100000"/>
                        </a:lnSpc>
                        <a:spcBef>
                          <a:spcPts val="0"/>
                        </a:spcBef>
                        <a:spcAft>
                          <a:spcPts val="0"/>
                        </a:spcAft>
                        <a:buClr>
                          <a:srgbClr val="000000"/>
                        </a:buClr>
                        <a:buSzPts val="1200"/>
                        <a:buFont typeface="Arial"/>
                        <a:buNone/>
                      </a:pPr>
                      <a:r>
                        <a:rPr lang="en-US" sz="1600" b="1" u="none" strike="noStrike" cap="none">
                          <a:solidFill>
                            <a:schemeClr val="lt1"/>
                          </a:solidFill>
                          <a:latin typeface="メイリオ"/>
                          <a:ea typeface="メイリオ"/>
                          <a:sym typeface="Meiryo"/>
                        </a:rPr>
                        <a:t>Step3</a:t>
                      </a:r>
                      <a:r>
                        <a:rPr lang="ja-JP" altLang="en-US" sz="1600" b="1" u="none" strike="noStrike" cap="none">
                          <a:solidFill>
                            <a:schemeClr val="lt1"/>
                          </a:solidFill>
                          <a:latin typeface="メイリオ"/>
                          <a:ea typeface="メイリオ"/>
                          <a:sym typeface="Meiryo"/>
                        </a:rPr>
                        <a:t>　</a:t>
                      </a:r>
                      <a:r>
                        <a:rPr lang="ja-JP" altLang="en-US" sz="1600" b="1" u="none" strike="noStrike" cap="none">
                          <a:solidFill>
                            <a:schemeClr val="lt1"/>
                          </a:solidFill>
                          <a:latin typeface="メイリオ"/>
                          <a:ea typeface="メイリオ"/>
                        </a:rPr>
                        <a:t>商品マスタ統合</a:t>
                      </a:r>
                    </a:p>
                  </a:txBody>
                  <a:tcPr marL="91425" marR="91425"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1452400">
                <a:tc>
                  <a:txBody>
                    <a:bodyPr/>
                    <a:lstStyle/>
                    <a:p>
                      <a:pPr marL="285750" marR="0" lvl="0" indent="-198120" algn="l" rtl="0">
                        <a:lnSpc>
                          <a:spcPct val="100000"/>
                        </a:lnSpc>
                        <a:spcBef>
                          <a:spcPts val="0"/>
                        </a:spcBef>
                        <a:spcAft>
                          <a:spcPts val="0"/>
                        </a:spcAft>
                        <a:buClr>
                          <a:srgbClr val="BFBFBF"/>
                        </a:buClr>
                        <a:buSzPts val="1100"/>
                        <a:buFont typeface="Noto Sans Symbols"/>
                        <a:buChar char="■"/>
                      </a:pPr>
                      <a:r>
                        <a:rPr lang="en-US" altLang="ja-JP" sz="1500" b="1" u="none" strike="noStrike" cap="none">
                          <a:solidFill>
                            <a:srgbClr val="2B2B2B"/>
                          </a:solidFill>
                          <a:latin typeface="メイリオ"/>
                          <a:ea typeface="メイリオ"/>
                          <a:sym typeface="Meiryo"/>
                        </a:rPr>
                        <a:t>2027</a:t>
                      </a:r>
                      <a:r>
                        <a:rPr lang="ja-JP" altLang="en-US" sz="1500" b="1" u="none" strike="noStrike" cap="none">
                          <a:solidFill>
                            <a:srgbClr val="2B2B2B"/>
                          </a:solidFill>
                          <a:latin typeface="メイリオ"/>
                          <a:ea typeface="メイリオ"/>
                          <a:sym typeface="Meiryo"/>
                        </a:rPr>
                        <a:t>年</a:t>
                      </a:r>
                      <a:r>
                        <a:rPr lang="en-US" altLang="ja-JP" sz="1500" b="1" u="none" strike="noStrike" cap="none">
                          <a:solidFill>
                            <a:srgbClr val="2B2B2B"/>
                          </a:solidFill>
                          <a:latin typeface="メイリオ"/>
                          <a:ea typeface="メイリオ"/>
                          <a:sym typeface="Meiryo"/>
                        </a:rPr>
                        <a:t>4</a:t>
                      </a:r>
                      <a:r>
                        <a:rPr lang="ja-JP" altLang="en-US" sz="1500" b="1" u="none" strike="noStrike" cap="none">
                          <a:solidFill>
                            <a:srgbClr val="2B2B2B"/>
                          </a:solidFill>
                          <a:latin typeface="メイリオ"/>
                          <a:ea typeface="メイリオ"/>
                          <a:sym typeface="Meiryo"/>
                        </a:rPr>
                        <a:t>月</a:t>
                      </a:r>
                      <a:r>
                        <a:rPr lang="ja-JP" altLang="en-US" sz="1500" b="1" u="none" strike="noStrike" cap="none">
                          <a:solidFill>
                            <a:srgbClr val="2B2B2B"/>
                          </a:solidFill>
                          <a:latin typeface="メイリオ"/>
                          <a:ea typeface="メイリオ"/>
                        </a:rPr>
                        <a:t>リリース</a:t>
                      </a:r>
                      <a:r>
                        <a:rPr lang="ja-JP" altLang="en-US" sz="1500" b="1" u="none" strike="noStrike" cap="none">
                          <a:solidFill>
                            <a:srgbClr val="2B2B2B"/>
                          </a:solidFill>
                          <a:latin typeface="メイリオ"/>
                          <a:ea typeface="メイリオ"/>
                          <a:sym typeface="Meiryo"/>
                        </a:rPr>
                        <a:t>予定</a:t>
                      </a:r>
                      <a:endParaRPr lang="ja-JP" altLang="en-US" sz="1900" b="1" u="none" strike="noStrike" cap="none">
                        <a:latin typeface="メイリオ"/>
                        <a:ea typeface="メイリオ"/>
                      </a:endParaRPr>
                    </a:p>
                    <a:p>
                      <a:pPr marL="285750" marR="0" lvl="0" indent="-198120" algn="l">
                        <a:lnSpc>
                          <a:spcPct val="100000"/>
                        </a:lnSpc>
                        <a:spcBef>
                          <a:spcPts val="300"/>
                        </a:spcBef>
                        <a:spcAft>
                          <a:spcPts val="0"/>
                        </a:spcAft>
                        <a:buClr>
                          <a:srgbClr val="BFBFBF"/>
                        </a:buClr>
                        <a:buSzPts val="1100"/>
                        <a:buFont typeface="Noto Sans Symbols"/>
                        <a:buChar char="■"/>
                      </a:pPr>
                      <a:r>
                        <a:rPr lang="ja-JP" altLang="en-US" sz="1500" b="1" u="none" strike="noStrike" cap="none">
                          <a:solidFill>
                            <a:srgbClr val="2B2B2B"/>
                          </a:solidFill>
                          <a:latin typeface="メイリオ"/>
                          <a:ea typeface="メイリオ"/>
                        </a:rPr>
                        <a:t>商品登録システムの統合</a:t>
                      </a:r>
                    </a:p>
                    <a:p>
                      <a:pPr marL="285750" marR="0" lvl="0" indent="-198120" algn="l" rtl="0">
                        <a:lnSpc>
                          <a:spcPct val="100000"/>
                        </a:lnSpc>
                        <a:spcBef>
                          <a:spcPts val="300"/>
                        </a:spcBef>
                        <a:spcAft>
                          <a:spcPts val="0"/>
                        </a:spcAft>
                        <a:buClr>
                          <a:srgbClr val="BFBFBF"/>
                        </a:buClr>
                        <a:buSzPts val="1100"/>
                        <a:buFont typeface="Noto Sans Symbols"/>
                        <a:buChar char="■"/>
                      </a:pPr>
                      <a:r>
                        <a:rPr lang="en-US" altLang="ja-JP" sz="1500" b="1" u="none" strike="noStrike" cap="none">
                          <a:solidFill>
                            <a:srgbClr val="2B2B2B"/>
                          </a:solidFill>
                          <a:latin typeface="メイリオ"/>
                          <a:ea typeface="メイリオ"/>
                        </a:rPr>
                        <a:t>2027年店舗コンバージョン完了まではTomorrowChainへ</a:t>
                      </a:r>
                    </a:p>
                    <a:p>
                      <a:pPr marL="87630" marR="0" lvl="0" indent="0" algn="l">
                        <a:lnSpc>
                          <a:spcPct val="100000"/>
                        </a:lnSpc>
                        <a:spcBef>
                          <a:spcPts val="300"/>
                        </a:spcBef>
                        <a:spcAft>
                          <a:spcPts val="0"/>
                        </a:spcAft>
                        <a:buClr>
                          <a:srgbClr val="BFBFBF"/>
                        </a:buClr>
                        <a:buSzPts val="1100"/>
                        <a:buNone/>
                      </a:pPr>
                      <a:r>
                        <a:rPr lang="en-US" altLang="ja-JP" sz="1500" b="1" u="none" strike="noStrike" cap="none">
                          <a:solidFill>
                            <a:srgbClr val="2B2B2B"/>
                          </a:solidFill>
                          <a:latin typeface="メイリオ"/>
                          <a:ea typeface="メイリオ"/>
                        </a:rPr>
                        <a:t>　</a:t>
                      </a:r>
                      <a:r>
                        <a:rPr lang="en-US" altLang="ja-JP" sz="1500" b="1" u="none" strike="noStrike" cap="none" err="1">
                          <a:solidFill>
                            <a:srgbClr val="2B2B2B"/>
                          </a:solidFill>
                          <a:latin typeface="メイリオ"/>
                          <a:ea typeface="メイリオ"/>
                        </a:rPr>
                        <a:t>連携・メンテナンスを実施</a:t>
                      </a:r>
                      <a:endParaRPr lang="en-US" altLang="ja-JP" sz="1500" b="1" u="none" strike="noStrike" cap="none">
                        <a:solidFill>
                          <a:srgbClr val="2B2B2B"/>
                        </a:solidFill>
                        <a:latin typeface="メイリオ"/>
                        <a:ea typeface="メイリオ"/>
                      </a:endParaRPr>
                    </a:p>
                  </a:txBody>
                  <a:tcPr marL="108000" marR="108000" marT="108000" marB="10800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2" name="Google Shape;61;p4">
            <a:extLst>
              <a:ext uri="{FF2B5EF4-FFF2-40B4-BE49-F238E27FC236}">
                <a16:creationId xmlns:a16="http://schemas.microsoft.com/office/drawing/2014/main" id="{4395B7ED-A3F1-54D1-DD3E-50F9CF38CBE9}"/>
              </a:ext>
            </a:extLst>
          </p:cNvPr>
          <p:cNvGraphicFramePr/>
          <p:nvPr>
            <p:extLst>
              <p:ext uri="{D42A27DB-BD31-4B8C-83A1-F6EECF244321}">
                <p14:modId xmlns:p14="http://schemas.microsoft.com/office/powerpoint/2010/main" val="2573947005"/>
              </p:ext>
            </p:extLst>
          </p:nvPr>
        </p:nvGraphicFramePr>
        <p:xfrm>
          <a:off x="4488874" y="1560266"/>
          <a:ext cx="3543300" cy="1787700"/>
        </p:xfrm>
        <a:graphic>
          <a:graphicData uri="http://schemas.openxmlformats.org/drawingml/2006/table">
            <a:tbl>
              <a:tblPr>
                <a:noFill/>
                <a:tableStyleId>{16DD54E9-F15A-4EFF-A1D8-E2CBB5DF2B52}</a:tableStyleId>
              </a:tblPr>
              <a:tblGrid>
                <a:gridCol w="3543300">
                  <a:extLst>
                    <a:ext uri="{9D8B030D-6E8A-4147-A177-3AD203B41FA5}">
                      <a16:colId xmlns:a16="http://schemas.microsoft.com/office/drawing/2014/main" val="20000"/>
                    </a:ext>
                  </a:extLst>
                </a:gridCol>
              </a:tblGrid>
              <a:tr h="335300">
                <a:tc>
                  <a:txBody>
                    <a:bodyPr/>
                    <a:lstStyle/>
                    <a:p>
                      <a:pPr marL="0" marR="0" lvl="0" indent="0" algn="ctr" rtl="0">
                        <a:lnSpc>
                          <a:spcPct val="100000"/>
                        </a:lnSpc>
                        <a:spcBef>
                          <a:spcPts val="0"/>
                        </a:spcBef>
                        <a:spcAft>
                          <a:spcPts val="0"/>
                        </a:spcAft>
                        <a:buClr>
                          <a:srgbClr val="000000"/>
                        </a:buClr>
                        <a:buSzPts val="1200"/>
                        <a:buFont typeface="Arial"/>
                        <a:buNone/>
                      </a:pPr>
                      <a:r>
                        <a:rPr lang="en-US" sz="1600" b="1" u="none" strike="noStrike" cap="none">
                          <a:solidFill>
                            <a:schemeClr val="lt1"/>
                          </a:solidFill>
                          <a:latin typeface="メイリオ"/>
                          <a:ea typeface="メイリオ"/>
                          <a:sym typeface="Meiryo"/>
                        </a:rPr>
                        <a:t>Step2</a:t>
                      </a:r>
                      <a:r>
                        <a:rPr lang="ja-JP" altLang="en-US" sz="1600" b="1" u="none" strike="noStrike" cap="none">
                          <a:solidFill>
                            <a:schemeClr val="lt1"/>
                          </a:solidFill>
                          <a:latin typeface="メイリオ"/>
                          <a:ea typeface="メイリオ"/>
                          <a:sym typeface="Meiryo"/>
                        </a:rPr>
                        <a:t>　</a:t>
                      </a:r>
                      <a:r>
                        <a:rPr lang="en-US" altLang="ja-JP" sz="1600" b="1" u="none" strike="noStrike" cap="none" err="1">
                          <a:solidFill>
                            <a:schemeClr val="lt1"/>
                          </a:solidFill>
                          <a:latin typeface="メイリオ"/>
                          <a:ea typeface="メイリオ"/>
                          <a:sym typeface="Meiryo"/>
                        </a:rPr>
                        <a:t>eB</a:t>
                      </a:r>
                      <a:r>
                        <a:rPr lang="en-US" altLang="ja-JP" sz="1600" b="1" u="none" strike="noStrike" cap="none">
                          <a:solidFill>
                            <a:schemeClr val="lt1"/>
                          </a:solidFill>
                          <a:latin typeface="メイリオ"/>
                          <a:ea typeface="メイリオ"/>
                          <a:sym typeface="Meiryo"/>
                        </a:rPr>
                        <a:t>-MDM</a:t>
                      </a:r>
                      <a:r>
                        <a:rPr lang="ja-JP" altLang="en-US" sz="1600" b="1" u="none" strike="noStrike" cap="none">
                          <a:solidFill>
                            <a:schemeClr val="lt1"/>
                          </a:solidFill>
                          <a:latin typeface="メイリオ"/>
                          <a:ea typeface="メイリオ"/>
                          <a:sym typeface="Meiryo"/>
                        </a:rPr>
                        <a:t>導入</a:t>
                      </a:r>
                      <a:endParaRPr sz="1900" b="1" u="none" strike="noStrike" cap="none">
                        <a:latin typeface="メイリオ"/>
                        <a:ea typeface="メイリオ"/>
                      </a:endParaRPr>
                    </a:p>
                  </a:txBody>
                  <a:tcPr marL="91425" marR="91425" marT="45725" marB="45725">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1452400">
                <a:tc>
                  <a:txBody>
                    <a:bodyPr/>
                    <a:lstStyle/>
                    <a:p>
                      <a:pPr marL="285750" marR="0" lvl="0" indent="-198120" algn="l" rtl="0">
                        <a:lnSpc>
                          <a:spcPct val="100000"/>
                        </a:lnSpc>
                        <a:spcBef>
                          <a:spcPts val="0"/>
                        </a:spcBef>
                        <a:spcAft>
                          <a:spcPts val="0"/>
                        </a:spcAft>
                        <a:buClr>
                          <a:srgbClr val="BFBFBF"/>
                        </a:buClr>
                        <a:buSzPts val="1100"/>
                        <a:buFont typeface="Noto Sans Symbols"/>
                        <a:buChar char="■"/>
                      </a:pPr>
                      <a:r>
                        <a:rPr lang="af-ZA" altLang="ja-JP" sz="1500" b="1" u="none" strike="noStrike" cap="none">
                          <a:solidFill>
                            <a:srgbClr val="2B2B2B"/>
                          </a:solidFill>
                          <a:latin typeface="メイリオ"/>
                          <a:ea typeface="メイリオ"/>
                        </a:rPr>
                        <a:t>eBASE</a:t>
                      </a:r>
                      <a:r>
                        <a:rPr lang="ja-JP" altLang="en-US" sz="1500" b="1" u="none" strike="noStrike" cap="none">
                          <a:solidFill>
                            <a:srgbClr val="2B2B2B"/>
                          </a:solidFill>
                          <a:latin typeface="メイリオ"/>
                          <a:ea typeface="メイリオ"/>
                        </a:rPr>
                        <a:t>の外部サービス利用</a:t>
                      </a:r>
                    </a:p>
                    <a:p>
                      <a:pPr marL="285750" marR="0" lvl="0" indent="-198120" algn="l">
                        <a:lnSpc>
                          <a:spcPct val="100000"/>
                        </a:lnSpc>
                        <a:spcBef>
                          <a:spcPts val="0"/>
                        </a:spcBef>
                        <a:spcAft>
                          <a:spcPts val="0"/>
                        </a:spcAft>
                        <a:buClr>
                          <a:srgbClr val="BFBFBF"/>
                        </a:buClr>
                        <a:buSzPts val="1100"/>
                        <a:buFont typeface="Noto Sans Symbols"/>
                        <a:buChar char="■"/>
                      </a:pPr>
                      <a:r>
                        <a:rPr lang="en-US" altLang="ja-JP" sz="1500" b="1" u="none" strike="noStrike" cap="none">
                          <a:solidFill>
                            <a:srgbClr val="2B2B2B"/>
                          </a:solidFill>
                          <a:latin typeface="メイリオ"/>
                          <a:ea typeface="メイリオ"/>
                          <a:sym typeface="Meiryo"/>
                        </a:rPr>
                        <a:t>2026</a:t>
                      </a:r>
                      <a:r>
                        <a:rPr lang="ja-JP" altLang="en-US" sz="1500" b="1" u="none" strike="noStrike" cap="none">
                          <a:solidFill>
                            <a:srgbClr val="2B2B2B"/>
                          </a:solidFill>
                          <a:latin typeface="メイリオ"/>
                          <a:ea typeface="メイリオ"/>
                          <a:sym typeface="Meiryo"/>
                        </a:rPr>
                        <a:t>年</a:t>
                      </a:r>
                      <a:r>
                        <a:rPr lang="en-US" altLang="ja-JP" sz="1500" b="1" u="none" strike="noStrike" cap="none">
                          <a:solidFill>
                            <a:srgbClr val="2B2B2B"/>
                          </a:solidFill>
                          <a:latin typeface="メイリオ"/>
                          <a:ea typeface="メイリオ"/>
                        </a:rPr>
                        <a:t>7</a:t>
                      </a:r>
                      <a:r>
                        <a:rPr lang="ja-JP" altLang="en-US" sz="1500" b="1" u="none" strike="noStrike" cap="none">
                          <a:solidFill>
                            <a:srgbClr val="2B2B2B"/>
                          </a:solidFill>
                          <a:latin typeface="メイリオ"/>
                          <a:ea typeface="メイリオ"/>
                          <a:sym typeface="Meiryo"/>
                        </a:rPr>
                        <a:t>月</a:t>
                      </a:r>
                      <a:r>
                        <a:rPr lang="ja-JP" altLang="en-US" sz="1500" b="1" u="none" strike="noStrike" cap="none">
                          <a:solidFill>
                            <a:srgbClr val="2B2B2B"/>
                          </a:solidFill>
                          <a:latin typeface="メイリオ"/>
                          <a:ea typeface="メイリオ"/>
                        </a:rPr>
                        <a:t>リリース</a:t>
                      </a:r>
                      <a:r>
                        <a:rPr lang="ja-JP" altLang="en-US" sz="1500" b="1" u="none" strike="noStrike" cap="none">
                          <a:solidFill>
                            <a:srgbClr val="2B2B2B"/>
                          </a:solidFill>
                          <a:latin typeface="メイリオ"/>
                          <a:ea typeface="メイリオ"/>
                          <a:sym typeface="Meiryo"/>
                        </a:rPr>
                        <a:t>予定</a:t>
                      </a:r>
                      <a:endParaRPr lang="ja-JP" altLang="en-US" sz="1900" b="1" u="none" strike="noStrike" cap="none">
                        <a:latin typeface="メイリオ"/>
                        <a:ea typeface="メイリオ"/>
                      </a:endParaRPr>
                    </a:p>
                    <a:p>
                      <a:pPr marL="285750" marR="0" lvl="0" indent="-198120" algn="l" rtl="0">
                        <a:lnSpc>
                          <a:spcPct val="100000"/>
                        </a:lnSpc>
                        <a:spcBef>
                          <a:spcPts val="300"/>
                        </a:spcBef>
                        <a:spcAft>
                          <a:spcPts val="0"/>
                        </a:spcAft>
                        <a:buClr>
                          <a:srgbClr val="BFBFBF"/>
                        </a:buClr>
                        <a:buSzPts val="1100"/>
                        <a:buFont typeface="Noto Sans Symbols"/>
                        <a:buChar char="■"/>
                      </a:pPr>
                      <a:r>
                        <a:rPr lang="ja-JP" altLang="en-US" sz="1500" b="1" u="none" strike="noStrike" cap="none">
                          <a:solidFill>
                            <a:schemeClr val="accent5"/>
                          </a:solidFill>
                          <a:latin typeface="メイリオ"/>
                          <a:ea typeface="メイリオ"/>
                          <a:sym typeface="Meiryo"/>
                        </a:rPr>
                        <a:t>既存</a:t>
                      </a:r>
                      <a:r>
                        <a:rPr lang="af-ZA" altLang="ja-JP" sz="1500" b="1" u="none" strike="noStrike" cap="none">
                          <a:solidFill>
                            <a:schemeClr val="accent5"/>
                          </a:solidFill>
                          <a:latin typeface="メイリオ"/>
                          <a:ea typeface="メイリオ"/>
                          <a:sym typeface="Meiryo"/>
                        </a:rPr>
                        <a:t>PJ</a:t>
                      </a:r>
                      <a:r>
                        <a:rPr lang="ja-JP" altLang="en-US" sz="1500" b="1" u="none" strike="noStrike" cap="none">
                          <a:solidFill>
                            <a:schemeClr val="accent5"/>
                          </a:solidFill>
                          <a:latin typeface="メイリオ"/>
                          <a:ea typeface="メイリオ"/>
                          <a:sym typeface="Meiryo"/>
                        </a:rPr>
                        <a:t>として進行</a:t>
                      </a:r>
                      <a:endParaRPr lang="ja-JP" altLang="en-US" sz="1900" b="1" u="none" strike="noStrike" cap="none">
                        <a:solidFill>
                          <a:schemeClr val="accent5"/>
                        </a:solidFill>
                        <a:latin typeface="メイリオ"/>
                        <a:ea typeface="メイリオ"/>
                      </a:endParaRPr>
                    </a:p>
                  </a:txBody>
                  <a:tcPr marL="108000" marR="108000" marT="108000" marB="108000"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6" name="正方形/長方形 5">
            <a:extLst>
              <a:ext uri="{FF2B5EF4-FFF2-40B4-BE49-F238E27FC236}">
                <a16:creationId xmlns:a16="http://schemas.microsoft.com/office/drawing/2014/main" id="{0CFDA401-57F6-94C2-5A40-21A398FE030C}"/>
              </a:ext>
            </a:extLst>
          </p:cNvPr>
          <p:cNvSpPr/>
          <p:nvPr/>
        </p:nvSpPr>
        <p:spPr>
          <a:xfrm>
            <a:off x="8197221" y="1556792"/>
            <a:ext cx="3369732" cy="1782232"/>
          </a:xfrm>
          <a:prstGeom prst="rect">
            <a:avLst/>
          </a:prstGeom>
          <a:no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 name="Google Shape;58;p4">
            <a:extLst>
              <a:ext uri="{FF2B5EF4-FFF2-40B4-BE49-F238E27FC236}">
                <a16:creationId xmlns:a16="http://schemas.microsoft.com/office/drawing/2014/main" id="{45D44F4E-BE70-74B1-8C2B-0819E9538039}"/>
              </a:ext>
            </a:extLst>
          </p:cNvPr>
          <p:cNvSpPr/>
          <p:nvPr/>
        </p:nvSpPr>
        <p:spPr>
          <a:xfrm>
            <a:off x="2023659" y="3450167"/>
            <a:ext cx="878934" cy="734917"/>
          </a:xfrm>
          <a:prstGeom prst="downArrow">
            <a:avLst>
              <a:gd name="adj1" fmla="val 50000"/>
              <a:gd name="adj2" fmla="val 50000"/>
            </a:avLst>
          </a:prstGeom>
          <a:solidFill>
            <a:srgbClr val="BFBFBF"/>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Meiryo"/>
              <a:ea typeface="Meiryo"/>
              <a:cs typeface="Meiryo"/>
              <a:sym typeface="Meiryo"/>
            </a:endParaRPr>
          </a:p>
        </p:txBody>
      </p:sp>
      <p:sp>
        <p:nvSpPr>
          <p:cNvPr id="60" name="Google Shape;60;p4"/>
          <p:cNvSpPr/>
          <p:nvPr/>
        </p:nvSpPr>
        <p:spPr>
          <a:xfrm>
            <a:off x="742126" y="3575537"/>
            <a:ext cx="10706902" cy="465531"/>
          </a:xfrm>
          <a:prstGeom prst="roundRect">
            <a:avLst>
              <a:gd name="adj" fmla="val 50000"/>
            </a:avLst>
          </a:prstGeom>
          <a:solidFill>
            <a:srgbClr val="E50012">
              <a:alpha val="68627"/>
            </a:srgbClr>
          </a:solidFill>
          <a:ln>
            <a:noFill/>
          </a:ln>
          <a:effectLst>
            <a:outerShdw blurRad="149987" dist="127000" dir="2700000" algn="ctr">
              <a:srgbClr val="000000">
                <a:alpha val="26666"/>
              </a:srgbClr>
            </a:outerShdw>
          </a:effectLst>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2000" b="1">
                <a:solidFill>
                  <a:schemeClr val="lt1"/>
                </a:solidFill>
                <a:latin typeface="Meiryo"/>
                <a:ea typeface="Meiryo"/>
                <a:sym typeface="Meiryo"/>
              </a:rPr>
              <a:t>商品マスタ統合プロジェクト</a:t>
            </a:r>
            <a:endParaRPr sz="1867" b="0" i="0" u="none" strike="noStrike" cap="non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9877BB-D80B-9DD3-9A6E-6BC0265D1220}"/>
              </a:ext>
            </a:extLst>
          </p:cNvPr>
          <p:cNvSpPr>
            <a:spLocks noGrp="1"/>
          </p:cNvSpPr>
          <p:nvPr>
            <p:ph type="title"/>
          </p:nvPr>
        </p:nvSpPr>
        <p:spPr/>
        <p:txBody>
          <a:bodyPr anchor="b">
            <a:noAutofit/>
          </a:bodyPr>
          <a:lstStyle/>
          <a:p>
            <a:r>
              <a:rPr lang="en-US" altLang="ja-JP" sz="1800">
                <a:solidFill>
                  <a:schemeClr val="bg1">
                    <a:lumMod val="65000"/>
                  </a:schemeClr>
                </a:solidFill>
              </a:rPr>
              <a:t>2. </a:t>
            </a:r>
            <a:r>
              <a:rPr lang="ja-JP" altLang="en-US" sz="1800">
                <a:solidFill>
                  <a:schemeClr val="bg1">
                    <a:lumMod val="65000"/>
                  </a:schemeClr>
                </a:solidFill>
              </a:rPr>
              <a:t>概要・アプローチ</a:t>
            </a:r>
            <a:br>
              <a:rPr lang="en-US" altLang="ja-JP" sz="1800">
                <a:solidFill>
                  <a:schemeClr val="bg1">
                    <a:lumMod val="65000"/>
                  </a:schemeClr>
                </a:solidFill>
              </a:rPr>
            </a:br>
            <a:r>
              <a:rPr lang="ja-JP" altLang="en-US"/>
              <a:t>フェーズアプローチ</a:t>
            </a:r>
            <a:endParaRPr kumimoji="1" lang="ja-JP" altLang="en-US"/>
          </a:p>
        </p:txBody>
      </p:sp>
      <p:graphicFrame>
        <p:nvGraphicFramePr>
          <p:cNvPr id="16" name="Table 15">
            <a:extLst>
              <a:ext uri="{FF2B5EF4-FFF2-40B4-BE49-F238E27FC236}">
                <a16:creationId xmlns:a16="http://schemas.microsoft.com/office/drawing/2014/main" id="{AB408E10-E8BA-37EE-416E-FF5212BDBAA8}"/>
              </a:ext>
            </a:extLst>
          </p:cNvPr>
          <p:cNvGraphicFramePr>
            <a:graphicFrameLocks noGrp="1"/>
          </p:cNvGraphicFramePr>
          <p:nvPr>
            <p:extLst>
              <p:ext uri="{D42A27DB-BD31-4B8C-83A1-F6EECF244321}">
                <p14:modId xmlns:p14="http://schemas.microsoft.com/office/powerpoint/2010/main" val="829203617"/>
              </p:ext>
            </p:extLst>
          </p:nvPr>
        </p:nvGraphicFramePr>
        <p:xfrm>
          <a:off x="632959" y="952045"/>
          <a:ext cx="10953212" cy="5691956"/>
        </p:xfrm>
        <a:graphic>
          <a:graphicData uri="http://schemas.openxmlformats.org/drawingml/2006/table">
            <a:tbl>
              <a:tblPr firstRow="1" bandRow="1">
                <a:tableStyleId>{16DD54E9-F15A-4EFF-A1D8-E2CBB5DF2B52}</a:tableStyleId>
              </a:tblPr>
              <a:tblGrid>
                <a:gridCol w="1044880">
                  <a:extLst>
                    <a:ext uri="{9D8B030D-6E8A-4147-A177-3AD203B41FA5}">
                      <a16:colId xmlns:a16="http://schemas.microsoft.com/office/drawing/2014/main" val="3391607342"/>
                    </a:ext>
                  </a:extLst>
                </a:gridCol>
                <a:gridCol w="3614351">
                  <a:extLst>
                    <a:ext uri="{9D8B030D-6E8A-4147-A177-3AD203B41FA5}">
                      <a16:colId xmlns:a16="http://schemas.microsoft.com/office/drawing/2014/main" val="3912655214"/>
                    </a:ext>
                  </a:extLst>
                </a:gridCol>
                <a:gridCol w="4167216">
                  <a:extLst>
                    <a:ext uri="{9D8B030D-6E8A-4147-A177-3AD203B41FA5}">
                      <a16:colId xmlns:a16="http://schemas.microsoft.com/office/drawing/2014/main" val="1190613070"/>
                    </a:ext>
                  </a:extLst>
                </a:gridCol>
                <a:gridCol w="2126765">
                  <a:extLst>
                    <a:ext uri="{9D8B030D-6E8A-4147-A177-3AD203B41FA5}">
                      <a16:colId xmlns:a16="http://schemas.microsoft.com/office/drawing/2014/main" val="1151495944"/>
                    </a:ext>
                  </a:extLst>
                </a:gridCol>
              </a:tblGrid>
              <a:tr h="621453">
                <a:tc>
                  <a:txBody>
                    <a:bodyPr/>
                    <a:lstStyle/>
                    <a:p>
                      <a:endParaRPr kumimoji="1" lang="ja-JP" altLang="en-US">
                        <a:solidFill>
                          <a:schemeClr val="tx1"/>
                        </a:solidFill>
                        <a:latin typeface="メイリオ" panose="020B0604030504040204" pitchFamily="50" charset="-128"/>
                        <a:ea typeface="メイリオ" panose="020B0604030504040204" pitchFamily="50" charset="-128"/>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tc>
                  <a:txBody>
                    <a:bodyPr/>
                    <a:lstStyle/>
                    <a:p>
                      <a:pPr algn="ctr"/>
                      <a:r>
                        <a:rPr lang="ja-JP" altLang="en-US" sz="2000" b="1">
                          <a:solidFill>
                            <a:schemeClr val="bg1"/>
                          </a:solidFill>
                          <a:latin typeface="メイリオ" panose="020B0604030504040204" pitchFamily="50" charset="-128"/>
                          <a:ea typeface="メイリオ" panose="020B0604030504040204" pitchFamily="50" charset="-128"/>
                          <a:cs typeface="Arial"/>
                        </a:rPr>
                        <a:t>Phase1</a:t>
                      </a:r>
                    </a:p>
                    <a:p>
                      <a:pPr algn="ctr"/>
                      <a:r>
                        <a:rPr lang="ja-JP" altLang="en-US" sz="1600" b="1">
                          <a:solidFill>
                            <a:schemeClr val="bg1"/>
                          </a:solidFill>
                          <a:latin typeface="メイリオ"/>
                          <a:ea typeface="メイリオ"/>
                          <a:cs typeface="Arial"/>
                        </a:rPr>
                        <a:t>2026/7～2027/3</a:t>
                      </a:r>
                      <a:endParaRPr lang="ja-JP" altLang="en-US" sz="1200" b="1">
                        <a:solidFill>
                          <a:schemeClr val="bg1"/>
                        </a:solidFill>
                        <a:latin typeface="メイリオ"/>
                        <a:ea typeface="メイリオ"/>
                        <a:cs typeface="Arial"/>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pPr lvl="0" algn="ctr">
                        <a:buNone/>
                      </a:pPr>
                      <a:r>
                        <a:rPr lang="ja-JP" altLang="en-US" sz="2000" b="1">
                          <a:solidFill>
                            <a:schemeClr val="bg1"/>
                          </a:solidFill>
                          <a:latin typeface="メイリオ"/>
                          <a:ea typeface="メイリオ"/>
                          <a:cs typeface="Arial"/>
                        </a:rPr>
                        <a:t>Phase2</a:t>
                      </a:r>
                    </a:p>
                    <a:p>
                      <a:pPr lvl="0" algn="ctr">
                        <a:buNone/>
                      </a:pPr>
                      <a:r>
                        <a:rPr lang="ja-JP" altLang="en-US" sz="1600" b="1">
                          <a:solidFill>
                            <a:schemeClr val="bg1"/>
                          </a:solidFill>
                          <a:latin typeface="メイリオ"/>
                          <a:ea typeface="メイリオ"/>
                          <a:cs typeface="Arial"/>
                        </a:rPr>
                        <a:t>2027/4リリース</a:t>
                      </a:r>
                      <a:r>
                        <a:rPr lang="ja-JP" altLang="en-US" sz="1200" b="1">
                          <a:solidFill>
                            <a:schemeClr val="bg1"/>
                          </a:solidFill>
                          <a:latin typeface="メイリオ"/>
                          <a:ea typeface="メイリオ"/>
                          <a:cs typeface="Arial"/>
                        </a:rPr>
                        <a:t>（～店舗CV終了）</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tc>
                  <a:txBody>
                    <a:bodyPr/>
                    <a:lstStyle/>
                    <a:p>
                      <a:pPr algn="ctr"/>
                      <a:r>
                        <a:rPr lang="ja-JP" altLang="en-US" sz="2000" b="1">
                          <a:solidFill>
                            <a:schemeClr val="bg1"/>
                          </a:solidFill>
                          <a:latin typeface="メイリオ"/>
                          <a:ea typeface="メイリオ"/>
                          <a:cs typeface="Arial"/>
                        </a:rPr>
                        <a:t>Phase３</a:t>
                      </a:r>
                    </a:p>
                    <a:p>
                      <a:pPr lvl="0" algn="ctr">
                        <a:buNone/>
                      </a:pPr>
                      <a:r>
                        <a:rPr lang="ja-JP" altLang="en-US" sz="1600" b="1">
                          <a:solidFill>
                            <a:schemeClr val="bg1"/>
                          </a:solidFill>
                          <a:latin typeface="メイリオ"/>
                          <a:ea typeface="メイリオ"/>
                          <a:cs typeface="Arial"/>
                        </a:rPr>
                        <a:t>2027/10</a:t>
                      </a:r>
                      <a:r>
                        <a:rPr lang="ja-JP" altLang="en-US" sz="1200" b="1">
                          <a:solidFill>
                            <a:schemeClr val="bg1"/>
                          </a:solidFill>
                          <a:latin typeface="メイリオ"/>
                          <a:ea typeface="メイリオ"/>
                          <a:cs typeface="Arial"/>
                        </a:rPr>
                        <a:t>(～2028/3)</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5"/>
                    </a:solidFill>
                  </a:tcPr>
                </a:tc>
                <a:extLst>
                  <a:ext uri="{0D108BD9-81ED-4DB2-BD59-A6C34878D82A}">
                    <a16:rowId xmlns:a16="http://schemas.microsoft.com/office/drawing/2014/main" val="2041093438"/>
                  </a:ext>
                </a:extLst>
              </a:tr>
              <a:tr h="711519">
                <a:tc>
                  <a:txBody>
                    <a:bodyPr/>
                    <a:lstStyle/>
                    <a:p>
                      <a:pPr lvl="0">
                        <a:buNone/>
                      </a:pPr>
                      <a:r>
                        <a:rPr lang="ja-JP" altLang="en-US" sz="1600" b="1">
                          <a:solidFill>
                            <a:schemeClr val="tx1"/>
                          </a:solidFill>
                          <a:latin typeface="メイリオ"/>
                          <a:ea typeface="メイリオ"/>
                        </a:rPr>
                        <a:t>概略</a:t>
                      </a:r>
                      <a:endParaRPr kumimoji="1" lang="ja-JP" altLang="en-US" sz="1600" b="1">
                        <a:solidFill>
                          <a:schemeClr val="tx1"/>
                        </a:solidFill>
                        <a:latin typeface="メイリオ"/>
                        <a:ea typeface="メイリオ"/>
                      </a:endParaRPr>
                    </a:p>
                  </a:txBody>
                  <a:tcPr anchor="ctr">
                    <a:lnL w="19050">
                      <a:solidFill>
                        <a:schemeClr val="bg1"/>
                      </a:solidFill>
                    </a:lnL>
                    <a:lnR w="19050">
                      <a:solidFill>
                        <a:schemeClr val="bg1"/>
                      </a:solidFill>
                    </a:lnR>
                    <a:lnT w="19050">
                      <a:solidFill>
                        <a:schemeClr val="bg1"/>
                      </a:solidFill>
                    </a:lnT>
                    <a:lnB w="19050">
                      <a:solidFill>
                        <a:schemeClr val="bg1"/>
                      </a:solidFill>
                    </a:lnB>
                    <a:solidFill>
                      <a:schemeClr val="bg1">
                        <a:lumMod val="85000"/>
                      </a:schemeClr>
                    </a:solidFill>
                  </a:tcPr>
                </a:tc>
                <a:tc>
                  <a:txBody>
                    <a:bodyPr/>
                    <a:lstStyle/>
                    <a:p>
                      <a:pPr marL="285750" lvl="0" indent="-285750" algn="l">
                        <a:buFont typeface="Wingdings"/>
                        <a:buChar char="Ø"/>
                      </a:pPr>
                      <a:r>
                        <a:rPr lang="ja-JP" altLang="en-US" sz="1400" b="1">
                          <a:latin typeface="メイリオ"/>
                          <a:ea typeface="メイリオ"/>
                          <a:cs typeface="Arial"/>
                        </a:rPr>
                        <a:t>組織統合に向けたマスタメンテナンス体制確立・実装</a:t>
                      </a:r>
                    </a:p>
                    <a:p>
                      <a:pPr marL="285750" lvl="0" indent="-285750" algn="l">
                        <a:buFont typeface="Wingdings"/>
                        <a:buChar char="Ø"/>
                      </a:pPr>
                      <a:r>
                        <a:rPr lang="ja-JP" altLang="en-US" sz="1400" b="1">
                          <a:latin typeface="メイリオ"/>
                          <a:ea typeface="メイリオ"/>
                          <a:cs typeface="Arial"/>
                        </a:rPr>
                        <a:t>商談システム性能改善</a:t>
                      </a:r>
                    </a:p>
                    <a:p>
                      <a:pPr marL="285750" lvl="0" indent="-285750" algn="l">
                        <a:buFont typeface="Wingdings"/>
                        <a:buChar char="Ø"/>
                      </a:pPr>
                      <a:r>
                        <a:rPr lang="ja-JP" altLang="en-US" sz="1400" b="1">
                          <a:latin typeface="メイリオ"/>
                          <a:ea typeface="メイリオ"/>
                          <a:cs typeface="Arial"/>
                        </a:rPr>
                        <a:t>先行データ移行準備・実装</a:t>
                      </a:r>
                    </a:p>
                  </a:txBody>
                  <a:tcPr>
                    <a:lnL w="19050">
                      <a:solidFill>
                        <a:schemeClr val="bg1"/>
                      </a:solidFill>
                    </a:lnL>
                    <a:lnR w="19050">
                      <a:solidFill>
                        <a:schemeClr val="bg1"/>
                      </a:solidFill>
                    </a:lnR>
                    <a:lnT w="19050">
                      <a:solidFill>
                        <a:schemeClr val="bg1"/>
                      </a:solidFill>
                    </a:lnT>
                    <a:lnB w="19050">
                      <a:solidFill>
                        <a:schemeClr val="bg1"/>
                      </a:solidFill>
                    </a:lnB>
                    <a:solidFill>
                      <a:schemeClr val="bg1">
                        <a:lumMod val="95000"/>
                      </a:schemeClr>
                    </a:solidFill>
                  </a:tcPr>
                </a:tc>
                <a:tc>
                  <a:txBody>
                    <a:bodyPr/>
                    <a:lstStyle/>
                    <a:p>
                      <a:pPr marL="285750" lvl="0" indent="-285750" algn="l">
                        <a:buFont typeface="Wingdings"/>
                        <a:buChar char="Ø"/>
                      </a:pPr>
                      <a:r>
                        <a:rPr lang="ja-JP" altLang="en-US" sz="1400" b="1">
                          <a:latin typeface="メイリオ"/>
                          <a:ea typeface="メイリオ"/>
                          <a:cs typeface="Arial"/>
                        </a:rPr>
                        <a:t>商談システム（非生鮮・生鮮）への統合</a:t>
                      </a:r>
                      <a:endParaRPr lang="ja-JP"/>
                    </a:p>
                    <a:p>
                      <a:pPr marL="285750" lvl="0" indent="-285750" algn="l">
                        <a:buFont typeface="Wingdings"/>
                        <a:buChar char="Ø"/>
                      </a:pPr>
                      <a:r>
                        <a:rPr lang="ja-JP" altLang="en-US" sz="1400" b="1">
                          <a:latin typeface="メイリオ"/>
                          <a:ea typeface="メイリオ"/>
                          <a:cs typeface="Arial"/>
                        </a:rPr>
                        <a:t>ビジネスチェンジへの準備・実装</a:t>
                      </a:r>
                    </a:p>
                    <a:p>
                      <a:pPr marL="285750" lvl="0" indent="-285750" algn="l">
                        <a:buFont typeface="Wingdings"/>
                        <a:buChar char="Ø"/>
                      </a:pPr>
                      <a:r>
                        <a:rPr lang="ja-JP" altLang="en-US" sz="1400" b="1">
                          <a:latin typeface="メイリオ"/>
                          <a:ea typeface="メイリオ"/>
                          <a:cs typeface="Arial"/>
                        </a:rPr>
                        <a:t>店舗コンバージョン期間（TCの並行稼働）</a:t>
                      </a:r>
                    </a:p>
                  </a:txBody>
                  <a:tcPr>
                    <a:lnL w="19050">
                      <a:solidFill>
                        <a:schemeClr val="bg1"/>
                      </a:solidFill>
                    </a:lnL>
                    <a:lnR w="19050">
                      <a:solidFill>
                        <a:schemeClr val="bg1"/>
                      </a:solidFill>
                    </a:lnR>
                    <a:lnT w="19050">
                      <a:solidFill>
                        <a:schemeClr val="bg1"/>
                      </a:solidFill>
                    </a:lnT>
                    <a:lnB w="19050">
                      <a:solidFill>
                        <a:schemeClr val="bg1"/>
                      </a:solidFill>
                    </a:lnB>
                    <a:solidFill>
                      <a:schemeClr val="bg1">
                        <a:lumMod val="95000"/>
                      </a:schemeClr>
                    </a:solidFill>
                  </a:tcPr>
                </a:tc>
                <a:tc>
                  <a:txBody>
                    <a:bodyPr/>
                    <a:lstStyle/>
                    <a:p>
                      <a:pPr marL="285750" lvl="0" indent="-285750" algn="l">
                        <a:buFont typeface="Wingdings"/>
                        <a:buChar char="Ø"/>
                      </a:pPr>
                      <a:r>
                        <a:rPr lang="ja-JP" altLang="en-US" sz="1400" b="1">
                          <a:latin typeface="メイリオ"/>
                          <a:ea typeface="メイリオ"/>
                          <a:cs typeface="Arial"/>
                        </a:rPr>
                        <a:t>店舗コンバージョン後の商品マスタ連携</a:t>
                      </a:r>
                    </a:p>
                    <a:p>
                      <a:pPr marL="285750" lvl="0" indent="-285750" algn="l">
                        <a:buFont typeface="Wingdings"/>
                        <a:buChar char="Ø"/>
                      </a:pPr>
                      <a:r>
                        <a:rPr lang="ja-JP" altLang="en-US" sz="1400" b="1">
                          <a:latin typeface="メイリオ"/>
                          <a:ea typeface="メイリオ"/>
                          <a:cs typeface="Arial"/>
                        </a:rPr>
                        <a:t>完全システム停止</a:t>
                      </a:r>
                    </a:p>
                  </a:txBody>
                  <a:tcPr>
                    <a:lnL w="19050" cap="flat" cmpd="sng" algn="ctr">
                      <a:solidFill>
                        <a:schemeClr val="bg1"/>
                      </a:solidFill>
                      <a:prstDash val="solid"/>
                      <a:round/>
                      <a:headEnd type="none" w="med" len="med"/>
                      <a:tailEnd type="none" w="med" len="med"/>
                    </a:lnL>
                    <a:lnR w="19050">
                      <a:solidFill>
                        <a:schemeClr val="bg1"/>
                      </a:solid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983736779"/>
                  </a:ext>
                </a:extLst>
              </a:tr>
              <a:tr h="1954428">
                <a:tc>
                  <a:txBody>
                    <a:bodyPr/>
                    <a:lstStyle/>
                    <a:p>
                      <a:r>
                        <a:rPr kumimoji="1" lang="ja-JP" altLang="en-US" sz="1600" b="1">
                          <a:solidFill>
                            <a:schemeClr val="tx1"/>
                          </a:solidFill>
                          <a:latin typeface="メイリオ" panose="020B0604030504040204" pitchFamily="50" charset="-128"/>
                          <a:ea typeface="メイリオ" panose="020B0604030504040204" pitchFamily="50" charset="-128"/>
                        </a:rPr>
                        <a:t>システム</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marL="269875" lvl="0" indent="-269875" algn="l">
                        <a:buAutoNum type="circleNumDbPlain"/>
                      </a:pPr>
                      <a:r>
                        <a:rPr lang="ja-JP" altLang="en-US" sz="1400">
                          <a:latin typeface="メイリオ"/>
                          <a:ea typeface="メイリオ"/>
                          <a:cs typeface="Arial"/>
                        </a:rPr>
                        <a:t>性能改善</a:t>
                      </a:r>
                      <a:endParaRPr lang="ja-JP">
                        <a:latin typeface="メイリオ"/>
                        <a:ea typeface="メイリオ"/>
                      </a:endParaRPr>
                    </a:p>
                    <a:p>
                      <a:pPr marL="269875" indent="-269875" algn="l">
                        <a:buFont typeface="+mj-ea"/>
                        <a:buAutoNum type="circleNumDbPlain"/>
                      </a:pPr>
                      <a:r>
                        <a:rPr lang="ja-JP" altLang="en-US" sz="1400">
                          <a:latin typeface="メイリオ"/>
                          <a:ea typeface="メイリオ"/>
                          <a:cs typeface="Arial"/>
                        </a:rPr>
                        <a:t>データ削除可能対象洗い出し</a:t>
                      </a:r>
                    </a:p>
                    <a:p>
                      <a:pPr marL="269875" lvl="0" indent="-269875" algn="l">
                        <a:buAutoNum type="circleNumDbPlain"/>
                      </a:pPr>
                      <a:r>
                        <a:rPr lang="ja-JP" altLang="en-US" sz="1400">
                          <a:latin typeface="メイリオ"/>
                          <a:ea typeface="メイリオ"/>
                          <a:cs typeface="Arial"/>
                        </a:rPr>
                        <a:t>商品階層/商品マスタ項目マッピング（西友独自マスタ洗い出し）</a:t>
                      </a:r>
                    </a:p>
                    <a:p>
                      <a:pPr marL="269875" lvl="0" indent="-269875" algn="l">
                        <a:buAutoNum type="circleNumDbPlain"/>
                      </a:pPr>
                      <a:r>
                        <a:rPr lang="ja-JP" altLang="en-US" sz="1400">
                          <a:latin typeface="メイリオ"/>
                          <a:ea typeface="メイリオ"/>
                          <a:cs typeface="Arial"/>
                        </a:rPr>
                        <a:t>先行データ移行準備（プロセス確立）・開始</a:t>
                      </a:r>
                    </a:p>
                    <a:p>
                      <a:pPr marL="269875" lvl="0" indent="-269875" algn="l">
                        <a:buAutoNum type="circleNumDbPlain"/>
                      </a:pPr>
                      <a:endParaRPr lang="ja-JP" sz="1400" b="0" i="0" u="none" strike="noStrike" noProof="0">
                        <a:solidFill>
                          <a:srgbClr val="000000"/>
                        </a:solidFill>
                        <a:latin typeface="Meiryo"/>
                        <a:ea typeface="Meiryo"/>
                        <a:cs typeface="Arial"/>
                      </a:endParaRP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indent="-269875" algn="l">
                        <a:buAutoNum type="circleNumDbPlain"/>
                      </a:pPr>
                      <a:r>
                        <a:rPr lang="ja-JP" altLang="en-US" sz="1400" b="0" i="0" u="none" strike="noStrike" noProof="0">
                          <a:solidFill>
                            <a:srgbClr val="000000"/>
                          </a:solidFill>
                          <a:latin typeface="Meiryo"/>
                          <a:ea typeface="Meiryo"/>
                          <a:cs typeface="Arial"/>
                        </a:rPr>
                        <a:t>商談</a:t>
                      </a:r>
                      <a:r>
                        <a:rPr lang="ja-JP" sz="1400" b="0" i="0" u="none" strike="noStrike" noProof="0">
                          <a:solidFill>
                            <a:srgbClr val="000000"/>
                          </a:solidFill>
                          <a:latin typeface="Meiryo"/>
                          <a:ea typeface="Meiryo"/>
                          <a:cs typeface="Arial"/>
                        </a:rPr>
                        <a:t>システム改修要件整理</a:t>
                      </a:r>
                      <a:r>
                        <a:rPr lang="en-US" altLang="ja-JP" sz="1400" b="0" i="0" u="none" strike="noStrike" noProof="0">
                          <a:solidFill>
                            <a:srgbClr val="000000"/>
                          </a:solidFill>
                          <a:latin typeface="Meiryo"/>
                          <a:ea typeface="Meiryo"/>
                          <a:cs typeface="Arial"/>
                        </a:rPr>
                        <a:t>/</a:t>
                      </a:r>
                      <a:r>
                        <a:rPr lang="en-US" altLang="ja-JP" sz="1400" b="0" i="0" u="none" strike="noStrike" noProof="0" err="1">
                          <a:solidFill>
                            <a:srgbClr val="000000"/>
                          </a:solidFill>
                          <a:latin typeface="Meiryo"/>
                          <a:ea typeface="Meiryo"/>
                          <a:cs typeface="Arial"/>
                        </a:rPr>
                        <a:t>設計</a:t>
                      </a:r>
                      <a:r>
                        <a:rPr lang="en-US" altLang="ja-JP" sz="1400" b="0" i="0" u="none" strike="noStrike" noProof="0">
                          <a:solidFill>
                            <a:srgbClr val="000000"/>
                          </a:solidFill>
                          <a:latin typeface="Meiryo"/>
                          <a:ea typeface="Meiryo"/>
                          <a:cs typeface="Arial"/>
                        </a:rPr>
                        <a:t>/</a:t>
                      </a:r>
                      <a:r>
                        <a:rPr lang="en-US" altLang="ja-JP" sz="1400" b="0" i="0" u="none" strike="noStrike" noProof="0" err="1">
                          <a:solidFill>
                            <a:srgbClr val="000000"/>
                          </a:solidFill>
                          <a:latin typeface="Meiryo"/>
                          <a:ea typeface="Meiryo"/>
                          <a:cs typeface="Arial"/>
                        </a:rPr>
                        <a:t>開発</a:t>
                      </a:r>
                      <a:r>
                        <a:rPr lang="en-US" altLang="ja-JP" sz="1400" b="0" i="0" u="none" strike="noStrike" noProof="0">
                          <a:solidFill>
                            <a:srgbClr val="000000"/>
                          </a:solidFill>
                          <a:latin typeface="Meiryo"/>
                          <a:ea typeface="Meiryo"/>
                          <a:cs typeface="Arial"/>
                        </a:rPr>
                        <a:t>/</a:t>
                      </a:r>
                      <a:r>
                        <a:rPr lang="en-US" altLang="ja-JP" sz="1400" b="0" i="0" u="none" strike="noStrike" noProof="0" err="1">
                          <a:solidFill>
                            <a:srgbClr val="000000"/>
                          </a:solidFill>
                          <a:latin typeface="Meiryo"/>
                          <a:ea typeface="Meiryo"/>
                          <a:cs typeface="Arial"/>
                        </a:rPr>
                        <a:t>テスト</a:t>
                      </a:r>
                      <a:r>
                        <a:rPr lang="en-US" altLang="ja-JP" sz="1400" b="0" i="0" u="none" strike="noStrike" noProof="0">
                          <a:solidFill>
                            <a:srgbClr val="000000"/>
                          </a:solidFill>
                          <a:latin typeface="Meiryo"/>
                          <a:ea typeface="Meiryo"/>
                          <a:cs typeface="Arial"/>
                        </a:rPr>
                        <a:t>/</a:t>
                      </a:r>
                      <a:r>
                        <a:rPr lang="en-US" altLang="ja-JP" sz="1400" b="0" i="0" u="none" strike="noStrike" noProof="0" err="1">
                          <a:solidFill>
                            <a:srgbClr val="000000"/>
                          </a:solidFill>
                          <a:latin typeface="Meiryo"/>
                          <a:ea typeface="Meiryo"/>
                          <a:cs typeface="Arial"/>
                        </a:rPr>
                        <a:t>外部連携</a:t>
                      </a:r>
                    </a:p>
                    <a:p>
                      <a:pPr marL="269875" indent="-269875" algn="l">
                        <a:buFont typeface="+mj-ea"/>
                        <a:buAutoNum type="circleNumDbPlain"/>
                      </a:pPr>
                      <a:r>
                        <a:rPr lang="ja-JP" altLang="en-US" sz="1400">
                          <a:latin typeface="メイリオ"/>
                          <a:ea typeface="メイリオ"/>
                          <a:cs typeface="Arial"/>
                        </a:rPr>
                        <a:t>データ連携構築・環境構築（Data Spider）</a:t>
                      </a:r>
                    </a:p>
                    <a:p>
                      <a:pPr marL="269875" lvl="0" indent="-269875" algn="l">
                        <a:buAutoNum type="circleNumDbPlain"/>
                      </a:pPr>
                      <a:r>
                        <a:rPr lang="ja-JP" altLang="en-US" sz="1400">
                          <a:latin typeface="メイリオ"/>
                          <a:ea typeface="メイリオ"/>
                          <a:cs typeface="Arial"/>
                        </a:rPr>
                        <a:t>テスト計画策定/実施・UAT支援</a:t>
                      </a:r>
                      <a:endParaRPr lang="ja-JP"/>
                    </a:p>
                    <a:p>
                      <a:pPr marL="269875" indent="-269875" algn="l">
                        <a:buFont typeface="+mj-ea"/>
                        <a:buAutoNum type="circleNumDbPlain"/>
                      </a:pPr>
                      <a:r>
                        <a:rPr lang="ja-JP" altLang="en-US" sz="1400">
                          <a:latin typeface="メイリオ"/>
                          <a:ea typeface="メイリオ"/>
                          <a:cs typeface="Arial"/>
                        </a:rPr>
                        <a:t>商品マスタデータ移行計画策定/データ移行</a:t>
                      </a:r>
                    </a:p>
                    <a:p>
                      <a:pPr marL="269875" lvl="0" indent="-269875" algn="l">
                        <a:buAutoNum type="circleNumDbPlain"/>
                      </a:pPr>
                      <a:r>
                        <a:rPr lang="ja-JP" altLang="en-US" sz="1400">
                          <a:latin typeface="メイリオ"/>
                          <a:ea typeface="メイリオ"/>
                          <a:cs typeface="Arial"/>
                        </a:rPr>
                        <a:t>運用体制確立</a:t>
                      </a:r>
                      <a:endParaRPr lang="ja-JP"/>
                    </a:p>
                    <a:p>
                      <a:pPr marL="269875" lvl="0" indent="-269875" algn="l">
                        <a:buAutoNum type="circleNumDbPlain"/>
                      </a:pPr>
                      <a:r>
                        <a:rPr lang="ja-JP" altLang="en-US" sz="1400">
                          <a:latin typeface="メイリオ"/>
                          <a:ea typeface="メイリオ"/>
                          <a:cs typeface="Arial"/>
                        </a:rPr>
                        <a:t>商談システム本番リリース・ハイパーケア</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indent="-269875" algn="l">
                        <a:buAutoNum type="circleNumDbPlain"/>
                      </a:pPr>
                      <a:r>
                        <a:rPr lang="ja-JP" altLang="en-US" sz="1400">
                          <a:latin typeface="メイリオ"/>
                          <a:ea typeface="メイリオ"/>
                          <a:cs typeface="Arial"/>
                        </a:rPr>
                        <a:t>TomorrowChian停止(2027/10)</a:t>
                      </a:r>
                      <a:endParaRPr lang="ja-JP"/>
                    </a:p>
                    <a:p>
                      <a:pPr marL="269875" lvl="0" indent="-269875" algn="l">
                        <a:buAutoNum type="circleNumDbPlain"/>
                      </a:pPr>
                      <a:r>
                        <a:rPr lang="ja-JP" altLang="en-US" sz="1400">
                          <a:latin typeface="メイリオ"/>
                          <a:ea typeface="メイリオ"/>
                          <a:cs typeface="Arial"/>
                        </a:rPr>
                        <a:t>EC過渡期機能終了(2028/3)</a:t>
                      </a:r>
                    </a:p>
                    <a:p>
                      <a:pPr marL="269875" indent="-269875" algn="l">
                        <a:buFont typeface="+mj-ea"/>
                        <a:buAutoNum type="circleNumDbPlain"/>
                      </a:pPr>
                      <a:r>
                        <a:rPr lang="ja-JP" altLang="en-US" sz="1400">
                          <a:latin typeface="メイリオ" panose="020B0604030504040204" pitchFamily="50" charset="-128"/>
                          <a:ea typeface="メイリオ" panose="020B0604030504040204" pitchFamily="50" charset="-128"/>
                          <a:cs typeface="Arial"/>
                        </a:rPr>
                        <a:t>eB-MDM停止</a:t>
                      </a:r>
                    </a:p>
                    <a:p>
                      <a:pPr marL="0" lvl="0" indent="0" algn="l">
                        <a:buNone/>
                      </a:pPr>
                      <a:r>
                        <a:rPr lang="ja-JP" altLang="en-US" sz="1400">
                          <a:latin typeface="メイリオ"/>
                          <a:ea typeface="メイリオ"/>
                          <a:cs typeface="Arial"/>
                        </a:rPr>
                        <a:t>     (2028/3)</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431401589"/>
                  </a:ext>
                </a:extLst>
              </a:tr>
              <a:tr h="2152568">
                <a:tc>
                  <a:txBody>
                    <a:bodyPr/>
                    <a:lstStyle/>
                    <a:p>
                      <a:r>
                        <a:rPr kumimoji="1" lang="ja-JP" altLang="en-US" sz="1600" b="1">
                          <a:solidFill>
                            <a:schemeClr val="tx1"/>
                          </a:solidFill>
                          <a:latin typeface="メイリオ" panose="020B0604030504040204" pitchFamily="50" charset="-128"/>
                          <a:ea typeface="メイリオ" panose="020B0604030504040204" pitchFamily="50" charset="-128"/>
                        </a:rPr>
                        <a:t>ビジネス</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85000"/>
                      </a:schemeClr>
                    </a:solidFill>
                  </a:tcPr>
                </a:tc>
                <a:tc>
                  <a:txBody>
                    <a:bodyPr/>
                    <a:lstStyle/>
                    <a:p>
                      <a:pPr marL="269875" indent="-269875" algn="l">
                        <a:buFont typeface="+mj-ea"/>
                        <a:buAutoNum type="circleNumDbPlain"/>
                      </a:pPr>
                      <a:r>
                        <a:rPr lang="ja-JP" altLang="en-US" sz="1400">
                          <a:latin typeface="メイリオ"/>
                          <a:ea typeface="メイリオ"/>
                          <a:cs typeface="Arial"/>
                        </a:rPr>
                        <a:t>組織統合に向けてのマスタメンテナンス体制作り（パンチャー手配）</a:t>
                      </a:r>
                      <a:endParaRPr lang="ja-JP" altLang="en-US" sz="1400">
                        <a:latin typeface="メイリオ" panose="020B0604030504040204" pitchFamily="50" charset="-128"/>
                        <a:ea typeface="メイリオ" panose="020B0604030504040204" pitchFamily="50" charset="-128"/>
                        <a:cs typeface="Arial"/>
                      </a:endParaRPr>
                    </a:p>
                    <a:p>
                      <a:pPr marL="269875" indent="-269875" algn="l">
                        <a:buFont typeface="+mj-ea"/>
                        <a:buAutoNum type="circleNumDbPlain"/>
                      </a:pPr>
                      <a:r>
                        <a:rPr lang="ja-JP" altLang="en-US" sz="1400">
                          <a:latin typeface="メイリオ" panose="020B0604030504040204" pitchFamily="50" charset="-128"/>
                          <a:ea typeface="メイリオ" panose="020B0604030504040204" pitchFamily="50" charset="-128"/>
                          <a:cs typeface="Arial"/>
                        </a:rPr>
                        <a:t>共通入力シート作成</a:t>
                      </a:r>
                    </a:p>
                    <a:p>
                      <a:pPr marL="269875" indent="-269875" algn="l">
                        <a:buFont typeface="+mj-ea"/>
                        <a:buAutoNum type="circleNumDbPlain"/>
                      </a:pPr>
                      <a:r>
                        <a:rPr lang="ja-JP" altLang="en-US" sz="1400">
                          <a:latin typeface="メイリオ" panose="020B0604030504040204" pitchFamily="50" charset="-128"/>
                          <a:ea typeface="メイリオ" panose="020B0604030504040204" pitchFamily="50" charset="-128"/>
                          <a:cs typeface="Arial"/>
                        </a:rPr>
                        <a:t>データクレンジング</a:t>
                      </a:r>
                    </a:p>
                    <a:p>
                      <a:pPr marL="269875" lvl="0" indent="-269875" algn="l">
                        <a:buAutoNum type="circleNumDbPlain"/>
                      </a:pPr>
                      <a:r>
                        <a:rPr lang="ja-JP" altLang="en-US" sz="1400">
                          <a:latin typeface="メイリオ"/>
                          <a:ea typeface="メイリオ"/>
                          <a:cs typeface="Arial"/>
                        </a:rPr>
                        <a:t>商品階層/商品マスタ項目マッピングレビュー・承認</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lvl="0" indent="-269875" algn="l">
                        <a:buAutoNum type="circleNumDbPlain"/>
                      </a:pPr>
                      <a:r>
                        <a:rPr lang="ja-JP" altLang="en-US" sz="1400">
                          <a:latin typeface="メイリオ"/>
                          <a:ea typeface="メイリオ"/>
                          <a:cs typeface="Arial"/>
                        </a:rPr>
                        <a:t>マスタ移行計画策定/項目</a:t>
                      </a:r>
                      <a:endParaRPr lang="ja-JP">
                        <a:latin typeface="メイリオ"/>
                        <a:ea typeface="メイリオ"/>
                      </a:endParaRPr>
                    </a:p>
                    <a:p>
                      <a:pPr marL="269875" indent="-269875" algn="l">
                        <a:buFont typeface="+mj-ea"/>
                        <a:buAutoNum type="circleNumDbPlain"/>
                      </a:pPr>
                      <a:r>
                        <a:rPr lang="ja-JP" altLang="en-US" sz="1400">
                          <a:latin typeface="メイリオ"/>
                          <a:ea typeface="メイリオ"/>
                          <a:cs typeface="Arial"/>
                        </a:rPr>
                        <a:t>業務プロセス整理・フロー・マニュアル作成</a:t>
                      </a:r>
                      <a:r>
                        <a:rPr lang="ja-JP" altLang="en-US" sz="1200">
                          <a:latin typeface="メイリオ"/>
                          <a:ea typeface="メイリオ"/>
                          <a:cs typeface="Arial"/>
                        </a:rPr>
                        <a:t>（トライアルで作成済みであれば、更新のみ）</a:t>
                      </a:r>
                    </a:p>
                    <a:p>
                      <a:pPr marL="269875" indent="-269875" algn="l">
                        <a:buFont typeface="+mj-ea"/>
                        <a:buAutoNum type="circleNumDbPlain"/>
                      </a:pPr>
                      <a:r>
                        <a:rPr lang="ja-JP" altLang="en-US" sz="1400">
                          <a:latin typeface="メイリオ"/>
                          <a:ea typeface="メイリオ"/>
                          <a:cs typeface="Arial"/>
                        </a:rPr>
                        <a:t>未稼働店舗在庫の一掃大処分</a:t>
                      </a:r>
                    </a:p>
                    <a:p>
                      <a:pPr marL="269875" lvl="0" indent="-269875" algn="l">
                        <a:buAutoNum type="circleNumDbPlain"/>
                      </a:pPr>
                      <a:r>
                        <a:rPr lang="ja-JP" altLang="en-US" sz="1400">
                          <a:latin typeface="メイリオ"/>
                          <a:ea typeface="メイリオ"/>
                          <a:cs typeface="Arial"/>
                        </a:rPr>
                        <a:t>UAT計画/実施</a:t>
                      </a:r>
                      <a:endParaRPr lang="ja-JP"/>
                    </a:p>
                    <a:p>
                      <a:pPr marL="269875" lvl="0" indent="-269875" algn="l">
                        <a:buAutoNum type="circleNumDbPlain"/>
                      </a:pPr>
                      <a:r>
                        <a:rPr lang="ja-JP" altLang="en-US" sz="1400">
                          <a:latin typeface="メイリオ"/>
                          <a:ea typeface="メイリオ"/>
                          <a:cs typeface="Arial"/>
                        </a:rPr>
                        <a:t>ユーザー・取引先説明会（商品階層・システム変更など）</a:t>
                      </a:r>
                    </a:p>
                    <a:p>
                      <a:pPr marL="269875" lvl="0" indent="-269875" algn="l">
                        <a:buAutoNum type="circleNumDbPlain"/>
                      </a:pPr>
                      <a:r>
                        <a:rPr lang="ja-JP" altLang="en-US" sz="1400">
                          <a:latin typeface="メイリオ"/>
                          <a:ea typeface="メイリオ"/>
                          <a:cs typeface="Arial"/>
                        </a:rPr>
                        <a:t>データ移行リスト作成</a:t>
                      </a:r>
                      <a:endParaRPr lang="ja-JP"/>
                    </a:p>
                    <a:p>
                      <a:pPr marL="269875" lvl="0" indent="-269875" algn="l">
                        <a:buAutoNum type="circleNumDbPlain"/>
                      </a:pPr>
                      <a:r>
                        <a:rPr lang="ja-JP" altLang="en-US" sz="1400">
                          <a:latin typeface="メイリオ"/>
                          <a:ea typeface="メイリオ"/>
                          <a:cs typeface="Arial"/>
                        </a:rPr>
                        <a:t>運用開始</a:t>
                      </a:r>
                      <a:endParaRPr lang="ja-JP"/>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p>
                      <a:pPr marL="269875" indent="-269875" algn="l">
                        <a:buFont typeface="+mj-ea"/>
                        <a:buAutoNum type="circleNumDbPlain"/>
                      </a:pPr>
                      <a:r>
                        <a:rPr lang="ja-JP" altLang="en-US" sz="1400">
                          <a:latin typeface="メイリオ" panose="020B0604030504040204" pitchFamily="50" charset="-128"/>
                          <a:ea typeface="メイリオ" panose="020B0604030504040204" pitchFamily="50" charset="-128"/>
                          <a:cs typeface="Arial"/>
                        </a:rPr>
                        <a:t>EC過渡期運用終了</a:t>
                      </a:r>
                    </a:p>
                    <a:p>
                      <a:pPr marL="0" lvl="0" indent="0" algn="l">
                        <a:buNone/>
                      </a:pPr>
                      <a:r>
                        <a:rPr lang="ja-JP" altLang="en-US" sz="1400">
                          <a:latin typeface="メイリオ"/>
                          <a:ea typeface="メイリオ"/>
                          <a:cs typeface="Arial"/>
                        </a:rPr>
                        <a:t>     (2028/3)</a:t>
                      </a:r>
                    </a:p>
                  </a:txBody>
                  <a:tcP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31635381"/>
                  </a:ext>
                </a:extLst>
              </a:tr>
            </a:tbl>
          </a:graphicData>
        </a:graphic>
      </p:graphicFrame>
    </p:spTree>
    <p:extLst>
      <p:ext uri="{BB962C8B-B14F-4D97-AF65-F5344CB8AC3E}">
        <p14:creationId xmlns:p14="http://schemas.microsoft.com/office/powerpoint/2010/main" val="153193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1F0A7-60AA-EB2B-F079-1F0A4A21EA1F}"/>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286CD7FD-D656-7269-AF71-2A26CBB5F6D8}"/>
              </a:ext>
            </a:extLst>
          </p:cNvPr>
          <p:cNvSpPr/>
          <p:nvPr/>
        </p:nvSpPr>
        <p:spPr>
          <a:xfrm>
            <a:off x="6171067" y="1519560"/>
            <a:ext cx="5472112" cy="3723126"/>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36" name="Rectangle 11">
            <a:extLst>
              <a:ext uri="{FF2B5EF4-FFF2-40B4-BE49-F238E27FC236}">
                <a16:creationId xmlns:a16="http://schemas.microsoft.com/office/drawing/2014/main" id="{AC6F528B-DC00-C474-F18E-D194424E2A33}"/>
              </a:ext>
            </a:extLst>
          </p:cNvPr>
          <p:cNvSpPr/>
          <p:nvPr/>
        </p:nvSpPr>
        <p:spPr>
          <a:xfrm>
            <a:off x="620827" y="1520730"/>
            <a:ext cx="5472112" cy="3873176"/>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10" name="Rectangle 9">
            <a:extLst>
              <a:ext uri="{FF2B5EF4-FFF2-40B4-BE49-F238E27FC236}">
                <a16:creationId xmlns:a16="http://schemas.microsoft.com/office/drawing/2014/main" id="{3E74C44F-0A00-AB55-2596-CD7F4B4697A3}"/>
              </a:ext>
            </a:extLst>
          </p:cNvPr>
          <p:cNvSpPr/>
          <p:nvPr/>
        </p:nvSpPr>
        <p:spPr>
          <a:xfrm>
            <a:off x="623888" y="1189226"/>
            <a:ext cx="5472112" cy="295559"/>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b="1">
                <a:solidFill>
                  <a:schemeClr val="bg1"/>
                </a:solidFill>
                <a:latin typeface="メイリオ"/>
                <a:ea typeface="メイリオ"/>
              </a:rPr>
              <a:t>現在</a:t>
            </a:r>
            <a:endParaRPr lang="ja-JP" altLang="en-US" b="1">
              <a:solidFill>
                <a:schemeClr val="bg1"/>
              </a:solidFill>
              <a:latin typeface="メイリオ"/>
              <a:ea typeface="メイリオ"/>
            </a:endParaRPr>
          </a:p>
        </p:txBody>
      </p:sp>
      <p:sp>
        <p:nvSpPr>
          <p:cNvPr id="51" name="Rectangle 50">
            <a:extLst>
              <a:ext uri="{FF2B5EF4-FFF2-40B4-BE49-F238E27FC236}">
                <a16:creationId xmlns:a16="http://schemas.microsoft.com/office/drawing/2014/main" id="{87FB1F7C-DCD9-60C9-0A3D-E4D68B90C642}"/>
              </a:ext>
            </a:extLst>
          </p:cNvPr>
          <p:cNvSpPr/>
          <p:nvPr/>
        </p:nvSpPr>
        <p:spPr>
          <a:xfrm>
            <a:off x="619245" y="5207911"/>
            <a:ext cx="5463148" cy="1145263"/>
          </a:xfrm>
          <a:prstGeom prst="rect">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2245" indent="-182245">
              <a:spcAft>
                <a:spcPts val="300"/>
              </a:spcAft>
              <a:buClr>
                <a:schemeClr val="bg1">
                  <a:lumMod val="75000"/>
                </a:schemeClr>
              </a:buClr>
              <a:buFont typeface="Wingdings" panose="05000000000000000000" pitchFamily="2" charset="2"/>
              <a:buChar char="n"/>
            </a:pPr>
            <a:r>
              <a:rPr lang="ja-JP" altLang="en-US" sz="1100">
                <a:solidFill>
                  <a:schemeClr val="tx1"/>
                </a:solidFill>
                <a:latin typeface="メイリオ"/>
                <a:ea typeface="メイリオ"/>
              </a:rPr>
              <a:t>取引先は、西友・トライアルで扱う商品はそれぞれのシステムへ商品登録を実施</a:t>
            </a:r>
          </a:p>
          <a:p>
            <a:pPr marL="182245" indent="-182245">
              <a:spcAft>
                <a:spcPts val="300"/>
              </a:spcAft>
              <a:buClr>
                <a:srgbClr val="BFBFBF"/>
              </a:buClr>
              <a:buFont typeface="Wingdings" panose="05000000000000000000" pitchFamily="2" charset="2"/>
              <a:buChar char="n"/>
            </a:pPr>
            <a:r>
              <a:rPr lang="ja-JP" altLang="en-US" sz="1100">
                <a:solidFill>
                  <a:schemeClr val="tx1"/>
                </a:solidFill>
                <a:latin typeface="メイリオ"/>
                <a:ea typeface="メイリオ"/>
                <a:cs typeface="Arial"/>
              </a:rPr>
              <a:t>西友ネットスーパー（EC）用の画像・商品情報をi-Master経由でeCommへ連携</a:t>
            </a:r>
          </a:p>
          <a:p>
            <a:pPr marL="182245" indent="-182245">
              <a:spcAft>
                <a:spcPts val="300"/>
              </a:spcAft>
              <a:buClr>
                <a:srgbClr val="BFBFBF"/>
              </a:buClr>
              <a:buFont typeface="Wingdings" panose="05000000000000000000" pitchFamily="2" charset="2"/>
              <a:buChar char="n"/>
            </a:pPr>
            <a:r>
              <a:rPr lang="ja-JP" altLang="en-US" sz="1100">
                <a:solidFill>
                  <a:schemeClr val="tx1"/>
                </a:solidFill>
                <a:latin typeface="メイリオ"/>
                <a:ea typeface="メイリオ"/>
                <a:cs typeface="Arial"/>
              </a:rPr>
              <a:t>TCよりマスタ・棚割情報をeCommへ連携</a:t>
            </a:r>
          </a:p>
        </p:txBody>
      </p:sp>
      <p:sp>
        <p:nvSpPr>
          <p:cNvPr id="5" name="Rectangle 4">
            <a:extLst>
              <a:ext uri="{FF2B5EF4-FFF2-40B4-BE49-F238E27FC236}">
                <a16:creationId xmlns:a16="http://schemas.microsoft.com/office/drawing/2014/main" id="{1D0174D3-106F-CE88-1A01-F830ED747424}"/>
              </a:ext>
            </a:extLst>
          </p:cNvPr>
          <p:cNvSpPr/>
          <p:nvPr/>
        </p:nvSpPr>
        <p:spPr>
          <a:xfrm>
            <a:off x="1594655" y="2723635"/>
            <a:ext cx="1080000" cy="576000"/>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R-MELOS</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sp>
        <p:nvSpPr>
          <p:cNvPr id="6" name="Rectangle 5">
            <a:extLst>
              <a:ext uri="{FF2B5EF4-FFF2-40B4-BE49-F238E27FC236}">
                <a16:creationId xmlns:a16="http://schemas.microsoft.com/office/drawing/2014/main" id="{563F9C60-C21C-2945-0719-EC82ED2DB82E}"/>
              </a:ext>
            </a:extLst>
          </p:cNvPr>
          <p:cNvSpPr/>
          <p:nvPr/>
        </p:nvSpPr>
        <p:spPr>
          <a:xfrm>
            <a:off x="1522574" y="3433418"/>
            <a:ext cx="1152081" cy="843729"/>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tx1"/>
                </a:solidFill>
                <a:latin typeface="メイリオ"/>
                <a:ea typeface="メイリオ"/>
              </a:rPr>
              <a:t>商談</a:t>
            </a:r>
            <a:endParaRPr kumimoji="1" lang="en-US" altLang="ja-JP" sz="1200" b="1">
              <a:solidFill>
                <a:schemeClr val="tx1"/>
              </a:solidFill>
              <a:latin typeface="メイリオ"/>
              <a:ea typeface="メイリオ"/>
            </a:endParaRPr>
          </a:p>
          <a:p>
            <a:pPr algn="ctr"/>
            <a:r>
              <a:rPr lang="ja-JP" altLang="en-US" sz="1200" b="1">
                <a:solidFill>
                  <a:schemeClr val="tx1"/>
                </a:solidFill>
                <a:latin typeface="メイリオ" panose="020B0604030504040204" pitchFamily="50" charset="-128"/>
                <a:ea typeface="メイリオ" panose="020B0604030504040204" pitchFamily="50" charset="-128"/>
              </a:rPr>
              <a:t>・</a:t>
            </a:r>
          </a:p>
          <a:p>
            <a:pPr algn="ctr"/>
            <a:r>
              <a:rPr lang="ja-JP" altLang="en-US" sz="1200" b="1">
                <a:solidFill>
                  <a:schemeClr val="tx1"/>
                </a:solidFill>
                <a:latin typeface="メイリオ" panose="020B0604030504040204" pitchFamily="50" charset="-128"/>
                <a:ea typeface="メイリオ" panose="020B0604030504040204" pitchFamily="50" charset="-128"/>
              </a:rPr>
              <a:t>生鮮商談</a:t>
            </a:r>
          </a:p>
        </p:txBody>
      </p:sp>
      <p:sp>
        <p:nvSpPr>
          <p:cNvPr id="7" name="Rectangle 6">
            <a:extLst>
              <a:ext uri="{FF2B5EF4-FFF2-40B4-BE49-F238E27FC236}">
                <a16:creationId xmlns:a16="http://schemas.microsoft.com/office/drawing/2014/main" id="{54081F55-637B-F20F-8129-B60F6159ED9D}"/>
              </a:ext>
            </a:extLst>
          </p:cNvPr>
          <p:cNvSpPr/>
          <p:nvPr/>
        </p:nvSpPr>
        <p:spPr>
          <a:xfrm>
            <a:off x="1522574" y="4441822"/>
            <a:ext cx="1152081" cy="297973"/>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トライアル</a:t>
            </a:r>
            <a:endParaRPr kumimoji="1" lang="en-US" altLang="ja-JP" sz="1200" b="1">
              <a:solidFill>
                <a:schemeClr val="tx1"/>
              </a:solidFill>
              <a:latin typeface="メイリオ" panose="020B0604030504040204" pitchFamily="50" charset="-128"/>
              <a:ea typeface="メイリオ" panose="020B0604030504040204" pitchFamily="50" charset="-128"/>
            </a:endParaRPr>
          </a:p>
          <a:p>
            <a:pPr algn="ctr"/>
            <a:r>
              <a:rPr kumimoji="1" lang="en-US" altLang="ja-JP" sz="1200" b="1">
                <a:solidFill>
                  <a:schemeClr val="tx1"/>
                </a:solidFill>
                <a:latin typeface="メイリオ" panose="020B0604030504040204" pitchFamily="50" charset="-128"/>
                <a:ea typeface="メイリオ" panose="020B0604030504040204" pitchFamily="50" charset="-128"/>
              </a:rPr>
              <a:t>MD</a:t>
            </a:r>
            <a:r>
              <a:rPr kumimoji="1" lang="ja-JP" altLang="en-US" sz="1200" b="1">
                <a:solidFill>
                  <a:schemeClr val="tx1"/>
                </a:solidFill>
                <a:latin typeface="メイリオ" panose="020B0604030504040204" pitchFamily="50" charset="-128"/>
                <a:ea typeface="メイリオ" panose="020B0604030504040204" pitchFamily="50" charset="-128"/>
              </a:rPr>
              <a:t>基幹</a:t>
            </a:r>
          </a:p>
        </p:txBody>
      </p:sp>
      <p:sp>
        <p:nvSpPr>
          <p:cNvPr id="8" name="Rectangle 7">
            <a:extLst>
              <a:ext uri="{FF2B5EF4-FFF2-40B4-BE49-F238E27FC236}">
                <a16:creationId xmlns:a16="http://schemas.microsoft.com/office/drawing/2014/main" id="{D0B1446B-B6C6-EFD6-5017-7A98F959138F}"/>
              </a:ext>
            </a:extLst>
          </p:cNvPr>
          <p:cNvSpPr/>
          <p:nvPr/>
        </p:nvSpPr>
        <p:spPr>
          <a:xfrm>
            <a:off x="3838686" y="3443715"/>
            <a:ext cx="1080000" cy="576000"/>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err="1">
                <a:solidFill>
                  <a:schemeClr val="tx1"/>
                </a:solidFill>
                <a:latin typeface="メイリオ" panose="020B0604030504040204" pitchFamily="50" charset="-128"/>
                <a:ea typeface="メイリオ" panose="020B0604030504040204" pitchFamily="50" charset="-128"/>
              </a:rPr>
              <a:t>iMaster</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sp>
        <p:nvSpPr>
          <p:cNvPr id="9" name="Rectangle 8">
            <a:extLst>
              <a:ext uri="{FF2B5EF4-FFF2-40B4-BE49-F238E27FC236}">
                <a16:creationId xmlns:a16="http://schemas.microsoft.com/office/drawing/2014/main" id="{4A58AF5A-D587-D796-6776-BF6148F0C013}"/>
              </a:ext>
            </a:extLst>
          </p:cNvPr>
          <p:cNvSpPr/>
          <p:nvPr/>
        </p:nvSpPr>
        <p:spPr>
          <a:xfrm>
            <a:off x="3838686" y="4145652"/>
            <a:ext cx="1080000" cy="576000"/>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Tomorrow</a:t>
            </a:r>
          </a:p>
          <a:p>
            <a:pPr algn="ctr"/>
            <a:r>
              <a:rPr kumimoji="1" lang="en-US" altLang="ja-JP" sz="1200" b="1">
                <a:solidFill>
                  <a:schemeClr val="tx1"/>
                </a:solidFill>
                <a:latin typeface="メイリオ" panose="020B0604030504040204" pitchFamily="50" charset="-128"/>
                <a:ea typeface="メイリオ" panose="020B0604030504040204" pitchFamily="50" charset="-128"/>
              </a:rPr>
              <a:t>Chain</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cxnSp>
        <p:nvCxnSpPr>
          <p:cNvPr id="16" name="Straight Arrow Connector 15">
            <a:extLst>
              <a:ext uri="{FF2B5EF4-FFF2-40B4-BE49-F238E27FC236}">
                <a16:creationId xmlns:a16="http://schemas.microsoft.com/office/drawing/2014/main" id="{B90FD457-C265-BEC2-0BF5-5E3D6BA493E4}"/>
              </a:ext>
            </a:extLst>
          </p:cNvPr>
          <p:cNvCxnSpPr>
            <a:cxnSpLocks/>
          </p:cNvCxnSpPr>
          <p:nvPr/>
        </p:nvCxnSpPr>
        <p:spPr>
          <a:xfrm flipH="1">
            <a:off x="2089544" y="3308706"/>
            <a:ext cx="8826" cy="124712"/>
          </a:xfrm>
          <a:prstGeom prst="straightConnector1">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B2D4B733-E358-73EA-2134-E3D08972F4C7}"/>
              </a:ext>
            </a:extLst>
          </p:cNvPr>
          <p:cNvCxnSpPr>
            <a:cxnSpLocks/>
          </p:cNvCxnSpPr>
          <p:nvPr/>
        </p:nvCxnSpPr>
        <p:spPr>
          <a:xfrm>
            <a:off x="2098615" y="4277147"/>
            <a:ext cx="0" cy="164675"/>
          </a:xfrm>
          <a:prstGeom prst="straightConnector1">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262F64F-21E4-9F8B-EB5B-6EC4B013C12B}"/>
              </a:ext>
            </a:extLst>
          </p:cNvPr>
          <p:cNvCxnSpPr>
            <a:cxnSpLocks/>
          </p:cNvCxnSpPr>
          <p:nvPr/>
        </p:nvCxnSpPr>
        <p:spPr>
          <a:xfrm>
            <a:off x="4378686" y="4019715"/>
            <a:ext cx="0" cy="125937"/>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AC1CB23-DB15-0181-5FE3-060B5D56693F}"/>
              </a:ext>
            </a:extLst>
          </p:cNvPr>
          <p:cNvCxnSpPr>
            <a:cxnSpLocks/>
          </p:cNvCxnSpPr>
          <p:nvPr/>
        </p:nvCxnSpPr>
        <p:spPr>
          <a:xfrm rot="5400000">
            <a:off x="2719751" y="1778500"/>
            <a:ext cx="360040" cy="1639088"/>
          </a:xfrm>
          <a:prstGeom prst="bentConnector3">
            <a:avLst>
              <a:gd name="adj1" fmla="val 50000"/>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999FF641-150A-FB5F-267E-E9C218F40764}"/>
              </a:ext>
            </a:extLst>
          </p:cNvPr>
          <p:cNvSpPr/>
          <p:nvPr/>
        </p:nvSpPr>
        <p:spPr>
          <a:xfrm>
            <a:off x="3124885" y="1628800"/>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pic>
        <p:nvPicPr>
          <p:cNvPr id="14" name="Graphic 13" descr="Group with solid fill">
            <a:extLst>
              <a:ext uri="{FF2B5EF4-FFF2-40B4-BE49-F238E27FC236}">
                <a16:creationId xmlns:a16="http://schemas.microsoft.com/office/drawing/2014/main" id="{DCB44D84-82A9-ABD5-3D54-AB92C684BE50}"/>
              </a:ext>
            </a:extLst>
          </p:cNvPr>
          <p:cNvPicPr>
            <a:picLocks noChangeAspect="1"/>
          </p:cNvPicPr>
          <p:nvPr/>
        </p:nvPicPr>
        <p:blipFill>
          <a:blip>
            <a:extLst>
              <a:ext uri="{96DAC541-7B7A-43D3-8B79-37D633B846F1}">
                <asvg:svgBlip xmlns:asvg="http://schemas.microsoft.com/office/drawing/2016/SVG/main" r:embed="rId2"/>
              </a:ext>
            </a:extLst>
          </a:blip>
          <a:srcRect t="15965" b="16341"/>
          <a:stretch>
            <a:fillRect/>
          </a:stretch>
        </p:blipFill>
        <p:spPr>
          <a:xfrm>
            <a:off x="3292582" y="1859539"/>
            <a:ext cx="744607" cy="504056"/>
          </a:xfrm>
          <a:prstGeom prst="rect">
            <a:avLst/>
          </a:prstGeom>
        </p:spPr>
      </p:pic>
      <p:sp>
        <p:nvSpPr>
          <p:cNvPr id="47" name="Rectangle 46">
            <a:extLst>
              <a:ext uri="{FF2B5EF4-FFF2-40B4-BE49-F238E27FC236}">
                <a16:creationId xmlns:a16="http://schemas.microsoft.com/office/drawing/2014/main" id="{E448E9F1-883D-4159-21B0-5CE1CC852F21}"/>
              </a:ext>
            </a:extLst>
          </p:cNvPr>
          <p:cNvSpPr/>
          <p:nvPr/>
        </p:nvSpPr>
        <p:spPr>
          <a:xfrm>
            <a:off x="658551" y="2723635"/>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商品共通</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DB</a:t>
            </a:r>
          </a:p>
        </p:txBody>
      </p:sp>
      <p:sp>
        <p:nvSpPr>
          <p:cNvPr id="48" name="Rectangle 47">
            <a:extLst>
              <a:ext uri="{FF2B5EF4-FFF2-40B4-BE49-F238E27FC236}">
                <a16:creationId xmlns:a16="http://schemas.microsoft.com/office/drawing/2014/main" id="{544BD213-1065-37B2-563B-7DEE7ABAA7E3}"/>
              </a:ext>
            </a:extLst>
          </p:cNvPr>
          <p:cNvSpPr/>
          <p:nvPr/>
        </p:nvSpPr>
        <p:spPr>
          <a:xfrm>
            <a:off x="658551" y="3443715"/>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マスタ</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管理</a:t>
            </a:r>
          </a:p>
        </p:txBody>
      </p:sp>
      <p:sp>
        <p:nvSpPr>
          <p:cNvPr id="49" name="Rectangle 48">
            <a:extLst>
              <a:ext uri="{FF2B5EF4-FFF2-40B4-BE49-F238E27FC236}">
                <a16:creationId xmlns:a16="http://schemas.microsoft.com/office/drawing/2014/main" id="{7101A08F-ABB3-6DAA-5FB3-C2F55D524112}"/>
              </a:ext>
            </a:extLst>
          </p:cNvPr>
          <p:cNvSpPr/>
          <p:nvPr/>
        </p:nvSpPr>
        <p:spPr>
          <a:xfrm>
            <a:off x="648254" y="4380038"/>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MD</a:t>
            </a: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基幹</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システム</a:t>
            </a:r>
          </a:p>
        </p:txBody>
      </p:sp>
      <p:sp>
        <p:nvSpPr>
          <p:cNvPr id="86" name="Rectangle 85">
            <a:extLst>
              <a:ext uri="{FF2B5EF4-FFF2-40B4-BE49-F238E27FC236}">
                <a16:creationId xmlns:a16="http://schemas.microsoft.com/office/drawing/2014/main" id="{788BB8B7-6CE6-D21F-B2AA-1DB5E1B41352}"/>
              </a:ext>
            </a:extLst>
          </p:cNvPr>
          <p:cNvSpPr/>
          <p:nvPr/>
        </p:nvSpPr>
        <p:spPr>
          <a:xfrm>
            <a:off x="1594655" y="4825243"/>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sp>
        <p:nvSpPr>
          <p:cNvPr id="87" name="Rectangle 86">
            <a:extLst>
              <a:ext uri="{FF2B5EF4-FFF2-40B4-BE49-F238E27FC236}">
                <a16:creationId xmlns:a16="http://schemas.microsoft.com/office/drawing/2014/main" id="{5DC508E0-48F1-68EA-BE57-921544E57B75}"/>
              </a:ext>
            </a:extLst>
          </p:cNvPr>
          <p:cNvSpPr/>
          <p:nvPr/>
        </p:nvSpPr>
        <p:spPr>
          <a:xfrm>
            <a:off x="3793329" y="4870600"/>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103" name="Rectangle 102">
            <a:extLst>
              <a:ext uri="{FF2B5EF4-FFF2-40B4-BE49-F238E27FC236}">
                <a16:creationId xmlns:a16="http://schemas.microsoft.com/office/drawing/2014/main" id="{01449E41-EE28-F775-FBC9-9BD38635B5B9}"/>
              </a:ext>
            </a:extLst>
          </p:cNvPr>
          <p:cNvSpPr/>
          <p:nvPr/>
        </p:nvSpPr>
        <p:spPr>
          <a:xfrm>
            <a:off x="3707323" y="2418710"/>
            <a:ext cx="1044000" cy="144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5"/>
                </a:solidFill>
                <a:latin typeface="メイリオ" panose="020B0604030504040204" pitchFamily="50" charset="-128"/>
                <a:ea typeface="メイリオ" panose="020B0604030504040204" pitchFamily="50" charset="-128"/>
              </a:rPr>
              <a:t>SY</a:t>
            </a:r>
            <a:r>
              <a:rPr kumimoji="1" lang="ja-JP" altLang="en-US" sz="700" b="1">
                <a:solidFill>
                  <a:schemeClr val="accent5"/>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5"/>
              </a:solidFill>
              <a:latin typeface="メイリオ" panose="020B0604030504040204" pitchFamily="50" charset="-128"/>
              <a:ea typeface="メイリオ" panose="020B0604030504040204" pitchFamily="50" charset="-128"/>
            </a:endParaRPr>
          </a:p>
        </p:txBody>
      </p:sp>
      <p:sp>
        <p:nvSpPr>
          <p:cNvPr id="104" name="Rectangle 103">
            <a:extLst>
              <a:ext uri="{FF2B5EF4-FFF2-40B4-BE49-F238E27FC236}">
                <a16:creationId xmlns:a16="http://schemas.microsoft.com/office/drawing/2014/main" id="{BF1094DB-5184-1E4F-980D-15CCCC3C4ED2}"/>
              </a:ext>
            </a:extLst>
          </p:cNvPr>
          <p:cNvSpPr/>
          <p:nvPr/>
        </p:nvSpPr>
        <p:spPr>
          <a:xfrm flipH="1">
            <a:off x="2278731" y="2384900"/>
            <a:ext cx="1044000" cy="144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6"/>
                </a:solidFill>
                <a:latin typeface="メイリオ" panose="020B0604030504040204" pitchFamily="50" charset="-128"/>
                <a:ea typeface="メイリオ" panose="020B0604030504040204" pitchFamily="50" charset="-128"/>
              </a:rPr>
              <a:t>TR</a:t>
            </a:r>
            <a:r>
              <a:rPr kumimoji="1" lang="ja-JP" altLang="en-US" sz="700" b="1">
                <a:solidFill>
                  <a:schemeClr val="accent6"/>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6"/>
              </a:solidFill>
              <a:latin typeface="メイリオ" panose="020B0604030504040204" pitchFamily="50" charset="-128"/>
              <a:ea typeface="メイリオ" panose="020B0604030504040204" pitchFamily="50" charset="-128"/>
            </a:endParaRPr>
          </a:p>
        </p:txBody>
      </p:sp>
      <p:sp>
        <p:nvSpPr>
          <p:cNvPr id="27" name="Rectangle 9">
            <a:extLst>
              <a:ext uri="{FF2B5EF4-FFF2-40B4-BE49-F238E27FC236}">
                <a16:creationId xmlns:a16="http://schemas.microsoft.com/office/drawing/2014/main" id="{132722ED-72ED-3086-66F0-994226307281}"/>
              </a:ext>
            </a:extLst>
          </p:cNvPr>
          <p:cNvSpPr/>
          <p:nvPr/>
        </p:nvSpPr>
        <p:spPr>
          <a:xfrm>
            <a:off x="6169516" y="1207369"/>
            <a:ext cx="5478198" cy="300835"/>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b="1">
                <a:solidFill>
                  <a:schemeClr val="bg1"/>
                </a:solidFill>
                <a:latin typeface="メイリオ"/>
                <a:ea typeface="メイリオ"/>
              </a:rPr>
              <a:t>2026年7月～新規登録（取引先向け）</a:t>
            </a:r>
          </a:p>
        </p:txBody>
      </p:sp>
      <p:sp>
        <p:nvSpPr>
          <p:cNvPr id="50" name="Rectangle 66">
            <a:extLst>
              <a:ext uri="{FF2B5EF4-FFF2-40B4-BE49-F238E27FC236}">
                <a16:creationId xmlns:a16="http://schemas.microsoft.com/office/drawing/2014/main" id="{6F7DEC64-8233-16A4-F6A7-C072B0912552}"/>
              </a:ext>
            </a:extLst>
          </p:cNvPr>
          <p:cNvSpPr/>
          <p:nvPr/>
        </p:nvSpPr>
        <p:spPr>
          <a:xfrm>
            <a:off x="9293919" y="4167114"/>
            <a:ext cx="1139376" cy="656809"/>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Tomorrow</a:t>
            </a:r>
          </a:p>
          <a:p>
            <a:pPr algn="ctr"/>
            <a:r>
              <a:rPr kumimoji="1" lang="en-US" altLang="ja-JP" sz="1200" b="1">
                <a:solidFill>
                  <a:schemeClr val="tx1"/>
                </a:solidFill>
                <a:latin typeface="メイリオ" panose="020B0604030504040204" pitchFamily="50" charset="-128"/>
                <a:ea typeface="メイリオ" panose="020B0604030504040204" pitchFamily="50" charset="-128"/>
              </a:rPr>
              <a:t>Chain</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cxnSp>
        <p:nvCxnSpPr>
          <p:cNvPr id="55" name="Straight Arrow Connector 69">
            <a:extLst>
              <a:ext uri="{FF2B5EF4-FFF2-40B4-BE49-F238E27FC236}">
                <a16:creationId xmlns:a16="http://schemas.microsoft.com/office/drawing/2014/main" id="{C4EE6239-F04E-4CA4-1CCF-DCF07B7D79D9}"/>
              </a:ext>
            </a:extLst>
          </p:cNvPr>
          <p:cNvCxnSpPr>
            <a:cxnSpLocks/>
          </p:cNvCxnSpPr>
          <p:nvPr/>
        </p:nvCxnSpPr>
        <p:spPr>
          <a:xfrm>
            <a:off x="9909230" y="4017930"/>
            <a:ext cx="0" cy="144080"/>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sp>
        <p:nvSpPr>
          <p:cNvPr id="93" name="Rectangle 65">
            <a:extLst>
              <a:ext uri="{FF2B5EF4-FFF2-40B4-BE49-F238E27FC236}">
                <a16:creationId xmlns:a16="http://schemas.microsoft.com/office/drawing/2014/main" id="{E72A5A51-4137-C92C-B619-0CA2DBF78E4A}"/>
              </a:ext>
            </a:extLst>
          </p:cNvPr>
          <p:cNvSpPr/>
          <p:nvPr/>
        </p:nvSpPr>
        <p:spPr>
          <a:xfrm>
            <a:off x="9353295" y="3426065"/>
            <a:ext cx="1080000" cy="576000"/>
          </a:xfrm>
          <a:prstGeom prst="rect">
            <a:avLst/>
          </a:prstGeom>
          <a:solidFill>
            <a:schemeClr val="bg1">
              <a:lumMod val="75000"/>
            </a:schemeClr>
          </a:solidFill>
          <a:ln w="571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err="1">
                <a:solidFill>
                  <a:schemeClr val="tx1"/>
                </a:solidFill>
                <a:latin typeface="メイリオ" panose="020B0604030504040204" pitchFamily="50" charset="-128"/>
                <a:ea typeface="メイリオ" panose="020B0604030504040204" pitchFamily="50" charset="-128"/>
              </a:rPr>
              <a:t>eB</a:t>
            </a:r>
            <a:r>
              <a:rPr kumimoji="1" lang="en-US" altLang="ja-JP" sz="1200" b="1">
                <a:solidFill>
                  <a:schemeClr val="tx1"/>
                </a:solidFill>
                <a:latin typeface="メイリオ" panose="020B0604030504040204" pitchFamily="50" charset="-128"/>
                <a:ea typeface="メイリオ" panose="020B0604030504040204" pitchFamily="50" charset="-128"/>
              </a:rPr>
              <a:t>-MDM</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pic>
        <p:nvPicPr>
          <p:cNvPr id="98" name="Graphic 75" descr="Group with solid fill">
            <a:extLst>
              <a:ext uri="{FF2B5EF4-FFF2-40B4-BE49-F238E27FC236}">
                <a16:creationId xmlns:a16="http://schemas.microsoft.com/office/drawing/2014/main" id="{B3F240BA-6595-1C9B-2E58-098055784DF0}"/>
              </a:ext>
            </a:extLst>
          </p:cNvPr>
          <p:cNvPicPr>
            <a:picLocks noChangeAspect="1"/>
          </p:cNvPicPr>
          <p:nvPr/>
        </p:nvPicPr>
        <p:blipFill>
          <a:blip>
            <a:extLst>
              <a:ext uri="{96DAC541-7B7A-43D3-8B79-37D633B846F1}">
                <asvg:svgBlip xmlns:asvg="http://schemas.microsoft.com/office/drawing/2016/SVG/main" r:embed="rId2"/>
              </a:ext>
            </a:extLst>
          </a:blip>
          <a:srcRect t="15965" b="16341"/>
          <a:stretch>
            <a:fillRect/>
          </a:stretch>
        </p:blipFill>
        <p:spPr>
          <a:xfrm>
            <a:off x="8776375" y="1784515"/>
            <a:ext cx="744607" cy="504056"/>
          </a:xfrm>
          <a:prstGeom prst="rect">
            <a:avLst/>
          </a:prstGeom>
        </p:spPr>
      </p:pic>
      <p:sp>
        <p:nvSpPr>
          <p:cNvPr id="100" name="Rectangle 74">
            <a:extLst>
              <a:ext uri="{FF2B5EF4-FFF2-40B4-BE49-F238E27FC236}">
                <a16:creationId xmlns:a16="http://schemas.microsoft.com/office/drawing/2014/main" id="{DCFE8FA7-786F-76AE-B573-C80BCD8DE550}"/>
              </a:ext>
            </a:extLst>
          </p:cNvPr>
          <p:cNvSpPr/>
          <p:nvPr/>
        </p:nvSpPr>
        <p:spPr>
          <a:xfrm>
            <a:off x="8609540" y="1524274"/>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pic>
        <p:nvPicPr>
          <p:cNvPr id="102" name="Graphic 75" descr="Group with solid fill">
            <a:extLst>
              <a:ext uri="{FF2B5EF4-FFF2-40B4-BE49-F238E27FC236}">
                <a16:creationId xmlns:a16="http://schemas.microsoft.com/office/drawing/2014/main" id="{6D8B2663-386A-40CC-4B8A-6793010C398A}"/>
              </a:ext>
            </a:extLst>
          </p:cNvPr>
          <p:cNvPicPr>
            <a:picLocks noChangeAspect="1"/>
          </p:cNvPicPr>
          <p:nvPr/>
        </p:nvPicPr>
        <p:blipFill>
          <a:blip>
            <a:extLst>
              <a:ext uri="{96DAC541-7B7A-43D3-8B79-37D633B846F1}">
                <asvg:svgBlip xmlns:asvg="http://schemas.microsoft.com/office/drawing/2016/SVG/main" r:embed="rId3"/>
              </a:ext>
            </a:extLst>
          </a:blip>
          <a:srcRect t="15965" b="16341"/>
          <a:stretch>
            <a:fillRect/>
          </a:stretch>
        </p:blipFill>
        <p:spPr>
          <a:xfrm>
            <a:off x="7441034" y="1782073"/>
            <a:ext cx="744607" cy="504056"/>
          </a:xfrm>
          <a:prstGeom prst="rect">
            <a:avLst/>
          </a:prstGeom>
        </p:spPr>
      </p:pic>
      <p:sp>
        <p:nvSpPr>
          <p:cNvPr id="108" name="Rectangle 74">
            <a:extLst>
              <a:ext uri="{FF2B5EF4-FFF2-40B4-BE49-F238E27FC236}">
                <a16:creationId xmlns:a16="http://schemas.microsoft.com/office/drawing/2014/main" id="{CC07CC47-42B8-9DB3-B2B2-581DC2C57611}"/>
              </a:ext>
            </a:extLst>
          </p:cNvPr>
          <p:cNvSpPr/>
          <p:nvPr/>
        </p:nvSpPr>
        <p:spPr>
          <a:xfrm>
            <a:off x="7277408" y="1538306"/>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cxnSp>
        <p:nvCxnSpPr>
          <p:cNvPr id="118" name="直線コネクタ 117">
            <a:extLst>
              <a:ext uri="{FF2B5EF4-FFF2-40B4-BE49-F238E27FC236}">
                <a16:creationId xmlns:a16="http://schemas.microsoft.com/office/drawing/2014/main" id="{D95FB859-8D95-1336-694E-486BA1DF7757}"/>
              </a:ext>
            </a:extLst>
          </p:cNvPr>
          <p:cNvCxnSpPr/>
          <p:nvPr/>
        </p:nvCxnSpPr>
        <p:spPr>
          <a:xfrm>
            <a:off x="8265000" y="1985747"/>
            <a:ext cx="372304" cy="0"/>
          </a:xfrm>
          <a:prstGeom prst="line">
            <a:avLst/>
          </a:prstGeom>
        </p:spPr>
        <p:style>
          <a:lnRef idx="1">
            <a:schemeClr val="dk1"/>
          </a:lnRef>
          <a:fillRef idx="0">
            <a:schemeClr val="dk1"/>
          </a:fillRef>
          <a:effectRef idx="0">
            <a:schemeClr val="dk1"/>
          </a:effectRef>
          <a:fontRef idx="minor">
            <a:schemeClr val="tx1"/>
          </a:fontRef>
        </p:style>
      </p:cxnSp>
      <p:sp>
        <p:nvSpPr>
          <p:cNvPr id="136" name="Rectangle 50">
            <a:extLst>
              <a:ext uri="{FF2B5EF4-FFF2-40B4-BE49-F238E27FC236}">
                <a16:creationId xmlns:a16="http://schemas.microsoft.com/office/drawing/2014/main" id="{5FE068B2-7CAB-2FD4-E2B6-0E6ACBD39661}"/>
              </a:ext>
            </a:extLst>
          </p:cNvPr>
          <p:cNvSpPr/>
          <p:nvPr/>
        </p:nvSpPr>
        <p:spPr>
          <a:xfrm>
            <a:off x="6166423" y="5207910"/>
            <a:ext cx="5463148" cy="1145263"/>
          </a:xfrm>
          <a:prstGeom prst="rect">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2245" indent="-182245">
              <a:spcAft>
                <a:spcPts val="300"/>
              </a:spcAft>
              <a:buClr>
                <a:srgbClr val="BFBFBF"/>
              </a:buClr>
              <a:buFont typeface="Wingdings" panose="05000000000000000000" pitchFamily="2" charset="2"/>
              <a:buChar char="n"/>
            </a:pPr>
            <a:r>
              <a:rPr lang="ja-JP" altLang="en-US" sz="1100">
                <a:solidFill>
                  <a:schemeClr val="tx1"/>
                </a:solidFill>
                <a:latin typeface="メイリオ"/>
                <a:ea typeface="メイリオ"/>
                <a:cs typeface="Arial"/>
              </a:rPr>
              <a:t>i-MasterからeB-MDMへ切替を実施。その際にeBASEクラウドサービスからの商品基本情報の取得も可能となる</a:t>
            </a:r>
            <a:endParaRPr lang="ja-JP">
              <a:solidFill>
                <a:schemeClr val="tx1"/>
              </a:solidFill>
            </a:endParaRPr>
          </a:p>
          <a:p>
            <a:pPr marL="182245" indent="-182245">
              <a:spcAft>
                <a:spcPts val="300"/>
              </a:spcAft>
              <a:buClr>
                <a:srgbClr val="BFBFBF"/>
              </a:buClr>
              <a:buFont typeface="Wingdings" panose="05000000000000000000" pitchFamily="2" charset="2"/>
              <a:buChar char="n"/>
            </a:pPr>
            <a:r>
              <a:rPr lang="ja-JP" sz="1100">
                <a:solidFill>
                  <a:schemeClr val="tx1"/>
                </a:solidFill>
                <a:latin typeface="Meiryo"/>
                <a:ea typeface="Meiryo"/>
                <a:cs typeface="Arial"/>
              </a:rPr>
              <a:t>取引先は、西友・トライアルで扱う商品はそれぞれのシステムへ商品登録を実施</a:t>
            </a:r>
            <a:endParaRPr lang="ja-JP" altLang="en-US" sz="1100">
              <a:solidFill>
                <a:schemeClr val="tx1"/>
              </a:solidFill>
              <a:latin typeface="メイリオ"/>
              <a:ea typeface="メイリオ"/>
              <a:cs typeface="Arial"/>
            </a:endParaRPr>
          </a:p>
          <a:p>
            <a:pPr marL="182245" indent="-182245">
              <a:spcAft>
                <a:spcPts val="300"/>
              </a:spcAft>
              <a:buClr>
                <a:srgbClr val="BFBFBF"/>
              </a:buClr>
              <a:buFont typeface="Wingdings" panose="05000000000000000000" pitchFamily="2" charset="2"/>
              <a:buChar char="n"/>
            </a:pPr>
            <a:endParaRPr lang="ja-JP" altLang="en-US" sz="1100">
              <a:solidFill>
                <a:schemeClr val="tx1"/>
              </a:solidFill>
              <a:latin typeface="メイリオ"/>
              <a:ea typeface="メイリオ"/>
              <a:cs typeface="Arial"/>
            </a:endParaRPr>
          </a:p>
        </p:txBody>
      </p:sp>
      <p:sp>
        <p:nvSpPr>
          <p:cNvPr id="137" name="Rectangle 4">
            <a:extLst>
              <a:ext uri="{FF2B5EF4-FFF2-40B4-BE49-F238E27FC236}">
                <a16:creationId xmlns:a16="http://schemas.microsoft.com/office/drawing/2014/main" id="{C1804829-CF3E-43B1-FEBA-ECD6AB31F82D}"/>
              </a:ext>
            </a:extLst>
          </p:cNvPr>
          <p:cNvSpPr/>
          <p:nvPr/>
        </p:nvSpPr>
        <p:spPr>
          <a:xfrm>
            <a:off x="7182654" y="2714563"/>
            <a:ext cx="1080000" cy="576000"/>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R-MELOS</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sp>
        <p:nvSpPr>
          <p:cNvPr id="138" name="Rectangle 5">
            <a:extLst>
              <a:ext uri="{FF2B5EF4-FFF2-40B4-BE49-F238E27FC236}">
                <a16:creationId xmlns:a16="http://schemas.microsoft.com/office/drawing/2014/main" id="{8E7E43F5-CA23-8940-1420-B30634B61980}"/>
              </a:ext>
            </a:extLst>
          </p:cNvPr>
          <p:cNvSpPr/>
          <p:nvPr/>
        </p:nvSpPr>
        <p:spPr>
          <a:xfrm>
            <a:off x="7110573" y="3424346"/>
            <a:ext cx="1152081" cy="843729"/>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tx1"/>
                </a:solidFill>
                <a:latin typeface="メイリオ"/>
                <a:ea typeface="メイリオ"/>
              </a:rPr>
              <a:t>商談</a:t>
            </a:r>
          </a:p>
          <a:p>
            <a:pPr algn="ctr"/>
            <a:r>
              <a:rPr lang="ja-JP" altLang="en-US" sz="1200" b="1">
                <a:solidFill>
                  <a:schemeClr val="tx1"/>
                </a:solidFill>
                <a:latin typeface="メイリオ"/>
                <a:ea typeface="メイリオ"/>
              </a:rPr>
              <a:t>・</a:t>
            </a:r>
          </a:p>
          <a:p>
            <a:pPr algn="ctr"/>
            <a:r>
              <a:rPr lang="ja-JP" altLang="en-US" sz="1200" b="1">
                <a:solidFill>
                  <a:schemeClr val="tx1"/>
                </a:solidFill>
                <a:latin typeface="メイリオ" panose="020B0604030504040204" pitchFamily="50" charset="-128"/>
                <a:ea typeface="メイリオ" panose="020B0604030504040204" pitchFamily="50" charset="-128"/>
              </a:rPr>
              <a:t>生鮮商談</a:t>
            </a:r>
          </a:p>
        </p:txBody>
      </p:sp>
      <p:sp>
        <p:nvSpPr>
          <p:cNvPr id="139" name="Rectangle 6">
            <a:extLst>
              <a:ext uri="{FF2B5EF4-FFF2-40B4-BE49-F238E27FC236}">
                <a16:creationId xmlns:a16="http://schemas.microsoft.com/office/drawing/2014/main" id="{C12D0F6D-9144-76AE-E0C9-C842047C08B0}"/>
              </a:ext>
            </a:extLst>
          </p:cNvPr>
          <p:cNvSpPr/>
          <p:nvPr/>
        </p:nvSpPr>
        <p:spPr>
          <a:xfrm>
            <a:off x="7110573" y="4432750"/>
            <a:ext cx="1152081" cy="297973"/>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トライアル</a:t>
            </a:r>
            <a:endParaRPr kumimoji="1" lang="en-US" altLang="ja-JP" sz="1200" b="1">
              <a:solidFill>
                <a:schemeClr val="tx1"/>
              </a:solidFill>
              <a:latin typeface="メイリオ" panose="020B0604030504040204" pitchFamily="50" charset="-128"/>
              <a:ea typeface="メイリオ" panose="020B0604030504040204" pitchFamily="50" charset="-128"/>
            </a:endParaRPr>
          </a:p>
          <a:p>
            <a:pPr algn="ctr"/>
            <a:r>
              <a:rPr kumimoji="1" lang="en-US" altLang="ja-JP" sz="1200" b="1">
                <a:solidFill>
                  <a:schemeClr val="tx1"/>
                </a:solidFill>
                <a:latin typeface="メイリオ" panose="020B0604030504040204" pitchFamily="50" charset="-128"/>
                <a:ea typeface="メイリオ" panose="020B0604030504040204" pitchFamily="50" charset="-128"/>
              </a:rPr>
              <a:t>MD</a:t>
            </a:r>
            <a:r>
              <a:rPr kumimoji="1" lang="ja-JP" altLang="en-US" sz="1200" b="1">
                <a:solidFill>
                  <a:schemeClr val="tx1"/>
                </a:solidFill>
                <a:latin typeface="メイリオ" panose="020B0604030504040204" pitchFamily="50" charset="-128"/>
                <a:ea typeface="メイリオ" panose="020B0604030504040204" pitchFamily="50" charset="-128"/>
              </a:rPr>
              <a:t>基幹</a:t>
            </a:r>
          </a:p>
        </p:txBody>
      </p:sp>
      <p:cxnSp>
        <p:nvCxnSpPr>
          <p:cNvPr id="140" name="Straight Arrow Connector 15">
            <a:extLst>
              <a:ext uri="{FF2B5EF4-FFF2-40B4-BE49-F238E27FC236}">
                <a16:creationId xmlns:a16="http://schemas.microsoft.com/office/drawing/2014/main" id="{424E0C73-150C-400D-D0B1-47E479B22ADD}"/>
              </a:ext>
            </a:extLst>
          </p:cNvPr>
          <p:cNvCxnSpPr>
            <a:cxnSpLocks/>
          </p:cNvCxnSpPr>
          <p:nvPr/>
        </p:nvCxnSpPr>
        <p:spPr>
          <a:xfrm flipH="1">
            <a:off x="7686614" y="3290563"/>
            <a:ext cx="36040" cy="133783"/>
          </a:xfrm>
          <a:prstGeom prst="straightConnector1">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41" name="Straight Arrow Connector 18">
            <a:extLst>
              <a:ext uri="{FF2B5EF4-FFF2-40B4-BE49-F238E27FC236}">
                <a16:creationId xmlns:a16="http://schemas.microsoft.com/office/drawing/2014/main" id="{AE8DC264-BA0E-CA06-B0A3-CBA57413A197}"/>
              </a:ext>
            </a:extLst>
          </p:cNvPr>
          <p:cNvCxnSpPr>
            <a:cxnSpLocks/>
          </p:cNvCxnSpPr>
          <p:nvPr/>
        </p:nvCxnSpPr>
        <p:spPr>
          <a:xfrm>
            <a:off x="7686614" y="4268075"/>
            <a:ext cx="0" cy="164675"/>
          </a:xfrm>
          <a:prstGeom prst="straightConnector1">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sp>
        <p:nvSpPr>
          <p:cNvPr id="142" name="Rectangle 46">
            <a:extLst>
              <a:ext uri="{FF2B5EF4-FFF2-40B4-BE49-F238E27FC236}">
                <a16:creationId xmlns:a16="http://schemas.microsoft.com/office/drawing/2014/main" id="{0B206127-2991-A7BC-5372-310B687EF721}"/>
              </a:ext>
            </a:extLst>
          </p:cNvPr>
          <p:cNvSpPr/>
          <p:nvPr/>
        </p:nvSpPr>
        <p:spPr>
          <a:xfrm>
            <a:off x="6246550" y="2714563"/>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商品共通</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DB</a:t>
            </a:r>
          </a:p>
        </p:txBody>
      </p:sp>
      <p:sp>
        <p:nvSpPr>
          <p:cNvPr id="143" name="Rectangle 47">
            <a:extLst>
              <a:ext uri="{FF2B5EF4-FFF2-40B4-BE49-F238E27FC236}">
                <a16:creationId xmlns:a16="http://schemas.microsoft.com/office/drawing/2014/main" id="{ECABD4F6-088F-2CCA-D984-354701C0D5CF}"/>
              </a:ext>
            </a:extLst>
          </p:cNvPr>
          <p:cNvSpPr/>
          <p:nvPr/>
        </p:nvSpPr>
        <p:spPr>
          <a:xfrm>
            <a:off x="6246550" y="3434643"/>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マスタ</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管理</a:t>
            </a:r>
          </a:p>
        </p:txBody>
      </p:sp>
      <p:sp>
        <p:nvSpPr>
          <p:cNvPr id="144" name="Rectangle 48">
            <a:extLst>
              <a:ext uri="{FF2B5EF4-FFF2-40B4-BE49-F238E27FC236}">
                <a16:creationId xmlns:a16="http://schemas.microsoft.com/office/drawing/2014/main" id="{7DC454DB-DADB-2B56-4D1D-E9C0A6A2D676}"/>
              </a:ext>
            </a:extLst>
          </p:cNvPr>
          <p:cNvSpPr/>
          <p:nvPr/>
        </p:nvSpPr>
        <p:spPr>
          <a:xfrm>
            <a:off x="6236253" y="4370966"/>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MD</a:t>
            </a: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基幹</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システム</a:t>
            </a:r>
          </a:p>
        </p:txBody>
      </p:sp>
      <p:sp>
        <p:nvSpPr>
          <p:cNvPr id="145" name="Rectangle 85">
            <a:extLst>
              <a:ext uri="{FF2B5EF4-FFF2-40B4-BE49-F238E27FC236}">
                <a16:creationId xmlns:a16="http://schemas.microsoft.com/office/drawing/2014/main" id="{E274631D-3ED7-B4E6-DD1E-640DD6B491F5}"/>
              </a:ext>
            </a:extLst>
          </p:cNvPr>
          <p:cNvSpPr/>
          <p:nvPr/>
        </p:nvSpPr>
        <p:spPr>
          <a:xfrm>
            <a:off x="7182654" y="4885444"/>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cxnSp>
        <p:nvCxnSpPr>
          <p:cNvPr id="147" name="Connector: Elbow 28">
            <a:extLst>
              <a:ext uri="{FF2B5EF4-FFF2-40B4-BE49-F238E27FC236}">
                <a16:creationId xmlns:a16="http://schemas.microsoft.com/office/drawing/2014/main" id="{B84961AD-EBC3-74C0-1364-9BFD0550F2CD}"/>
              </a:ext>
            </a:extLst>
          </p:cNvPr>
          <p:cNvCxnSpPr>
            <a:cxnSpLocks/>
          </p:cNvCxnSpPr>
          <p:nvPr/>
        </p:nvCxnSpPr>
        <p:spPr>
          <a:xfrm rot="5400000">
            <a:off x="8235179" y="1760356"/>
            <a:ext cx="360040" cy="1530231"/>
          </a:xfrm>
          <a:prstGeom prst="bentConnector3">
            <a:avLst>
              <a:gd name="adj1" fmla="val 50000"/>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sp>
        <p:nvSpPr>
          <p:cNvPr id="149" name="Rectangle 65">
            <a:extLst>
              <a:ext uri="{FF2B5EF4-FFF2-40B4-BE49-F238E27FC236}">
                <a16:creationId xmlns:a16="http://schemas.microsoft.com/office/drawing/2014/main" id="{57569568-2C87-53E3-6663-D8887B15233E}"/>
              </a:ext>
            </a:extLst>
          </p:cNvPr>
          <p:cNvSpPr/>
          <p:nvPr/>
        </p:nvSpPr>
        <p:spPr>
          <a:xfrm>
            <a:off x="10605150" y="3426064"/>
            <a:ext cx="853215"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eComm</a:t>
            </a:r>
            <a:endParaRPr lang="ja-JP" err="1"/>
          </a:p>
        </p:txBody>
      </p:sp>
      <p:sp>
        <p:nvSpPr>
          <p:cNvPr id="152" name="Rectangle 65">
            <a:extLst>
              <a:ext uri="{FF2B5EF4-FFF2-40B4-BE49-F238E27FC236}">
                <a16:creationId xmlns:a16="http://schemas.microsoft.com/office/drawing/2014/main" id="{EDF331A3-D6EB-C9EC-4561-2B90B5D68215}"/>
              </a:ext>
            </a:extLst>
          </p:cNvPr>
          <p:cNvSpPr/>
          <p:nvPr/>
        </p:nvSpPr>
        <p:spPr>
          <a:xfrm>
            <a:off x="5071578" y="3444206"/>
            <a:ext cx="853215"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eComm</a:t>
            </a:r>
            <a:endParaRPr lang="ja-JP" err="1"/>
          </a:p>
        </p:txBody>
      </p:sp>
      <p:cxnSp>
        <p:nvCxnSpPr>
          <p:cNvPr id="153" name="Straight Arrow Connector 21">
            <a:extLst>
              <a:ext uri="{FF2B5EF4-FFF2-40B4-BE49-F238E27FC236}">
                <a16:creationId xmlns:a16="http://schemas.microsoft.com/office/drawing/2014/main" id="{0EB7E704-31CE-3788-60C9-BA648E9773C4}"/>
              </a:ext>
            </a:extLst>
          </p:cNvPr>
          <p:cNvCxnSpPr>
            <a:cxnSpLocks/>
          </p:cNvCxnSpPr>
          <p:nvPr/>
        </p:nvCxnSpPr>
        <p:spPr>
          <a:xfrm flipV="1">
            <a:off x="4922970" y="3773723"/>
            <a:ext cx="172358" cy="10134"/>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54" name="Straight Arrow Connector 21">
            <a:extLst>
              <a:ext uri="{FF2B5EF4-FFF2-40B4-BE49-F238E27FC236}">
                <a16:creationId xmlns:a16="http://schemas.microsoft.com/office/drawing/2014/main" id="{CCB4DC0A-EB53-11C7-9E95-11ADC71717E6}"/>
              </a:ext>
            </a:extLst>
          </p:cNvPr>
          <p:cNvCxnSpPr>
            <a:cxnSpLocks/>
          </p:cNvCxnSpPr>
          <p:nvPr/>
        </p:nvCxnSpPr>
        <p:spPr>
          <a:xfrm flipV="1">
            <a:off x="10438398" y="3728365"/>
            <a:ext cx="172358" cy="10134"/>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grpSp>
        <p:nvGrpSpPr>
          <p:cNvPr id="159" name="グループ化 158">
            <a:extLst>
              <a:ext uri="{FF2B5EF4-FFF2-40B4-BE49-F238E27FC236}">
                <a16:creationId xmlns:a16="http://schemas.microsoft.com/office/drawing/2014/main" id="{EEE2BFE0-5B36-F84C-47BF-7BC5620199A2}"/>
              </a:ext>
            </a:extLst>
          </p:cNvPr>
          <p:cNvGrpSpPr/>
          <p:nvPr/>
        </p:nvGrpSpPr>
        <p:grpSpPr>
          <a:xfrm>
            <a:off x="4916947" y="4026759"/>
            <a:ext cx="606018" cy="444333"/>
            <a:chOff x="4916947" y="4026759"/>
            <a:chExt cx="606018" cy="444333"/>
          </a:xfrm>
        </p:grpSpPr>
        <p:cxnSp>
          <p:nvCxnSpPr>
            <p:cNvPr id="156" name="直線矢印コネクタ 155">
              <a:extLst>
                <a:ext uri="{FF2B5EF4-FFF2-40B4-BE49-F238E27FC236}">
                  <a16:creationId xmlns:a16="http://schemas.microsoft.com/office/drawing/2014/main" id="{6441CBF4-763C-17BD-2366-D375CA2D5C94}"/>
                </a:ext>
              </a:extLst>
            </p:cNvPr>
            <p:cNvCxnSpPr/>
            <p:nvPr/>
          </p:nvCxnSpPr>
          <p:spPr>
            <a:xfrm>
              <a:off x="4916947" y="4462186"/>
              <a:ext cx="605690" cy="8906"/>
            </a:xfrm>
            <a:prstGeom prst="straightConnector1">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57" name="直線矢印コネクタ 156">
              <a:extLst>
                <a:ext uri="{FF2B5EF4-FFF2-40B4-BE49-F238E27FC236}">
                  <a16:creationId xmlns:a16="http://schemas.microsoft.com/office/drawing/2014/main" id="{D996775B-8D91-700C-4743-06D877B05B9A}"/>
                </a:ext>
              </a:extLst>
            </p:cNvPr>
            <p:cNvCxnSpPr/>
            <p:nvPr/>
          </p:nvCxnSpPr>
          <p:spPr>
            <a:xfrm flipH="1" flipV="1">
              <a:off x="5522801" y="4026759"/>
              <a:ext cx="164" cy="44396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61" name="直線矢印コネクタ 160">
            <a:extLst>
              <a:ext uri="{FF2B5EF4-FFF2-40B4-BE49-F238E27FC236}">
                <a16:creationId xmlns:a16="http://schemas.microsoft.com/office/drawing/2014/main" id="{55933FB8-AC67-244B-E9DF-03D96E1D5F8D}"/>
              </a:ext>
            </a:extLst>
          </p:cNvPr>
          <p:cNvCxnSpPr/>
          <p:nvPr/>
        </p:nvCxnSpPr>
        <p:spPr>
          <a:xfrm flipH="1" flipV="1">
            <a:off x="11027344" y="3988659"/>
            <a:ext cx="164" cy="44396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直線矢印コネクタ 162">
            <a:extLst>
              <a:ext uri="{FF2B5EF4-FFF2-40B4-BE49-F238E27FC236}">
                <a16:creationId xmlns:a16="http://schemas.microsoft.com/office/drawing/2014/main" id="{46912A04-CAAC-5AF7-BA92-5EC98F488494}"/>
              </a:ext>
            </a:extLst>
          </p:cNvPr>
          <p:cNvCxnSpPr/>
          <p:nvPr/>
        </p:nvCxnSpPr>
        <p:spPr>
          <a:xfrm>
            <a:off x="10421490" y="4415015"/>
            <a:ext cx="605690" cy="8906"/>
          </a:xfrm>
          <a:prstGeom prst="straightConnector1">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Rectangle 86">
            <a:extLst>
              <a:ext uri="{FF2B5EF4-FFF2-40B4-BE49-F238E27FC236}">
                <a16:creationId xmlns:a16="http://schemas.microsoft.com/office/drawing/2014/main" id="{396CA3D2-33F0-D483-F944-EC31D26F1364}"/>
              </a:ext>
            </a:extLst>
          </p:cNvPr>
          <p:cNvSpPr/>
          <p:nvPr/>
        </p:nvSpPr>
        <p:spPr>
          <a:xfrm>
            <a:off x="9295562" y="4870599"/>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cxnSp>
        <p:nvCxnSpPr>
          <p:cNvPr id="3" name="直線矢印コネクタ 2">
            <a:extLst>
              <a:ext uri="{FF2B5EF4-FFF2-40B4-BE49-F238E27FC236}">
                <a16:creationId xmlns:a16="http://schemas.microsoft.com/office/drawing/2014/main" id="{2CDCBCDC-6196-5007-FDA2-775540FDA1B2}"/>
              </a:ext>
            </a:extLst>
          </p:cNvPr>
          <p:cNvCxnSpPr/>
          <p:nvPr/>
        </p:nvCxnSpPr>
        <p:spPr>
          <a:xfrm>
            <a:off x="3812288" y="2404948"/>
            <a:ext cx="8906" cy="204865"/>
          </a:xfrm>
          <a:prstGeom prst="straightConnector1">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93E21446-91E6-CAA3-5F12-CA5A2B9CDA4F}"/>
              </a:ext>
            </a:extLst>
          </p:cNvPr>
          <p:cNvCxnSpPr/>
          <p:nvPr/>
        </p:nvCxnSpPr>
        <p:spPr>
          <a:xfrm>
            <a:off x="3802392" y="2603875"/>
            <a:ext cx="543340" cy="8907"/>
          </a:xfrm>
          <a:prstGeom prst="straightConnector1">
            <a:avLst/>
          </a:prstGeom>
          <a:ln w="28575"/>
        </p:spPr>
        <p:style>
          <a:lnRef idx="1">
            <a:schemeClr val="accent5"/>
          </a:lnRef>
          <a:fillRef idx="0">
            <a:schemeClr val="accent5"/>
          </a:fillRef>
          <a:effectRef idx="0">
            <a:schemeClr val="accent5"/>
          </a:effectRef>
          <a:fontRef idx="minor">
            <a:schemeClr val="tx1"/>
          </a:fontRef>
        </p:style>
      </p:cxnSp>
      <p:cxnSp>
        <p:nvCxnSpPr>
          <p:cNvPr id="13" name="直線矢印コネクタ 12">
            <a:extLst>
              <a:ext uri="{FF2B5EF4-FFF2-40B4-BE49-F238E27FC236}">
                <a16:creationId xmlns:a16="http://schemas.microsoft.com/office/drawing/2014/main" id="{D940A604-6AC4-958C-26C7-449A850DBDDA}"/>
              </a:ext>
            </a:extLst>
          </p:cNvPr>
          <p:cNvCxnSpPr/>
          <p:nvPr/>
        </p:nvCxnSpPr>
        <p:spPr>
          <a:xfrm>
            <a:off x="4346721" y="2592000"/>
            <a:ext cx="8906" cy="837278"/>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cxnSp>
        <p:nvCxnSpPr>
          <p:cNvPr id="15" name="直線矢印コネクタ 14">
            <a:extLst>
              <a:ext uri="{FF2B5EF4-FFF2-40B4-BE49-F238E27FC236}">
                <a16:creationId xmlns:a16="http://schemas.microsoft.com/office/drawing/2014/main" id="{FFCE4B70-5732-B412-003D-80A70B2CEA7D}"/>
              </a:ext>
            </a:extLst>
          </p:cNvPr>
          <p:cNvCxnSpPr>
            <a:cxnSpLocks/>
          </p:cNvCxnSpPr>
          <p:nvPr/>
        </p:nvCxnSpPr>
        <p:spPr>
          <a:xfrm>
            <a:off x="9829162" y="2512831"/>
            <a:ext cx="38594" cy="906550"/>
          </a:xfrm>
          <a:prstGeom prst="straightConnector1">
            <a:avLst/>
          </a:prstGeom>
          <a:ln w="28575">
            <a:tailEnd type="triangle"/>
          </a:ln>
        </p:spPr>
        <p:style>
          <a:lnRef idx="1">
            <a:schemeClr val="accent5"/>
          </a:lnRef>
          <a:fillRef idx="0">
            <a:schemeClr val="accent5"/>
          </a:fillRef>
          <a:effectRef idx="0">
            <a:schemeClr val="accent5"/>
          </a:effectRef>
          <a:fontRef idx="minor">
            <a:schemeClr val="tx1"/>
          </a:fontRef>
        </p:style>
      </p:cxnSp>
      <p:sp>
        <p:nvSpPr>
          <p:cNvPr id="96" name="Rectangle 52">
            <a:extLst>
              <a:ext uri="{FF2B5EF4-FFF2-40B4-BE49-F238E27FC236}">
                <a16:creationId xmlns:a16="http://schemas.microsoft.com/office/drawing/2014/main" id="{DD3B0FC2-7203-E41A-B08B-D7CB8D9E4D48}"/>
              </a:ext>
            </a:extLst>
          </p:cNvPr>
          <p:cNvSpPr/>
          <p:nvPr/>
        </p:nvSpPr>
        <p:spPr>
          <a:xfrm>
            <a:off x="9352231" y="2614145"/>
            <a:ext cx="1326688" cy="550081"/>
          </a:xfrm>
          <a:prstGeom prst="rect">
            <a:avLst/>
          </a:prstGeom>
          <a:solidFill>
            <a:schemeClr val="accent4"/>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algn="ctr"/>
            <a:r>
              <a:rPr lang="ja-JP" altLang="en-US" sz="900" b="1">
                <a:solidFill>
                  <a:schemeClr val="bg1"/>
                </a:solidFill>
                <a:latin typeface="メイリオ"/>
                <a:ea typeface="メイリオ"/>
              </a:rPr>
              <a:t>eBASEクラウドサービス</a:t>
            </a:r>
          </a:p>
          <a:p>
            <a:pPr algn="ctr"/>
            <a:r>
              <a:rPr lang="ja-JP" altLang="en-US" sz="900" b="1">
                <a:solidFill>
                  <a:schemeClr val="bg1"/>
                </a:solidFill>
                <a:latin typeface="メイリオ"/>
                <a:ea typeface="メイリオ"/>
              </a:rPr>
              <a:t>（えびすシリーズ）</a:t>
            </a:r>
          </a:p>
        </p:txBody>
      </p:sp>
      <p:cxnSp>
        <p:nvCxnSpPr>
          <p:cNvPr id="17" name="直線矢印コネクタ 16">
            <a:extLst>
              <a:ext uri="{FF2B5EF4-FFF2-40B4-BE49-F238E27FC236}">
                <a16:creationId xmlns:a16="http://schemas.microsoft.com/office/drawing/2014/main" id="{7C0B509E-0768-5A8C-39D3-F54000AA568B}"/>
              </a:ext>
            </a:extLst>
          </p:cNvPr>
          <p:cNvCxnSpPr>
            <a:cxnSpLocks/>
          </p:cNvCxnSpPr>
          <p:nvPr/>
        </p:nvCxnSpPr>
        <p:spPr>
          <a:xfrm>
            <a:off x="9304625" y="2524705"/>
            <a:ext cx="543340" cy="8907"/>
          </a:xfrm>
          <a:prstGeom prst="straightConnector1">
            <a:avLst/>
          </a:prstGeom>
          <a:ln w="28575"/>
        </p:spPr>
        <p:style>
          <a:lnRef idx="1">
            <a:schemeClr val="accent5"/>
          </a:lnRef>
          <a:fillRef idx="0">
            <a:schemeClr val="accent5"/>
          </a:fillRef>
          <a:effectRef idx="0">
            <a:schemeClr val="accent5"/>
          </a:effectRef>
          <a:fontRef idx="minor">
            <a:schemeClr val="tx1"/>
          </a:fontRef>
        </p:style>
      </p:cxnSp>
      <p:cxnSp>
        <p:nvCxnSpPr>
          <p:cNvPr id="18" name="直線矢印コネクタ 17">
            <a:extLst>
              <a:ext uri="{FF2B5EF4-FFF2-40B4-BE49-F238E27FC236}">
                <a16:creationId xmlns:a16="http://schemas.microsoft.com/office/drawing/2014/main" id="{D9098638-C68B-F103-573F-71FA3EF7F364}"/>
              </a:ext>
            </a:extLst>
          </p:cNvPr>
          <p:cNvCxnSpPr>
            <a:cxnSpLocks/>
          </p:cNvCxnSpPr>
          <p:nvPr/>
        </p:nvCxnSpPr>
        <p:spPr>
          <a:xfrm>
            <a:off x="9294729" y="2325779"/>
            <a:ext cx="8906" cy="204865"/>
          </a:xfrm>
          <a:prstGeom prst="straightConnector1">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pic>
        <p:nvPicPr>
          <p:cNvPr id="4" name="Graphic 75" descr="Group with solid fill">
            <a:extLst>
              <a:ext uri="{FF2B5EF4-FFF2-40B4-BE49-F238E27FC236}">
                <a16:creationId xmlns:a16="http://schemas.microsoft.com/office/drawing/2014/main" id="{048F124C-93DC-FE82-2441-062AC8AC6250}"/>
              </a:ext>
            </a:extLst>
          </p:cNvPr>
          <p:cNvPicPr>
            <a:picLocks noChangeAspect="1"/>
          </p:cNvPicPr>
          <p:nvPr/>
        </p:nvPicPr>
        <p:blipFill>
          <a:blip>
            <a:extLst>
              <a:ext uri="{96DAC541-7B7A-43D3-8B79-37D633B846F1}">
                <asvg:svgBlip xmlns:asvg="http://schemas.microsoft.com/office/drawing/2016/SVG/main" r:embed="rId3"/>
              </a:ext>
            </a:extLst>
          </a:blip>
          <a:srcRect t="15965" b="16341"/>
          <a:stretch>
            <a:fillRect/>
          </a:stretch>
        </p:blipFill>
        <p:spPr>
          <a:xfrm>
            <a:off x="2185826" y="1844898"/>
            <a:ext cx="744607" cy="504056"/>
          </a:xfrm>
          <a:prstGeom prst="rect">
            <a:avLst/>
          </a:prstGeom>
        </p:spPr>
      </p:pic>
      <p:cxnSp>
        <p:nvCxnSpPr>
          <p:cNvPr id="20" name="直線コネクタ 19">
            <a:extLst>
              <a:ext uri="{FF2B5EF4-FFF2-40B4-BE49-F238E27FC236}">
                <a16:creationId xmlns:a16="http://schemas.microsoft.com/office/drawing/2014/main" id="{526AC93E-6ACD-9FDF-44B3-5C8EC597E8FF}"/>
              </a:ext>
            </a:extLst>
          </p:cNvPr>
          <p:cNvCxnSpPr/>
          <p:nvPr/>
        </p:nvCxnSpPr>
        <p:spPr>
          <a:xfrm>
            <a:off x="2930433" y="2111567"/>
            <a:ext cx="372304" cy="0"/>
          </a:xfrm>
          <a:prstGeom prst="line">
            <a:avLst/>
          </a:prstGeom>
        </p:spPr>
        <p:style>
          <a:lnRef idx="1">
            <a:schemeClr val="dk1"/>
          </a:lnRef>
          <a:fillRef idx="0">
            <a:schemeClr val="dk1"/>
          </a:fillRef>
          <a:effectRef idx="0">
            <a:schemeClr val="dk1"/>
          </a:effectRef>
          <a:fontRef idx="minor">
            <a:schemeClr val="tx1"/>
          </a:fontRef>
        </p:style>
      </p:cxnSp>
      <p:sp>
        <p:nvSpPr>
          <p:cNvPr id="21" name="Rectangle 74">
            <a:extLst>
              <a:ext uri="{FF2B5EF4-FFF2-40B4-BE49-F238E27FC236}">
                <a16:creationId xmlns:a16="http://schemas.microsoft.com/office/drawing/2014/main" id="{89BEF667-AA79-CC9A-87FC-9BC0404445A6}"/>
              </a:ext>
            </a:extLst>
          </p:cNvPr>
          <p:cNvSpPr/>
          <p:nvPr/>
        </p:nvSpPr>
        <p:spPr>
          <a:xfrm>
            <a:off x="2045300" y="1592797"/>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sp>
        <p:nvSpPr>
          <p:cNvPr id="24" name="タイトル 1">
            <a:extLst>
              <a:ext uri="{FF2B5EF4-FFF2-40B4-BE49-F238E27FC236}">
                <a16:creationId xmlns:a16="http://schemas.microsoft.com/office/drawing/2014/main" id="{389319B0-CB70-46AC-BB77-DF0C5A9E7E68}"/>
              </a:ext>
            </a:extLst>
          </p:cNvPr>
          <p:cNvSpPr>
            <a:spLocks noGrp="1"/>
          </p:cNvSpPr>
          <p:nvPr>
            <p:ph type="title"/>
          </p:nvPr>
        </p:nvSpPr>
        <p:spPr>
          <a:xfrm>
            <a:off x="630000" y="622800"/>
            <a:ext cx="10933600" cy="332399"/>
          </a:xfrm>
        </p:spPr>
        <p:txBody>
          <a:bodyPr anchor="b">
            <a:noAutofit/>
          </a:bodyPr>
          <a:lstStyle/>
          <a:p>
            <a:r>
              <a:rPr lang="en-US" altLang="ja-JP" sz="1800">
                <a:solidFill>
                  <a:schemeClr val="bg1">
                    <a:lumMod val="65000"/>
                  </a:schemeClr>
                </a:solidFill>
              </a:rPr>
              <a:t>2. </a:t>
            </a:r>
            <a:r>
              <a:rPr lang="ja-JP" altLang="en-US" sz="1800">
                <a:solidFill>
                  <a:schemeClr val="bg1">
                    <a:lumMod val="65000"/>
                  </a:schemeClr>
                </a:solidFill>
              </a:rPr>
              <a:t>概要・アプローチ</a:t>
            </a:r>
            <a:br>
              <a:rPr lang="en-US" altLang="ja-JP" sz="1800">
                <a:solidFill>
                  <a:schemeClr val="bg1">
                    <a:lumMod val="65000"/>
                  </a:schemeClr>
                </a:solidFill>
              </a:rPr>
            </a:br>
            <a:r>
              <a:rPr lang="ja-JP" altLang="en-US"/>
              <a:t>共通マスタシステム構成推移（</a:t>
            </a:r>
            <a:r>
              <a:rPr lang="en-US" altLang="ja-JP"/>
              <a:t>1/4</a:t>
            </a:r>
            <a:r>
              <a:rPr lang="ja-JP" altLang="en-US"/>
              <a:t>）</a:t>
            </a:r>
            <a:endParaRPr kumimoji="1" lang="ja-JP" altLang="en-US"/>
          </a:p>
        </p:txBody>
      </p:sp>
    </p:spTree>
    <p:extLst>
      <p:ext uri="{BB962C8B-B14F-4D97-AF65-F5344CB8AC3E}">
        <p14:creationId xmlns:p14="http://schemas.microsoft.com/office/powerpoint/2010/main" val="3841682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7CBC8-3EE8-B55E-209B-81A755C39E10}"/>
            </a:ext>
          </a:extLst>
        </p:cNvPr>
        <p:cNvGrpSpPr/>
        <p:nvPr/>
      </p:nvGrpSpPr>
      <p:grpSpPr>
        <a:xfrm>
          <a:off x="0" y="0"/>
          <a:ext cx="0" cy="0"/>
          <a:chOff x="0" y="0"/>
          <a:chExt cx="0" cy="0"/>
        </a:xfrm>
      </p:grpSpPr>
      <p:sp>
        <p:nvSpPr>
          <p:cNvPr id="71" name="Rectangle 11">
            <a:extLst>
              <a:ext uri="{FF2B5EF4-FFF2-40B4-BE49-F238E27FC236}">
                <a16:creationId xmlns:a16="http://schemas.microsoft.com/office/drawing/2014/main" id="{5AD08641-A758-FD5C-2B64-31DDE93FC188}"/>
              </a:ext>
            </a:extLst>
          </p:cNvPr>
          <p:cNvSpPr/>
          <p:nvPr/>
        </p:nvSpPr>
        <p:spPr>
          <a:xfrm>
            <a:off x="605607" y="1433107"/>
            <a:ext cx="5472112" cy="4227826"/>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12" name="Rectangle 11">
            <a:extLst>
              <a:ext uri="{FF2B5EF4-FFF2-40B4-BE49-F238E27FC236}">
                <a16:creationId xmlns:a16="http://schemas.microsoft.com/office/drawing/2014/main" id="{F78EB7A7-A7ED-53D5-FC56-EDF2F6DA9437}"/>
              </a:ext>
            </a:extLst>
          </p:cNvPr>
          <p:cNvSpPr/>
          <p:nvPr/>
        </p:nvSpPr>
        <p:spPr>
          <a:xfrm>
            <a:off x="6220097" y="1430564"/>
            <a:ext cx="5195021" cy="4229161"/>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60" name="Rectangle 59">
            <a:extLst>
              <a:ext uri="{FF2B5EF4-FFF2-40B4-BE49-F238E27FC236}">
                <a16:creationId xmlns:a16="http://schemas.microsoft.com/office/drawing/2014/main" id="{40C1E51C-29F8-2AB4-5E54-1C1A3895F0B8}"/>
              </a:ext>
            </a:extLst>
          </p:cNvPr>
          <p:cNvSpPr/>
          <p:nvPr/>
        </p:nvSpPr>
        <p:spPr>
          <a:xfrm>
            <a:off x="603251" y="1189760"/>
            <a:ext cx="5472111" cy="242643"/>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b="1" err="1">
                <a:solidFill>
                  <a:schemeClr val="bg1"/>
                </a:solidFill>
                <a:latin typeface="メイリオ"/>
                <a:ea typeface="メイリオ"/>
              </a:rPr>
              <a:t>新規登録（社内向け</a:t>
            </a:r>
            <a:r>
              <a:rPr lang="en-US" altLang="ja-JP" b="1">
                <a:solidFill>
                  <a:schemeClr val="bg1"/>
                </a:solidFill>
                <a:latin typeface="メイリオ"/>
                <a:ea typeface="メイリオ"/>
              </a:rPr>
              <a:t>）</a:t>
            </a:r>
          </a:p>
        </p:txBody>
      </p:sp>
      <p:sp>
        <p:nvSpPr>
          <p:cNvPr id="11" name="Rectangle 63">
            <a:extLst>
              <a:ext uri="{FF2B5EF4-FFF2-40B4-BE49-F238E27FC236}">
                <a16:creationId xmlns:a16="http://schemas.microsoft.com/office/drawing/2014/main" id="{E5F91485-9F3C-699C-DCD9-17E2FF15F4A7}"/>
              </a:ext>
            </a:extLst>
          </p:cNvPr>
          <p:cNvSpPr/>
          <p:nvPr/>
        </p:nvSpPr>
        <p:spPr>
          <a:xfrm>
            <a:off x="6574475" y="4050649"/>
            <a:ext cx="1119584" cy="887543"/>
          </a:xfrm>
          <a:prstGeom prst="rect">
            <a:avLst/>
          </a:prstGeom>
          <a:solidFill>
            <a:schemeClr val="bg1">
              <a:lumMod val="75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tx1"/>
                </a:solidFill>
                <a:latin typeface="メイリオ"/>
                <a:ea typeface="メイリオ"/>
              </a:rPr>
              <a:t>商談</a:t>
            </a:r>
            <a:endParaRPr lang="ja-JP">
              <a:solidFill>
                <a:schemeClr val="tx1"/>
              </a:solidFill>
            </a:endParaRPr>
          </a:p>
          <a:p>
            <a:pPr algn="ctr"/>
            <a:r>
              <a:rPr lang="ja-JP" altLang="en-US" sz="1200" b="1">
                <a:solidFill>
                  <a:schemeClr val="tx1"/>
                </a:solidFill>
                <a:latin typeface="メイリオ"/>
                <a:ea typeface="メイリオ"/>
              </a:rPr>
              <a:t>・</a:t>
            </a:r>
          </a:p>
          <a:p>
            <a:pPr algn="ctr"/>
            <a:r>
              <a:rPr lang="ja-JP" altLang="en-US" sz="1200" b="1">
                <a:solidFill>
                  <a:schemeClr val="tx1"/>
                </a:solidFill>
                <a:latin typeface="メイリオ"/>
                <a:ea typeface="メイリオ"/>
              </a:rPr>
              <a:t>生鮮商談</a:t>
            </a:r>
            <a:endParaRPr lang="ja-JP">
              <a:solidFill>
                <a:schemeClr val="tx1"/>
              </a:solidFill>
            </a:endParaRPr>
          </a:p>
        </p:txBody>
      </p:sp>
      <p:sp>
        <p:nvSpPr>
          <p:cNvPr id="22" name="Rectangle 66">
            <a:extLst>
              <a:ext uri="{FF2B5EF4-FFF2-40B4-BE49-F238E27FC236}">
                <a16:creationId xmlns:a16="http://schemas.microsoft.com/office/drawing/2014/main" id="{7997E6F3-C8BB-3AA3-5F74-1B518403759F}"/>
              </a:ext>
            </a:extLst>
          </p:cNvPr>
          <p:cNvSpPr/>
          <p:nvPr/>
        </p:nvSpPr>
        <p:spPr>
          <a:xfrm>
            <a:off x="9144468" y="4632001"/>
            <a:ext cx="1139376" cy="720998"/>
          </a:xfrm>
          <a:prstGeom prst="rect">
            <a:avLst/>
          </a:prstGeom>
          <a:solidFill>
            <a:schemeClr val="bg1">
              <a:lumMod val="75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Tomorrow</a:t>
            </a:r>
          </a:p>
          <a:p>
            <a:pPr algn="ctr"/>
            <a:r>
              <a:rPr kumimoji="1" lang="en-US" altLang="ja-JP" sz="1200" b="1">
                <a:solidFill>
                  <a:schemeClr val="tx1"/>
                </a:solidFill>
                <a:latin typeface="メイリオ" panose="020B0604030504040204" pitchFamily="50" charset="-128"/>
                <a:ea typeface="メイリオ" panose="020B0604030504040204" pitchFamily="50" charset="-128"/>
              </a:rPr>
              <a:t>Chain</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sp>
        <p:nvSpPr>
          <p:cNvPr id="35" name="Rectangle 74">
            <a:extLst>
              <a:ext uri="{FF2B5EF4-FFF2-40B4-BE49-F238E27FC236}">
                <a16:creationId xmlns:a16="http://schemas.microsoft.com/office/drawing/2014/main" id="{7044496C-695A-F034-D611-8CB925016853}"/>
              </a:ext>
            </a:extLst>
          </p:cNvPr>
          <p:cNvSpPr/>
          <p:nvPr/>
        </p:nvSpPr>
        <p:spPr>
          <a:xfrm>
            <a:off x="8048242" y="1515163"/>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pic>
        <p:nvPicPr>
          <p:cNvPr id="39" name="Graphic 75" descr="Group with solid fill">
            <a:extLst>
              <a:ext uri="{FF2B5EF4-FFF2-40B4-BE49-F238E27FC236}">
                <a16:creationId xmlns:a16="http://schemas.microsoft.com/office/drawing/2014/main" id="{9C38106D-621C-E3D7-B925-49B3A5E6E020}"/>
              </a:ext>
            </a:extLst>
          </p:cNvPr>
          <p:cNvPicPr>
            <a:picLocks noChangeAspect="1"/>
          </p:cNvPicPr>
          <p:nvPr/>
        </p:nvPicPr>
        <p:blipFill>
          <a:blip>
            <a:extLst>
              <a:ext uri="{96DAC541-7B7A-43D3-8B79-37D633B846F1}">
                <asvg:svgBlip xmlns:asvg="http://schemas.microsoft.com/office/drawing/2016/SVG/main" r:embed="rId3"/>
              </a:ext>
            </a:extLst>
          </a:blip>
          <a:srcRect t="15965" b="16341"/>
          <a:stretch>
            <a:fillRect/>
          </a:stretch>
        </p:blipFill>
        <p:spPr>
          <a:xfrm>
            <a:off x="8125302" y="1753211"/>
            <a:ext cx="744607" cy="504056"/>
          </a:xfrm>
          <a:prstGeom prst="rect">
            <a:avLst/>
          </a:prstGeom>
        </p:spPr>
      </p:pic>
      <p:sp>
        <p:nvSpPr>
          <p:cNvPr id="21" name="Rectangle 61">
            <a:extLst>
              <a:ext uri="{FF2B5EF4-FFF2-40B4-BE49-F238E27FC236}">
                <a16:creationId xmlns:a16="http://schemas.microsoft.com/office/drawing/2014/main" id="{7F00DF96-3A44-ADC9-9F0B-EA4BF951275A}"/>
              </a:ext>
            </a:extLst>
          </p:cNvPr>
          <p:cNvSpPr/>
          <p:nvPr/>
        </p:nvSpPr>
        <p:spPr>
          <a:xfrm>
            <a:off x="605896" y="5685720"/>
            <a:ext cx="10807634" cy="1053444"/>
          </a:xfrm>
          <a:prstGeom prst="rect">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共通商談システムがリリース（2027年4月）されるまでは、両システムへの登録が必須となる（システム上の商品階層統合はしない前提）</a:t>
            </a: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組織統合が商品部内で実施されることを想定した際、バイヤーが両システムへメンテナンス（新規登録・条件変更）をすることは困難・負荷が大きい。</a:t>
            </a:r>
          </a:p>
          <a:p>
            <a:pPr marL="182245" indent="-182245">
              <a:buClr>
                <a:srgbClr val="BFBFBF"/>
              </a:buClr>
              <a:buFont typeface="Wingdings" panose="05000000000000000000" pitchFamily="2" charset="2"/>
              <a:buChar char="n"/>
            </a:pPr>
            <a:r>
              <a:rPr lang="ja-JP" altLang="en-US" sz="1100">
                <a:solidFill>
                  <a:srgbClr val="FF0000"/>
                </a:solidFill>
                <a:latin typeface="メイリオ"/>
                <a:ea typeface="メイリオ"/>
              </a:rPr>
              <a:t>バイヤーの運用としては、共通シート（入力シート）をもとに、ビジネス側でパンチャー（リソース追加）を確保していただき、両システムへの入力作業を実施</a:t>
            </a:r>
            <a:endParaRPr lang="en-US" altLang="ja-JP" sz="1100">
              <a:solidFill>
                <a:srgbClr val="FF0000"/>
              </a:solidFill>
              <a:latin typeface="メイリオ"/>
              <a:ea typeface="メイリオ"/>
            </a:endParaRP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並行して、システムは、パンチャーの入力作業を</a:t>
            </a:r>
            <a:r>
              <a:rPr lang="en-US" altLang="ja-JP" sz="1100">
                <a:solidFill>
                  <a:schemeClr val="tx1"/>
                </a:solidFill>
                <a:latin typeface="メイリオ"/>
                <a:ea typeface="メイリオ"/>
              </a:rPr>
              <a:t>RPA</a:t>
            </a:r>
            <a:r>
              <a:rPr lang="ja-JP" altLang="en-US" sz="1100">
                <a:solidFill>
                  <a:schemeClr val="tx1"/>
                </a:solidFill>
                <a:latin typeface="メイリオ"/>
                <a:ea typeface="メイリオ"/>
              </a:rPr>
              <a:t>化（画面入力・ファイル取り込の自動化）をし、パンチャーは入力結果の確認をすることへシフトしていくことを検討する</a:t>
            </a:r>
            <a:endParaRPr lang="en-US" altLang="ja-JP" sz="1100">
              <a:solidFill>
                <a:schemeClr val="tx1"/>
              </a:solidFill>
              <a:latin typeface="メイリオ"/>
              <a:ea typeface="メイリオ"/>
            </a:endParaRPr>
          </a:p>
          <a:p>
            <a:pPr>
              <a:buClr>
                <a:schemeClr val="bg1">
                  <a:lumMod val="75000"/>
                </a:schemeClr>
              </a:buClr>
            </a:pPr>
            <a:endParaRPr lang="en-US" altLang="ja-JP" sz="1100">
              <a:solidFill>
                <a:schemeClr val="tx1"/>
              </a:solidFill>
              <a:latin typeface="メイリオ"/>
              <a:ea typeface="メイリオ"/>
            </a:endParaRPr>
          </a:p>
        </p:txBody>
      </p:sp>
      <p:pic>
        <p:nvPicPr>
          <p:cNvPr id="3" name="Graphic 75" descr="Group with solid fill">
            <a:extLst>
              <a:ext uri="{FF2B5EF4-FFF2-40B4-BE49-F238E27FC236}">
                <a16:creationId xmlns:a16="http://schemas.microsoft.com/office/drawing/2014/main" id="{E264E69F-728A-1E67-31FA-040EC794EB7F}"/>
              </a:ext>
            </a:extLst>
          </p:cNvPr>
          <p:cNvPicPr>
            <a:picLocks noChangeAspect="1"/>
          </p:cNvPicPr>
          <p:nvPr/>
        </p:nvPicPr>
        <p:blipFill>
          <a:blip>
            <a:extLst>
              <a:ext uri="{96DAC541-7B7A-43D3-8B79-37D633B846F1}">
                <asvg:svgBlip xmlns:asvg="http://schemas.microsoft.com/office/drawing/2016/SVG/main" r:embed="rId4"/>
              </a:ext>
            </a:extLst>
          </a:blip>
          <a:srcRect t="15965" b="16341"/>
          <a:stretch>
            <a:fillRect/>
          </a:stretch>
        </p:blipFill>
        <p:spPr>
          <a:xfrm>
            <a:off x="6943215" y="1776082"/>
            <a:ext cx="744607" cy="504056"/>
          </a:xfrm>
          <a:prstGeom prst="rect">
            <a:avLst/>
          </a:prstGeom>
        </p:spPr>
      </p:pic>
      <p:sp>
        <p:nvSpPr>
          <p:cNvPr id="4" name="Rectangle 74">
            <a:extLst>
              <a:ext uri="{FF2B5EF4-FFF2-40B4-BE49-F238E27FC236}">
                <a16:creationId xmlns:a16="http://schemas.microsoft.com/office/drawing/2014/main" id="{46341453-21A3-64D1-F350-CFFD5BCDF541}"/>
              </a:ext>
            </a:extLst>
          </p:cNvPr>
          <p:cNvSpPr/>
          <p:nvPr/>
        </p:nvSpPr>
        <p:spPr>
          <a:xfrm>
            <a:off x="6747774" y="1550111"/>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cxnSp>
        <p:nvCxnSpPr>
          <p:cNvPr id="33" name="直線矢印コネクタ 32">
            <a:extLst>
              <a:ext uri="{FF2B5EF4-FFF2-40B4-BE49-F238E27FC236}">
                <a16:creationId xmlns:a16="http://schemas.microsoft.com/office/drawing/2014/main" id="{6441D5CC-728C-E070-A5C7-48ABE290B450}"/>
              </a:ext>
            </a:extLst>
          </p:cNvPr>
          <p:cNvCxnSpPr>
            <a:cxnSpLocks/>
          </p:cNvCxnSpPr>
          <p:nvPr/>
        </p:nvCxnSpPr>
        <p:spPr>
          <a:xfrm flipH="1">
            <a:off x="7206661" y="3543546"/>
            <a:ext cx="811461" cy="46315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6" name="直線矢印コネクタ 35">
            <a:extLst>
              <a:ext uri="{FF2B5EF4-FFF2-40B4-BE49-F238E27FC236}">
                <a16:creationId xmlns:a16="http://schemas.microsoft.com/office/drawing/2014/main" id="{67C12546-397F-851D-82DF-B1042B99CB66}"/>
              </a:ext>
            </a:extLst>
          </p:cNvPr>
          <p:cNvCxnSpPr>
            <a:cxnSpLocks/>
          </p:cNvCxnSpPr>
          <p:nvPr/>
        </p:nvCxnSpPr>
        <p:spPr>
          <a:xfrm>
            <a:off x="8839800" y="3561365"/>
            <a:ext cx="772946" cy="1043467"/>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直線矢印コネクタ 52">
            <a:extLst>
              <a:ext uri="{FF2B5EF4-FFF2-40B4-BE49-F238E27FC236}">
                <a16:creationId xmlns:a16="http://schemas.microsoft.com/office/drawing/2014/main" id="{8490FA7C-35F4-CD05-F555-668E27C09884}"/>
              </a:ext>
            </a:extLst>
          </p:cNvPr>
          <p:cNvCxnSpPr>
            <a:cxnSpLocks/>
          </p:cNvCxnSpPr>
          <p:nvPr/>
        </p:nvCxnSpPr>
        <p:spPr>
          <a:xfrm flipH="1">
            <a:off x="8540295" y="2286047"/>
            <a:ext cx="9896" cy="717830"/>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56" name="Rectangle 74">
            <a:extLst>
              <a:ext uri="{FF2B5EF4-FFF2-40B4-BE49-F238E27FC236}">
                <a16:creationId xmlns:a16="http://schemas.microsoft.com/office/drawing/2014/main" id="{AB51A282-007A-C7BA-EA3A-1544629F90DD}"/>
              </a:ext>
            </a:extLst>
          </p:cNvPr>
          <p:cNvSpPr/>
          <p:nvPr/>
        </p:nvSpPr>
        <p:spPr>
          <a:xfrm>
            <a:off x="7885980" y="3637161"/>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パンチャー</a:t>
            </a:r>
          </a:p>
        </p:txBody>
      </p:sp>
      <p:pic>
        <p:nvPicPr>
          <p:cNvPr id="62" name="Graphic 75" descr="Group with solid fill">
            <a:extLst>
              <a:ext uri="{FF2B5EF4-FFF2-40B4-BE49-F238E27FC236}">
                <a16:creationId xmlns:a16="http://schemas.microsoft.com/office/drawing/2014/main" id="{8236B373-F4BA-2C69-1720-30E1B8108EE5}"/>
              </a:ext>
            </a:extLst>
          </p:cNvPr>
          <p:cNvPicPr>
            <a:picLocks noChangeAspect="1"/>
          </p:cNvPicPr>
          <p:nvPr/>
        </p:nvPicPr>
        <p:blipFill>
          <a:blip>
            <a:extLst>
              <a:ext uri="{96DAC541-7B7A-43D3-8B79-37D633B846F1}">
                <asvg:svgBlip xmlns:asvg="http://schemas.microsoft.com/office/drawing/2016/SVG/main" r:embed="rId5"/>
              </a:ext>
            </a:extLst>
          </a:blip>
          <a:srcRect t="15965" b="16341"/>
          <a:stretch>
            <a:fillRect/>
          </a:stretch>
        </p:blipFill>
        <p:spPr>
          <a:xfrm>
            <a:off x="7708535" y="3032363"/>
            <a:ext cx="744607" cy="504056"/>
          </a:xfrm>
          <a:prstGeom prst="rect">
            <a:avLst/>
          </a:prstGeom>
        </p:spPr>
      </p:pic>
      <p:pic>
        <p:nvPicPr>
          <p:cNvPr id="64" name="Graphic 75" descr="Group with solid fill">
            <a:extLst>
              <a:ext uri="{FF2B5EF4-FFF2-40B4-BE49-F238E27FC236}">
                <a16:creationId xmlns:a16="http://schemas.microsoft.com/office/drawing/2014/main" id="{A6237DDF-4C20-35D0-6E02-75FFF3A96D63}"/>
              </a:ext>
            </a:extLst>
          </p:cNvPr>
          <p:cNvPicPr>
            <a:picLocks noChangeAspect="1"/>
          </p:cNvPicPr>
          <p:nvPr/>
        </p:nvPicPr>
        <p:blipFill>
          <a:blip>
            <a:extLst>
              <a:ext uri="{96DAC541-7B7A-43D3-8B79-37D633B846F1}">
                <asvg:svgBlip xmlns:asvg="http://schemas.microsoft.com/office/drawing/2016/SVG/main" r:embed="rId5"/>
              </a:ext>
            </a:extLst>
          </a:blip>
          <a:srcRect t="15965" b="16341"/>
          <a:stretch>
            <a:fillRect/>
          </a:stretch>
        </p:blipFill>
        <p:spPr>
          <a:xfrm>
            <a:off x="8433224" y="3042259"/>
            <a:ext cx="744607" cy="504056"/>
          </a:xfrm>
          <a:prstGeom prst="rect">
            <a:avLst/>
          </a:prstGeom>
        </p:spPr>
      </p:pic>
      <p:sp>
        <p:nvSpPr>
          <p:cNvPr id="127" name="正方形/長方形 126">
            <a:extLst>
              <a:ext uri="{FF2B5EF4-FFF2-40B4-BE49-F238E27FC236}">
                <a16:creationId xmlns:a16="http://schemas.microsoft.com/office/drawing/2014/main" id="{75A124CF-452E-A491-1A54-9AF410241A32}"/>
              </a:ext>
            </a:extLst>
          </p:cNvPr>
          <p:cNvSpPr/>
          <p:nvPr/>
        </p:nvSpPr>
        <p:spPr>
          <a:xfrm>
            <a:off x="7696392" y="3004974"/>
            <a:ext cx="1454036" cy="5019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1" name="直線コネクタ 160">
            <a:extLst>
              <a:ext uri="{FF2B5EF4-FFF2-40B4-BE49-F238E27FC236}">
                <a16:creationId xmlns:a16="http://schemas.microsoft.com/office/drawing/2014/main" id="{89947E80-2D76-AC7E-0F9A-5DD8AEC177A7}"/>
              </a:ext>
            </a:extLst>
          </p:cNvPr>
          <p:cNvCxnSpPr/>
          <p:nvPr/>
        </p:nvCxnSpPr>
        <p:spPr>
          <a:xfrm>
            <a:off x="7764882" y="2005239"/>
            <a:ext cx="360420" cy="0"/>
          </a:xfrm>
          <a:prstGeom prst="line">
            <a:avLst/>
          </a:prstGeom>
        </p:spPr>
        <p:style>
          <a:lnRef idx="1">
            <a:schemeClr val="dk1"/>
          </a:lnRef>
          <a:fillRef idx="0">
            <a:schemeClr val="dk1"/>
          </a:fillRef>
          <a:effectRef idx="0">
            <a:schemeClr val="dk1"/>
          </a:effectRef>
          <a:fontRef idx="minor">
            <a:schemeClr val="tx1"/>
          </a:fontRef>
        </p:style>
      </p:cxnSp>
      <p:sp>
        <p:nvSpPr>
          <p:cNvPr id="180" name="Rectangle 6">
            <a:extLst>
              <a:ext uri="{FF2B5EF4-FFF2-40B4-BE49-F238E27FC236}">
                <a16:creationId xmlns:a16="http://schemas.microsoft.com/office/drawing/2014/main" id="{50592AEA-B61C-C005-5D4D-07B015D4035F}"/>
              </a:ext>
            </a:extLst>
          </p:cNvPr>
          <p:cNvSpPr/>
          <p:nvPr/>
        </p:nvSpPr>
        <p:spPr>
          <a:xfrm>
            <a:off x="6554412" y="5106175"/>
            <a:ext cx="1152081" cy="297973"/>
          </a:xfrm>
          <a:prstGeom prst="rect">
            <a:avLst/>
          </a:prstGeom>
          <a:solidFill>
            <a:schemeClr val="accent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メイリオ" panose="020B0604030504040204" pitchFamily="50" charset="-128"/>
                <a:ea typeface="メイリオ" panose="020B0604030504040204" pitchFamily="50" charset="-128"/>
              </a:rPr>
              <a:t>Shinise</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cxnSp>
        <p:nvCxnSpPr>
          <p:cNvPr id="183" name="直線矢印コネクタ 182">
            <a:extLst>
              <a:ext uri="{FF2B5EF4-FFF2-40B4-BE49-F238E27FC236}">
                <a16:creationId xmlns:a16="http://schemas.microsoft.com/office/drawing/2014/main" id="{16B6ADF7-8BAC-927A-F53A-4BD76F14E14A}"/>
              </a:ext>
            </a:extLst>
          </p:cNvPr>
          <p:cNvCxnSpPr>
            <a:cxnSpLocks/>
          </p:cNvCxnSpPr>
          <p:nvPr/>
        </p:nvCxnSpPr>
        <p:spPr>
          <a:xfrm flipH="1">
            <a:off x="7130453" y="4938192"/>
            <a:ext cx="3814" cy="167983"/>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2" name="Rectangle 59">
            <a:extLst>
              <a:ext uri="{FF2B5EF4-FFF2-40B4-BE49-F238E27FC236}">
                <a16:creationId xmlns:a16="http://schemas.microsoft.com/office/drawing/2014/main" id="{F384144A-86BD-7070-D95C-CA115DB9A58D}"/>
              </a:ext>
            </a:extLst>
          </p:cNvPr>
          <p:cNvSpPr/>
          <p:nvPr/>
        </p:nvSpPr>
        <p:spPr>
          <a:xfrm>
            <a:off x="6223000" y="1189759"/>
            <a:ext cx="5186361" cy="242643"/>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b="1" err="1">
                <a:solidFill>
                  <a:schemeClr val="bg1"/>
                </a:solidFill>
                <a:latin typeface="メイリオ"/>
                <a:ea typeface="メイリオ"/>
              </a:rPr>
              <a:t>条件変更</a:t>
            </a:r>
          </a:p>
        </p:txBody>
      </p:sp>
      <p:sp>
        <p:nvSpPr>
          <p:cNvPr id="8" name="Rectangle 66">
            <a:extLst>
              <a:ext uri="{FF2B5EF4-FFF2-40B4-BE49-F238E27FC236}">
                <a16:creationId xmlns:a16="http://schemas.microsoft.com/office/drawing/2014/main" id="{FDDFD15C-5C16-E339-4ED7-0D91213A9B39}"/>
              </a:ext>
            </a:extLst>
          </p:cNvPr>
          <p:cNvSpPr/>
          <p:nvPr/>
        </p:nvSpPr>
        <p:spPr>
          <a:xfrm>
            <a:off x="3786462" y="4776275"/>
            <a:ext cx="1080000" cy="627120"/>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Tomorrow</a:t>
            </a:r>
          </a:p>
          <a:p>
            <a:pPr algn="ctr"/>
            <a:r>
              <a:rPr kumimoji="1" lang="en-US" altLang="ja-JP" sz="1200" b="1">
                <a:solidFill>
                  <a:schemeClr val="tx1"/>
                </a:solidFill>
                <a:latin typeface="メイリオ" panose="020B0604030504040204" pitchFamily="50" charset="-128"/>
                <a:ea typeface="メイリオ" panose="020B0604030504040204" pitchFamily="50" charset="-128"/>
              </a:rPr>
              <a:t>Chain</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cxnSp>
        <p:nvCxnSpPr>
          <p:cNvPr id="10" name="Straight Arrow Connector 69">
            <a:extLst>
              <a:ext uri="{FF2B5EF4-FFF2-40B4-BE49-F238E27FC236}">
                <a16:creationId xmlns:a16="http://schemas.microsoft.com/office/drawing/2014/main" id="{919757D9-FBD4-FF90-E3B6-615BA9F1A45D}"/>
              </a:ext>
            </a:extLst>
          </p:cNvPr>
          <p:cNvCxnSpPr>
            <a:cxnSpLocks/>
          </p:cNvCxnSpPr>
          <p:nvPr/>
        </p:nvCxnSpPr>
        <p:spPr>
          <a:xfrm>
            <a:off x="4342397" y="4636987"/>
            <a:ext cx="0" cy="144080"/>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sp>
        <p:nvSpPr>
          <p:cNvPr id="14" name="Rectangle 65">
            <a:extLst>
              <a:ext uri="{FF2B5EF4-FFF2-40B4-BE49-F238E27FC236}">
                <a16:creationId xmlns:a16="http://schemas.microsoft.com/office/drawing/2014/main" id="{18A12282-1EAD-C79F-E201-CD692202FF8F}"/>
              </a:ext>
            </a:extLst>
          </p:cNvPr>
          <p:cNvSpPr/>
          <p:nvPr/>
        </p:nvSpPr>
        <p:spPr>
          <a:xfrm>
            <a:off x="3786462" y="4045122"/>
            <a:ext cx="1080000" cy="576000"/>
          </a:xfrm>
          <a:prstGeom prst="rect">
            <a:avLst/>
          </a:prstGeom>
          <a:solidFill>
            <a:schemeClr val="bg1">
              <a:lumMod val="75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err="1">
                <a:solidFill>
                  <a:schemeClr val="tx1"/>
                </a:solidFill>
                <a:latin typeface="メイリオ" panose="020B0604030504040204" pitchFamily="50" charset="-128"/>
                <a:ea typeface="メイリオ" panose="020B0604030504040204" pitchFamily="50" charset="-128"/>
              </a:rPr>
              <a:t>eB</a:t>
            </a:r>
            <a:r>
              <a:rPr kumimoji="1" lang="en-US" altLang="ja-JP" sz="1200" b="1">
                <a:solidFill>
                  <a:schemeClr val="tx1"/>
                </a:solidFill>
                <a:latin typeface="メイリオ" panose="020B0604030504040204" pitchFamily="50" charset="-128"/>
                <a:ea typeface="メイリオ" panose="020B0604030504040204" pitchFamily="50" charset="-128"/>
              </a:rPr>
              <a:t>-MDM</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sp>
        <p:nvSpPr>
          <p:cNvPr id="27" name="Rectangle 5">
            <a:extLst>
              <a:ext uri="{FF2B5EF4-FFF2-40B4-BE49-F238E27FC236}">
                <a16:creationId xmlns:a16="http://schemas.microsoft.com/office/drawing/2014/main" id="{BC38DCD9-CAF0-A486-233C-ACCE95788FAF}"/>
              </a:ext>
            </a:extLst>
          </p:cNvPr>
          <p:cNvSpPr/>
          <p:nvPr/>
        </p:nvSpPr>
        <p:spPr>
          <a:xfrm>
            <a:off x="1543740" y="4043403"/>
            <a:ext cx="1152081" cy="843729"/>
          </a:xfrm>
          <a:prstGeom prst="rect">
            <a:avLst/>
          </a:prstGeom>
          <a:solidFill>
            <a:schemeClr val="bg1">
              <a:lumMod val="75000"/>
            </a:schemeClr>
          </a:solid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tx1"/>
                </a:solidFill>
                <a:latin typeface="メイリオ"/>
                <a:ea typeface="メイリオ"/>
              </a:rPr>
              <a:t>商談</a:t>
            </a:r>
            <a:endParaRPr kumimoji="1" lang="en-US" altLang="ja-JP" sz="1200" b="1">
              <a:solidFill>
                <a:schemeClr val="tx1"/>
              </a:solidFill>
              <a:latin typeface="メイリオ" panose="020B0604030504040204" pitchFamily="50" charset="-128"/>
              <a:ea typeface="メイリオ" panose="020B0604030504040204" pitchFamily="50" charset="-128"/>
            </a:endParaRPr>
          </a:p>
          <a:p>
            <a:pPr algn="ctr"/>
            <a:r>
              <a:rPr lang="ja-JP" altLang="en-US" sz="700" b="1">
                <a:solidFill>
                  <a:schemeClr val="tx1"/>
                </a:solidFill>
                <a:latin typeface="メイリオ"/>
                <a:ea typeface="メイリオ"/>
              </a:rPr>
              <a:t>・</a:t>
            </a:r>
          </a:p>
          <a:p>
            <a:pPr algn="ctr"/>
            <a:r>
              <a:rPr kumimoji="1" lang="ja-JP" altLang="en-US" sz="1200" b="1">
                <a:solidFill>
                  <a:schemeClr val="tx1"/>
                </a:solidFill>
                <a:latin typeface="メイリオ"/>
                <a:ea typeface="メイリオ"/>
              </a:rPr>
              <a:t>生鮮商談</a:t>
            </a:r>
            <a:endParaRPr lang="en-US" altLang="ja-JP" sz="1200" b="1">
              <a:solidFill>
                <a:schemeClr val="tx1"/>
              </a:solidFill>
              <a:latin typeface="メイリオ" panose="020B0604030504040204" pitchFamily="50" charset="-128"/>
              <a:ea typeface="メイリオ" panose="020B0604030504040204" pitchFamily="50" charset="-128"/>
            </a:endParaRPr>
          </a:p>
        </p:txBody>
      </p:sp>
      <p:sp>
        <p:nvSpPr>
          <p:cNvPr id="31" name="Rectangle 6">
            <a:extLst>
              <a:ext uri="{FF2B5EF4-FFF2-40B4-BE49-F238E27FC236}">
                <a16:creationId xmlns:a16="http://schemas.microsoft.com/office/drawing/2014/main" id="{86A76356-3C43-1731-0A18-597CE0F8A90C}"/>
              </a:ext>
            </a:extLst>
          </p:cNvPr>
          <p:cNvSpPr/>
          <p:nvPr/>
        </p:nvSpPr>
        <p:spPr>
          <a:xfrm>
            <a:off x="1543740" y="5051807"/>
            <a:ext cx="1152081" cy="297973"/>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トライアル</a:t>
            </a:r>
            <a:endParaRPr kumimoji="1" lang="en-US" altLang="ja-JP" sz="1200" b="1">
              <a:solidFill>
                <a:schemeClr val="tx1"/>
              </a:solidFill>
              <a:latin typeface="メイリオ" panose="020B0604030504040204" pitchFamily="50" charset="-128"/>
              <a:ea typeface="メイリオ" panose="020B0604030504040204" pitchFamily="50" charset="-128"/>
            </a:endParaRPr>
          </a:p>
          <a:p>
            <a:pPr algn="ctr"/>
            <a:r>
              <a:rPr kumimoji="1" lang="en-US" altLang="ja-JP" sz="1200" b="1">
                <a:solidFill>
                  <a:schemeClr val="tx1"/>
                </a:solidFill>
                <a:latin typeface="メイリオ" panose="020B0604030504040204" pitchFamily="50" charset="-128"/>
                <a:ea typeface="メイリオ" panose="020B0604030504040204" pitchFamily="50" charset="-128"/>
              </a:rPr>
              <a:t>MD</a:t>
            </a:r>
            <a:r>
              <a:rPr kumimoji="1" lang="ja-JP" altLang="en-US" sz="1200" b="1">
                <a:solidFill>
                  <a:schemeClr val="tx1"/>
                </a:solidFill>
                <a:latin typeface="メイリオ" panose="020B0604030504040204" pitchFamily="50" charset="-128"/>
                <a:ea typeface="メイリオ" panose="020B0604030504040204" pitchFamily="50" charset="-128"/>
              </a:rPr>
              <a:t>基幹</a:t>
            </a:r>
          </a:p>
        </p:txBody>
      </p:sp>
      <p:cxnSp>
        <p:nvCxnSpPr>
          <p:cNvPr id="38" name="Straight Arrow Connector 18">
            <a:extLst>
              <a:ext uri="{FF2B5EF4-FFF2-40B4-BE49-F238E27FC236}">
                <a16:creationId xmlns:a16="http://schemas.microsoft.com/office/drawing/2014/main" id="{4E670B67-A19C-5EB1-34C3-42F2C869C700}"/>
              </a:ext>
            </a:extLst>
          </p:cNvPr>
          <p:cNvCxnSpPr>
            <a:cxnSpLocks/>
          </p:cNvCxnSpPr>
          <p:nvPr/>
        </p:nvCxnSpPr>
        <p:spPr>
          <a:xfrm>
            <a:off x="2119781" y="4887132"/>
            <a:ext cx="0" cy="164675"/>
          </a:xfrm>
          <a:prstGeom prst="straightConnector1">
            <a:avLst/>
          </a:prstGeom>
          <a:ln w="19050">
            <a:solidFill>
              <a:schemeClr val="accent6"/>
            </a:solidFill>
            <a:tailEnd type="arrow" w="sm" len="sm"/>
          </a:ln>
        </p:spPr>
        <p:style>
          <a:lnRef idx="1">
            <a:schemeClr val="accent1"/>
          </a:lnRef>
          <a:fillRef idx="0">
            <a:schemeClr val="accent1"/>
          </a:fillRef>
          <a:effectRef idx="0">
            <a:schemeClr val="accent1"/>
          </a:effectRef>
          <a:fontRef idx="minor">
            <a:schemeClr val="tx1"/>
          </a:fontRef>
        </p:style>
      </p:cxnSp>
      <p:sp>
        <p:nvSpPr>
          <p:cNvPr id="45" name="Rectangle 47">
            <a:extLst>
              <a:ext uri="{FF2B5EF4-FFF2-40B4-BE49-F238E27FC236}">
                <a16:creationId xmlns:a16="http://schemas.microsoft.com/office/drawing/2014/main" id="{BE44BDDE-4608-CAAF-C313-D2739C4BEF2C}"/>
              </a:ext>
            </a:extLst>
          </p:cNvPr>
          <p:cNvSpPr/>
          <p:nvPr/>
        </p:nvSpPr>
        <p:spPr>
          <a:xfrm>
            <a:off x="679717" y="4053700"/>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マスタ</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管理</a:t>
            </a:r>
          </a:p>
        </p:txBody>
      </p:sp>
      <p:sp>
        <p:nvSpPr>
          <p:cNvPr id="47" name="Rectangle 48">
            <a:extLst>
              <a:ext uri="{FF2B5EF4-FFF2-40B4-BE49-F238E27FC236}">
                <a16:creationId xmlns:a16="http://schemas.microsoft.com/office/drawing/2014/main" id="{F1D4DA41-015A-16CC-0086-CB47E09F409C}"/>
              </a:ext>
            </a:extLst>
          </p:cNvPr>
          <p:cNvSpPr/>
          <p:nvPr/>
        </p:nvSpPr>
        <p:spPr>
          <a:xfrm>
            <a:off x="669420" y="4990023"/>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MD</a:t>
            </a: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基幹</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システム</a:t>
            </a:r>
          </a:p>
        </p:txBody>
      </p:sp>
      <p:sp>
        <p:nvSpPr>
          <p:cNvPr id="49" name="Rectangle 85">
            <a:extLst>
              <a:ext uri="{FF2B5EF4-FFF2-40B4-BE49-F238E27FC236}">
                <a16:creationId xmlns:a16="http://schemas.microsoft.com/office/drawing/2014/main" id="{D4848597-DD42-D8A8-18D1-602FFE2475AF}"/>
              </a:ext>
            </a:extLst>
          </p:cNvPr>
          <p:cNvSpPr/>
          <p:nvPr/>
        </p:nvSpPr>
        <p:spPr>
          <a:xfrm>
            <a:off x="1615821" y="5435228"/>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sp>
        <p:nvSpPr>
          <p:cNvPr id="51" name="Rectangle 65">
            <a:extLst>
              <a:ext uri="{FF2B5EF4-FFF2-40B4-BE49-F238E27FC236}">
                <a16:creationId xmlns:a16="http://schemas.microsoft.com/office/drawing/2014/main" id="{4CE5B4F3-B9D8-4CA9-7A39-DC11E1B91180}"/>
              </a:ext>
            </a:extLst>
          </p:cNvPr>
          <p:cNvSpPr/>
          <p:nvPr/>
        </p:nvSpPr>
        <p:spPr>
          <a:xfrm>
            <a:off x="5038317" y="4045121"/>
            <a:ext cx="853215"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eComm</a:t>
            </a:r>
            <a:endParaRPr lang="ja-JP" err="1"/>
          </a:p>
        </p:txBody>
      </p:sp>
      <p:cxnSp>
        <p:nvCxnSpPr>
          <p:cNvPr id="57" name="Straight Arrow Connector 21">
            <a:extLst>
              <a:ext uri="{FF2B5EF4-FFF2-40B4-BE49-F238E27FC236}">
                <a16:creationId xmlns:a16="http://schemas.microsoft.com/office/drawing/2014/main" id="{DA08A1BE-9A24-A8C7-9EF1-69BB6C15D688}"/>
              </a:ext>
            </a:extLst>
          </p:cNvPr>
          <p:cNvCxnSpPr>
            <a:cxnSpLocks/>
          </p:cNvCxnSpPr>
          <p:nvPr/>
        </p:nvCxnSpPr>
        <p:spPr>
          <a:xfrm flipV="1">
            <a:off x="4871565" y="4347422"/>
            <a:ext cx="172358" cy="10134"/>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cxnSp>
        <p:nvCxnSpPr>
          <p:cNvPr id="66" name="直線矢印コネクタ 65">
            <a:extLst>
              <a:ext uri="{FF2B5EF4-FFF2-40B4-BE49-F238E27FC236}">
                <a16:creationId xmlns:a16="http://schemas.microsoft.com/office/drawing/2014/main" id="{42BF00A2-0A45-8321-3274-99AE043E5318}"/>
              </a:ext>
            </a:extLst>
          </p:cNvPr>
          <p:cNvCxnSpPr/>
          <p:nvPr/>
        </p:nvCxnSpPr>
        <p:spPr>
          <a:xfrm flipH="1" flipV="1">
            <a:off x="5460511" y="4607716"/>
            <a:ext cx="164" cy="44396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線矢印コネクタ 68">
            <a:extLst>
              <a:ext uri="{FF2B5EF4-FFF2-40B4-BE49-F238E27FC236}">
                <a16:creationId xmlns:a16="http://schemas.microsoft.com/office/drawing/2014/main" id="{1AD8A9F0-8440-E525-11FE-2151913B1CC6}"/>
              </a:ext>
            </a:extLst>
          </p:cNvPr>
          <p:cNvCxnSpPr/>
          <p:nvPr/>
        </p:nvCxnSpPr>
        <p:spPr>
          <a:xfrm>
            <a:off x="4854657" y="5034072"/>
            <a:ext cx="605690" cy="8906"/>
          </a:xfrm>
          <a:prstGeom prst="straightConnector1">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pic>
        <p:nvPicPr>
          <p:cNvPr id="73" name="Graphic 75" descr="Group with solid fill">
            <a:extLst>
              <a:ext uri="{FF2B5EF4-FFF2-40B4-BE49-F238E27FC236}">
                <a16:creationId xmlns:a16="http://schemas.microsoft.com/office/drawing/2014/main" id="{71E5900F-ACAF-B16D-B54D-52F91182415F}"/>
              </a:ext>
            </a:extLst>
          </p:cNvPr>
          <p:cNvPicPr>
            <a:picLocks noChangeAspect="1"/>
          </p:cNvPicPr>
          <p:nvPr/>
        </p:nvPicPr>
        <p:blipFill>
          <a:blip>
            <a:extLst>
              <a:ext uri="{96DAC541-7B7A-43D3-8B79-37D633B846F1}">
                <asvg:svgBlip xmlns:asvg="http://schemas.microsoft.com/office/drawing/2016/SVG/main" r:embed="rId4"/>
              </a:ext>
            </a:extLst>
          </a:blip>
          <a:srcRect t="15965" b="16341"/>
          <a:stretch>
            <a:fillRect/>
          </a:stretch>
        </p:blipFill>
        <p:spPr>
          <a:xfrm>
            <a:off x="1855150" y="1806094"/>
            <a:ext cx="744607" cy="504056"/>
          </a:xfrm>
          <a:prstGeom prst="rect">
            <a:avLst/>
          </a:prstGeom>
        </p:spPr>
      </p:pic>
      <p:sp>
        <p:nvSpPr>
          <p:cNvPr id="75" name="Rectangle 74">
            <a:extLst>
              <a:ext uri="{FF2B5EF4-FFF2-40B4-BE49-F238E27FC236}">
                <a16:creationId xmlns:a16="http://schemas.microsoft.com/office/drawing/2014/main" id="{A42DD71F-D4FC-E940-AC77-0BE9CBF0B72D}"/>
              </a:ext>
            </a:extLst>
          </p:cNvPr>
          <p:cNvSpPr/>
          <p:nvPr/>
        </p:nvSpPr>
        <p:spPr>
          <a:xfrm>
            <a:off x="1628938" y="1634918"/>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pic>
        <p:nvPicPr>
          <p:cNvPr id="77" name="Graphic 75" descr="Group with solid fill">
            <a:extLst>
              <a:ext uri="{FF2B5EF4-FFF2-40B4-BE49-F238E27FC236}">
                <a16:creationId xmlns:a16="http://schemas.microsoft.com/office/drawing/2014/main" id="{D0C4AAD7-220A-3DC9-EDE5-6529A8BA8D37}"/>
              </a:ext>
            </a:extLst>
          </p:cNvPr>
          <p:cNvPicPr>
            <a:picLocks noChangeAspect="1"/>
          </p:cNvPicPr>
          <p:nvPr/>
        </p:nvPicPr>
        <p:blipFill>
          <a:blip>
            <a:extLst>
              <a:ext uri="{96DAC541-7B7A-43D3-8B79-37D633B846F1}">
                <asvg:svgBlip xmlns:asvg="http://schemas.microsoft.com/office/drawing/2016/SVG/main" r:embed="rId6"/>
              </a:ext>
            </a:extLst>
          </a:blip>
          <a:srcRect t="15965" b="16341"/>
          <a:stretch>
            <a:fillRect/>
          </a:stretch>
        </p:blipFill>
        <p:spPr>
          <a:xfrm>
            <a:off x="2974042" y="1793756"/>
            <a:ext cx="744607" cy="504056"/>
          </a:xfrm>
          <a:prstGeom prst="rect">
            <a:avLst/>
          </a:prstGeom>
        </p:spPr>
      </p:pic>
      <p:sp>
        <p:nvSpPr>
          <p:cNvPr id="79" name="Rectangle 74">
            <a:extLst>
              <a:ext uri="{FF2B5EF4-FFF2-40B4-BE49-F238E27FC236}">
                <a16:creationId xmlns:a16="http://schemas.microsoft.com/office/drawing/2014/main" id="{CCFE0024-50D6-D0F3-829E-97598F50014A}"/>
              </a:ext>
            </a:extLst>
          </p:cNvPr>
          <p:cNvSpPr/>
          <p:nvPr/>
        </p:nvSpPr>
        <p:spPr>
          <a:xfrm>
            <a:off x="2810416" y="1639054"/>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cxnSp>
        <p:nvCxnSpPr>
          <p:cNvPr id="83" name="直線コネクタ 82">
            <a:extLst>
              <a:ext uri="{FF2B5EF4-FFF2-40B4-BE49-F238E27FC236}">
                <a16:creationId xmlns:a16="http://schemas.microsoft.com/office/drawing/2014/main" id="{DC66BA65-E561-0B9E-7D66-6F11EAF0DD57}"/>
              </a:ext>
            </a:extLst>
          </p:cNvPr>
          <p:cNvCxnSpPr/>
          <p:nvPr/>
        </p:nvCxnSpPr>
        <p:spPr>
          <a:xfrm>
            <a:off x="2610476" y="2076599"/>
            <a:ext cx="372304" cy="0"/>
          </a:xfrm>
          <a:prstGeom prst="line">
            <a:avLst/>
          </a:prstGeom>
        </p:spPr>
        <p:style>
          <a:lnRef idx="1">
            <a:schemeClr val="dk1"/>
          </a:lnRef>
          <a:fillRef idx="0">
            <a:schemeClr val="dk1"/>
          </a:fillRef>
          <a:effectRef idx="0">
            <a:schemeClr val="dk1"/>
          </a:effectRef>
          <a:fontRef idx="minor">
            <a:schemeClr val="tx1"/>
          </a:fontRef>
        </p:style>
      </p:cxnSp>
      <p:sp>
        <p:nvSpPr>
          <p:cNvPr id="5" name="フローチャート: 書類 4">
            <a:extLst>
              <a:ext uri="{FF2B5EF4-FFF2-40B4-BE49-F238E27FC236}">
                <a16:creationId xmlns:a16="http://schemas.microsoft.com/office/drawing/2014/main" id="{00B55029-2646-8A04-B469-73975CBDA791}"/>
              </a:ext>
            </a:extLst>
          </p:cNvPr>
          <p:cNvSpPr/>
          <p:nvPr/>
        </p:nvSpPr>
        <p:spPr>
          <a:xfrm>
            <a:off x="4158251" y="3433602"/>
            <a:ext cx="559833" cy="401741"/>
          </a:xfrm>
          <a:prstGeom prst="flowChartDocumen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accent1"/>
                </a:solidFill>
                <a:ea typeface="ＭＳ Ｐゴシック"/>
              </a:rPr>
              <a:t>入力</a:t>
            </a:r>
            <a:endParaRPr kumimoji="1" lang="en-US" altLang="ja-JP" sz="1000">
              <a:solidFill>
                <a:schemeClr val="accent1"/>
              </a:solidFill>
              <a:ea typeface="ＭＳ Ｐゴシック"/>
            </a:endParaRPr>
          </a:p>
          <a:p>
            <a:pPr algn="ctr"/>
            <a:r>
              <a:rPr kumimoji="1" lang="ja-JP" altLang="en-US" sz="1000">
                <a:solidFill>
                  <a:schemeClr val="accent1"/>
                </a:solidFill>
                <a:ea typeface="ＭＳ Ｐゴシック"/>
              </a:rPr>
              <a:t>シート</a:t>
            </a:r>
          </a:p>
        </p:txBody>
      </p:sp>
      <p:sp>
        <p:nvSpPr>
          <p:cNvPr id="7" name="Rectangle 74">
            <a:extLst>
              <a:ext uri="{FF2B5EF4-FFF2-40B4-BE49-F238E27FC236}">
                <a16:creationId xmlns:a16="http://schemas.microsoft.com/office/drawing/2014/main" id="{0FFE7EF4-B696-CBF9-9D87-C554416AC7BC}"/>
              </a:ext>
            </a:extLst>
          </p:cNvPr>
          <p:cNvSpPr/>
          <p:nvPr/>
        </p:nvSpPr>
        <p:spPr>
          <a:xfrm>
            <a:off x="2789486" y="3459031"/>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パンチャー</a:t>
            </a:r>
          </a:p>
        </p:txBody>
      </p:sp>
      <p:pic>
        <p:nvPicPr>
          <p:cNvPr id="9" name="Graphic 75" descr="Group with solid fill">
            <a:extLst>
              <a:ext uri="{FF2B5EF4-FFF2-40B4-BE49-F238E27FC236}">
                <a16:creationId xmlns:a16="http://schemas.microsoft.com/office/drawing/2014/main" id="{51CEE440-B509-D9D9-CC52-F1879F38C791}"/>
              </a:ext>
            </a:extLst>
          </p:cNvPr>
          <p:cNvPicPr>
            <a:picLocks noChangeAspect="1"/>
          </p:cNvPicPr>
          <p:nvPr/>
        </p:nvPicPr>
        <p:blipFill>
          <a:blip>
            <a:extLst>
              <a:ext uri="{96DAC541-7B7A-43D3-8B79-37D633B846F1}">
                <asvg:svgBlip xmlns:asvg="http://schemas.microsoft.com/office/drawing/2016/SVG/main" r:embed="rId5"/>
              </a:ext>
            </a:extLst>
          </a:blip>
          <a:srcRect t="15965" b="16341"/>
          <a:stretch>
            <a:fillRect/>
          </a:stretch>
        </p:blipFill>
        <p:spPr>
          <a:xfrm>
            <a:off x="2651625" y="2923506"/>
            <a:ext cx="744607" cy="504056"/>
          </a:xfrm>
          <a:prstGeom prst="rect">
            <a:avLst/>
          </a:prstGeom>
        </p:spPr>
      </p:pic>
      <p:pic>
        <p:nvPicPr>
          <p:cNvPr id="13" name="Graphic 75" descr="Group with solid fill">
            <a:extLst>
              <a:ext uri="{FF2B5EF4-FFF2-40B4-BE49-F238E27FC236}">
                <a16:creationId xmlns:a16="http://schemas.microsoft.com/office/drawing/2014/main" id="{AF39E9E2-D480-DFA9-B5B1-32EA0D8CFC82}"/>
              </a:ext>
            </a:extLst>
          </p:cNvPr>
          <p:cNvPicPr>
            <a:picLocks noChangeAspect="1"/>
          </p:cNvPicPr>
          <p:nvPr/>
        </p:nvPicPr>
        <p:blipFill>
          <a:blip>
            <a:extLst>
              <a:ext uri="{96DAC541-7B7A-43D3-8B79-37D633B846F1}">
                <asvg:svgBlip xmlns:asvg="http://schemas.microsoft.com/office/drawing/2016/SVG/main" r:embed="rId5"/>
              </a:ext>
            </a:extLst>
          </a:blip>
          <a:srcRect t="15965" b="16341"/>
          <a:stretch>
            <a:fillRect/>
          </a:stretch>
        </p:blipFill>
        <p:spPr>
          <a:xfrm>
            <a:off x="3316938" y="2923506"/>
            <a:ext cx="744607" cy="504056"/>
          </a:xfrm>
          <a:prstGeom prst="rect">
            <a:avLst/>
          </a:prstGeom>
        </p:spPr>
      </p:pic>
      <p:sp>
        <p:nvSpPr>
          <p:cNvPr id="15" name="正方形/長方形 14">
            <a:extLst>
              <a:ext uri="{FF2B5EF4-FFF2-40B4-BE49-F238E27FC236}">
                <a16:creationId xmlns:a16="http://schemas.microsoft.com/office/drawing/2014/main" id="{D1B174D8-43A5-A3FB-DDEA-2D4445C38BA0}"/>
              </a:ext>
            </a:extLst>
          </p:cNvPr>
          <p:cNvSpPr/>
          <p:nvPr/>
        </p:nvSpPr>
        <p:spPr>
          <a:xfrm>
            <a:off x="2629585" y="2896118"/>
            <a:ext cx="1454036" cy="5019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矢印コネクタ 15">
            <a:extLst>
              <a:ext uri="{FF2B5EF4-FFF2-40B4-BE49-F238E27FC236}">
                <a16:creationId xmlns:a16="http://schemas.microsoft.com/office/drawing/2014/main" id="{93398494-9A0E-76D6-DC28-BAE95741E89F}"/>
              </a:ext>
            </a:extLst>
          </p:cNvPr>
          <p:cNvCxnSpPr>
            <a:cxnSpLocks/>
          </p:cNvCxnSpPr>
          <p:nvPr/>
        </p:nvCxnSpPr>
        <p:spPr>
          <a:xfrm>
            <a:off x="3723514" y="3462404"/>
            <a:ext cx="456271" cy="548661"/>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36E2F726-C347-379A-9D8C-900643CC3059}"/>
              </a:ext>
            </a:extLst>
          </p:cNvPr>
          <p:cNvCxnSpPr>
            <a:cxnSpLocks/>
          </p:cNvCxnSpPr>
          <p:nvPr/>
        </p:nvCxnSpPr>
        <p:spPr>
          <a:xfrm>
            <a:off x="3394319" y="2286046"/>
            <a:ext cx="0" cy="5792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19" name="フローチャート: 書類 18">
            <a:extLst>
              <a:ext uri="{FF2B5EF4-FFF2-40B4-BE49-F238E27FC236}">
                <a16:creationId xmlns:a16="http://schemas.microsoft.com/office/drawing/2014/main" id="{7BF591A0-4209-D0D9-A58F-041D5F6C6B78}"/>
              </a:ext>
            </a:extLst>
          </p:cNvPr>
          <p:cNvSpPr/>
          <p:nvPr/>
        </p:nvSpPr>
        <p:spPr>
          <a:xfrm>
            <a:off x="3584277" y="2319465"/>
            <a:ext cx="738786" cy="476787"/>
          </a:xfrm>
          <a:prstGeom prst="flowChartDocumen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accent1"/>
                </a:solidFill>
                <a:ea typeface="ＭＳ Ｐゴシック"/>
              </a:rPr>
              <a:t>共通入力</a:t>
            </a:r>
            <a:endParaRPr lang="en-US" altLang="ja-JP" sz="1000">
              <a:solidFill>
                <a:schemeClr val="accent1"/>
              </a:solidFill>
              <a:ea typeface="ＭＳ Ｐゴシック"/>
              <a:cs typeface="Arial"/>
            </a:endParaRPr>
          </a:p>
          <a:p>
            <a:pPr algn="ctr"/>
            <a:r>
              <a:rPr kumimoji="1" lang="ja-JP" altLang="en-US" sz="1000">
                <a:solidFill>
                  <a:schemeClr val="accent1"/>
                </a:solidFill>
                <a:ea typeface="ＭＳ Ｐゴシック"/>
              </a:rPr>
              <a:t>シート</a:t>
            </a:r>
            <a:endParaRPr lang="ja-JP" altLang="en-US" sz="1000">
              <a:solidFill>
                <a:schemeClr val="accent1"/>
              </a:solidFill>
              <a:ea typeface="ＭＳ Ｐゴシック"/>
              <a:cs typeface="Arial"/>
            </a:endParaRPr>
          </a:p>
        </p:txBody>
      </p:sp>
      <p:sp>
        <p:nvSpPr>
          <p:cNvPr id="26" name="フローチャート: 書類 25">
            <a:extLst>
              <a:ext uri="{FF2B5EF4-FFF2-40B4-BE49-F238E27FC236}">
                <a16:creationId xmlns:a16="http://schemas.microsoft.com/office/drawing/2014/main" id="{4AD4B3AF-EEB4-1AA4-3B1C-98223FD13F57}"/>
              </a:ext>
            </a:extLst>
          </p:cNvPr>
          <p:cNvSpPr/>
          <p:nvPr/>
        </p:nvSpPr>
        <p:spPr>
          <a:xfrm>
            <a:off x="1961315" y="3423705"/>
            <a:ext cx="530145" cy="391845"/>
          </a:xfrm>
          <a:prstGeom prst="flowChartDocumen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accent1"/>
                </a:solidFill>
                <a:ea typeface="ＭＳ Ｐゴシック"/>
              </a:rPr>
              <a:t>入力</a:t>
            </a:r>
            <a:endParaRPr kumimoji="1" lang="en-US" altLang="ja-JP" sz="1000">
              <a:solidFill>
                <a:schemeClr val="accent1"/>
              </a:solidFill>
              <a:ea typeface="ＭＳ Ｐゴシック"/>
            </a:endParaRPr>
          </a:p>
          <a:p>
            <a:pPr algn="ctr"/>
            <a:r>
              <a:rPr kumimoji="1" lang="ja-JP" altLang="en-US" sz="1000">
                <a:solidFill>
                  <a:schemeClr val="accent1"/>
                </a:solidFill>
                <a:ea typeface="ＭＳ Ｐゴシック"/>
              </a:rPr>
              <a:t>シート</a:t>
            </a:r>
          </a:p>
        </p:txBody>
      </p:sp>
      <p:cxnSp>
        <p:nvCxnSpPr>
          <p:cNvPr id="30" name="直線矢印コネクタ 29">
            <a:extLst>
              <a:ext uri="{FF2B5EF4-FFF2-40B4-BE49-F238E27FC236}">
                <a16:creationId xmlns:a16="http://schemas.microsoft.com/office/drawing/2014/main" id="{D691922E-3BE1-2175-86E3-10AC90DC0AD1}"/>
              </a:ext>
            </a:extLst>
          </p:cNvPr>
          <p:cNvCxnSpPr>
            <a:cxnSpLocks/>
          </p:cNvCxnSpPr>
          <p:nvPr/>
        </p:nvCxnSpPr>
        <p:spPr>
          <a:xfrm flipH="1">
            <a:off x="2397153" y="3543546"/>
            <a:ext cx="465099" cy="473053"/>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Rectangle 65">
            <a:extLst>
              <a:ext uri="{FF2B5EF4-FFF2-40B4-BE49-F238E27FC236}">
                <a16:creationId xmlns:a16="http://schemas.microsoft.com/office/drawing/2014/main" id="{798C2E22-7009-A2BC-A183-483DF5C17ED7}"/>
              </a:ext>
            </a:extLst>
          </p:cNvPr>
          <p:cNvSpPr/>
          <p:nvPr/>
        </p:nvSpPr>
        <p:spPr>
          <a:xfrm>
            <a:off x="10471279" y="4005537"/>
            <a:ext cx="853215"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eComm</a:t>
            </a:r>
            <a:endParaRPr lang="ja-JP" err="1"/>
          </a:p>
        </p:txBody>
      </p:sp>
      <p:cxnSp>
        <p:nvCxnSpPr>
          <p:cNvPr id="40" name="直線矢印コネクタ 39">
            <a:extLst>
              <a:ext uri="{FF2B5EF4-FFF2-40B4-BE49-F238E27FC236}">
                <a16:creationId xmlns:a16="http://schemas.microsoft.com/office/drawing/2014/main" id="{21C101B8-7B8F-4F75-FF49-1A061EAE3284}"/>
              </a:ext>
            </a:extLst>
          </p:cNvPr>
          <p:cNvCxnSpPr>
            <a:cxnSpLocks/>
          </p:cNvCxnSpPr>
          <p:nvPr/>
        </p:nvCxnSpPr>
        <p:spPr>
          <a:xfrm>
            <a:off x="10287618" y="5003558"/>
            <a:ext cx="605690" cy="8906"/>
          </a:xfrm>
          <a:prstGeom prst="straightConnector1">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直線矢印コネクタ 45">
            <a:extLst>
              <a:ext uri="{FF2B5EF4-FFF2-40B4-BE49-F238E27FC236}">
                <a16:creationId xmlns:a16="http://schemas.microsoft.com/office/drawing/2014/main" id="{1F33D70D-090B-2A4C-8829-94F39DA55F01}"/>
              </a:ext>
            </a:extLst>
          </p:cNvPr>
          <p:cNvCxnSpPr>
            <a:cxnSpLocks/>
          </p:cNvCxnSpPr>
          <p:nvPr/>
        </p:nvCxnSpPr>
        <p:spPr>
          <a:xfrm flipH="1" flipV="1">
            <a:off x="10893472" y="4587923"/>
            <a:ext cx="164" cy="443965"/>
          </a:xfrm>
          <a:prstGeom prst="straightConnector1">
            <a:avLst/>
          </a:prstGeom>
          <a:ln w="28575">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書類 47">
            <a:extLst>
              <a:ext uri="{FF2B5EF4-FFF2-40B4-BE49-F238E27FC236}">
                <a16:creationId xmlns:a16="http://schemas.microsoft.com/office/drawing/2014/main" id="{3686D7FF-7476-AE0B-1D49-C2063B9566BC}"/>
              </a:ext>
            </a:extLst>
          </p:cNvPr>
          <p:cNvSpPr/>
          <p:nvPr/>
        </p:nvSpPr>
        <p:spPr>
          <a:xfrm>
            <a:off x="8604902" y="2434095"/>
            <a:ext cx="729714" cy="431430"/>
          </a:xfrm>
          <a:prstGeom prst="flowChartDocumen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accent1"/>
                </a:solidFill>
                <a:ea typeface="ＭＳ Ｐゴシック"/>
              </a:rPr>
              <a:t>共通入力</a:t>
            </a:r>
            <a:endParaRPr lang="en-US" altLang="ja-JP" sz="1000">
              <a:solidFill>
                <a:schemeClr val="accent1"/>
              </a:solidFill>
              <a:ea typeface="ＭＳ Ｐゴシック"/>
              <a:cs typeface="Arial"/>
            </a:endParaRPr>
          </a:p>
          <a:p>
            <a:pPr algn="ctr"/>
            <a:r>
              <a:rPr kumimoji="1" lang="ja-JP" altLang="en-US" sz="1000">
                <a:solidFill>
                  <a:schemeClr val="accent1"/>
                </a:solidFill>
                <a:ea typeface="ＭＳ Ｐゴシック"/>
              </a:rPr>
              <a:t>シート</a:t>
            </a:r>
            <a:endParaRPr lang="ja-JP" altLang="en-US" sz="1000">
              <a:solidFill>
                <a:schemeClr val="accent1"/>
              </a:solidFill>
              <a:ea typeface="ＭＳ Ｐゴシック"/>
              <a:cs typeface="Arial"/>
            </a:endParaRPr>
          </a:p>
        </p:txBody>
      </p:sp>
      <p:sp>
        <p:nvSpPr>
          <p:cNvPr id="50" name="フローチャート: 書類 49">
            <a:extLst>
              <a:ext uri="{FF2B5EF4-FFF2-40B4-BE49-F238E27FC236}">
                <a16:creationId xmlns:a16="http://schemas.microsoft.com/office/drawing/2014/main" id="{63A8D447-3C36-5431-28B5-769B1ED0905D}"/>
              </a:ext>
            </a:extLst>
          </p:cNvPr>
          <p:cNvSpPr/>
          <p:nvPr/>
        </p:nvSpPr>
        <p:spPr>
          <a:xfrm>
            <a:off x="9333913" y="3492977"/>
            <a:ext cx="639001" cy="431430"/>
          </a:xfrm>
          <a:prstGeom prst="flowChartDocumen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accent1"/>
                </a:solidFill>
                <a:ea typeface="ＭＳ Ｐゴシック"/>
              </a:rPr>
              <a:t>入力</a:t>
            </a:r>
            <a:endParaRPr lang="en-US" altLang="ja-JP" sz="1000">
              <a:solidFill>
                <a:schemeClr val="accent1"/>
              </a:solidFill>
              <a:ea typeface="ＭＳ Ｐゴシック"/>
              <a:cs typeface="Arial"/>
            </a:endParaRPr>
          </a:p>
          <a:p>
            <a:pPr algn="ctr"/>
            <a:r>
              <a:rPr kumimoji="1" lang="ja-JP" altLang="en-US" sz="1000">
                <a:solidFill>
                  <a:schemeClr val="accent1"/>
                </a:solidFill>
                <a:ea typeface="ＭＳ Ｐゴシック"/>
              </a:rPr>
              <a:t>シート</a:t>
            </a:r>
            <a:endParaRPr lang="ja-JP" altLang="en-US" sz="1000">
              <a:solidFill>
                <a:schemeClr val="accent1"/>
              </a:solidFill>
              <a:ea typeface="ＭＳ Ｐゴシック"/>
              <a:cs typeface="Arial"/>
            </a:endParaRPr>
          </a:p>
        </p:txBody>
      </p:sp>
      <p:sp>
        <p:nvSpPr>
          <p:cNvPr id="52" name="フローチャート: 書類 51">
            <a:extLst>
              <a:ext uri="{FF2B5EF4-FFF2-40B4-BE49-F238E27FC236}">
                <a16:creationId xmlns:a16="http://schemas.microsoft.com/office/drawing/2014/main" id="{3DC0BC16-E635-5B3B-8F53-EFA3DE40DA51}"/>
              </a:ext>
            </a:extLst>
          </p:cNvPr>
          <p:cNvSpPr/>
          <p:nvPr/>
        </p:nvSpPr>
        <p:spPr>
          <a:xfrm>
            <a:off x="6859888" y="3403913"/>
            <a:ext cx="639001" cy="431430"/>
          </a:xfrm>
          <a:prstGeom prst="flowChartDocumen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000">
                <a:solidFill>
                  <a:schemeClr val="accent1"/>
                </a:solidFill>
                <a:ea typeface="ＭＳ Ｐゴシック"/>
              </a:rPr>
              <a:t>入力</a:t>
            </a:r>
            <a:endParaRPr lang="en-US" altLang="ja-JP" sz="1000">
              <a:solidFill>
                <a:schemeClr val="accent1"/>
              </a:solidFill>
              <a:ea typeface="ＭＳ Ｐゴシック"/>
              <a:cs typeface="Arial"/>
            </a:endParaRPr>
          </a:p>
          <a:p>
            <a:pPr algn="ctr"/>
            <a:r>
              <a:rPr kumimoji="1" lang="ja-JP" altLang="en-US" sz="1000">
                <a:solidFill>
                  <a:schemeClr val="accent1"/>
                </a:solidFill>
                <a:ea typeface="ＭＳ Ｐゴシック"/>
              </a:rPr>
              <a:t>シート</a:t>
            </a:r>
            <a:endParaRPr lang="ja-JP" altLang="en-US" sz="1000">
              <a:solidFill>
                <a:schemeClr val="accent1"/>
              </a:solidFill>
              <a:ea typeface="ＭＳ Ｐゴシック"/>
              <a:cs typeface="Arial"/>
            </a:endParaRPr>
          </a:p>
        </p:txBody>
      </p:sp>
      <p:sp>
        <p:nvSpPr>
          <p:cNvPr id="58" name="Rectangle 86">
            <a:extLst>
              <a:ext uri="{FF2B5EF4-FFF2-40B4-BE49-F238E27FC236}">
                <a16:creationId xmlns:a16="http://schemas.microsoft.com/office/drawing/2014/main" id="{D1773D26-5781-10A9-5BE4-8F1301CD468A}"/>
              </a:ext>
            </a:extLst>
          </p:cNvPr>
          <p:cNvSpPr/>
          <p:nvPr/>
        </p:nvSpPr>
        <p:spPr>
          <a:xfrm>
            <a:off x="3793329" y="5404990"/>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61" name="Rectangle 86">
            <a:extLst>
              <a:ext uri="{FF2B5EF4-FFF2-40B4-BE49-F238E27FC236}">
                <a16:creationId xmlns:a16="http://schemas.microsoft.com/office/drawing/2014/main" id="{F7AE1895-C1C7-6EF0-EA2C-A44DCDFC686D}"/>
              </a:ext>
            </a:extLst>
          </p:cNvPr>
          <p:cNvSpPr/>
          <p:nvPr/>
        </p:nvSpPr>
        <p:spPr>
          <a:xfrm>
            <a:off x="9176809" y="5404990"/>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65" name="Rectangle 85">
            <a:extLst>
              <a:ext uri="{FF2B5EF4-FFF2-40B4-BE49-F238E27FC236}">
                <a16:creationId xmlns:a16="http://schemas.microsoft.com/office/drawing/2014/main" id="{CB93F8BC-FA00-9BD2-953C-4CFA923381AA}"/>
              </a:ext>
            </a:extLst>
          </p:cNvPr>
          <p:cNvSpPr/>
          <p:nvPr/>
        </p:nvSpPr>
        <p:spPr>
          <a:xfrm>
            <a:off x="6643041" y="5435228"/>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sp>
        <p:nvSpPr>
          <p:cNvPr id="18" name="タイトル 1">
            <a:extLst>
              <a:ext uri="{FF2B5EF4-FFF2-40B4-BE49-F238E27FC236}">
                <a16:creationId xmlns:a16="http://schemas.microsoft.com/office/drawing/2014/main" id="{3F26A010-9E71-651A-2495-91DB4C4F17D1}"/>
              </a:ext>
            </a:extLst>
          </p:cNvPr>
          <p:cNvSpPr txBox="1">
            <a:spLocks/>
          </p:cNvSpPr>
          <p:nvPr/>
        </p:nvSpPr>
        <p:spPr>
          <a:xfrm>
            <a:off x="630000" y="622800"/>
            <a:ext cx="10933600" cy="332399"/>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2916"/>
              </a:buClr>
              <a:buSzPts val="1800"/>
              <a:buFont typeface="MS PGothic"/>
              <a:buNone/>
              <a:defRPr sz="2400" b="1" i="0" u="none" strike="noStrike" cap="none">
                <a:solidFill>
                  <a:srgbClr val="2B2B2B"/>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altLang="ja-JP" sz="1800">
                <a:solidFill>
                  <a:schemeClr val="bg1">
                    <a:lumMod val="65000"/>
                  </a:schemeClr>
                </a:solidFill>
              </a:rPr>
              <a:t>2. </a:t>
            </a:r>
            <a:r>
              <a:rPr lang="ja-JP" altLang="en-US" sz="1800">
                <a:solidFill>
                  <a:schemeClr val="bg1">
                    <a:lumMod val="65000"/>
                  </a:schemeClr>
                </a:solidFill>
              </a:rPr>
              <a:t>概要・アプローチ</a:t>
            </a:r>
            <a:br>
              <a:rPr lang="en-US" altLang="ja-JP" sz="1800"/>
            </a:br>
            <a:r>
              <a:rPr lang="ja-JP" altLang="en-US"/>
              <a:t>Phase1: 共通マスタシステム構成推移（</a:t>
            </a:r>
            <a:r>
              <a:rPr lang="en-US" altLang="ja-JP"/>
              <a:t>2/4</a:t>
            </a:r>
            <a:r>
              <a:rPr lang="ja-JP" altLang="en-US"/>
              <a:t>）：</a:t>
            </a:r>
            <a:r>
              <a:rPr lang="en-US" altLang="ja-JP"/>
              <a:t>2026</a:t>
            </a:r>
            <a:r>
              <a:rPr lang="ja-JP" altLang="en-US"/>
              <a:t>年</a:t>
            </a:r>
            <a:r>
              <a:rPr lang="en-US" altLang="ja-JP"/>
              <a:t>7</a:t>
            </a:r>
            <a:r>
              <a:rPr lang="ja-JP" altLang="en-US"/>
              <a:t>月～</a:t>
            </a:r>
            <a:r>
              <a:rPr lang="en-US" altLang="ja-JP"/>
              <a:t>2027</a:t>
            </a:r>
            <a:r>
              <a:rPr lang="ja-JP" altLang="en-US"/>
              <a:t>年</a:t>
            </a:r>
            <a:r>
              <a:rPr lang="en-US" altLang="ja-JP"/>
              <a:t>3</a:t>
            </a:r>
            <a:r>
              <a:rPr lang="ja-JP" altLang="en-US"/>
              <a:t>月</a:t>
            </a:r>
            <a:endParaRPr kumimoji="1" lang="ja-JP" altLang="en-US"/>
          </a:p>
        </p:txBody>
      </p:sp>
      <p:sp>
        <p:nvSpPr>
          <p:cNvPr id="24" name="Speech Bubble: Rectangle with Corners Rounded 12">
            <a:extLst>
              <a:ext uri="{FF2B5EF4-FFF2-40B4-BE49-F238E27FC236}">
                <a16:creationId xmlns:a16="http://schemas.microsoft.com/office/drawing/2014/main" id="{B13C87A3-F90B-9018-177D-BD0BEDFC4B75}"/>
              </a:ext>
            </a:extLst>
          </p:cNvPr>
          <p:cNvSpPr/>
          <p:nvPr/>
        </p:nvSpPr>
        <p:spPr>
          <a:xfrm>
            <a:off x="9427904" y="2704265"/>
            <a:ext cx="1903367" cy="796931"/>
          </a:xfrm>
          <a:prstGeom prst="wedgeRoundRectCallout">
            <a:avLst>
              <a:gd name="adj1" fmla="val 8253"/>
              <a:gd name="adj2" fmla="val 66822"/>
              <a:gd name="adj3" fmla="val 16667"/>
            </a:avLst>
          </a:prstGeom>
          <a:solidFill>
            <a:schemeClr val="accent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marR="0" lvl="0" algn="l" rtl="0">
              <a:lnSpc>
                <a:spcPct val="100000"/>
              </a:lnSpc>
              <a:spcBef>
                <a:spcPts val="0"/>
              </a:spcBef>
              <a:spcAft>
                <a:spcPts val="0"/>
              </a:spcAft>
              <a:defRPr lang="en-US"/>
            </a:defPPr>
            <a:lvl1pPr marL="0" marR="0" lvl="0"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r>
              <a:rPr kumimoji="1" lang="ja-JP" altLang="en-US" sz="800">
                <a:solidFill>
                  <a:schemeClr val="bg1"/>
                </a:solidFill>
                <a:latin typeface="メイリオ"/>
                <a:ea typeface="メイリオ"/>
              </a:rPr>
              <a:t>2027年4月以降、</a:t>
            </a:r>
          </a:p>
          <a:p>
            <a:pPr algn="ctr"/>
            <a:r>
              <a:rPr kumimoji="1" lang="ja-JP" altLang="en-US" sz="800">
                <a:solidFill>
                  <a:schemeClr val="bg1"/>
                </a:solidFill>
                <a:latin typeface="メイリオ"/>
                <a:ea typeface="メイリオ"/>
              </a:rPr>
              <a:t>商談システムに項目がなく、西友独自の項目がある場合は、</a:t>
            </a:r>
          </a:p>
          <a:p>
            <a:pPr algn="ctr"/>
            <a:r>
              <a:rPr kumimoji="1" lang="ja-JP" altLang="en-US" sz="800">
                <a:solidFill>
                  <a:schemeClr val="bg1"/>
                </a:solidFill>
                <a:latin typeface="メイリオ"/>
                <a:ea typeface="メイリオ"/>
              </a:rPr>
              <a:t>TCへのメンテナンスは継続の可能性あり</a:t>
            </a:r>
            <a:endParaRPr lang="ja-JP" altLang="en-US" sz="800">
              <a:solidFill>
                <a:schemeClr val="bg1"/>
              </a:solidFill>
              <a:latin typeface="メイリオ"/>
              <a:ea typeface="メイリオ"/>
            </a:endParaRPr>
          </a:p>
        </p:txBody>
      </p:sp>
    </p:spTree>
    <p:extLst>
      <p:ext uri="{BB962C8B-B14F-4D97-AF65-F5344CB8AC3E}">
        <p14:creationId xmlns:p14="http://schemas.microsoft.com/office/powerpoint/2010/main" val="2549061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916119-5E2A-D219-C3AA-0BB086FB7089}"/>
            </a:ext>
          </a:extLst>
        </p:cNvPr>
        <p:cNvGrpSpPr/>
        <p:nvPr/>
      </p:nvGrpSpPr>
      <p:grpSpPr>
        <a:xfrm>
          <a:off x="0" y="0"/>
          <a:ext cx="0" cy="0"/>
          <a:chOff x="0" y="0"/>
          <a:chExt cx="0" cy="0"/>
        </a:xfrm>
      </p:grpSpPr>
      <p:sp>
        <p:nvSpPr>
          <p:cNvPr id="21" name="Rectangle 61">
            <a:extLst>
              <a:ext uri="{FF2B5EF4-FFF2-40B4-BE49-F238E27FC236}">
                <a16:creationId xmlns:a16="http://schemas.microsoft.com/office/drawing/2014/main" id="{BC5C6CC5-5E51-9474-6E71-F5405E9E2687}"/>
              </a:ext>
            </a:extLst>
          </p:cNvPr>
          <p:cNvSpPr/>
          <p:nvPr/>
        </p:nvSpPr>
        <p:spPr>
          <a:xfrm>
            <a:off x="626490" y="5685720"/>
            <a:ext cx="10787040" cy="991660"/>
          </a:xfrm>
          <a:prstGeom prst="rect">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西友商品階層（５階層）からトライアル商品階層（9階層）への対比が明確になった商品より、先行して順次データ移行をすることは可能（ただし、移行後にTC上でメンテナンスをかけた場合は、再度データ移行は必要となる）</a:t>
            </a: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パンチャーにて登録することも可能だが、大量な場合は、トライアル所定フォーマットに転記の上、トライアル商品マスタDBへ直接取り込むことを推奨</a:t>
            </a: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先行データ移行する対象・プロセスを明確化した上で実装する。</a:t>
            </a:r>
          </a:p>
          <a:p>
            <a:pPr marL="182245" indent="-182245">
              <a:buClr>
                <a:srgbClr val="BFBFBF"/>
              </a:buClr>
              <a:buFont typeface="Wingdings" panose="05000000000000000000" pitchFamily="2" charset="2"/>
              <a:buChar char="n"/>
            </a:pPr>
            <a:endParaRPr lang="ja-JP" altLang="en-US" sz="1100">
              <a:solidFill>
                <a:schemeClr val="tx1"/>
              </a:solidFill>
              <a:latin typeface="メイリオ"/>
              <a:ea typeface="メイリオ"/>
            </a:endParaRPr>
          </a:p>
          <a:p>
            <a:pPr marL="182245" indent="-182245">
              <a:buClr>
                <a:srgbClr val="BFBFBF"/>
              </a:buClr>
              <a:buFont typeface="Wingdings" panose="05000000000000000000" pitchFamily="2" charset="2"/>
              <a:buChar char="n"/>
            </a:pPr>
            <a:endParaRPr lang="ja-JP" altLang="en-US" sz="1100">
              <a:solidFill>
                <a:schemeClr val="tx1"/>
              </a:solidFill>
              <a:latin typeface="メイリオ"/>
              <a:ea typeface="メイリオ"/>
            </a:endParaRPr>
          </a:p>
        </p:txBody>
      </p:sp>
      <p:sp>
        <p:nvSpPr>
          <p:cNvPr id="18" name="タイトル 1">
            <a:extLst>
              <a:ext uri="{FF2B5EF4-FFF2-40B4-BE49-F238E27FC236}">
                <a16:creationId xmlns:a16="http://schemas.microsoft.com/office/drawing/2014/main" id="{2C7A8182-148E-2E8F-B251-CD07105ED84E}"/>
              </a:ext>
            </a:extLst>
          </p:cNvPr>
          <p:cNvSpPr txBox="1">
            <a:spLocks/>
          </p:cNvSpPr>
          <p:nvPr/>
        </p:nvSpPr>
        <p:spPr>
          <a:xfrm>
            <a:off x="630000" y="622800"/>
            <a:ext cx="10933600" cy="332399"/>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2916"/>
              </a:buClr>
              <a:buSzPts val="1800"/>
              <a:buFont typeface="MS PGothic"/>
              <a:buNone/>
              <a:defRPr sz="2400" b="1" i="0" u="none" strike="noStrike" cap="none">
                <a:solidFill>
                  <a:srgbClr val="2B2B2B"/>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altLang="ja-JP" sz="1800">
                <a:solidFill>
                  <a:schemeClr val="bg1">
                    <a:lumMod val="65000"/>
                  </a:schemeClr>
                </a:solidFill>
              </a:rPr>
              <a:t>2. </a:t>
            </a:r>
            <a:r>
              <a:rPr lang="ja-JP" altLang="en-US" sz="1800">
                <a:solidFill>
                  <a:schemeClr val="bg1">
                    <a:lumMod val="65000"/>
                  </a:schemeClr>
                </a:solidFill>
              </a:rPr>
              <a:t>概要・アプローチ</a:t>
            </a:r>
            <a:br>
              <a:rPr lang="en-US" altLang="ja-JP" sz="1800"/>
            </a:br>
            <a:r>
              <a:rPr lang="ja-JP" altLang="en-US"/>
              <a:t>Phase1: 先行データ移行（イメージ）：</a:t>
            </a:r>
            <a:r>
              <a:rPr lang="en-US" altLang="ja-JP"/>
              <a:t>2026</a:t>
            </a:r>
            <a:r>
              <a:rPr lang="ja-JP" altLang="en-US"/>
              <a:t>年</a:t>
            </a:r>
            <a:r>
              <a:rPr lang="en-US" altLang="ja-JP"/>
              <a:t>7</a:t>
            </a:r>
            <a:r>
              <a:rPr lang="ja-JP" altLang="en-US"/>
              <a:t>月～</a:t>
            </a:r>
            <a:r>
              <a:rPr lang="en-US" altLang="ja-JP"/>
              <a:t>2027</a:t>
            </a:r>
            <a:r>
              <a:rPr lang="ja-JP" altLang="en-US"/>
              <a:t>年</a:t>
            </a:r>
            <a:r>
              <a:rPr lang="en-US" altLang="ja-JP"/>
              <a:t>3</a:t>
            </a:r>
            <a:r>
              <a:rPr lang="ja-JP" altLang="en-US"/>
              <a:t>月</a:t>
            </a:r>
            <a:endParaRPr kumimoji="1" lang="ja-JP" altLang="en-US"/>
          </a:p>
        </p:txBody>
      </p:sp>
      <p:sp>
        <p:nvSpPr>
          <p:cNvPr id="23" name="正方形/長方形 22">
            <a:extLst>
              <a:ext uri="{FF2B5EF4-FFF2-40B4-BE49-F238E27FC236}">
                <a16:creationId xmlns:a16="http://schemas.microsoft.com/office/drawing/2014/main" id="{E81D8CD5-8BC6-90E4-3014-38E2D44D85BE}"/>
              </a:ext>
            </a:extLst>
          </p:cNvPr>
          <p:cNvSpPr/>
          <p:nvPr/>
        </p:nvSpPr>
        <p:spPr>
          <a:xfrm>
            <a:off x="1372063" y="1371129"/>
            <a:ext cx="1480750" cy="248988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西友</a:t>
            </a:r>
          </a:p>
          <a:p>
            <a:pPr algn="ctr"/>
            <a:r>
              <a:rPr lang="ja-JP" altLang="en-US">
                <a:ea typeface="ＭＳ Ｐゴシック"/>
                <a:cs typeface="Arial"/>
              </a:rPr>
              <a:t>商品階層に紐づく商品マスタ</a:t>
            </a:r>
          </a:p>
          <a:p>
            <a:pPr algn="ctr"/>
            <a:endParaRPr lang="ja-JP" altLang="en-US">
              <a:ea typeface="ＭＳ Ｐゴシック"/>
              <a:cs typeface="Arial"/>
            </a:endParaRPr>
          </a:p>
          <a:p>
            <a:pPr algn="ctr"/>
            <a:r>
              <a:rPr lang="ja-JP" altLang="en-US">
                <a:ea typeface="ＭＳ Ｐゴシック"/>
                <a:cs typeface="Arial"/>
              </a:rPr>
              <a:t>５階層</a:t>
            </a:r>
          </a:p>
        </p:txBody>
      </p:sp>
      <p:sp>
        <p:nvSpPr>
          <p:cNvPr id="24" name="正方形/長方形 23">
            <a:extLst>
              <a:ext uri="{FF2B5EF4-FFF2-40B4-BE49-F238E27FC236}">
                <a16:creationId xmlns:a16="http://schemas.microsoft.com/office/drawing/2014/main" id="{FAA5C0B8-ACE6-EE50-1359-E12F0A4E6AC0}"/>
              </a:ext>
            </a:extLst>
          </p:cNvPr>
          <p:cNvSpPr/>
          <p:nvPr/>
        </p:nvSpPr>
        <p:spPr>
          <a:xfrm>
            <a:off x="4162631" y="1371129"/>
            <a:ext cx="1480750" cy="248988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ea typeface="ＭＳ Ｐゴシック"/>
                <a:cs typeface="Arial"/>
              </a:rPr>
              <a:t>トライアル</a:t>
            </a:r>
          </a:p>
          <a:p>
            <a:pPr algn="ctr"/>
            <a:r>
              <a:rPr lang="ja-JP" altLang="en-US">
                <a:ea typeface="ＭＳ Ｐゴシック"/>
                <a:cs typeface="Arial"/>
              </a:rPr>
              <a:t>商品階層マスタに合わせた</a:t>
            </a:r>
          </a:p>
          <a:p>
            <a:pPr algn="ctr"/>
            <a:r>
              <a:rPr lang="ja-JP" altLang="en-US">
                <a:ea typeface="ＭＳ Ｐゴシック"/>
                <a:cs typeface="Arial"/>
              </a:rPr>
              <a:t>商品構成へ</a:t>
            </a:r>
          </a:p>
          <a:p>
            <a:pPr algn="ctr"/>
            <a:r>
              <a:rPr lang="ja-JP" altLang="en-US">
                <a:ea typeface="ＭＳ Ｐゴシック"/>
                <a:cs typeface="Arial"/>
              </a:rPr>
              <a:t>データ変換</a:t>
            </a:r>
          </a:p>
          <a:p>
            <a:pPr algn="ctr"/>
            <a:r>
              <a:rPr lang="ja-JP" altLang="en-US">
                <a:ea typeface="ＭＳ Ｐゴシック"/>
                <a:cs typeface="Arial"/>
              </a:rPr>
              <a:t>９階層</a:t>
            </a:r>
          </a:p>
        </p:txBody>
      </p:sp>
      <p:sp>
        <p:nvSpPr>
          <p:cNvPr id="25" name="二等辺三角形 24">
            <a:extLst>
              <a:ext uri="{FF2B5EF4-FFF2-40B4-BE49-F238E27FC236}">
                <a16:creationId xmlns:a16="http://schemas.microsoft.com/office/drawing/2014/main" id="{BA68614E-5978-D4F2-38FD-6037B7AC7CC1}"/>
              </a:ext>
            </a:extLst>
          </p:cNvPr>
          <p:cNvSpPr/>
          <p:nvPr/>
        </p:nvSpPr>
        <p:spPr>
          <a:xfrm rot="5400000">
            <a:off x="2658856" y="2258875"/>
            <a:ext cx="1843297" cy="523102"/>
          </a:xfrm>
          <a:prstGeom prst="triangl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8" name="テキスト ボックス 27">
            <a:extLst>
              <a:ext uri="{FF2B5EF4-FFF2-40B4-BE49-F238E27FC236}">
                <a16:creationId xmlns:a16="http://schemas.microsoft.com/office/drawing/2014/main" id="{864E75C0-4778-5F96-84F0-B4F2B3ACA1FF}"/>
              </a:ext>
            </a:extLst>
          </p:cNvPr>
          <p:cNvSpPr txBox="1"/>
          <p:nvPr/>
        </p:nvSpPr>
        <p:spPr>
          <a:xfrm>
            <a:off x="3128393" y="3551922"/>
            <a:ext cx="71463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t>変換</a:t>
            </a:r>
          </a:p>
        </p:txBody>
      </p:sp>
      <p:sp>
        <p:nvSpPr>
          <p:cNvPr id="32" name="テキスト ボックス 31">
            <a:extLst>
              <a:ext uri="{FF2B5EF4-FFF2-40B4-BE49-F238E27FC236}">
                <a16:creationId xmlns:a16="http://schemas.microsoft.com/office/drawing/2014/main" id="{41B92C29-7973-6728-987C-78201D689092}"/>
              </a:ext>
            </a:extLst>
          </p:cNvPr>
          <p:cNvSpPr txBox="1"/>
          <p:nvPr/>
        </p:nvSpPr>
        <p:spPr>
          <a:xfrm>
            <a:off x="973456" y="4031853"/>
            <a:ext cx="3000632" cy="1092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050"/>
              <a:t>１．事業部（1)食品部</a:t>
            </a:r>
            <a:endParaRPr lang="ja-JP"/>
          </a:p>
          <a:p>
            <a:r>
              <a:rPr lang="ja-JP" altLang="en-US" sz="1050"/>
              <a:t>２．部門　(28)　加工食品</a:t>
            </a:r>
          </a:p>
          <a:p>
            <a:r>
              <a:rPr lang="ja-JP" altLang="en-US" sz="1050"/>
              <a:t>３．デパ　　(01)　菓子・飲料</a:t>
            </a:r>
            <a:endParaRPr lang="ja-JP"/>
          </a:p>
          <a:p>
            <a:r>
              <a:rPr lang="ja-JP" altLang="en-US" sz="1050"/>
              <a:t>３．西友ライン(02)　お茶</a:t>
            </a:r>
          </a:p>
          <a:p>
            <a:r>
              <a:rPr lang="ja-JP" altLang="en-US" sz="1050"/>
              <a:t>４．ファインライン(3012)　ティーバッグ</a:t>
            </a:r>
          </a:p>
          <a:p>
            <a:r>
              <a:rPr lang="ja-JP" altLang="en-US" sz="1050"/>
              <a:t> 5．商品(JANコード）おーいお茶ティーバッグ</a:t>
            </a:r>
          </a:p>
        </p:txBody>
      </p:sp>
      <p:sp>
        <p:nvSpPr>
          <p:cNvPr id="34" name="テキスト ボックス 33">
            <a:extLst>
              <a:ext uri="{FF2B5EF4-FFF2-40B4-BE49-F238E27FC236}">
                <a16:creationId xmlns:a16="http://schemas.microsoft.com/office/drawing/2014/main" id="{1CECA1C1-AF4B-B5BD-3D4B-90BBFC694200}"/>
              </a:ext>
            </a:extLst>
          </p:cNvPr>
          <p:cNvSpPr txBox="1"/>
          <p:nvPr/>
        </p:nvSpPr>
        <p:spPr>
          <a:xfrm>
            <a:off x="4278888" y="4031853"/>
            <a:ext cx="1631091" cy="15465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1050"/>
              <a:t>１．事業部　　　　　　　</a:t>
            </a:r>
            <a:endParaRPr lang="ja-JP"/>
          </a:p>
          <a:p>
            <a:r>
              <a:rPr lang="ja-JP" altLang="en-US" sz="1050"/>
              <a:t>２．ディビジョン　　　　　　　　</a:t>
            </a:r>
            <a:endParaRPr lang="ja-JP"/>
          </a:p>
          <a:p>
            <a:r>
              <a:rPr lang="ja-JP" altLang="en-US" sz="1050"/>
              <a:t>３．ライン　　　　　</a:t>
            </a:r>
            <a:endParaRPr lang="ja-JP"/>
          </a:p>
          <a:p>
            <a:r>
              <a:rPr lang="ja-JP" altLang="en-US" sz="1050"/>
              <a:t>４．部門</a:t>
            </a:r>
          </a:p>
          <a:p>
            <a:r>
              <a:rPr lang="ja-JP" altLang="en-US" sz="1050"/>
              <a:t>５．カテゴリ</a:t>
            </a:r>
          </a:p>
          <a:p>
            <a:r>
              <a:rPr lang="ja-JP" altLang="en-US" sz="1050"/>
              <a:t>６．サブカテゴリ</a:t>
            </a:r>
          </a:p>
          <a:p>
            <a:r>
              <a:rPr lang="ja-JP" altLang="en-US" sz="1050"/>
              <a:t>７．セグメント</a:t>
            </a:r>
          </a:p>
          <a:p>
            <a:r>
              <a:rPr lang="ja-JP" altLang="en-US" sz="1050"/>
              <a:t>８．サブセグメント</a:t>
            </a:r>
          </a:p>
          <a:p>
            <a:r>
              <a:rPr lang="ja-JP" altLang="en-US" sz="1050"/>
              <a:t>９．商品</a:t>
            </a:r>
          </a:p>
        </p:txBody>
      </p:sp>
      <p:sp>
        <p:nvSpPr>
          <p:cNvPr id="42" name="円柱 41">
            <a:extLst>
              <a:ext uri="{FF2B5EF4-FFF2-40B4-BE49-F238E27FC236}">
                <a16:creationId xmlns:a16="http://schemas.microsoft.com/office/drawing/2014/main" id="{D3213819-16B9-A4E0-1F52-531ACC7279B3}"/>
              </a:ext>
            </a:extLst>
          </p:cNvPr>
          <p:cNvSpPr/>
          <p:nvPr/>
        </p:nvSpPr>
        <p:spPr>
          <a:xfrm>
            <a:off x="6647090" y="1417515"/>
            <a:ext cx="1707290" cy="1216151"/>
          </a:xfrm>
          <a:prstGeom prst="can">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西友</a:t>
            </a:r>
          </a:p>
          <a:p>
            <a:pPr algn="ctr"/>
            <a:r>
              <a:rPr lang="ja-JP" altLang="en-US">
                <a:ea typeface="ＭＳ Ｐゴシック"/>
                <a:cs typeface="Arial"/>
              </a:rPr>
              <a:t>MD基幹（TC）</a:t>
            </a:r>
          </a:p>
        </p:txBody>
      </p:sp>
      <p:sp>
        <p:nvSpPr>
          <p:cNvPr id="43" name="矢印: 下 42">
            <a:extLst>
              <a:ext uri="{FF2B5EF4-FFF2-40B4-BE49-F238E27FC236}">
                <a16:creationId xmlns:a16="http://schemas.microsoft.com/office/drawing/2014/main" id="{9A9A6031-0576-1FC5-401E-5E7E1465BD50}"/>
              </a:ext>
            </a:extLst>
          </p:cNvPr>
          <p:cNvSpPr/>
          <p:nvPr/>
        </p:nvSpPr>
        <p:spPr>
          <a:xfrm>
            <a:off x="6970600" y="2713265"/>
            <a:ext cx="1050982" cy="3914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44" name="円柱 43">
            <a:extLst>
              <a:ext uri="{FF2B5EF4-FFF2-40B4-BE49-F238E27FC236}">
                <a16:creationId xmlns:a16="http://schemas.microsoft.com/office/drawing/2014/main" id="{F1E13A70-7DAD-B43C-264B-4AE7D932686F}"/>
              </a:ext>
            </a:extLst>
          </p:cNvPr>
          <p:cNvSpPr/>
          <p:nvPr/>
        </p:nvSpPr>
        <p:spPr>
          <a:xfrm>
            <a:off x="6727415" y="3247855"/>
            <a:ext cx="1696992" cy="1216151"/>
          </a:xfrm>
          <a:prstGeom prst="ca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DWH</a:t>
            </a:r>
            <a:br>
              <a:rPr lang="ja-JP" altLang="en-US">
                <a:ea typeface="ＭＳ Ｐゴシック"/>
                <a:cs typeface="Arial"/>
              </a:rPr>
            </a:br>
            <a:r>
              <a:rPr lang="ja-JP" altLang="en-US">
                <a:ea typeface="ＭＳ Ｐゴシック"/>
                <a:cs typeface="Arial"/>
              </a:rPr>
              <a:t>Data Bricks</a:t>
            </a:r>
          </a:p>
        </p:txBody>
      </p:sp>
      <p:sp>
        <p:nvSpPr>
          <p:cNvPr id="55" name="フローチャート: 複数書類 54">
            <a:extLst>
              <a:ext uri="{FF2B5EF4-FFF2-40B4-BE49-F238E27FC236}">
                <a16:creationId xmlns:a16="http://schemas.microsoft.com/office/drawing/2014/main" id="{84BECC82-4A76-3D7C-C008-8EA103A97EF5}"/>
              </a:ext>
            </a:extLst>
          </p:cNvPr>
          <p:cNvSpPr/>
          <p:nvPr/>
        </p:nvSpPr>
        <p:spPr>
          <a:xfrm>
            <a:off x="7896831" y="4535486"/>
            <a:ext cx="1060703" cy="758952"/>
          </a:xfrm>
          <a:prstGeom prst="flowChartMultidocumen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TR所定フォーマット</a:t>
            </a:r>
          </a:p>
        </p:txBody>
      </p:sp>
      <p:sp>
        <p:nvSpPr>
          <p:cNvPr id="59" name="円柱 58">
            <a:extLst>
              <a:ext uri="{FF2B5EF4-FFF2-40B4-BE49-F238E27FC236}">
                <a16:creationId xmlns:a16="http://schemas.microsoft.com/office/drawing/2014/main" id="{070889E1-89F6-A87D-C817-D2736BCF4759}"/>
              </a:ext>
            </a:extLst>
          </p:cNvPr>
          <p:cNvSpPr/>
          <p:nvPr/>
        </p:nvSpPr>
        <p:spPr>
          <a:xfrm>
            <a:off x="10218199" y="3422909"/>
            <a:ext cx="1696992" cy="1216151"/>
          </a:xfrm>
          <a:prstGeom prst="can">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ea typeface="ＭＳ Ｐゴシック"/>
                <a:cs typeface="Arial"/>
              </a:rPr>
              <a:t>トライアル</a:t>
            </a:r>
            <a:br>
              <a:rPr lang="ja-JP" altLang="en-US">
                <a:ea typeface="ＭＳ Ｐゴシック"/>
                <a:cs typeface="Arial"/>
              </a:rPr>
            </a:br>
            <a:r>
              <a:rPr lang="ja-JP" altLang="en-US">
                <a:ea typeface="ＭＳ Ｐゴシック"/>
                <a:cs typeface="Arial"/>
              </a:rPr>
              <a:t>商品マスタDB</a:t>
            </a:r>
          </a:p>
        </p:txBody>
      </p:sp>
      <p:sp>
        <p:nvSpPr>
          <p:cNvPr id="63" name="フローチャート: 複数書類 62">
            <a:extLst>
              <a:ext uri="{FF2B5EF4-FFF2-40B4-BE49-F238E27FC236}">
                <a16:creationId xmlns:a16="http://schemas.microsoft.com/office/drawing/2014/main" id="{273D7E29-06A7-5BAD-43D2-56B5F3B10DB6}"/>
              </a:ext>
            </a:extLst>
          </p:cNvPr>
          <p:cNvSpPr/>
          <p:nvPr/>
        </p:nvSpPr>
        <p:spPr>
          <a:xfrm>
            <a:off x="9688560" y="4494297"/>
            <a:ext cx="1060703" cy="758952"/>
          </a:xfrm>
          <a:prstGeom prst="flowChartMultidocumen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TR所定フォーマット</a:t>
            </a:r>
          </a:p>
        </p:txBody>
      </p:sp>
      <p:sp>
        <p:nvSpPr>
          <p:cNvPr id="68" name="矢印: 右 67">
            <a:extLst>
              <a:ext uri="{FF2B5EF4-FFF2-40B4-BE49-F238E27FC236}">
                <a16:creationId xmlns:a16="http://schemas.microsoft.com/office/drawing/2014/main" id="{149231FA-7C09-B55D-4FFD-274D75D7A643}"/>
              </a:ext>
            </a:extLst>
          </p:cNvPr>
          <p:cNvSpPr/>
          <p:nvPr/>
        </p:nvSpPr>
        <p:spPr>
          <a:xfrm>
            <a:off x="9168719" y="4208896"/>
            <a:ext cx="453245" cy="12260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0" name="矢印: 上向き折線 69">
            <a:extLst>
              <a:ext uri="{FF2B5EF4-FFF2-40B4-BE49-F238E27FC236}">
                <a16:creationId xmlns:a16="http://schemas.microsoft.com/office/drawing/2014/main" id="{55EE1FDE-AFF3-61EE-72FA-46824D6745CB}"/>
              </a:ext>
            </a:extLst>
          </p:cNvPr>
          <p:cNvSpPr/>
          <p:nvPr/>
        </p:nvSpPr>
        <p:spPr>
          <a:xfrm rot="5400000">
            <a:off x="7232680" y="4468367"/>
            <a:ext cx="551771" cy="79330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7" name="四角形: 角を丸くする 66">
            <a:extLst>
              <a:ext uri="{FF2B5EF4-FFF2-40B4-BE49-F238E27FC236}">
                <a16:creationId xmlns:a16="http://schemas.microsoft.com/office/drawing/2014/main" id="{FA926FAF-9E6C-B654-9253-46D92AF9BE39}"/>
              </a:ext>
            </a:extLst>
          </p:cNvPr>
          <p:cNvSpPr/>
          <p:nvPr/>
        </p:nvSpPr>
        <p:spPr>
          <a:xfrm>
            <a:off x="6727508" y="4703385"/>
            <a:ext cx="924697" cy="420130"/>
          </a:xfrm>
          <a:prstGeom prst="roundRect">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変換</a:t>
            </a:r>
          </a:p>
        </p:txBody>
      </p:sp>
      <p:sp>
        <p:nvSpPr>
          <p:cNvPr id="74" name="吹き出し: 線 73">
            <a:extLst>
              <a:ext uri="{FF2B5EF4-FFF2-40B4-BE49-F238E27FC236}">
                <a16:creationId xmlns:a16="http://schemas.microsoft.com/office/drawing/2014/main" id="{CB261077-8053-6F34-4C59-B0524D183B5B}"/>
              </a:ext>
            </a:extLst>
          </p:cNvPr>
          <p:cNvSpPr/>
          <p:nvPr/>
        </p:nvSpPr>
        <p:spPr>
          <a:xfrm>
            <a:off x="9021508" y="2913983"/>
            <a:ext cx="1048263" cy="1302567"/>
          </a:xfrm>
          <a:prstGeom prst="borderCallout1">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ea typeface="ＭＳ Ｐゴシック"/>
                <a:cs typeface="Arial"/>
              </a:rPr>
              <a:t>必ずビジネスに該当リストの記載に問題ないかを確認の上、トライアルへ提示する</a:t>
            </a:r>
          </a:p>
        </p:txBody>
      </p:sp>
    </p:spTree>
    <p:extLst>
      <p:ext uri="{BB962C8B-B14F-4D97-AF65-F5344CB8AC3E}">
        <p14:creationId xmlns:p14="http://schemas.microsoft.com/office/powerpoint/2010/main" val="798820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9240-74E4-2253-AA43-E080C0872971}"/>
            </a:ext>
          </a:extLst>
        </p:cNvPr>
        <p:cNvGrpSpPr/>
        <p:nvPr/>
      </p:nvGrpSpPr>
      <p:grpSpPr>
        <a:xfrm>
          <a:off x="0" y="0"/>
          <a:ext cx="0" cy="0"/>
          <a:chOff x="0" y="0"/>
          <a:chExt cx="0" cy="0"/>
        </a:xfrm>
      </p:grpSpPr>
      <p:sp>
        <p:nvSpPr>
          <p:cNvPr id="17" name="Rectangle 11">
            <a:extLst>
              <a:ext uri="{FF2B5EF4-FFF2-40B4-BE49-F238E27FC236}">
                <a16:creationId xmlns:a16="http://schemas.microsoft.com/office/drawing/2014/main" id="{B5CA0EAA-CC69-758C-759A-088A45C20147}"/>
              </a:ext>
            </a:extLst>
          </p:cNvPr>
          <p:cNvSpPr/>
          <p:nvPr/>
        </p:nvSpPr>
        <p:spPr>
          <a:xfrm>
            <a:off x="636124" y="1484787"/>
            <a:ext cx="5590040" cy="4367196"/>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60" name="Rectangle 59">
            <a:extLst>
              <a:ext uri="{FF2B5EF4-FFF2-40B4-BE49-F238E27FC236}">
                <a16:creationId xmlns:a16="http://schemas.microsoft.com/office/drawing/2014/main" id="{C8AD59E9-09F0-F514-D8FC-6E15E5A2B266}"/>
              </a:ext>
            </a:extLst>
          </p:cNvPr>
          <p:cNvSpPr/>
          <p:nvPr/>
        </p:nvSpPr>
        <p:spPr>
          <a:xfrm>
            <a:off x="635000" y="1207902"/>
            <a:ext cx="5590040" cy="277417"/>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b="1">
                <a:solidFill>
                  <a:schemeClr val="bg1"/>
                </a:solidFill>
                <a:latin typeface="メイリオ"/>
                <a:ea typeface="メイリオ"/>
              </a:rPr>
              <a:t>Ph2 :2027年4月リリース～12月（店舗CV終了迄）</a:t>
            </a:r>
            <a:endParaRPr lang="en-US" altLang="ja-JP" b="1">
              <a:solidFill>
                <a:schemeClr val="bg1"/>
              </a:solidFill>
              <a:latin typeface="メイリオ"/>
              <a:ea typeface="メイリオ"/>
            </a:endParaRPr>
          </a:p>
        </p:txBody>
      </p:sp>
      <p:sp>
        <p:nvSpPr>
          <p:cNvPr id="21" name="Rectangle 61">
            <a:extLst>
              <a:ext uri="{FF2B5EF4-FFF2-40B4-BE49-F238E27FC236}">
                <a16:creationId xmlns:a16="http://schemas.microsoft.com/office/drawing/2014/main" id="{8A419634-5A4A-10E8-6BE1-D201585CBC81}"/>
              </a:ext>
            </a:extLst>
          </p:cNvPr>
          <p:cNvSpPr/>
          <p:nvPr/>
        </p:nvSpPr>
        <p:spPr>
          <a:xfrm>
            <a:off x="630876" y="5852517"/>
            <a:ext cx="11259683" cy="899267"/>
          </a:xfrm>
          <a:prstGeom prst="rect">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2245" indent="-182245">
              <a:buClr>
                <a:schemeClr val="bg1">
                  <a:lumMod val="75000"/>
                </a:schemeClr>
              </a:buClr>
              <a:buFont typeface="Wingdings" panose="05000000000000000000" pitchFamily="2" charset="2"/>
              <a:buChar char="n"/>
            </a:pPr>
            <a:r>
              <a:rPr kumimoji="1" lang="en-US" altLang="ja-JP" sz="1100">
                <a:solidFill>
                  <a:schemeClr val="tx1"/>
                </a:solidFill>
                <a:latin typeface="メイリオ"/>
                <a:ea typeface="メイリオ"/>
              </a:rPr>
              <a:t>2027</a:t>
            </a:r>
            <a:r>
              <a:rPr kumimoji="1" lang="ja-JP" altLang="en-US" sz="1100">
                <a:solidFill>
                  <a:schemeClr val="tx1"/>
                </a:solidFill>
                <a:latin typeface="メイリオ"/>
                <a:ea typeface="メイリオ"/>
              </a:rPr>
              <a:t>年4月には、</a:t>
            </a:r>
            <a:r>
              <a:rPr kumimoji="1" lang="ja-JP" altLang="en-US" sz="1100">
                <a:solidFill>
                  <a:schemeClr val="accent5"/>
                </a:solidFill>
                <a:latin typeface="メイリオ"/>
                <a:ea typeface="メイリオ"/>
              </a:rPr>
              <a:t>共通商談システムがリリース　・西友用のShinise環境も構築され、マスタ情報は統合されている。</a:t>
            </a:r>
            <a:endParaRPr lang="ja-JP" altLang="en-US" sz="1100">
              <a:solidFill>
                <a:schemeClr val="accent5"/>
              </a:solidFill>
              <a:latin typeface="メイリオ"/>
              <a:ea typeface="メイリオ"/>
            </a:endParaRPr>
          </a:p>
          <a:p>
            <a:pPr marL="182245" indent="-182245">
              <a:buClr>
                <a:schemeClr val="bg1">
                  <a:lumMod val="75000"/>
                </a:schemeClr>
              </a:buClr>
              <a:buFont typeface="Wingdings" panose="05000000000000000000" pitchFamily="2" charset="2"/>
              <a:buChar char="n"/>
            </a:pPr>
            <a:r>
              <a:rPr kumimoji="1" lang="ja-JP" altLang="en-US" sz="1100">
                <a:solidFill>
                  <a:schemeClr val="tx1"/>
                </a:solidFill>
                <a:latin typeface="メイリオ"/>
                <a:ea typeface="メイリオ"/>
              </a:rPr>
              <a:t>ただし、店舗コンバージョン完了までは、既存システムとの連携は</a:t>
            </a:r>
            <a:r>
              <a:rPr kumimoji="1" lang="en-US" altLang="ja-JP" sz="1100">
                <a:solidFill>
                  <a:schemeClr val="tx1"/>
                </a:solidFill>
                <a:latin typeface="メイリオ"/>
                <a:ea typeface="メイリオ"/>
              </a:rPr>
              <a:t>TC</a:t>
            </a:r>
            <a:r>
              <a:rPr kumimoji="1" lang="ja-JP" altLang="en-US" sz="1100">
                <a:solidFill>
                  <a:schemeClr val="tx1"/>
                </a:solidFill>
                <a:latin typeface="メイリオ"/>
                <a:ea typeface="メイリオ"/>
              </a:rPr>
              <a:t>経由になるため、商談システムからTCへの連携は店舗CV完了までは行なう</a:t>
            </a:r>
            <a:endParaRPr lang="ja-JP" altLang="en-US" sz="1100">
              <a:solidFill>
                <a:schemeClr val="tx1"/>
              </a:solidFill>
              <a:latin typeface="メイリオ"/>
              <a:ea typeface="メイリオ"/>
            </a:endParaRP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尚、共通商談システムに項目がなく、店舗コンバージョンまで必要な西友独自の項目がある場合は、TCへのメンテナンスが必要となる（パンチャー継続の可能性あり）</a:t>
            </a: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EC過渡期対応として、商談システムよりEC用のファイル（画像・必要項目）をダウンロードする機能を追加し、西友のEC担当の方でeB-MDMへアップロードをする</a:t>
            </a:r>
          </a:p>
          <a:p>
            <a:pPr marL="182245" indent="-182245">
              <a:buClr>
                <a:srgbClr val="BFBFBF"/>
              </a:buClr>
              <a:buFont typeface="Wingdings" panose="05000000000000000000" pitchFamily="2" charset="2"/>
              <a:buChar char="n"/>
            </a:pPr>
            <a:r>
              <a:rPr lang="ja-JP" altLang="en-US" sz="1100">
                <a:solidFill>
                  <a:schemeClr val="tx1"/>
                </a:solidFill>
                <a:latin typeface="メイリオ"/>
                <a:ea typeface="メイリオ"/>
              </a:rPr>
              <a:t>EC過渡期対応として、マスタ更新情報（店別アイテム別の発注停止日・販売停止日）をGCS経由でeCommへデータを渡す</a:t>
            </a:r>
          </a:p>
        </p:txBody>
      </p:sp>
      <p:sp>
        <p:nvSpPr>
          <p:cNvPr id="27" name="Rectangle 111">
            <a:extLst>
              <a:ext uri="{FF2B5EF4-FFF2-40B4-BE49-F238E27FC236}">
                <a16:creationId xmlns:a16="http://schemas.microsoft.com/office/drawing/2014/main" id="{BF7DE433-67ED-0B05-3E76-6050B6638E31}"/>
              </a:ext>
            </a:extLst>
          </p:cNvPr>
          <p:cNvSpPr/>
          <p:nvPr/>
        </p:nvSpPr>
        <p:spPr>
          <a:xfrm>
            <a:off x="1457325" y="4917257"/>
            <a:ext cx="2144410" cy="576000"/>
          </a:xfrm>
          <a:prstGeom prst="rect">
            <a:avLst/>
          </a:prstGeom>
          <a:solidFill>
            <a:schemeClr val="accent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メイリオ" panose="020B0604030504040204" pitchFamily="50" charset="-128"/>
                <a:ea typeface="メイリオ" panose="020B0604030504040204" pitchFamily="50" charset="-128"/>
              </a:rPr>
              <a:t>Shinise</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sp>
        <p:nvSpPr>
          <p:cNvPr id="38" name="Rectangle 120">
            <a:extLst>
              <a:ext uri="{FF2B5EF4-FFF2-40B4-BE49-F238E27FC236}">
                <a16:creationId xmlns:a16="http://schemas.microsoft.com/office/drawing/2014/main" id="{743048ED-2A57-FD19-82FD-69E6AEE6CEC1}"/>
              </a:ext>
            </a:extLst>
          </p:cNvPr>
          <p:cNvSpPr/>
          <p:nvPr/>
        </p:nvSpPr>
        <p:spPr>
          <a:xfrm>
            <a:off x="2126594" y="1589750"/>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pic>
        <p:nvPicPr>
          <p:cNvPr id="42" name="Graphic 121" descr="Group with solid fill">
            <a:extLst>
              <a:ext uri="{FF2B5EF4-FFF2-40B4-BE49-F238E27FC236}">
                <a16:creationId xmlns:a16="http://schemas.microsoft.com/office/drawing/2014/main" id="{C5DED7AC-D79F-A623-2125-0990C0F3F168}"/>
              </a:ext>
            </a:extLst>
          </p:cNvPr>
          <p:cNvPicPr>
            <a:picLocks noChangeAspect="1"/>
          </p:cNvPicPr>
          <p:nvPr/>
        </p:nvPicPr>
        <p:blipFill>
          <a:blip>
            <a:extLst>
              <a:ext uri="{96DAC541-7B7A-43D3-8B79-37D633B846F1}">
                <asvg:svgBlip xmlns:asvg="http://schemas.microsoft.com/office/drawing/2016/SVG/main" r:embed="rId2"/>
              </a:ext>
            </a:extLst>
          </a:blip>
          <a:srcRect t="15965" b="16341"/>
          <a:stretch>
            <a:fillRect/>
          </a:stretch>
        </p:blipFill>
        <p:spPr>
          <a:xfrm>
            <a:off x="2304187" y="1761112"/>
            <a:ext cx="744607" cy="504056"/>
          </a:xfrm>
          <a:prstGeom prst="rect">
            <a:avLst/>
          </a:prstGeom>
        </p:spPr>
      </p:pic>
      <p:sp>
        <p:nvSpPr>
          <p:cNvPr id="46" name="Rectangle 122">
            <a:extLst>
              <a:ext uri="{FF2B5EF4-FFF2-40B4-BE49-F238E27FC236}">
                <a16:creationId xmlns:a16="http://schemas.microsoft.com/office/drawing/2014/main" id="{E60DDE8B-B53E-4534-012A-6E67E63A849F}"/>
              </a:ext>
            </a:extLst>
          </p:cNvPr>
          <p:cNvSpPr/>
          <p:nvPr/>
        </p:nvSpPr>
        <p:spPr>
          <a:xfrm>
            <a:off x="511325" y="272416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商品共通</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DB</a:t>
            </a:r>
          </a:p>
        </p:txBody>
      </p:sp>
      <p:sp>
        <p:nvSpPr>
          <p:cNvPr id="50" name="Rectangle 123">
            <a:extLst>
              <a:ext uri="{FF2B5EF4-FFF2-40B4-BE49-F238E27FC236}">
                <a16:creationId xmlns:a16="http://schemas.microsoft.com/office/drawing/2014/main" id="{809BE9C0-F893-7B62-B53E-E8851CC71927}"/>
              </a:ext>
            </a:extLst>
          </p:cNvPr>
          <p:cNvSpPr/>
          <p:nvPr/>
        </p:nvSpPr>
        <p:spPr>
          <a:xfrm>
            <a:off x="511325" y="344424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マスタ</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管理</a:t>
            </a:r>
          </a:p>
        </p:txBody>
      </p:sp>
      <p:sp>
        <p:nvSpPr>
          <p:cNvPr id="54" name="Rectangle 124">
            <a:extLst>
              <a:ext uri="{FF2B5EF4-FFF2-40B4-BE49-F238E27FC236}">
                <a16:creationId xmlns:a16="http://schemas.microsoft.com/office/drawing/2014/main" id="{0D7E60F7-1FC4-8F71-4C10-FB835AE4747A}"/>
              </a:ext>
            </a:extLst>
          </p:cNvPr>
          <p:cNvSpPr/>
          <p:nvPr/>
        </p:nvSpPr>
        <p:spPr>
          <a:xfrm>
            <a:off x="511325" y="4917257"/>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MD</a:t>
            </a: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基幹</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システム</a:t>
            </a:r>
          </a:p>
        </p:txBody>
      </p:sp>
      <p:sp>
        <p:nvSpPr>
          <p:cNvPr id="57" name="Rectangle 125">
            <a:extLst>
              <a:ext uri="{FF2B5EF4-FFF2-40B4-BE49-F238E27FC236}">
                <a16:creationId xmlns:a16="http://schemas.microsoft.com/office/drawing/2014/main" id="{0F49F61E-A378-1281-4E5D-999693199755}"/>
              </a:ext>
            </a:extLst>
          </p:cNvPr>
          <p:cNvSpPr/>
          <p:nvPr/>
        </p:nvSpPr>
        <p:spPr>
          <a:xfrm>
            <a:off x="1447429" y="5578171"/>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sp>
        <p:nvSpPr>
          <p:cNvPr id="59" name="Rectangle 126">
            <a:extLst>
              <a:ext uri="{FF2B5EF4-FFF2-40B4-BE49-F238E27FC236}">
                <a16:creationId xmlns:a16="http://schemas.microsoft.com/office/drawing/2014/main" id="{0082655B-402F-ED2A-D7A9-E4F2676BFFB0}"/>
              </a:ext>
            </a:extLst>
          </p:cNvPr>
          <p:cNvSpPr/>
          <p:nvPr/>
        </p:nvSpPr>
        <p:spPr>
          <a:xfrm>
            <a:off x="3904227" y="5578171"/>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cxnSp>
        <p:nvCxnSpPr>
          <p:cNvPr id="77" name="Straight Arrow Connector 116">
            <a:extLst>
              <a:ext uri="{FF2B5EF4-FFF2-40B4-BE49-F238E27FC236}">
                <a16:creationId xmlns:a16="http://schemas.microsoft.com/office/drawing/2014/main" id="{052013DF-954A-09F2-418E-D34B46D3F861}"/>
              </a:ext>
            </a:extLst>
          </p:cNvPr>
          <p:cNvCxnSpPr>
            <a:cxnSpLocks/>
          </p:cNvCxnSpPr>
          <p:nvPr/>
        </p:nvCxnSpPr>
        <p:spPr>
          <a:xfrm>
            <a:off x="3811246" y="3986237"/>
            <a:ext cx="9071" cy="917603"/>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sp>
        <p:nvSpPr>
          <p:cNvPr id="81" name="Rectangle 15">
            <a:extLst>
              <a:ext uri="{FF2B5EF4-FFF2-40B4-BE49-F238E27FC236}">
                <a16:creationId xmlns:a16="http://schemas.microsoft.com/office/drawing/2014/main" id="{4D9A0EA3-0FF4-AEDE-F614-7FAD9A281256}"/>
              </a:ext>
            </a:extLst>
          </p:cNvPr>
          <p:cNvSpPr/>
          <p:nvPr/>
        </p:nvSpPr>
        <p:spPr>
          <a:xfrm>
            <a:off x="3675792" y="4914675"/>
            <a:ext cx="1456876"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tx1"/>
                </a:solidFill>
                <a:latin typeface="メイリオ" panose="020B0604030504040204" pitchFamily="50" charset="-128"/>
                <a:ea typeface="メイリオ" panose="020B0604030504040204" pitchFamily="50" charset="-128"/>
              </a:rPr>
              <a:t>Tomorrow</a:t>
            </a:r>
          </a:p>
          <a:p>
            <a:pPr algn="ctr"/>
            <a:r>
              <a:rPr kumimoji="1" lang="en-US" altLang="ja-JP" sz="1200" b="1">
                <a:solidFill>
                  <a:schemeClr val="tx1"/>
                </a:solidFill>
                <a:latin typeface="メイリオ" panose="020B0604030504040204" pitchFamily="50" charset="-128"/>
                <a:ea typeface="メイリオ" panose="020B0604030504040204" pitchFamily="50" charset="-128"/>
              </a:rPr>
              <a:t>Chain</a:t>
            </a:r>
            <a:endParaRPr kumimoji="1" lang="ja-JP" altLang="en-US" sz="1200" b="1">
              <a:solidFill>
                <a:schemeClr val="tx1"/>
              </a:solidFill>
              <a:latin typeface="メイリオ" panose="020B0604030504040204" pitchFamily="50" charset="-128"/>
              <a:ea typeface="メイリオ" panose="020B0604030504040204" pitchFamily="50" charset="-128"/>
            </a:endParaRPr>
          </a:p>
        </p:txBody>
      </p:sp>
      <p:cxnSp>
        <p:nvCxnSpPr>
          <p:cNvPr id="100" name="Straight Arrow Connector 116">
            <a:extLst>
              <a:ext uri="{FF2B5EF4-FFF2-40B4-BE49-F238E27FC236}">
                <a16:creationId xmlns:a16="http://schemas.microsoft.com/office/drawing/2014/main" id="{CE255DEC-C756-8C1A-25ED-1ABEBBA12227}"/>
              </a:ext>
            </a:extLst>
          </p:cNvPr>
          <p:cNvCxnSpPr>
            <a:cxnSpLocks/>
          </p:cNvCxnSpPr>
          <p:nvPr/>
        </p:nvCxnSpPr>
        <p:spPr>
          <a:xfrm>
            <a:off x="2719589" y="3986421"/>
            <a:ext cx="9179" cy="964113"/>
          </a:xfrm>
          <a:prstGeom prst="straightConnector1">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sp>
        <p:nvSpPr>
          <p:cNvPr id="102" name="Rectangle 126">
            <a:extLst>
              <a:ext uri="{FF2B5EF4-FFF2-40B4-BE49-F238E27FC236}">
                <a16:creationId xmlns:a16="http://schemas.microsoft.com/office/drawing/2014/main" id="{51FD47E7-76BA-38F9-A75A-CA5FCCB2DEFC}"/>
              </a:ext>
            </a:extLst>
          </p:cNvPr>
          <p:cNvSpPr/>
          <p:nvPr/>
        </p:nvSpPr>
        <p:spPr>
          <a:xfrm>
            <a:off x="2365673" y="5579102"/>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106" name="Rectangle 52">
            <a:extLst>
              <a:ext uri="{FF2B5EF4-FFF2-40B4-BE49-F238E27FC236}">
                <a16:creationId xmlns:a16="http://schemas.microsoft.com/office/drawing/2014/main" id="{276D96BD-B430-1208-858A-F1EBF7364691}"/>
              </a:ext>
            </a:extLst>
          </p:cNvPr>
          <p:cNvSpPr/>
          <p:nvPr/>
        </p:nvSpPr>
        <p:spPr>
          <a:xfrm>
            <a:off x="1402463" y="2719366"/>
            <a:ext cx="2548027" cy="591795"/>
          </a:xfrm>
          <a:prstGeom prst="rect">
            <a:avLst/>
          </a:prstGeom>
          <a:solidFill>
            <a:schemeClr val="accent4"/>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algn="ctr"/>
            <a:r>
              <a:rPr kumimoji="1" lang="ja-JP" altLang="en-US" sz="1200" b="1">
                <a:solidFill>
                  <a:schemeClr val="bg1"/>
                </a:solidFill>
                <a:latin typeface="メイリオ"/>
                <a:ea typeface="メイリオ"/>
              </a:rPr>
              <a:t>商品共通</a:t>
            </a:r>
            <a:r>
              <a:rPr kumimoji="1" lang="en-US" altLang="ja-JP" sz="1200" b="1">
                <a:solidFill>
                  <a:schemeClr val="bg1"/>
                </a:solidFill>
                <a:latin typeface="メイリオ"/>
                <a:ea typeface="メイリオ"/>
              </a:rPr>
              <a:t>DB</a:t>
            </a:r>
            <a:r>
              <a:rPr kumimoji="1" lang="ja-JP" altLang="en-US" sz="1200" b="1">
                <a:solidFill>
                  <a:schemeClr val="bg1"/>
                </a:solidFill>
                <a:latin typeface="メイリオ"/>
                <a:ea typeface="メイリオ"/>
              </a:rPr>
              <a:t>・統一窓口</a:t>
            </a:r>
            <a:endParaRPr kumimoji="1" lang="en-US" altLang="ja-JP" sz="1200" b="1">
              <a:solidFill>
                <a:schemeClr val="bg1"/>
              </a:solidFill>
              <a:latin typeface="メイリオ"/>
              <a:ea typeface="メイリオ"/>
            </a:endParaRPr>
          </a:p>
          <a:p>
            <a:pPr algn="ctr"/>
            <a:r>
              <a:rPr kumimoji="1" lang="ja-JP" altLang="en-US" sz="900" b="1">
                <a:solidFill>
                  <a:schemeClr val="bg1"/>
                </a:solidFill>
                <a:latin typeface="メイリオ"/>
                <a:ea typeface="メイリオ"/>
              </a:rPr>
              <a:t>（R-MELOS/</a:t>
            </a:r>
            <a:r>
              <a:rPr kumimoji="1" lang="en-US" altLang="ja-JP" sz="900" b="1" err="1">
                <a:solidFill>
                  <a:schemeClr val="bg1"/>
                </a:solidFill>
                <a:latin typeface="メイリオ"/>
                <a:ea typeface="メイリオ"/>
              </a:rPr>
              <a:t>eBASE</a:t>
            </a:r>
            <a:r>
              <a:rPr kumimoji="1" lang="ja-JP" altLang="en-US" sz="900" b="1">
                <a:solidFill>
                  <a:schemeClr val="bg1"/>
                </a:solidFill>
                <a:latin typeface="メイリオ"/>
                <a:ea typeface="メイリオ"/>
              </a:rPr>
              <a:t>クラウドサービス </a:t>
            </a:r>
            <a:r>
              <a:rPr kumimoji="1" lang="en-US" altLang="ja-JP" sz="900" b="1">
                <a:solidFill>
                  <a:schemeClr val="bg1"/>
                </a:solidFill>
                <a:latin typeface="メイリオ"/>
                <a:ea typeface="メイリオ"/>
              </a:rPr>
              <a:t>or??</a:t>
            </a:r>
            <a:r>
              <a:rPr kumimoji="1" lang="ja-JP" altLang="en-US" sz="900" b="1">
                <a:solidFill>
                  <a:schemeClr val="bg1"/>
                </a:solidFill>
                <a:latin typeface="メイリオ"/>
                <a:ea typeface="メイリオ"/>
              </a:rPr>
              <a:t> → 要検討）</a:t>
            </a:r>
            <a:endParaRPr lang="ja-JP" altLang="en-US" sz="900" b="1">
              <a:solidFill>
                <a:schemeClr val="bg1"/>
              </a:solidFill>
              <a:latin typeface="メイリオ"/>
              <a:ea typeface="メイリオ"/>
            </a:endParaRPr>
          </a:p>
        </p:txBody>
      </p:sp>
      <p:cxnSp>
        <p:nvCxnSpPr>
          <p:cNvPr id="120" name="Connector: Elbow 79">
            <a:extLst>
              <a:ext uri="{FF2B5EF4-FFF2-40B4-BE49-F238E27FC236}">
                <a16:creationId xmlns:a16="http://schemas.microsoft.com/office/drawing/2014/main" id="{C66AD0BE-F009-2BB3-416D-0F981A85A155}"/>
              </a:ext>
            </a:extLst>
          </p:cNvPr>
          <p:cNvCxnSpPr>
            <a:cxnSpLocks/>
          </p:cNvCxnSpPr>
          <p:nvPr/>
        </p:nvCxnSpPr>
        <p:spPr>
          <a:xfrm rot="5400000">
            <a:off x="2541338" y="2514461"/>
            <a:ext cx="360040" cy="1"/>
          </a:xfrm>
          <a:prstGeom prst="bentConnector3">
            <a:avLst>
              <a:gd name="adj1" fmla="val 50000"/>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sp>
        <p:nvSpPr>
          <p:cNvPr id="128" name="Rectangle 106">
            <a:extLst>
              <a:ext uri="{FF2B5EF4-FFF2-40B4-BE49-F238E27FC236}">
                <a16:creationId xmlns:a16="http://schemas.microsoft.com/office/drawing/2014/main" id="{2A09A259-748A-B945-6606-94B9EA813E4F}"/>
              </a:ext>
            </a:extLst>
          </p:cNvPr>
          <p:cNvSpPr/>
          <p:nvPr/>
        </p:nvSpPr>
        <p:spPr>
          <a:xfrm flipH="1">
            <a:off x="1576841" y="2331891"/>
            <a:ext cx="1152128" cy="27278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4"/>
                </a:solidFill>
                <a:latin typeface="メイリオ" panose="020B0604030504040204" pitchFamily="50" charset="-128"/>
                <a:ea typeface="メイリオ" panose="020B0604030504040204" pitchFamily="50" charset="-128"/>
              </a:rPr>
              <a:t>TR / SY</a:t>
            </a:r>
            <a:r>
              <a:rPr kumimoji="1" lang="ja-JP" altLang="en-US" sz="700" b="1">
                <a:solidFill>
                  <a:schemeClr val="accent4"/>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a:p>
            <a:pPr algn="ctr"/>
            <a:r>
              <a:rPr kumimoji="1" lang="ja-JP" altLang="en-US" sz="700" b="1">
                <a:solidFill>
                  <a:schemeClr val="accent4"/>
                </a:solidFill>
                <a:latin typeface="メイリオ" panose="020B0604030504040204" pitchFamily="50" charset="-128"/>
                <a:ea typeface="メイリオ" panose="020B0604030504040204" pitchFamily="50" charset="-128"/>
              </a:rPr>
              <a:t>（商品 </a:t>
            </a:r>
            <a:r>
              <a:rPr kumimoji="1" lang="ja-JP" altLang="en-US" sz="1050" b="1" u="sng">
                <a:solidFill>
                  <a:schemeClr val="accent4"/>
                </a:solidFill>
                <a:latin typeface="メイリオ" panose="020B0604030504040204" pitchFamily="50" charset="-128"/>
                <a:ea typeface="メイリオ" panose="020B0604030504040204" pitchFamily="50" charset="-128"/>
              </a:rPr>
              <a:t>基礎</a:t>
            </a:r>
            <a:r>
              <a:rPr kumimoji="1" lang="ja-JP" altLang="en-US" sz="1050" b="1">
                <a:solidFill>
                  <a:schemeClr val="accent4"/>
                </a:solidFill>
                <a:latin typeface="メイリオ" panose="020B0604030504040204" pitchFamily="50" charset="-128"/>
                <a:ea typeface="メイリオ" panose="020B0604030504040204" pitchFamily="50" charset="-128"/>
              </a:rPr>
              <a:t> </a:t>
            </a:r>
            <a:r>
              <a:rPr kumimoji="1" lang="ja-JP" altLang="en-US" sz="700" b="1">
                <a:solidFill>
                  <a:schemeClr val="accent4"/>
                </a:solidFill>
                <a:latin typeface="メイリオ" panose="020B0604030504040204" pitchFamily="50" charset="-128"/>
                <a:ea typeface="メイリオ" panose="020B0604030504040204" pitchFamily="50" charset="-128"/>
              </a:rPr>
              <a:t>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p:txBody>
      </p:sp>
      <p:cxnSp>
        <p:nvCxnSpPr>
          <p:cNvPr id="130" name="Straight Arrow Connector 57">
            <a:extLst>
              <a:ext uri="{FF2B5EF4-FFF2-40B4-BE49-F238E27FC236}">
                <a16:creationId xmlns:a16="http://schemas.microsoft.com/office/drawing/2014/main" id="{E6CBD832-2088-3EDC-5617-B1B89DB349A5}"/>
              </a:ext>
            </a:extLst>
          </p:cNvPr>
          <p:cNvCxnSpPr>
            <a:cxnSpLocks/>
          </p:cNvCxnSpPr>
          <p:nvPr/>
        </p:nvCxnSpPr>
        <p:spPr>
          <a:xfrm>
            <a:off x="2736647" y="3255346"/>
            <a:ext cx="0" cy="189251"/>
          </a:xfrm>
          <a:prstGeom prst="straightConnector1">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sp>
        <p:nvSpPr>
          <p:cNvPr id="136" name="Freeform: Shape 6">
            <a:extLst>
              <a:ext uri="{FF2B5EF4-FFF2-40B4-BE49-F238E27FC236}">
                <a16:creationId xmlns:a16="http://schemas.microsoft.com/office/drawing/2014/main" id="{D0378500-F56C-3805-E692-C47F5F85DA84}"/>
              </a:ext>
            </a:extLst>
          </p:cNvPr>
          <p:cNvSpPr/>
          <p:nvPr/>
        </p:nvSpPr>
        <p:spPr>
          <a:xfrm rot="10800000" flipH="1">
            <a:off x="2991471" y="2119346"/>
            <a:ext cx="1221715" cy="1343179"/>
          </a:xfrm>
          <a:custGeom>
            <a:avLst/>
            <a:gdLst>
              <a:gd name="connsiteX0" fmla="*/ 0 w 808522"/>
              <a:gd name="connsiteY0" fmla="*/ 433137 h 433137"/>
              <a:gd name="connsiteX1" fmla="*/ 808522 w 808522"/>
              <a:gd name="connsiteY1" fmla="*/ 433137 h 433137"/>
              <a:gd name="connsiteX2" fmla="*/ 808522 w 808522"/>
              <a:gd name="connsiteY2" fmla="*/ 0 h 433137"/>
            </a:gdLst>
            <a:ahLst/>
            <a:cxnLst>
              <a:cxn ang="0">
                <a:pos x="connsiteX0" y="connsiteY0"/>
              </a:cxn>
              <a:cxn ang="0">
                <a:pos x="connsiteX1" y="connsiteY1"/>
              </a:cxn>
              <a:cxn ang="0">
                <a:pos x="connsiteX2" y="connsiteY2"/>
              </a:cxn>
            </a:cxnLst>
            <a:rect l="l" t="t" r="r" b="b"/>
            <a:pathLst>
              <a:path w="808522" h="433137">
                <a:moveTo>
                  <a:pt x="0" y="433137"/>
                </a:moveTo>
                <a:lnTo>
                  <a:pt x="808522" y="433137"/>
                </a:lnTo>
                <a:lnTo>
                  <a:pt x="808522" y="0"/>
                </a:lnTo>
              </a:path>
            </a:pathLst>
          </a:cu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9" name="Rectangle 8">
            <a:extLst>
              <a:ext uri="{FF2B5EF4-FFF2-40B4-BE49-F238E27FC236}">
                <a16:creationId xmlns:a16="http://schemas.microsoft.com/office/drawing/2014/main" id="{A005D510-4350-54A0-EEC0-B46F447A67E6}"/>
              </a:ext>
            </a:extLst>
          </p:cNvPr>
          <p:cNvSpPr/>
          <p:nvPr/>
        </p:nvSpPr>
        <p:spPr>
          <a:xfrm flipH="1">
            <a:off x="4133230" y="2235851"/>
            <a:ext cx="1331331" cy="27278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4"/>
                </a:solidFill>
                <a:latin typeface="メイリオ" panose="020B0604030504040204" pitchFamily="50" charset="-128"/>
                <a:ea typeface="メイリオ" panose="020B0604030504040204" pitchFamily="50" charset="-128"/>
              </a:rPr>
              <a:t>TR / SY</a:t>
            </a:r>
            <a:r>
              <a:rPr kumimoji="1" lang="ja-JP" altLang="en-US" sz="700" b="1">
                <a:solidFill>
                  <a:schemeClr val="accent4"/>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a:p>
            <a:pPr algn="ctr"/>
            <a:r>
              <a:rPr kumimoji="1" lang="ja-JP" altLang="en-US" sz="700" b="1">
                <a:solidFill>
                  <a:schemeClr val="accent4"/>
                </a:solidFill>
                <a:latin typeface="メイリオ" panose="020B0604030504040204" pitchFamily="50" charset="-128"/>
                <a:ea typeface="メイリオ" panose="020B0604030504040204" pitchFamily="50" charset="-128"/>
              </a:rPr>
              <a:t>（商品 </a:t>
            </a:r>
            <a:r>
              <a:rPr kumimoji="1" lang="ja-JP" altLang="en-US" sz="1050" b="1" u="sng">
                <a:solidFill>
                  <a:schemeClr val="accent4"/>
                </a:solidFill>
                <a:latin typeface="メイリオ" panose="020B0604030504040204" pitchFamily="50" charset="-128"/>
                <a:ea typeface="メイリオ" panose="020B0604030504040204" pitchFamily="50" charset="-128"/>
              </a:rPr>
              <a:t>追加属性</a:t>
            </a:r>
            <a:r>
              <a:rPr kumimoji="1" lang="ja-JP" altLang="en-US" sz="1050" b="1">
                <a:solidFill>
                  <a:schemeClr val="accent4"/>
                </a:solidFill>
                <a:latin typeface="メイリオ" panose="020B0604030504040204" pitchFamily="50" charset="-128"/>
                <a:ea typeface="メイリオ" panose="020B0604030504040204" pitchFamily="50" charset="-128"/>
              </a:rPr>
              <a:t> </a:t>
            </a:r>
            <a:r>
              <a:rPr kumimoji="1" lang="ja-JP" altLang="en-US" sz="700" b="1">
                <a:solidFill>
                  <a:schemeClr val="accent4"/>
                </a:solidFill>
                <a:latin typeface="メイリオ" panose="020B0604030504040204" pitchFamily="50" charset="-128"/>
                <a:ea typeface="メイリオ" panose="020B0604030504040204" pitchFamily="50" charset="-128"/>
              </a:rPr>
              <a:t>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p:txBody>
      </p:sp>
      <p:sp>
        <p:nvSpPr>
          <p:cNvPr id="4" name="Rectangle 59">
            <a:extLst>
              <a:ext uri="{FF2B5EF4-FFF2-40B4-BE49-F238E27FC236}">
                <a16:creationId xmlns:a16="http://schemas.microsoft.com/office/drawing/2014/main" id="{866F4AE7-4E06-4A04-DFE5-08605A2D3CC9}"/>
              </a:ext>
            </a:extLst>
          </p:cNvPr>
          <p:cNvSpPr/>
          <p:nvPr/>
        </p:nvSpPr>
        <p:spPr>
          <a:xfrm>
            <a:off x="6306335" y="1207902"/>
            <a:ext cx="5590041" cy="277417"/>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b="1">
                <a:solidFill>
                  <a:schemeClr val="bg1"/>
                </a:solidFill>
                <a:latin typeface="メイリオ"/>
                <a:ea typeface="メイリオ"/>
              </a:rPr>
              <a:t>Ph3: 202８年1～３月迄</a:t>
            </a:r>
            <a:endParaRPr lang="ja-JP" altLang="en-US">
              <a:solidFill>
                <a:schemeClr val="bg1"/>
              </a:solidFill>
            </a:endParaRPr>
          </a:p>
        </p:txBody>
      </p:sp>
      <p:sp>
        <p:nvSpPr>
          <p:cNvPr id="12" name="Rectangle 65">
            <a:extLst>
              <a:ext uri="{FF2B5EF4-FFF2-40B4-BE49-F238E27FC236}">
                <a16:creationId xmlns:a16="http://schemas.microsoft.com/office/drawing/2014/main" id="{97B4E3A2-CFF5-17C2-3EFE-C88CDC226BD5}"/>
              </a:ext>
            </a:extLst>
          </p:cNvPr>
          <p:cNvSpPr/>
          <p:nvPr/>
        </p:nvSpPr>
        <p:spPr>
          <a:xfrm>
            <a:off x="5246411" y="3354319"/>
            <a:ext cx="880430" cy="566929"/>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eB</a:t>
            </a:r>
            <a:r>
              <a:rPr kumimoji="1" lang="en-US" altLang="ja-JP" sz="1200" b="1">
                <a:solidFill>
                  <a:schemeClr val="tx1"/>
                </a:solidFill>
                <a:latin typeface="メイリオ"/>
                <a:ea typeface="メイリオ"/>
              </a:rPr>
              <a:t>-MDM</a:t>
            </a:r>
            <a:endParaRPr kumimoji="1" lang="ja-JP" altLang="en-US" sz="1200" b="1">
              <a:solidFill>
                <a:schemeClr val="tx1"/>
              </a:solidFill>
              <a:latin typeface="メイリオ"/>
              <a:ea typeface="メイリオ"/>
            </a:endParaRPr>
          </a:p>
        </p:txBody>
      </p:sp>
      <p:sp>
        <p:nvSpPr>
          <p:cNvPr id="14" name="Rectangle 65">
            <a:extLst>
              <a:ext uri="{FF2B5EF4-FFF2-40B4-BE49-F238E27FC236}">
                <a16:creationId xmlns:a16="http://schemas.microsoft.com/office/drawing/2014/main" id="{4C52D9CB-5E66-8637-0DF9-CD2752460BF4}"/>
              </a:ext>
            </a:extLst>
          </p:cNvPr>
          <p:cNvSpPr/>
          <p:nvPr/>
        </p:nvSpPr>
        <p:spPr>
          <a:xfrm>
            <a:off x="5253832" y="4160025"/>
            <a:ext cx="853215"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eComm</a:t>
            </a:r>
            <a:endParaRPr lang="ja-JP" err="1"/>
          </a:p>
        </p:txBody>
      </p:sp>
      <p:pic>
        <p:nvPicPr>
          <p:cNvPr id="32" name="Graphic 75" descr="Group with solid fill">
            <a:extLst>
              <a:ext uri="{FF2B5EF4-FFF2-40B4-BE49-F238E27FC236}">
                <a16:creationId xmlns:a16="http://schemas.microsoft.com/office/drawing/2014/main" id="{1BF69880-D62B-41AD-1E1F-E368A1E99382}"/>
              </a:ext>
            </a:extLst>
          </p:cNvPr>
          <p:cNvPicPr>
            <a:picLocks noChangeAspect="1"/>
          </p:cNvPicPr>
          <p:nvPr/>
        </p:nvPicPr>
        <p:blipFill>
          <a:blip>
            <a:extLst>
              <a:ext uri="{96DAC541-7B7A-43D3-8B79-37D633B846F1}">
                <asvg:svgBlip xmlns:asvg="http://schemas.microsoft.com/office/drawing/2016/SVG/main" r:embed="rId3"/>
              </a:ext>
            </a:extLst>
          </a:blip>
          <a:srcRect t="15965" b="16341"/>
          <a:stretch>
            <a:fillRect/>
          </a:stretch>
        </p:blipFill>
        <p:spPr>
          <a:xfrm>
            <a:off x="1367824" y="1793817"/>
            <a:ext cx="744607" cy="504056"/>
          </a:xfrm>
          <a:prstGeom prst="rect">
            <a:avLst/>
          </a:prstGeom>
        </p:spPr>
      </p:pic>
      <p:cxnSp>
        <p:nvCxnSpPr>
          <p:cNvPr id="2" name="直線矢印コネクタ 1">
            <a:extLst>
              <a:ext uri="{FF2B5EF4-FFF2-40B4-BE49-F238E27FC236}">
                <a16:creationId xmlns:a16="http://schemas.microsoft.com/office/drawing/2014/main" id="{15DFD0AD-10CB-DDE5-48FB-B1B15DD0D79E}"/>
              </a:ext>
            </a:extLst>
          </p:cNvPr>
          <p:cNvCxnSpPr/>
          <p:nvPr/>
        </p:nvCxnSpPr>
        <p:spPr>
          <a:xfrm flipV="1">
            <a:off x="4700055" y="3898898"/>
            <a:ext cx="558322" cy="3279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5" name="フローチャート: 書類 4">
            <a:extLst>
              <a:ext uri="{FF2B5EF4-FFF2-40B4-BE49-F238E27FC236}">
                <a16:creationId xmlns:a16="http://schemas.microsoft.com/office/drawing/2014/main" id="{4AF46CA5-2FB4-B0FC-27C5-0C21E3D8DA81}"/>
              </a:ext>
            </a:extLst>
          </p:cNvPr>
          <p:cNvSpPr/>
          <p:nvPr/>
        </p:nvSpPr>
        <p:spPr>
          <a:xfrm>
            <a:off x="5241871" y="3728011"/>
            <a:ext cx="559834" cy="365456"/>
          </a:xfrm>
          <a:prstGeom prst="flowChartDocumen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700">
                <a:solidFill>
                  <a:schemeClr val="accent1"/>
                </a:solidFill>
                <a:ea typeface="ＭＳ Ｐゴシック"/>
                <a:cs typeface="Arial"/>
              </a:rPr>
              <a:t>EC用</a:t>
            </a:r>
          </a:p>
          <a:p>
            <a:pPr algn="ctr"/>
            <a:r>
              <a:rPr lang="ja-JP" altLang="en-US" sz="700">
                <a:solidFill>
                  <a:schemeClr val="accent1"/>
                </a:solidFill>
                <a:ea typeface="ＭＳ Ｐゴシック"/>
                <a:cs typeface="Arial"/>
              </a:rPr>
              <a:t>ファイル</a:t>
            </a:r>
          </a:p>
        </p:txBody>
      </p:sp>
      <p:sp>
        <p:nvSpPr>
          <p:cNvPr id="9" name="四角形: 角を丸くする 8">
            <a:extLst>
              <a:ext uri="{FF2B5EF4-FFF2-40B4-BE49-F238E27FC236}">
                <a16:creationId xmlns:a16="http://schemas.microsoft.com/office/drawing/2014/main" id="{3C58A2AF-79D0-DB6A-DF85-0E37104ADC3F}"/>
              </a:ext>
            </a:extLst>
          </p:cNvPr>
          <p:cNvSpPr/>
          <p:nvPr/>
        </p:nvSpPr>
        <p:spPr>
          <a:xfrm>
            <a:off x="3443968" y="4329518"/>
            <a:ext cx="1386112" cy="261257"/>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GCS</a:t>
            </a:r>
            <a:endParaRPr lang="ja-JP" altLang="en-US"/>
          </a:p>
        </p:txBody>
      </p:sp>
      <p:cxnSp>
        <p:nvCxnSpPr>
          <p:cNvPr id="13" name="直線矢印コネクタ 12">
            <a:extLst>
              <a:ext uri="{FF2B5EF4-FFF2-40B4-BE49-F238E27FC236}">
                <a16:creationId xmlns:a16="http://schemas.microsoft.com/office/drawing/2014/main" id="{23A901D6-FB8D-D52C-FD6F-7BA136509021}"/>
              </a:ext>
            </a:extLst>
          </p:cNvPr>
          <p:cNvCxnSpPr/>
          <p:nvPr/>
        </p:nvCxnSpPr>
        <p:spPr>
          <a:xfrm>
            <a:off x="4827875" y="4453771"/>
            <a:ext cx="445360" cy="8907"/>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91456755-8C9A-079D-D699-77495010B2B2}"/>
              </a:ext>
            </a:extLst>
          </p:cNvPr>
          <p:cNvCxnSpPr/>
          <p:nvPr/>
        </p:nvCxnSpPr>
        <p:spPr>
          <a:xfrm>
            <a:off x="5914391" y="3919175"/>
            <a:ext cx="8907" cy="22268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9" name="フローチャート: 書類 18">
            <a:extLst>
              <a:ext uri="{FF2B5EF4-FFF2-40B4-BE49-F238E27FC236}">
                <a16:creationId xmlns:a16="http://schemas.microsoft.com/office/drawing/2014/main" id="{B29D96A0-5620-FB13-BC75-E66CA2AC348D}"/>
              </a:ext>
            </a:extLst>
          </p:cNvPr>
          <p:cNvSpPr/>
          <p:nvPr/>
        </p:nvSpPr>
        <p:spPr>
          <a:xfrm>
            <a:off x="4461728" y="4517225"/>
            <a:ext cx="514478" cy="292886"/>
          </a:xfrm>
          <a:prstGeom prst="flowChartDocumen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600">
                <a:solidFill>
                  <a:schemeClr val="accent1"/>
                </a:solidFill>
                <a:ea typeface="ＭＳ Ｐゴシック"/>
                <a:cs typeface="Arial"/>
              </a:rPr>
              <a:t>マスタ更新情報</a:t>
            </a:r>
          </a:p>
        </p:txBody>
      </p:sp>
      <p:cxnSp>
        <p:nvCxnSpPr>
          <p:cNvPr id="23" name="直線矢印コネクタ 22">
            <a:extLst>
              <a:ext uri="{FF2B5EF4-FFF2-40B4-BE49-F238E27FC236}">
                <a16:creationId xmlns:a16="http://schemas.microsoft.com/office/drawing/2014/main" id="{46D4C7F2-8020-A3D9-D99F-8C4351D03A05}"/>
              </a:ext>
            </a:extLst>
          </p:cNvPr>
          <p:cNvCxnSpPr/>
          <p:nvPr/>
        </p:nvCxnSpPr>
        <p:spPr>
          <a:xfrm>
            <a:off x="4026061" y="3972618"/>
            <a:ext cx="8906" cy="365195"/>
          </a:xfrm>
          <a:prstGeom prst="straightConnector1">
            <a:avLst/>
          </a:prstGeom>
          <a:ln w="28575"/>
        </p:spPr>
        <p:style>
          <a:lnRef idx="1">
            <a:schemeClr val="accent5"/>
          </a:lnRef>
          <a:fillRef idx="0">
            <a:schemeClr val="accent5"/>
          </a:fillRef>
          <a:effectRef idx="0">
            <a:schemeClr val="accent5"/>
          </a:effectRef>
          <a:fontRef idx="minor">
            <a:schemeClr val="tx1"/>
          </a:fontRef>
        </p:style>
      </p:cxnSp>
      <p:sp>
        <p:nvSpPr>
          <p:cNvPr id="26" name="Rectangle 11">
            <a:extLst>
              <a:ext uri="{FF2B5EF4-FFF2-40B4-BE49-F238E27FC236}">
                <a16:creationId xmlns:a16="http://schemas.microsoft.com/office/drawing/2014/main" id="{F535DC1A-F127-F058-F291-7D993F05239F}"/>
              </a:ext>
            </a:extLst>
          </p:cNvPr>
          <p:cNvSpPr/>
          <p:nvPr/>
        </p:nvSpPr>
        <p:spPr>
          <a:xfrm>
            <a:off x="6305767" y="1484787"/>
            <a:ext cx="5590040" cy="4367196"/>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30" name="Rectangle 111">
            <a:extLst>
              <a:ext uri="{FF2B5EF4-FFF2-40B4-BE49-F238E27FC236}">
                <a16:creationId xmlns:a16="http://schemas.microsoft.com/office/drawing/2014/main" id="{C08296A0-3F1C-6F04-1526-78910F3BEFA6}"/>
              </a:ext>
            </a:extLst>
          </p:cNvPr>
          <p:cNvSpPr/>
          <p:nvPr/>
        </p:nvSpPr>
        <p:spPr>
          <a:xfrm>
            <a:off x="7126968" y="3647258"/>
            <a:ext cx="2398409" cy="1845999"/>
          </a:xfrm>
          <a:prstGeom prst="rect">
            <a:avLst/>
          </a:prstGeom>
          <a:solidFill>
            <a:schemeClr val="accent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a:solidFill>
                  <a:schemeClr val="bg1"/>
                </a:solidFill>
                <a:latin typeface="メイリオ" panose="020B0604030504040204" pitchFamily="50" charset="-128"/>
                <a:ea typeface="メイリオ" panose="020B0604030504040204" pitchFamily="50" charset="-128"/>
              </a:rPr>
              <a:t>Shinise</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sp>
        <p:nvSpPr>
          <p:cNvPr id="33" name="Rectangle 120">
            <a:extLst>
              <a:ext uri="{FF2B5EF4-FFF2-40B4-BE49-F238E27FC236}">
                <a16:creationId xmlns:a16="http://schemas.microsoft.com/office/drawing/2014/main" id="{876C908A-4534-5A7A-DC03-0C96B0CC1DC1}"/>
              </a:ext>
            </a:extLst>
          </p:cNvPr>
          <p:cNvSpPr/>
          <p:nvPr/>
        </p:nvSpPr>
        <p:spPr>
          <a:xfrm>
            <a:off x="7796237" y="1589750"/>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pic>
        <p:nvPicPr>
          <p:cNvPr id="35" name="Graphic 121" descr="Group with solid fill">
            <a:extLst>
              <a:ext uri="{FF2B5EF4-FFF2-40B4-BE49-F238E27FC236}">
                <a16:creationId xmlns:a16="http://schemas.microsoft.com/office/drawing/2014/main" id="{5994AF43-F9A8-F0D9-154C-A09122DFD604}"/>
              </a:ext>
            </a:extLst>
          </p:cNvPr>
          <p:cNvPicPr>
            <a:picLocks noChangeAspect="1"/>
          </p:cNvPicPr>
          <p:nvPr/>
        </p:nvPicPr>
        <p:blipFill>
          <a:blip>
            <a:extLst>
              <a:ext uri="{96DAC541-7B7A-43D3-8B79-37D633B846F1}">
                <asvg:svgBlip xmlns:asvg="http://schemas.microsoft.com/office/drawing/2016/SVG/main" r:embed="rId2"/>
              </a:ext>
            </a:extLst>
          </a:blip>
          <a:srcRect t="15965" b="16341"/>
          <a:stretch>
            <a:fillRect/>
          </a:stretch>
        </p:blipFill>
        <p:spPr>
          <a:xfrm>
            <a:off x="7973830" y="1761112"/>
            <a:ext cx="744607" cy="504056"/>
          </a:xfrm>
          <a:prstGeom prst="rect">
            <a:avLst/>
          </a:prstGeom>
        </p:spPr>
      </p:pic>
      <p:sp>
        <p:nvSpPr>
          <p:cNvPr id="36" name="Rectangle 122">
            <a:extLst>
              <a:ext uri="{FF2B5EF4-FFF2-40B4-BE49-F238E27FC236}">
                <a16:creationId xmlns:a16="http://schemas.microsoft.com/office/drawing/2014/main" id="{6506EBA6-7EE2-3918-52E6-79E9CCCA5BB1}"/>
              </a:ext>
            </a:extLst>
          </p:cNvPr>
          <p:cNvSpPr/>
          <p:nvPr/>
        </p:nvSpPr>
        <p:spPr>
          <a:xfrm>
            <a:off x="6180968" y="272416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商品共通</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DB</a:t>
            </a:r>
          </a:p>
        </p:txBody>
      </p:sp>
      <p:sp>
        <p:nvSpPr>
          <p:cNvPr id="39" name="Rectangle 123">
            <a:extLst>
              <a:ext uri="{FF2B5EF4-FFF2-40B4-BE49-F238E27FC236}">
                <a16:creationId xmlns:a16="http://schemas.microsoft.com/office/drawing/2014/main" id="{643F7586-7301-AB45-1628-46ACD816B671}"/>
              </a:ext>
            </a:extLst>
          </p:cNvPr>
          <p:cNvSpPr/>
          <p:nvPr/>
        </p:nvSpPr>
        <p:spPr>
          <a:xfrm>
            <a:off x="6180968" y="344424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マスタ</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管理</a:t>
            </a:r>
          </a:p>
        </p:txBody>
      </p:sp>
      <p:sp>
        <p:nvSpPr>
          <p:cNvPr id="40" name="Rectangle 124">
            <a:extLst>
              <a:ext uri="{FF2B5EF4-FFF2-40B4-BE49-F238E27FC236}">
                <a16:creationId xmlns:a16="http://schemas.microsoft.com/office/drawing/2014/main" id="{62BFF607-81BC-5827-9AAF-C36DB3EC7CB7}"/>
              </a:ext>
            </a:extLst>
          </p:cNvPr>
          <p:cNvSpPr/>
          <p:nvPr/>
        </p:nvSpPr>
        <p:spPr>
          <a:xfrm>
            <a:off x="6180968" y="4917257"/>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MD</a:t>
            </a: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基幹</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システム</a:t>
            </a:r>
          </a:p>
        </p:txBody>
      </p:sp>
      <p:sp>
        <p:nvSpPr>
          <p:cNvPr id="41" name="Rectangle 125">
            <a:extLst>
              <a:ext uri="{FF2B5EF4-FFF2-40B4-BE49-F238E27FC236}">
                <a16:creationId xmlns:a16="http://schemas.microsoft.com/office/drawing/2014/main" id="{7B23EC61-EF3A-B823-D056-88F95692280D}"/>
              </a:ext>
            </a:extLst>
          </p:cNvPr>
          <p:cNvSpPr/>
          <p:nvPr/>
        </p:nvSpPr>
        <p:spPr>
          <a:xfrm>
            <a:off x="7126143" y="5550957"/>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sp>
        <p:nvSpPr>
          <p:cNvPr id="45" name="Rectangle 53">
            <a:extLst>
              <a:ext uri="{FF2B5EF4-FFF2-40B4-BE49-F238E27FC236}">
                <a16:creationId xmlns:a16="http://schemas.microsoft.com/office/drawing/2014/main" id="{C2E48AF1-CA57-5E2B-D3BE-6179049FB7B7}"/>
              </a:ext>
            </a:extLst>
          </p:cNvPr>
          <p:cNvSpPr/>
          <p:nvPr/>
        </p:nvSpPr>
        <p:spPr>
          <a:xfrm>
            <a:off x="7122660" y="3447142"/>
            <a:ext cx="3244576" cy="638569"/>
          </a:xfrm>
          <a:prstGeom prst="rect">
            <a:avLst/>
          </a:prstGeom>
          <a:solidFill>
            <a:srgbClr val="ED7D31"/>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bg1"/>
                </a:solidFill>
                <a:latin typeface="メイリオ"/>
                <a:ea typeface="メイリオ"/>
              </a:rPr>
              <a:t>TRSY共通商談システム</a:t>
            </a:r>
          </a:p>
          <a:p>
            <a:pPr algn="ctr"/>
            <a:r>
              <a:rPr lang="ja-JP" altLang="en-US" sz="1200" b="1">
                <a:solidFill>
                  <a:schemeClr val="bg1"/>
                </a:solidFill>
                <a:latin typeface="メイリオ"/>
                <a:ea typeface="メイリオ"/>
              </a:rPr>
              <a:t>＋</a:t>
            </a:r>
          </a:p>
          <a:p>
            <a:pPr algn="ctr"/>
            <a:r>
              <a:rPr lang="ja-JP" altLang="en-US" sz="1200" b="1">
                <a:solidFill>
                  <a:schemeClr val="bg1"/>
                </a:solidFill>
                <a:latin typeface="メイリオ"/>
                <a:ea typeface="メイリオ"/>
              </a:rPr>
              <a:t>生鮮商談システム</a:t>
            </a:r>
          </a:p>
        </p:txBody>
      </p:sp>
      <p:sp>
        <p:nvSpPr>
          <p:cNvPr id="51" name="Rectangle 126">
            <a:extLst>
              <a:ext uri="{FF2B5EF4-FFF2-40B4-BE49-F238E27FC236}">
                <a16:creationId xmlns:a16="http://schemas.microsoft.com/office/drawing/2014/main" id="{F26AE512-7CBB-3302-2AED-179FF6FAEE66}"/>
              </a:ext>
            </a:extLst>
          </p:cNvPr>
          <p:cNvSpPr/>
          <p:nvPr/>
        </p:nvSpPr>
        <p:spPr>
          <a:xfrm>
            <a:off x="8488887" y="5551888"/>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52" name="Rectangle 52">
            <a:extLst>
              <a:ext uri="{FF2B5EF4-FFF2-40B4-BE49-F238E27FC236}">
                <a16:creationId xmlns:a16="http://schemas.microsoft.com/office/drawing/2014/main" id="{8256972E-175D-6AE7-6405-B4971983925C}"/>
              </a:ext>
            </a:extLst>
          </p:cNvPr>
          <p:cNvSpPr/>
          <p:nvPr/>
        </p:nvSpPr>
        <p:spPr>
          <a:xfrm>
            <a:off x="7060901" y="2708160"/>
            <a:ext cx="2648879" cy="603001"/>
          </a:xfrm>
          <a:prstGeom prst="rect">
            <a:avLst/>
          </a:prstGeom>
          <a:solidFill>
            <a:schemeClr val="accent4"/>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algn="ctr"/>
            <a:r>
              <a:rPr kumimoji="1" lang="ja-JP" altLang="en-US" sz="1200" b="1">
                <a:solidFill>
                  <a:schemeClr val="bg1"/>
                </a:solidFill>
                <a:latin typeface="メイリオ"/>
                <a:ea typeface="メイリオ"/>
              </a:rPr>
              <a:t>商品共通</a:t>
            </a:r>
            <a:r>
              <a:rPr kumimoji="1" lang="en-US" altLang="ja-JP" sz="1200" b="1">
                <a:solidFill>
                  <a:schemeClr val="bg1"/>
                </a:solidFill>
                <a:latin typeface="メイリオ"/>
                <a:ea typeface="メイリオ"/>
              </a:rPr>
              <a:t>DB</a:t>
            </a:r>
            <a:r>
              <a:rPr kumimoji="1" lang="ja-JP" altLang="en-US" sz="1200" b="1">
                <a:solidFill>
                  <a:schemeClr val="bg1"/>
                </a:solidFill>
                <a:latin typeface="メイリオ"/>
                <a:ea typeface="メイリオ"/>
              </a:rPr>
              <a:t>・統一窓口</a:t>
            </a:r>
            <a:endParaRPr kumimoji="1" lang="en-US" altLang="ja-JP" sz="1200" b="1">
              <a:solidFill>
                <a:schemeClr val="bg1"/>
              </a:solidFill>
              <a:latin typeface="メイリオ"/>
              <a:ea typeface="メイリオ"/>
            </a:endParaRPr>
          </a:p>
          <a:p>
            <a:pPr algn="ctr"/>
            <a:r>
              <a:rPr kumimoji="1" lang="ja-JP" altLang="en-US" sz="900" b="1">
                <a:solidFill>
                  <a:schemeClr val="bg1"/>
                </a:solidFill>
                <a:latin typeface="メイリオ"/>
                <a:ea typeface="メイリオ"/>
              </a:rPr>
              <a:t>（R-MELOS/</a:t>
            </a:r>
            <a:r>
              <a:rPr kumimoji="1" lang="en-US" altLang="ja-JP" sz="900" b="1" err="1">
                <a:solidFill>
                  <a:schemeClr val="bg1"/>
                </a:solidFill>
                <a:latin typeface="メイリオ"/>
                <a:ea typeface="メイリオ"/>
              </a:rPr>
              <a:t>eBASE</a:t>
            </a:r>
            <a:r>
              <a:rPr kumimoji="1" lang="ja-JP" altLang="en-US" sz="900" b="1">
                <a:solidFill>
                  <a:schemeClr val="bg1"/>
                </a:solidFill>
                <a:latin typeface="メイリオ"/>
                <a:ea typeface="メイリオ"/>
              </a:rPr>
              <a:t>クラウドサービス </a:t>
            </a:r>
            <a:r>
              <a:rPr kumimoji="1" lang="en-US" altLang="ja-JP" sz="900" b="1">
                <a:solidFill>
                  <a:schemeClr val="bg1"/>
                </a:solidFill>
                <a:latin typeface="メイリオ"/>
                <a:ea typeface="メイリオ"/>
              </a:rPr>
              <a:t>or??</a:t>
            </a:r>
            <a:r>
              <a:rPr kumimoji="1" lang="ja-JP" altLang="en-US" sz="900" b="1">
                <a:solidFill>
                  <a:schemeClr val="bg1"/>
                </a:solidFill>
                <a:latin typeface="メイリオ"/>
                <a:ea typeface="メイリオ"/>
              </a:rPr>
              <a:t> → 要検討）</a:t>
            </a:r>
            <a:endParaRPr lang="ja-JP" altLang="en-US" sz="900" b="1">
              <a:solidFill>
                <a:schemeClr val="bg1"/>
              </a:solidFill>
              <a:latin typeface="メイリオ"/>
              <a:ea typeface="メイリオ"/>
            </a:endParaRPr>
          </a:p>
        </p:txBody>
      </p:sp>
      <p:cxnSp>
        <p:nvCxnSpPr>
          <p:cNvPr id="55" name="Connector: Elbow 79">
            <a:extLst>
              <a:ext uri="{FF2B5EF4-FFF2-40B4-BE49-F238E27FC236}">
                <a16:creationId xmlns:a16="http://schemas.microsoft.com/office/drawing/2014/main" id="{D02DE846-723D-F7F7-A212-42597FFBE87F}"/>
              </a:ext>
            </a:extLst>
          </p:cNvPr>
          <p:cNvCxnSpPr>
            <a:cxnSpLocks/>
          </p:cNvCxnSpPr>
          <p:nvPr/>
        </p:nvCxnSpPr>
        <p:spPr>
          <a:xfrm rot="5400000">
            <a:off x="8210981" y="2514461"/>
            <a:ext cx="360040" cy="1"/>
          </a:xfrm>
          <a:prstGeom prst="bentConnector3">
            <a:avLst>
              <a:gd name="adj1" fmla="val 50000"/>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cxnSp>
        <p:nvCxnSpPr>
          <p:cNvPr id="56" name="Straight Arrow Connector 57">
            <a:extLst>
              <a:ext uri="{FF2B5EF4-FFF2-40B4-BE49-F238E27FC236}">
                <a16:creationId xmlns:a16="http://schemas.microsoft.com/office/drawing/2014/main" id="{07876BAA-D3EA-E8CE-4246-56B5784D73D9}"/>
              </a:ext>
            </a:extLst>
          </p:cNvPr>
          <p:cNvCxnSpPr>
            <a:cxnSpLocks/>
          </p:cNvCxnSpPr>
          <p:nvPr/>
        </p:nvCxnSpPr>
        <p:spPr>
          <a:xfrm>
            <a:off x="8406290" y="3255346"/>
            <a:ext cx="0" cy="189251"/>
          </a:xfrm>
          <a:prstGeom prst="straightConnector1">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sp>
        <p:nvSpPr>
          <p:cNvPr id="61" name="Freeform: Shape 6">
            <a:extLst>
              <a:ext uri="{FF2B5EF4-FFF2-40B4-BE49-F238E27FC236}">
                <a16:creationId xmlns:a16="http://schemas.microsoft.com/office/drawing/2014/main" id="{455CB1F6-042E-6C67-28F6-3EB094C370C1}"/>
              </a:ext>
            </a:extLst>
          </p:cNvPr>
          <p:cNvSpPr/>
          <p:nvPr/>
        </p:nvSpPr>
        <p:spPr>
          <a:xfrm rot="10800000" flipH="1">
            <a:off x="8661114" y="2119346"/>
            <a:ext cx="1221715" cy="1343179"/>
          </a:xfrm>
          <a:custGeom>
            <a:avLst/>
            <a:gdLst>
              <a:gd name="connsiteX0" fmla="*/ 0 w 808522"/>
              <a:gd name="connsiteY0" fmla="*/ 433137 h 433137"/>
              <a:gd name="connsiteX1" fmla="*/ 808522 w 808522"/>
              <a:gd name="connsiteY1" fmla="*/ 433137 h 433137"/>
              <a:gd name="connsiteX2" fmla="*/ 808522 w 808522"/>
              <a:gd name="connsiteY2" fmla="*/ 0 h 433137"/>
            </a:gdLst>
            <a:ahLst/>
            <a:cxnLst>
              <a:cxn ang="0">
                <a:pos x="connsiteX0" y="connsiteY0"/>
              </a:cxn>
              <a:cxn ang="0">
                <a:pos x="connsiteX1" y="connsiteY1"/>
              </a:cxn>
              <a:cxn ang="0">
                <a:pos x="connsiteX2" y="connsiteY2"/>
              </a:cxn>
            </a:cxnLst>
            <a:rect l="l" t="t" r="r" b="b"/>
            <a:pathLst>
              <a:path w="808522" h="433137">
                <a:moveTo>
                  <a:pt x="0" y="433137"/>
                </a:moveTo>
                <a:lnTo>
                  <a:pt x="808522" y="433137"/>
                </a:lnTo>
                <a:lnTo>
                  <a:pt x="808522" y="0"/>
                </a:lnTo>
              </a:path>
            </a:pathLst>
          </a:cu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3" name="フローチャート: 書類 62">
            <a:extLst>
              <a:ext uri="{FF2B5EF4-FFF2-40B4-BE49-F238E27FC236}">
                <a16:creationId xmlns:a16="http://schemas.microsoft.com/office/drawing/2014/main" id="{EE50408D-9371-1821-C138-D9294FA6F93B}"/>
              </a:ext>
            </a:extLst>
          </p:cNvPr>
          <p:cNvSpPr/>
          <p:nvPr/>
        </p:nvSpPr>
        <p:spPr>
          <a:xfrm>
            <a:off x="9804800" y="3809653"/>
            <a:ext cx="559835" cy="365457"/>
          </a:xfrm>
          <a:prstGeom prst="flowChartDocumen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600">
                <a:solidFill>
                  <a:schemeClr val="accent1"/>
                </a:solidFill>
                <a:ea typeface="ＭＳ Ｐゴシック"/>
                <a:cs typeface="Arial"/>
              </a:rPr>
              <a:t>EC用</a:t>
            </a:r>
          </a:p>
          <a:p>
            <a:pPr algn="ctr"/>
            <a:r>
              <a:rPr lang="ja-JP" altLang="en-US" sz="600">
                <a:solidFill>
                  <a:schemeClr val="accent1"/>
                </a:solidFill>
                <a:ea typeface="ＭＳ Ｐゴシック"/>
                <a:cs typeface="Arial"/>
              </a:rPr>
              <a:t>ファイル</a:t>
            </a:r>
          </a:p>
        </p:txBody>
      </p:sp>
      <p:sp>
        <p:nvSpPr>
          <p:cNvPr id="64" name="Rectangle 65">
            <a:extLst>
              <a:ext uri="{FF2B5EF4-FFF2-40B4-BE49-F238E27FC236}">
                <a16:creationId xmlns:a16="http://schemas.microsoft.com/office/drawing/2014/main" id="{9F613DEA-B317-F89E-C03C-FD3B9AD4EAB8}"/>
              </a:ext>
            </a:extLst>
          </p:cNvPr>
          <p:cNvSpPr/>
          <p:nvPr/>
        </p:nvSpPr>
        <p:spPr>
          <a:xfrm>
            <a:off x="10916055" y="3354319"/>
            <a:ext cx="862286" cy="566929"/>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eB</a:t>
            </a:r>
            <a:r>
              <a:rPr kumimoji="1" lang="en-US" altLang="ja-JP" sz="1200" b="1">
                <a:solidFill>
                  <a:schemeClr val="tx1"/>
                </a:solidFill>
                <a:latin typeface="メイリオ"/>
                <a:ea typeface="メイリオ"/>
              </a:rPr>
              <a:t>-MDM</a:t>
            </a:r>
            <a:endParaRPr kumimoji="1" lang="ja-JP" altLang="en-US" sz="1200" b="1">
              <a:solidFill>
                <a:schemeClr val="tx1"/>
              </a:solidFill>
              <a:latin typeface="メイリオ"/>
              <a:ea typeface="メイリオ"/>
            </a:endParaRPr>
          </a:p>
        </p:txBody>
      </p:sp>
      <p:sp>
        <p:nvSpPr>
          <p:cNvPr id="65" name="Rectangle 65">
            <a:extLst>
              <a:ext uri="{FF2B5EF4-FFF2-40B4-BE49-F238E27FC236}">
                <a16:creationId xmlns:a16="http://schemas.microsoft.com/office/drawing/2014/main" id="{54FB16DA-4AFC-2AAE-3F16-01C4C3CAB654}"/>
              </a:ext>
            </a:extLst>
          </p:cNvPr>
          <p:cNvSpPr/>
          <p:nvPr/>
        </p:nvSpPr>
        <p:spPr>
          <a:xfrm>
            <a:off x="10923475" y="4160025"/>
            <a:ext cx="853215" cy="585071"/>
          </a:xfrm>
          <a:prstGeom prst="rect">
            <a:avLst/>
          </a:prstGeom>
          <a:solidFill>
            <a:schemeClr val="bg1">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en-US" altLang="ja-JP" sz="1200" b="1" err="1">
                <a:solidFill>
                  <a:schemeClr val="tx1"/>
                </a:solidFill>
                <a:latin typeface="メイリオ"/>
                <a:ea typeface="メイリオ"/>
              </a:rPr>
              <a:t>eComm</a:t>
            </a:r>
            <a:endParaRPr lang="ja-JP" err="1"/>
          </a:p>
        </p:txBody>
      </p:sp>
      <p:pic>
        <p:nvPicPr>
          <p:cNvPr id="67" name="Graphic 75" descr="Group with solid fill">
            <a:extLst>
              <a:ext uri="{FF2B5EF4-FFF2-40B4-BE49-F238E27FC236}">
                <a16:creationId xmlns:a16="http://schemas.microsoft.com/office/drawing/2014/main" id="{30A058E6-FA7E-AE19-6BB4-BC608C72B900}"/>
              </a:ext>
            </a:extLst>
          </p:cNvPr>
          <p:cNvPicPr>
            <a:picLocks noChangeAspect="1"/>
          </p:cNvPicPr>
          <p:nvPr/>
        </p:nvPicPr>
        <p:blipFill>
          <a:blip>
            <a:extLst>
              <a:ext uri="{96DAC541-7B7A-43D3-8B79-37D633B846F1}">
                <asvg:svgBlip xmlns:asvg="http://schemas.microsoft.com/office/drawing/2016/SVG/main" r:embed="rId3"/>
              </a:ext>
            </a:extLst>
          </a:blip>
          <a:srcRect t="15965" b="16341"/>
          <a:stretch>
            <a:fillRect/>
          </a:stretch>
        </p:blipFill>
        <p:spPr>
          <a:xfrm>
            <a:off x="7119685" y="1754172"/>
            <a:ext cx="744607" cy="504056"/>
          </a:xfrm>
          <a:prstGeom prst="rect">
            <a:avLst/>
          </a:prstGeom>
        </p:spPr>
      </p:pic>
      <p:cxnSp>
        <p:nvCxnSpPr>
          <p:cNvPr id="68" name="直線矢印コネクタ 67">
            <a:extLst>
              <a:ext uri="{FF2B5EF4-FFF2-40B4-BE49-F238E27FC236}">
                <a16:creationId xmlns:a16="http://schemas.microsoft.com/office/drawing/2014/main" id="{6BD659D8-9F19-219A-1BE6-893654BFE131}"/>
              </a:ext>
            </a:extLst>
          </p:cNvPr>
          <p:cNvCxnSpPr>
            <a:cxnSpLocks/>
          </p:cNvCxnSpPr>
          <p:nvPr/>
        </p:nvCxnSpPr>
        <p:spPr>
          <a:xfrm flipV="1">
            <a:off x="10369698" y="3898898"/>
            <a:ext cx="558322" cy="3279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69" name="フローチャート: 書類 68">
            <a:extLst>
              <a:ext uri="{FF2B5EF4-FFF2-40B4-BE49-F238E27FC236}">
                <a16:creationId xmlns:a16="http://schemas.microsoft.com/office/drawing/2014/main" id="{057AF286-534F-F1B5-581C-008387892B14}"/>
              </a:ext>
            </a:extLst>
          </p:cNvPr>
          <p:cNvSpPr/>
          <p:nvPr/>
        </p:nvSpPr>
        <p:spPr>
          <a:xfrm>
            <a:off x="10911514" y="3728011"/>
            <a:ext cx="559834" cy="365456"/>
          </a:xfrm>
          <a:prstGeom prst="flowChartDocumen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700">
                <a:solidFill>
                  <a:schemeClr val="accent1"/>
                </a:solidFill>
                <a:ea typeface="ＭＳ Ｐゴシック"/>
                <a:cs typeface="Arial"/>
              </a:rPr>
              <a:t>EC用</a:t>
            </a:r>
          </a:p>
          <a:p>
            <a:pPr algn="ctr"/>
            <a:r>
              <a:rPr lang="ja-JP" altLang="en-US" sz="700">
                <a:solidFill>
                  <a:schemeClr val="accent1"/>
                </a:solidFill>
                <a:ea typeface="ＭＳ Ｐゴシック"/>
                <a:cs typeface="Arial"/>
              </a:rPr>
              <a:t>ファイル</a:t>
            </a:r>
          </a:p>
        </p:txBody>
      </p:sp>
      <p:cxnSp>
        <p:nvCxnSpPr>
          <p:cNvPr id="73" name="直線矢印コネクタ 72">
            <a:extLst>
              <a:ext uri="{FF2B5EF4-FFF2-40B4-BE49-F238E27FC236}">
                <a16:creationId xmlns:a16="http://schemas.microsoft.com/office/drawing/2014/main" id="{A972BCB3-7C16-CF12-C7C3-A7382B85B62F}"/>
              </a:ext>
            </a:extLst>
          </p:cNvPr>
          <p:cNvCxnSpPr>
            <a:cxnSpLocks/>
          </p:cNvCxnSpPr>
          <p:nvPr/>
        </p:nvCxnSpPr>
        <p:spPr>
          <a:xfrm>
            <a:off x="10497518" y="4453771"/>
            <a:ext cx="445360" cy="8907"/>
          </a:xfrm>
          <a:prstGeom prst="straightConnector1">
            <a:avLst/>
          </a:prstGeom>
          <a:ln w="19050">
            <a:solidFill>
              <a:schemeClr val="accent5"/>
            </a:solidFill>
            <a:tailEnd type="arrow" w="sm" len="sm"/>
          </a:ln>
        </p:spPr>
        <p:style>
          <a:lnRef idx="1">
            <a:schemeClr val="accent1"/>
          </a:lnRef>
          <a:fillRef idx="0">
            <a:schemeClr val="accent1"/>
          </a:fillRef>
          <a:effectRef idx="0">
            <a:schemeClr val="accent1"/>
          </a:effectRef>
          <a:fontRef idx="minor">
            <a:schemeClr val="tx1"/>
          </a:fontRef>
        </p:style>
      </p:cxnSp>
      <p:cxnSp>
        <p:nvCxnSpPr>
          <p:cNvPr id="74" name="直線矢印コネクタ 73">
            <a:extLst>
              <a:ext uri="{FF2B5EF4-FFF2-40B4-BE49-F238E27FC236}">
                <a16:creationId xmlns:a16="http://schemas.microsoft.com/office/drawing/2014/main" id="{E4BFAC63-FE28-7461-D38D-AB645BFFCE37}"/>
              </a:ext>
            </a:extLst>
          </p:cNvPr>
          <p:cNvCxnSpPr>
            <a:cxnSpLocks/>
          </p:cNvCxnSpPr>
          <p:nvPr/>
        </p:nvCxnSpPr>
        <p:spPr>
          <a:xfrm>
            <a:off x="11584034" y="3919175"/>
            <a:ext cx="8907" cy="22268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78" name="直線矢印コネクタ 77">
            <a:extLst>
              <a:ext uri="{FF2B5EF4-FFF2-40B4-BE49-F238E27FC236}">
                <a16:creationId xmlns:a16="http://schemas.microsoft.com/office/drawing/2014/main" id="{FF1D8D4C-14F4-B10E-F6E5-F1D0A11663FF}"/>
              </a:ext>
            </a:extLst>
          </p:cNvPr>
          <p:cNvCxnSpPr>
            <a:cxnSpLocks/>
          </p:cNvCxnSpPr>
          <p:nvPr/>
        </p:nvCxnSpPr>
        <p:spPr>
          <a:xfrm>
            <a:off x="9695704" y="4036118"/>
            <a:ext cx="8906" cy="365195"/>
          </a:xfrm>
          <a:prstGeom prst="straightConnector1">
            <a:avLst/>
          </a:prstGeom>
          <a:ln w="28575"/>
        </p:spPr>
        <p:style>
          <a:lnRef idx="1">
            <a:schemeClr val="accent5"/>
          </a:lnRef>
          <a:fillRef idx="0">
            <a:schemeClr val="accent5"/>
          </a:fillRef>
          <a:effectRef idx="0">
            <a:schemeClr val="accent5"/>
          </a:effectRef>
          <a:fontRef idx="minor">
            <a:schemeClr val="tx1"/>
          </a:fontRef>
        </p:style>
      </p:cxnSp>
      <p:sp>
        <p:nvSpPr>
          <p:cNvPr id="80" name="Rectangle 126">
            <a:extLst>
              <a:ext uri="{FF2B5EF4-FFF2-40B4-BE49-F238E27FC236}">
                <a16:creationId xmlns:a16="http://schemas.microsoft.com/office/drawing/2014/main" id="{3A410388-FB56-9E91-2EA0-E8B97FBF4CE4}"/>
              </a:ext>
            </a:extLst>
          </p:cNvPr>
          <p:cNvSpPr/>
          <p:nvPr/>
        </p:nvSpPr>
        <p:spPr>
          <a:xfrm>
            <a:off x="10811172" y="5497459"/>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6" name="Speech Bubble: Rectangle with Corners Rounded 12">
            <a:extLst>
              <a:ext uri="{FF2B5EF4-FFF2-40B4-BE49-F238E27FC236}">
                <a16:creationId xmlns:a16="http://schemas.microsoft.com/office/drawing/2014/main" id="{297F609C-D93C-1392-2CF6-790ADEA86CDC}"/>
              </a:ext>
            </a:extLst>
          </p:cNvPr>
          <p:cNvSpPr/>
          <p:nvPr/>
        </p:nvSpPr>
        <p:spPr>
          <a:xfrm>
            <a:off x="4210321" y="1614180"/>
            <a:ext cx="1913950" cy="511182"/>
          </a:xfrm>
          <a:prstGeom prst="wedgeRoundRectCallout">
            <a:avLst>
              <a:gd name="adj1" fmla="val 8253"/>
              <a:gd name="adj2" fmla="val 66822"/>
              <a:gd name="adj3" fmla="val 16667"/>
            </a:avLst>
          </a:prstGeom>
          <a:solidFill>
            <a:schemeClr val="accent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en-US"/>
            </a:defPPr>
            <a:lvl1pPr marL="0" marR="0" lvl="0"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1pPr>
            <a:lvl2pPr marL="457200" marR="0" lvl="1"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2pPr>
            <a:lvl3pPr marL="914400" marR="0" lvl="2"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3pPr>
            <a:lvl4pPr marL="1371600" marR="0" lvl="3"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4pPr>
            <a:lvl5pPr marL="1828800" marR="0" lvl="4"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5pPr>
            <a:lvl6pPr marL="2286000" marR="0" lvl="5"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6pPr>
            <a:lvl7pPr marL="2743200" marR="0" lvl="6"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7pPr>
            <a:lvl8pPr marL="3200400" marR="0" lvl="7"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8pPr>
            <a:lvl9pPr marL="3657600" marR="0" lvl="8" algn="l" defTabSz="457200" rtl="0" eaLnBrk="1" latinLnBrk="0" hangingPunct="1">
              <a:lnSpc>
                <a:spcPct val="100000"/>
              </a:lnSpc>
              <a:spcBef>
                <a:spcPts val="0"/>
              </a:spcBef>
              <a:spcAft>
                <a:spcPts val="0"/>
              </a:spcAft>
              <a:buClr>
                <a:srgbClr val="000000"/>
              </a:buClr>
              <a:buFont typeface="Arial"/>
              <a:defRPr sz="1800" b="0" i="0" u="none" strike="noStrike" kern="1200" cap="none">
                <a:solidFill>
                  <a:schemeClr val="lt1"/>
                </a:solidFill>
                <a:latin typeface="+mn-lt"/>
                <a:ea typeface="+mn-ea"/>
                <a:cs typeface="+mn-cs"/>
                <a:sym typeface="Arial"/>
              </a:defRPr>
            </a:lvl9pPr>
          </a:lstStyle>
          <a:p>
            <a:pPr algn="ctr"/>
            <a:r>
              <a:rPr kumimoji="1" lang="ja-JP" altLang="en-US" sz="800">
                <a:solidFill>
                  <a:schemeClr val="bg1"/>
                </a:solidFill>
                <a:latin typeface="メイリオ" panose="020B0604030504040204" pitchFamily="50" charset="-128"/>
                <a:ea typeface="メイリオ" panose="020B0604030504040204" pitchFamily="50" charset="-128"/>
              </a:rPr>
              <a:t>既に商品共通</a:t>
            </a:r>
            <a:r>
              <a:rPr kumimoji="1" lang="en-US" altLang="ja-JP" sz="800">
                <a:solidFill>
                  <a:schemeClr val="bg1"/>
                </a:solidFill>
                <a:latin typeface="メイリオ" panose="020B0604030504040204" pitchFamily="50" charset="-128"/>
                <a:ea typeface="メイリオ" panose="020B0604030504040204" pitchFamily="50" charset="-128"/>
              </a:rPr>
              <a:t>DB</a:t>
            </a:r>
            <a:r>
              <a:rPr kumimoji="1" lang="ja-JP" altLang="en-US" sz="800">
                <a:solidFill>
                  <a:schemeClr val="bg1"/>
                </a:solidFill>
                <a:latin typeface="メイリオ" panose="020B0604030504040204" pitchFamily="50" charset="-128"/>
                <a:ea typeface="メイリオ" panose="020B0604030504040204" pitchFamily="50" charset="-128"/>
              </a:rPr>
              <a:t>に登録した商品基礎情報は</a:t>
            </a:r>
            <a:r>
              <a:rPr kumimoji="1" lang="en-US" altLang="ja-JP" sz="800">
                <a:solidFill>
                  <a:schemeClr val="bg1"/>
                </a:solidFill>
                <a:latin typeface="メイリオ" panose="020B0604030504040204" pitchFamily="50" charset="-128"/>
                <a:ea typeface="メイリオ" panose="020B0604030504040204" pitchFamily="50" charset="-128"/>
              </a:rPr>
              <a:t>JAN</a:t>
            </a:r>
            <a:r>
              <a:rPr kumimoji="1" lang="ja-JP" altLang="en-US" sz="800">
                <a:solidFill>
                  <a:schemeClr val="bg1"/>
                </a:solidFill>
                <a:latin typeface="メイリオ" panose="020B0604030504040204" pitchFamily="50" charset="-128"/>
                <a:ea typeface="メイリオ" panose="020B0604030504040204" pitchFamily="50" charset="-128"/>
              </a:rPr>
              <a:t>コードから呼び出し可能</a:t>
            </a:r>
            <a:endParaRPr kumimoji="1" lang="en-US" altLang="ja-JP" sz="800">
              <a:solidFill>
                <a:schemeClr val="bg1"/>
              </a:solidFill>
              <a:latin typeface="メイリオ" panose="020B0604030504040204" pitchFamily="50" charset="-128"/>
              <a:ea typeface="メイリオ" panose="020B0604030504040204" pitchFamily="50" charset="-128"/>
            </a:endParaRPr>
          </a:p>
          <a:p>
            <a:pPr algn="ctr"/>
            <a:r>
              <a:rPr kumimoji="1" lang="ja-JP" altLang="en-US" sz="800">
                <a:solidFill>
                  <a:schemeClr val="bg1"/>
                </a:solidFill>
                <a:latin typeface="メイリオ" panose="020B0604030504040204" pitchFamily="50" charset="-128"/>
                <a:ea typeface="メイリオ" panose="020B0604030504040204" pitchFamily="50" charset="-128"/>
              </a:rPr>
              <a:t>（＝</a:t>
            </a:r>
            <a:r>
              <a:rPr kumimoji="1" lang="ja-JP" altLang="en-US" sz="800" b="1" u="sng">
                <a:solidFill>
                  <a:schemeClr val="bg1"/>
                </a:solidFill>
                <a:latin typeface="メイリオ" panose="020B0604030504040204" pitchFamily="50" charset="-128"/>
                <a:ea typeface="メイリオ" panose="020B0604030504040204" pitchFamily="50" charset="-128"/>
              </a:rPr>
              <a:t>追加属性情報のみ</a:t>
            </a:r>
            <a:r>
              <a:rPr kumimoji="1" lang="ja-JP" altLang="en-US" sz="800">
                <a:solidFill>
                  <a:schemeClr val="bg1"/>
                </a:solidFill>
                <a:latin typeface="メイリオ" panose="020B0604030504040204" pitchFamily="50" charset="-128"/>
                <a:ea typeface="メイリオ" panose="020B0604030504040204" pitchFamily="50" charset="-128"/>
              </a:rPr>
              <a:t>の登録で</a:t>
            </a:r>
            <a:r>
              <a:rPr kumimoji="1" lang="en-US" altLang="ja-JP" sz="800">
                <a:solidFill>
                  <a:schemeClr val="bg1"/>
                </a:solidFill>
                <a:latin typeface="メイリオ" panose="020B0604030504040204" pitchFamily="50" charset="-128"/>
                <a:ea typeface="メイリオ" panose="020B0604030504040204" pitchFamily="50" charset="-128"/>
              </a:rPr>
              <a:t>OK</a:t>
            </a:r>
            <a:r>
              <a:rPr kumimoji="1" lang="ja-JP" altLang="en-US" sz="800">
                <a:solidFill>
                  <a:schemeClr val="bg1"/>
                </a:solidFill>
                <a:latin typeface="メイリオ" panose="020B0604030504040204" pitchFamily="50" charset="-128"/>
                <a:ea typeface="メイリオ" panose="020B0604030504040204" pitchFamily="50" charset="-128"/>
              </a:rPr>
              <a:t>）</a:t>
            </a:r>
          </a:p>
        </p:txBody>
      </p:sp>
      <p:sp>
        <p:nvSpPr>
          <p:cNvPr id="7" name="Rectangle 106">
            <a:extLst>
              <a:ext uri="{FF2B5EF4-FFF2-40B4-BE49-F238E27FC236}">
                <a16:creationId xmlns:a16="http://schemas.microsoft.com/office/drawing/2014/main" id="{03595903-F249-FF62-9027-789414101147}"/>
              </a:ext>
            </a:extLst>
          </p:cNvPr>
          <p:cNvSpPr/>
          <p:nvPr/>
        </p:nvSpPr>
        <p:spPr>
          <a:xfrm flipH="1">
            <a:off x="7092269" y="2331890"/>
            <a:ext cx="1152128" cy="27278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4"/>
                </a:solidFill>
                <a:latin typeface="メイリオ" panose="020B0604030504040204" pitchFamily="50" charset="-128"/>
                <a:ea typeface="メイリオ" panose="020B0604030504040204" pitchFamily="50" charset="-128"/>
              </a:rPr>
              <a:t>TR / SY</a:t>
            </a:r>
            <a:r>
              <a:rPr kumimoji="1" lang="ja-JP" altLang="en-US" sz="700" b="1">
                <a:solidFill>
                  <a:schemeClr val="accent4"/>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a:p>
            <a:pPr algn="ctr"/>
            <a:r>
              <a:rPr kumimoji="1" lang="ja-JP" altLang="en-US" sz="700" b="1">
                <a:solidFill>
                  <a:schemeClr val="accent4"/>
                </a:solidFill>
                <a:latin typeface="メイリオ" panose="020B0604030504040204" pitchFamily="50" charset="-128"/>
                <a:ea typeface="メイリオ" panose="020B0604030504040204" pitchFamily="50" charset="-128"/>
              </a:rPr>
              <a:t>（商品 </a:t>
            </a:r>
            <a:r>
              <a:rPr kumimoji="1" lang="ja-JP" altLang="en-US" sz="1050" b="1" u="sng">
                <a:solidFill>
                  <a:schemeClr val="accent4"/>
                </a:solidFill>
                <a:latin typeface="メイリオ" panose="020B0604030504040204" pitchFamily="50" charset="-128"/>
                <a:ea typeface="メイリオ" panose="020B0604030504040204" pitchFamily="50" charset="-128"/>
              </a:rPr>
              <a:t>基礎</a:t>
            </a:r>
            <a:r>
              <a:rPr kumimoji="1" lang="ja-JP" altLang="en-US" sz="1050" b="1">
                <a:solidFill>
                  <a:schemeClr val="accent4"/>
                </a:solidFill>
                <a:latin typeface="メイリオ" panose="020B0604030504040204" pitchFamily="50" charset="-128"/>
                <a:ea typeface="メイリオ" panose="020B0604030504040204" pitchFamily="50" charset="-128"/>
              </a:rPr>
              <a:t> </a:t>
            </a:r>
            <a:r>
              <a:rPr kumimoji="1" lang="ja-JP" altLang="en-US" sz="700" b="1">
                <a:solidFill>
                  <a:schemeClr val="accent4"/>
                </a:solidFill>
                <a:latin typeface="メイリオ" panose="020B0604030504040204" pitchFamily="50" charset="-128"/>
                <a:ea typeface="メイリオ" panose="020B0604030504040204" pitchFamily="50" charset="-128"/>
              </a:rPr>
              <a:t>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p:txBody>
      </p:sp>
      <p:sp>
        <p:nvSpPr>
          <p:cNvPr id="8" name="Rectangle 8">
            <a:extLst>
              <a:ext uri="{FF2B5EF4-FFF2-40B4-BE49-F238E27FC236}">
                <a16:creationId xmlns:a16="http://schemas.microsoft.com/office/drawing/2014/main" id="{798A95CC-82C8-DAB2-40A1-3E804FCDB94A}"/>
              </a:ext>
            </a:extLst>
          </p:cNvPr>
          <p:cNvSpPr/>
          <p:nvPr/>
        </p:nvSpPr>
        <p:spPr>
          <a:xfrm flipH="1">
            <a:off x="9866372" y="2326564"/>
            <a:ext cx="1331331" cy="27278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4"/>
                </a:solidFill>
                <a:latin typeface="メイリオ" panose="020B0604030504040204" pitchFamily="50" charset="-128"/>
                <a:ea typeface="メイリオ" panose="020B0604030504040204" pitchFamily="50" charset="-128"/>
              </a:rPr>
              <a:t>TR / SY</a:t>
            </a:r>
            <a:r>
              <a:rPr kumimoji="1" lang="ja-JP" altLang="en-US" sz="700" b="1">
                <a:solidFill>
                  <a:schemeClr val="accent4"/>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a:p>
            <a:pPr algn="ctr"/>
            <a:r>
              <a:rPr kumimoji="1" lang="ja-JP" altLang="en-US" sz="700" b="1">
                <a:solidFill>
                  <a:schemeClr val="accent4"/>
                </a:solidFill>
                <a:latin typeface="メイリオ" panose="020B0604030504040204" pitchFamily="50" charset="-128"/>
                <a:ea typeface="メイリオ" panose="020B0604030504040204" pitchFamily="50" charset="-128"/>
              </a:rPr>
              <a:t>（商品 </a:t>
            </a:r>
            <a:r>
              <a:rPr kumimoji="1" lang="ja-JP" altLang="en-US" sz="1050" b="1" u="sng">
                <a:solidFill>
                  <a:schemeClr val="accent4"/>
                </a:solidFill>
                <a:latin typeface="メイリオ" panose="020B0604030504040204" pitchFamily="50" charset="-128"/>
                <a:ea typeface="メイリオ" panose="020B0604030504040204" pitchFamily="50" charset="-128"/>
              </a:rPr>
              <a:t>追加属性</a:t>
            </a:r>
            <a:r>
              <a:rPr kumimoji="1" lang="ja-JP" altLang="en-US" sz="1050" b="1">
                <a:solidFill>
                  <a:schemeClr val="accent4"/>
                </a:solidFill>
                <a:latin typeface="メイリオ" panose="020B0604030504040204" pitchFamily="50" charset="-128"/>
                <a:ea typeface="メイリオ" panose="020B0604030504040204" pitchFamily="50" charset="-128"/>
              </a:rPr>
              <a:t> </a:t>
            </a:r>
            <a:r>
              <a:rPr kumimoji="1" lang="ja-JP" altLang="en-US" sz="700" b="1">
                <a:solidFill>
                  <a:schemeClr val="accent4"/>
                </a:solidFill>
                <a:latin typeface="メイリオ" panose="020B0604030504040204" pitchFamily="50" charset="-128"/>
                <a:ea typeface="メイリオ" panose="020B0604030504040204" pitchFamily="50" charset="-128"/>
              </a:rPr>
              <a:t>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p:txBody>
      </p:sp>
      <p:cxnSp>
        <p:nvCxnSpPr>
          <p:cNvPr id="10" name="直線矢印コネクタ 9">
            <a:extLst>
              <a:ext uri="{FF2B5EF4-FFF2-40B4-BE49-F238E27FC236}">
                <a16:creationId xmlns:a16="http://schemas.microsoft.com/office/drawing/2014/main" id="{915B2467-D67A-A7B7-D205-8B81514930A6}"/>
              </a:ext>
            </a:extLst>
          </p:cNvPr>
          <p:cNvCxnSpPr>
            <a:cxnSpLocks/>
          </p:cNvCxnSpPr>
          <p:nvPr/>
        </p:nvCxnSpPr>
        <p:spPr>
          <a:xfrm flipV="1">
            <a:off x="2104543" y="2021937"/>
            <a:ext cx="220239" cy="14748"/>
          </a:xfrm>
          <a:prstGeom prst="straightConnector1">
            <a:avLst/>
          </a:prstGeom>
        </p:spPr>
        <p:style>
          <a:lnRef idx="1">
            <a:schemeClr val="dk1"/>
          </a:lnRef>
          <a:fillRef idx="0">
            <a:schemeClr val="dk1"/>
          </a:fillRef>
          <a:effectRef idx="0">
            <a:schemeClr val="dk1"/>
          </a:effectRef>
          <a:fontRef idx="minor">
            <a:schemeClr val="tx1"/>
          </a:fontRef>
        </p:style>
      </p:cxnSp>
      <p:cxnSp>
        <p:nvCxnSpPr>
          <p:cNvPr id="11" name="直線矢印コネクタ 10">
            <a:extLst>
              <a:ext uri="{FF2B5EF4-FFF2-40B4-BE49-F238E27FC236}">
                <a16:creationId xmlns:a16="http://schemas.microsoft.com/office/drawing/2014/main" id="{E2E648CB-4364-4C8F-BCC2-0CE195334B66}"/>
              </a:ext>
            </a:extLst>
          </p:cNvPr>
          <p:cNvCxnSpPr/>
          <p:nvPr/>
        </p:nvCxnSpPr>
        <p:spPr>
          <a:xfrm>
            <a:off x="7838350" y="2057567"/>
            <a:ext cx="160329" cy="8906"/>
          </a:xfrm>
          <a:prstGeom prst="straightConnector1">
            <a:avLst/>
          </a:prstGeom>
        </p:spPr>
        <p:style>
          <a:lnRef idx="1">
            <a:schemeClr val="dk1"/>
          </a:lnRef>
          <a:fillRef idx="0">
            <a:schemeClr val="dk1"/>
          </a:fillRef>
          <a:effectRef idx="0">
            <a:schemeClr val="dk1"/>
          </a:effectRef>
          <a:fontRef idx="minor">
            <a:schemeClr val="tx1"/>
          </a:fontRef>
        </p:style>
      </p:cxnSp>
      <p:sp>
        <p:nvSpPr>
          <p:cNvPr id="22" name="Rectangle 74">
            <a:extLst>
              <a:ext uri="{FF2B5EF4-FFF2-40B4-BE49-F238E27FC236}">
                <a16:creationId xmlns:a16="http://schemas.microsoft.com/office/drawing/2014/main" id="{9B4159DC-8465-4AEB-C944-AF41D1ED0F35}"/>
              </a:ext>
            </a:extLst>
          </p:cNvPr>
          <p:cNvSpPr/>
          <p:nvPr/>
        </p:nvSpPr>
        <p:spPr>
          <a:xfrm>
            <a:off x="1286416" y="1512054"/>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sp>
        <p:nvSpPr>
          <p:cNvPr id="28" name="Rectangle 74">
            <a:extLst>
              <a:ext uri="{FF2B5EF4-FFF2-40B4-BE49-F238E27FC236}">
                <a16:creationId xmlns:a16="http://schemas.microsoft.com/office/drawing/2014/main" id="{D0C8C7E8-3E2D-1672-884F-4C4A5CB244CA}"/>
              </a:ext>
            </a:extLst>
          </p:cNvPr>
          <p:cNvSpPr/>
          <p:nvPr/>
        </p:nvSpPr>
        <p:spPr>
          <a:xfrm>
            <a:off x="6928845" y="1593697"/>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sp>
        <p:nvSpPr>
          <p:cNvPr id="34" name="Rectangle 74">
            <a:extLst>
              <a:ext uri="{FF2B5EF4-FFF2-40B4-BE49-F238E27FC236}">
                <a16:creationId xmlns:a16="http://schemas.microsoft.com/office/drawing/2014/main" id="{45AC2A56-DD3C-3FFC-6A4B-6653BE31A499}"/>
              </a:ext>
            </a:extLst>
          </p:cNvPr>
          <p:cNvSpPr/>
          <p:nvPr/>
        </p:nvSpPr>
        <p:spPr>
          <a:xfrm>
            <a:off x="2810416" y="1639054"/>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バイヤー</a:t>
            </a:r>
          </a:p>
        </p:txBody>
      </p:sp>
      <p:sp>
        <p:nvSpPr>
          <p:cNvPr id="48" name="テキスト ボックス 47">
            <a:extLst>
              <a:ext uri="{FF2B5EF4-FFF2-40B4-BE49-F238E27FC236}">
                <a16:creationId xmlns:a16="http://schemas.microsoft.com/office/drawing/2014/main" id="{143C6D1D-AC9C-B6D9-3DFA-944260BE7AF0}"/>
              </a:ext>
            </a:extLst>
          </p:cNvPr>
          <p:cNvSpPr txBox="1"/>
          <p:nvPr/>
        </p:nvSpPr>
        <p:spPr>
          <a:xfrm>
            <a:off x="10633442" y="3040814"/>
            <a:ext cx="141877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100">
                <a:solidFill>
                  <a:schemeClr val="bg2"/>
                </a:solidFill>
              </a:rPr>
              <a:t>EC過渡期対応</a:t>
            </a:r>
          </a:p>
        </p:txBody>
      </p:sp>
      <p:sp>
        <p:nvSpPr>
          <p:cNvPr id="53" name="テキスト ボックス 52">
            <a:extLst>
              <a:ext uri="{FF2B5EF4-FFF2-40B4-BE49-F238E27FC236}">
                <a16:creationId xmlns:a16="http://schemas.microsoft.com/office/drawing/2014/main" id="{7ACA0468-9EA2-9EC3-0757-03BAC2969809}"/>
              </a:ext>
            </a:extLst>
          </p:cNvPr>
          <p:cNvSpPr txBox="1"/>
          <p:nvPr/>
        </p:nvSpPr>
        <p:spPr>
          <a:xfrm>
            <a:off x="4864013" y="3095243"/>
            <a:ext cx="1291771"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1100">
                <a:solidFill>
                  <a:schemeClr val="bg2"/>
                </a:solidFill>
              </a:rPr>
              <a:t>EC過渡期対応</a:t>
            </a:r>
          </a:p>
        </p:txBody>
      </p:sp>
      <p:sp>
        <p:nvSpPr>
          <p:cNvPr id="70" name="Rectangle 53">
            <a:extLst>
              <a:ext uri="{FF2B5EF4-FFF2-40B4-BE49-F238E27FC236}">
                <a16:creationId xmlns:a16="http://schemas.microsoft.com/office/drawing/2014/main" id="{BB1467CF-6EAA-CAD7-0D24-A93F9F974959}"/>
              </a:ext>
            </a:extLst>
          </p:cNvPr>
          <p:cNvSpPr/>
          <p:nvPr/>
        </p:nvSpPr>
        <p:spPr>
          <a:xfrm>
            <a:off x="1398589" y="3447142"/>
            <a:ext cx="3289712" cy="880178"/>
          </a:xfrm>
          <a:prstGeom prst="rect">
            <a:avLst/>
          </a:prstGeom>
          <a:solidFill>
            <a:srgbClr val="ED7D31"/>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bg1"/>
                </a:solidFill>
                <a:latin typeface="メイリオ"/>
                <a:ea typeface="メイリオ"/>
              </a:rPr>
              <a:t>TRSY共通商談システム</a:t>
            </a:r>
            <a:endParaRPr kumimoji="1" lang="ja-JP">
              <a:solidFill>
                <a:schemeClr val="bg1"/>
              </a:solidFill>
            </a:endParaRPr>
          </a:p>
          <a:p>
            <a:pPr algn="ctr"/>
            <a:r>
              <a:rPr kumimoji="1" lang="ja-JP" altLang="en-US" sz="1200" b="1">
                <a:solidFill>
                  <a:schemeClr val="bg1"/>
                </a:solidFill>
                <a:latin typeface="メイリオ"/>
                <a:ea typeface="メイリオ"/>
              </a:rPr>
              <a:t>（非生鮮・アパレル）</a:t>
            </a:r>
            <a:endParaRPr lang="ja-JP">
              <a:solidFill>
                <a:schemeClr val="bg1"/>
              </a:solidFill>
            </a:endParaRPr>
          </a:p>
          <a:p>
            <a:pPr algn="ctr"/>
            <a:r>
              <a:rPr lang="ja-JP" altLang="en-US" sz="1200" b="1">
                <a:solidFill>
                  <a:schemeClr val="bg1"/>
                </a:solidFill>
                <a:latin typeface="メイリオ"/>
                <a:ea typeface="メイリオ"/>
              </a:rPr>
              <a:t>＋</a:t>
            </a:r>
          </a:p>
          <a:p>
            <a:pPr algn="ctr"/>
            <a:r>
              <a:rPr lang="ja-JP" altLang="en-US" sz="1200" b="1">
                <a:solidFill>
                  <a:schemeClr val="bg1"/>
                </a:solidFill>
                <a:latin typeface="メイリオ"/>
                <a:ea typeface="メイリオ"/>
              </a:rPr>
              <a:t>生鮮商談システム</a:t>
            </a:r>
          </a:p>
        </p:txBody>
      </p:sp>
      <p:sp>
        <p:nvSpPr>
          <p:cNvPr id="3" name="フローチャート: 書類 2">
            <a:extLst>
              <a:ext uri="{FF2B5EF4-FFF2-40B4-BE49-F238E27FC236}">
                <a16:creationId xmlns:a16="http://schemas.microsoft.com/office/drawing/2014/main" id="{5C67F808-8D20-9633-CE97-C16D38440F22}"/>
              </a:ext>
            </a:extLst>
          </p:cNvPr>
          <p:cNvSpPr/>
          <p:nvPr/>
        </p:nvSpPr>
        <p:spPr>
          <a:xfrm>
            <a:off x="4135157" y="3809653"/>
            <a:ext cx="559835" cy="365457"/>
          </a:xfrm>
          <a:prstGeom prst="flowChartDocumen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600">
                <a:solidFill>
                  <a:schemeClr val="accent1"/>
                </a:solidFill>
                <a:ea typeface="ＭＳ Ｐゴシック"/>
                <a:cs typeface="Arial"/>
              </a:rPr>
              <a:t>EC用</a:t>
            </a:r>
          </a:p>
          <a:p>
            <a:pPr algn="ctr"/>
            <a:r>
              <a:rPr lang="ja-JP" altLang="en-US" sz="600">
                <a:solidFill>
                  <a:schemeClr val="accent1"/>
                </a:solidFill>
                <a:ea typeface="ＭＳ Ｐゴシック"/>
                <a:cs typeface="Arial"/>
              </a:rPr>
              <a:t>ファイル</a:t>
            </a:r>
          </a:p>
        </p:txBody>
      </p:sp>
      <p:sp>
        <p:nvSpPr>
          <p:cNvPr id="49" name="四角形: 角を丸くする 48">
            <a:extLst>
              <a:ext uri="{FF2B5EF4-FFF2-40B4-BE49-F238E27FC236}">
                <a16:creationId xmlns:a16="http://schemas.microsoft.com/office/drawing/2014/main" id="{CF7BCA7C-1399-340B-B97F-C335F60219AF}"/>
              </a:ext>
            </a:extLst>
          </p:cNvPr>
          <p:cNvSpPr/>
          <p:nvPr/>
        </p:nvSpPr>
        <p:spPr>
          <a:xfrm>
            <a:off x="3962538" y="3305567"/>
            <a:ext cx="2238827" cy="1558469"/>
          </a:xfrm>
          <a:prstGeom prst="roundRect">
            <a:avLst/>
          </a:prstGeom>
          <a:noFill/>
          <a:ln>
            <a:solidFill>
              <a:schemeClr val="bg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71" name="四角形: 角を丸くする 70">
            <a:extLst>
              <a:ext uri="{FF2B5EF4-FFF2-40B4-BE49-F238E27FC236}">
                <a16:creationId xmlns:a16="http://schemas.microsoft.com/office/drawing/2014/main" id="{B15E37CA-7129-C17C-BA2C-50A1A8CE1FC1}"/>
              </a:ext>
            </a:extLst>
          </p:cNvPr>
          <p:cNvSpPr/>
          <p:nvPr/>
        </p:nvSpPr>
        <p:spPr>
          <a:xfrm>
            <a:off x="9567182" y="4338589"/>
            <a:ext cx="932541" cy="17961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Arial"/>
              </a:rPr>
              <a:t>GCS</a:t>
            </a:r>
            <a:endParaRPr lang="ja-JP" altLang="en-US"/>
          </a:p>
        </p:txBody>
      </p:sp>
      <p:sp>
        <p:nvSpPr>
          <p:cNvPr id="76" name="フローチャート: 書類 75">
            <a:extLst>
              <a:ext uri="{FF2B5EF4-FFF2-40B4-BE49-F238E27FC236}">
                <a16:creationId xmlns:a16="http://schemas.microsoft.com/office/drawing/2014/main" id="{732EF92E-7FE7-24B8-10E3-B99632A70688}"/>
              </a:ext>
            </a:extLst>
          </p:cNvPr>
          <p:cNvSpPr/>
          <p:nvPr/>
        </p:nvSpPr>
        <p:spPr>
          <a:xfrm>
            <a:off x="10131371" y="4517225"/>
            <a:ext cx="514478" cy="292886"/>
          </a:xfrm>
          <a:prstGeom prst="flowChartDocument">
            <a:avLst/>
          </a:prstGeom>
          <a:solidFill>
            <a:schemeClr val="bg1"/>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600">
                <a:solidFill>
                  <a:schemeClr val="accent1"/>
                </a:solidFill>
                <a:ea typeface="ＭＳ Ｐゴシック"/>
                <a:cs typeface="Arial"/>
              </a:rPr>
              <a:t>マスタ更新情報</a:t>
            </a:r>
          </a:p>
        </p:txBody>
      </p:sp>
      <p:sp>
        <p:nvSpPr>
          <p:cNvPr id="29" name="四角形: 角を丸くする 28">
            <a:extLst>
              <a:ext uri="{FF2B5EF4-FFF2-40B4-BE49-F238E27FC236}">
                <a16:creationId xmlns:a16="http://schemas.microsoft.com/office/drawing/2014/main" id="{7AB14905-704B-CAB6-8BE3-629B26261043}"/>
              </a:ext>
            </a:extLst>
          </p:cNvPr>
          <p:cNvSpPr/>
          <p:nvPr/>
        </p:nvSpPr>
        <p:spPr>
          <a:xfrm>
            <a:off x="9650325" y="3251139"/>
            <a:ext cx="2238827" cy="1558469"/>
          </a:xfrm>
          <a:prstGeom prst="roundRect">
            <a:avLst/>
          </a:prstGeom>
          <a:noFill/>
          <a:ln>
            <a:solidFill>
              <a:schemeClr val="bg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4" name="タイトル 1">
            <a:extLst>
              <a:ext uri="{FF2B5EF4-FFF2-40B4-BE49-F238E27FC236}">
                <a16:creationId xmlns:a16="http://schemas.microsoft.com/office/drawing/2014/main" id="{8AB28CB2-96B4-BB12-6D6E-F8F249873275}"/>
              </a:ext>
            </a:extLst>
          </p:cNvPr>
          <p:cNvSpPr txBox="1">
            <a:spLocks/>
          </p:cNvSpPr>
          <p:nvPr/>
        </p:nvSpPr>
        <p:spPr>
          <a:xfrm>
            <a:off x="630000" y="622800"/>
            <a:ext cx="10933600" cy="332399"/>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2916"/>
              </a:buClr>
              <a:buSzPts val="1800"/>
              <a:buFont typeface="MS PGothic"/>
              <a:buNone/>
              <a:defRPr sz="2400" b="1" i="0" u="none" strike="noStrike" cap="none">
                <a:solidFill>
                  <a:srgbClr val="2B2B2B"/>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altLang="ja-JP" sz="1800">
                <a:solidFill>
                  <a:schemeClr val="bg1">
                    <a:lumMod val="65000"/>
                  </a:schemeClr>
                </a:solidFill>
              </a:rPr>
              <a:t>2. </a:t>
            </a:r>
            <a:r>
              <a:rPr lang="ja-JP" altLang="en-US" sz="1800">
                <a:solidFill>
                  <a:schemeClr val="bg1">
                    <a:lumMod val="65000"/>
                  </a:schemeClr>
                </a:solidFill>
              </a:rPr>
              <a:t>概要・アプローチ</a:t>
            </a:r>
            <a:br>
              <a:rPr lang="en-US" altLang="ja-JP" sz="1800"/>
            </a:br>
            <a:r>
              <a:rPr lang="ja-JP" altLang="en-US"/>
              <a:t>Phase2-3共通マスタシステム構成推移（</a:t>
            </a:r>
            <a:r>
              <a:rPr lang="en-US" altLang="ja-JP"/>
              <a:t>3/4</a:t>
            </a:r>
            <a:r>
              <a:rPr lang="ja-JP" altLang="en-US"/>
              <a:t>）リリース＋</a:t>
            </a:r>
            <a:r>
              <a:rPr lang="en-US" altLang="ja-JP"/>
              <a:t>EC</a:t>
            </a:r>
            <a:r>
              <a:rPr lang="ja-JP" altLang="en-US"/>
              <a:t>過渡期対応</a:t>
            </a:r>
          </a:p>
        </p:txBody>
      </p:sp>
    </p:spTree>
    <p:extLst>
      <p:ext uri="{BB962C8B-B14F-4D97-AF65-F5344CB8AC3E}">
        <p14:creationId xmlns:p14="http://schemas.microsoft.com/office/powerpoint/2010/main" val="689490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8A16C-A3BC-331C-34EC-08195066B13E}"/>
            </a:ext>
          </a:extLst>
        </p:cNvPr>
        <p:cNvGrpSpPr/>
        <p:nvPr/>
      </p:nvGrpSpPr>
      <p:grpSpPr>
        <a:xfrm>
          <a:off x="0" y="0"/>
          <a:ext cx="0" cy="0"/>
          <a:chOff x="0" y="0"/>
          <a:chExt cx="0" cy="0"/>
        </a:xfrm>
      </p:grpSpPr>
      <p:sp>
        <p:nvSpPr>
          <p:cNvPr id="4" name="Rectangle 59">
            <a:extLst>
              <a:ext uri="{FF2B5EF4-FFF2-40B4-BE49-F238E27FC236}">
                <a16:creationId xmlns:a16="http://schemas.microsoft.com/office/drawing/2014/main" id="{23692BF6-E476-C99B-B274-289D47F0F485}"/>
              </a:ext>
            </a:extLst>
          </p:cNvPr>
          <p:cNvSpPr/>
          <p:nvPr/>
        </p:nvSpPr>
        <p:spPr>
          <a:xfrm>
            <a:off x="3532953" y="1189760"/>
            <a:ext cx="5472112" cy="295559"/>
          </a:xfrm>
          <a:prstGeom prst="rect">
            <a:avLst/>
          </a:prstGeom>
          <a:solidFill>
            <a:schemeClr val="bg1">
              <a:lumMod val="5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b="1">
                <a:solidFill>
                  <a:schemeClr val="bg1"/>
                </a:solidFill>
                <a:latin typeface="メイリオ"/>
                <a:ea typeface="メイリオ"/>
              </a:rPr>
              <a:t>Phase3：</a:t>
            </a:r>
            <a:r>
              <a:rPr kumimoji="1" lang="en-US" altLang="ja-JP" b="1">
                <a:solidFill>
                  <a:schemeClr val="bg1"/>
                </a:solidFill>
                <a:latin typeface="メイリオ"/>
                <a:ea typeface="メイリオ"/>
              </a:rPr>
              <a:t>2028年４月～</a:t>
            </a:r>
            <a:endParaRPr lang="en-US" altLang="ja-JP" b="1">
              <a:solidFill>
                <a:schemeClr val="bg1"/>
              </a:solidFill>
              <a:latin typeface="メイリオ"/>
              <a:ea typeface="メイリオ"/>
            </a:endParaRPr>
          </a:p>
        </p:txBody>
      </p:sp>
      <p:sp>
        <p:nvSpPr>
          <p:cNvPr id="17" name="Rectangle 11">
            <a:extLst>
              <a:ext uri="{FF2B5EF4-FFF2-40B4-BE49-F238E27FC236}">
                <a16:creationId xmlns:a16="http://schemas.microsoft.com/office/drawing/2014/main" id="{347E47F0-132F-0087-4CF1-BE7B99ED02A2}"/>
              </a:ext>
            </a:extLst>
          </p:cNvPr>
          <p:cNvSpPr/>
          <p:nvPr/>
        </p:nvSpPr>
        <p:spPr>
          <a:xfrm>
            <a:off x="3528114" y="1451168"/>
            <a:ext cx="5472112" cy="3723126"/>
          </a:xfrm>
          <a:prstGeom prst="rect">
            <a:avLst/>
          </a:prstGeom>
          <a:solidFill>
            <a:schemeClr val="bg1"/>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a:solidFill>
                <a:schemeClr val="tx1"/>
              </a:solidFill>
              <a:latin typeface="メイリオ" panose="020B0604030504040204" pitchFamily="50" charset="-128"/>
              <a:ea typeface="メイリオ" panose="020B0604030504040204" pitchFamily="50" charset="-128"/>
            </a:endParaRPr>
          </a:p>
        </p:txBody>
      </p:sp>
      <p:sp>
        <p:nvSpPr>
          <p:cNvPr id="24" name="Rectangle 50">
            <a:extLst>
              <a:ext uri="{FF2B5EF4-FFF2-40B4-BE49-F238E27FC236}">
                <a16:creationId xmlns:a16="http://schemas.microsoft.com/office/drawing/2014/main" id="{737ED586-DDE7-080D-51C9-5D0D78BE17FB}"/>
              </a:ext>
            </a:extLst>
          </p:cNvPr>
          <p:cNvSpPr/>
          <p:nvPr/>
        </p:nvSpPr>
        <p:spPr>
          <a:xfrm>
            <a:off x="3539597" y="5185500"/>
            <a:ext cx="5483317" cy="1051648"/>
          </a:xfrm>
          <a:prstGeom prst="rect">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lIns="108000" tIns="108000" rIns="108000" bIns="108000" rtlCol="0" anchor="t"/>
          <a:lstStyle/>
          <a:p>
            <a:pPr marL="182245" indent="-182245">
              <a:spcAft>
                <a:spcPts val="300"/>
              </a:spcAft>
              <a:buClr>
                <a:schemeClr val="bg1">
                  <a:lumMod val="75000"/>
                </a:schemeClr>
              </a:buClr>
              <a:buFont typeface="Wingdings" panose="05000000000000000000" pitchFamily="2" charset="2"/>
              <a:buChar char="n"/>
            </a:pPr>
            <a:r>
              <a:rPr kumimoji="1" lang="ja-JP" altLang="en-US" sz="1100">
                <a:solidFill>
                  <a:schemeClr val="tx1"/>
                </a:solidFill>
                <a:latin typeface="メイリオ"/>
                <a:ea typeface="メイリオ"/>
              </a:rPr>
              <a:t>マスタ管理層を含む</a:t>
            </a:r>
            <a:r>
              <a:rPr kumimoji="1" lang="ja-JP" altLang="en-US" sz="1100">
                <a:solidFill>
                  <a:schemeClr val="accent5"/>
                </a:solidFill>
                <a:latin typeface="メイリオ"/>
                <a:ea typeface="メイリオ"/>
              </a:rPr>
              <a:t>バックエンドシステムが、トライアル／西友共通で</a:t>
            </a:r>
            <a:r>
              <a:rPr kumimoji="1" lang="en-US" altLang="ja-JP" sz="1100">
                <a:solidFill>
                  <a:schemeClr val="accent5"/>
                </a:solidFill>
                <a:latin typeface="メイリオ"/>
                <a:ea typeface="メイリオ"/>
              </a:rPr>
              <a:t>Shinise</a:t>
            </a:r>
            <a:r>
              <a:rPr kumimoji="1" lang="ja-JP" altLang="en-US" sz="1100">
                <a:solidFill>
                  <a:schemeClr val="accent5"/>
                </a:solidFill>
                <a:latin typeface="メイリオ"/>
                <a:ea typeface="メイリオ"/>
              </a:rPr>
              <a:t>化</a:t>
            </a:r>
            <a:r>
              <a:rPr kumimoji="1" lang="ja-JP" altLang="en-US" sz="1100">
                <a:solidFill>
                  <a:schemeClr val="tx1"/>
                </a:solidFill>
                <a:latin typeface="メイリオ"/>
                <a:ea typeface="メイリオ"/>
              </a:rPr>
              <a:t>される</a:t>
            </a:r>
          </a:p>
          <a:p>
            <a:pPr marL="182245" indent="-182245">
              <a:spcAft>
                <a:spcPts val="300"/>
              </a:spcAft>
              <a:buClr>
                <a:srgbClr val="BFBFBF"/>
              </a:buClr>
              <a:buFont typeface="Wingdings" panose="05000000000000000000" pitchFamily="2" charset="2"/>
              <a:buChar char="n"/>
            </a:pPr>
            <a:r>
              <a:rPr lang="ja-JP" altLang="en-US" sz="1100">
                <a:solidFill>
                  <a:schemeClr val="tx1"/>
                </a:solidFill>
                <a:latin typeface="メイリオ"/>
                <a:ea typeface="メイリオ"/>
              </a:rPr>
              <a:t>EC過渡期対応も終了</a:t>
            </a:r>
          </a:p>
        </p:txBody>
      </p:sp>
      <p:sp>
        <p:nvSpPr>
          <p:cNvPr id="28" name="Rectangle 52">
            <a:extLst>
              <a:ext uri="{FF2B5EF4-FFF2-40B4-BE49-F238E27FC236}">
                <a16:creationId xmlns:a16="http://schemas.microsoft.com/office/drawing/2014/main" id="{0BBE1FC3-4604-3B41-6C3F-932D8ABAF162}"/>
              </a:ext>
            </a:extLst>
          </p:cNvPr>
          <p:cNvSpPr/>
          <p:nvPr/>
        </p:nvSpPr>
        <p:spPr>
          <a:xfrm>
            <a:off x="5726192" y="2679346"/>
            <a:ext cx="2333408" cy="620823"/>
          </a:xfrm>
          <a:prstGeom prst="rect">
            <a:avLst/>
          </a:prstGeom>
          <a:solidFill>
            <a:schemeClr val="accent4"/>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algn="ctr"/>
            <a:r>
              <a:rPr kumimoji="1" lang="ja-JP" altLang="en-US" sz="1200" b="1">
                <a:solidFill>
                  <a:schemeClr val="bg1"/>
                </a:solidFill>
                <a:latin typeface="メイリオ"/>
                <a:ea typeface="メイリオ"/>
              </a:rPr>
              <a:t>商品共通</a:t>
            </a:r>
            <a:r>
              <a:rPr kumimoji="1" lang="en-US" altLang="ja-JP" sz="1200" b="1">
                <a:solidFill>
                  <a:schemeClr val="bg1"/>
                </a:solidFill>
                <a:latin typeface="メイリオ"/>
                <a:ea typeface="メイリオ"/>
              </a:rPr>
              <a:t>DB</a:t>
            </a:r>
            <a:r>
              <a:rPr kumimoji="1" lang="ja-JP" altLang="en-US" sz="1200" b="1">
                <a:solidFill>
                  <a:schemeClr val="bg1"/>
                </a:solidFill>
                <a:latin typeface="メイリオ"/>
                <a:ea typeface="メイリオ"/>
              </a:rPr>
              <a:t>・統一窓口</a:t>
            </a:r>
            <a:endParaRPr kumimoji="1" lang="en-US" altLang="ja-JP" sz="1200" b="1">
              <a:solidFill>
                <a:schemeClr val="bg1"/>
              </a:solidFill>
              <a:latin typeface="メイリオ"/>
              <a:ea typeface="メイリオ"/>
            </a:endParaRPr>
          </a:p>
          <a:p>
            <a:pPr algn="ctr"/>
            <a:r>
              <a:rPr kumimoji="1" lang="ja-JP" altLang="en-US" sz="900" b="1">
                <a:solidFill>
                  <a:schemeClr val="bg1"/>
                </a:solidFill>
                <a:latin typeface="メイリオ"/>
                <a:ea typeface="メイリオ"/>
              </a:rPr>
              <a:t>（R-MELOS or </a:t>
            </a:r>
            <a:r>
              <a:rPr kumimoji="1" lang="en-US" altLang="ja-JP" sz="900" b="1" err="1">
                <a:solidFill>
                  <a:schemeClr val="bg1"/>
                </a:solidFill>
                <a:latin typeface="メイリオ"/>
                <a:ea typeface="メイリオ"/>
              </a:rPr>
              <a:t>eBASE</a:t>
            </a:r>
            <a:r>
              <a:rPr kumimoji="1" lang="ja-JP" altLang="en-US" sz="900" b="1">
                <a:solidFill>
                  <a:schemeClr val="bg1"/>
                </a:solidFill>
                <a:latin typeface="メイリオ"/>
                <a:ea typeface="メイリオ"/>
              </a:rPr>
              <a:t>クラウドサービス </a:t>
            </a:r>
            <a:r>
              <a:rPr kumimoji="1" lang="en-US" altLang="ja-JP" sz="900" b="1">
                <a:solidFill>
                  <a:schemeClr val="bg1"/>
                </a:solidFill>
                <a:latin typeface="メイリオ"/>
                <a:ea typeface="メイリオ"/>
              </a:rPr>
              <a:t>or??</a:t>
            </a:r>
            <a:r>
              <a:rPr kumimoji="1" lang="ja-JP" altLang="en-US" sz="900" b="1">
                <a:solidFill>
                  <a:schemeClr val="bg1"/>
                </a:solidFill>
                <a:latin typeface="メイリオ"/>
                <a:ea typeface="メイリオ"/>
              </a:rPr>
              <a:t> → 要検討）</a:t>
            </a:r>
            <a:endParaRPr lang="ja-JP" altLang="en-US" sz="900" b="1">
              <a:solidFill>
                <a:schemeClr val="bg1"/>
              </a:solidFill>
              <a:latin typeface="メイリオ"/>
              <a:ea typeface="メイリオ"/>
            </a:endParaRPr>
          </a:p>
        </p:txBody>
      </p:sp>
      <p:sp>
        <p:nvSpPr>
          <p:cNvPr id="31" name="Rectangle 54">
            <a:extLst>
              <a:ext uri="{FF2B5EF4-FFF2-40B4-BE49-F238E27FC236}">
                <a16:creationId xmlns:a16="http://schemas.microsoft.com/office/drawing/2014/main" id="{57F4B94F-FFFC-B319-093A-CCBFB70DFCCF}"/>
              </a:ext>
            </a:extLst>
          </p:cNvPr>
          <p:cNvSpPr/>
          <p:nvPr/>
        </p:nvSpPr>
        <p:spPr>
          <a:xfrm>
            <a:off x="4639222" y="3443288"/>
            <a:ext cx="4140460" cy="1297041"/>
          </a:xfrm>
          <a:prstGeom prst="rect">
            <a:avLst/>
          </a:prstGeom>
          <a:solidFill>
            <a:schemeClr val="accent6"/>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endParaRPr kumimoji="1" lang="en-US" altLang="ja-JP" sz="1200" b="1">
              <a:solidFill>
                <a:schemeClr val="bg1"/>
              </a:solidFill>
              <a:latin typeface="メイリオ" panose="020B0604030504040204" pitchFamily="50" charset="-128"/>
              <a:ea typeface="メイリオ" panose="020B0604030504040204" pitchFamily="50" charset="-128"/>
            </a:endParaRPr>
          </a:p>
          <a:p>
            <a:pPr algn="ctr"/>
            <a:r>
              <a:rPr kumimoji="1" lang="en-US" altLang="ja-JP" sz="1200" b="1">
                <a:solidFill>
                  <a:schemeClr val="bg1"/>
                </a:solidFill>
                <a:latin typeface="メイリオ" panose="020B0604030504040204" pitchFamily="50" charset="-128"/>
                <a:ea typeface="メイリオ" panose="020B0604030504040204" pitchFamily="50" charset="-128"/>
              </a:rPr>
              <a:t>Shinise</a:t>
            </a:r>
            <a:endParaRPr kumimoji="1" lang="ja-JP" altLang="en-US" sz="1200" b="1">
              <a:solidFill>
                <a:schemeClr val="bg1"/>
              </a:solidFill>
              <a:latin typeface="メイリオ" panose="020B0604030504040204" pitchFamily="50" charset="-128"/>
              <a:ea typeface="メイリオ" panose="020B0604030504040204" pitchFamily="50" charset="-128"/>
            </a:endParaRPr>
          </a:p>
        </p:txBody>
      </p:sp>
      <p:cxnSp>
        <p:nvCxnSpPr>
          <p:cNvPr id="34" name="Connector: Elbow 79">
            <a:extLst>
              <a:ext uri="{FF2B5EF4-FFF2-40B4-BE49-F238E27FC236}">
                <a16:creationId xmlns:a16="http://schemas.microsoft.com/office/drawing/2014/main" id="{5970721B-6182-57B5-CFBE-4385F60198BE}"/>
              </a:ext>
            </a:extLst>
          </p:cNvPr>
          <p:cNvCxnSpPr>
            <a:cxnSpLocks/>
          </p:cNvCxnSpPr>
          <p:nvPr/>
        </p:nvCxnSpPr>
        <p:spPr>
          <a:xfrm rot="5400000">
            <a:off x="6457309" y="2544149"/>
            <a:ext cx="360040" cy="1"/>
          </a:xfrm>
          <a:prstGeom prst="bentConnector3">
            <a:avLst>
              <a:gd name="adj1" fmla="val 50000"/>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sp>
        <p:nvSpPr>
          <p:cNvPr id="37" name="Rectangle 82">
            <a:extLst>
              <a:ext uri="{FF2B5EF4-FFF2-40B4-BE49-F238E27FC236}">
                <a16:creationId xmlns:a16="http://schemas.microsoft.com/office/drawing/2014/main" id="{D3DAD2D1-BD9A-333C-7CFA-C794C9679346}"/>
              </a:ext>
            </a:extLst>
          </p:cNvPr>
          <p:cNvSpPr/>
          <p:nvPr/>
        </p:nvSpPr>
        <p:spPr>
          <a:xfrm>
            <a:off x="6169452" y="1629334"/>
            <a:ext cx="1080000" cy="24774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tx1"/>
                </a:solidFill>
                <a:latin typeface="メイリオ" panose="020B0604030504040204" pitchFamily="50" charset="-128"/>
                <a:ea typeface="メイリオ" panose="020B0604030504040204" pitchFamily="50" charset="-128"/>
              </a:rPr>
              <a:t>取引先</a:t>
            </a:r>
          </a:p>
        </p:txBody>
      </p:sp>
      <p:pic>
        <p:nvPicPr>
          <p:cNvPr id="44" name="Graphic 83" descr="Group with solid fill">
            <a:extLst>
              <a:ext uri="{FF2B5EF4-FFF2-40B4-BE49-F238E27FC236}">
                <a16:creationId xmlns:a16="http://schemas.microsoft.com/office/drawing/2014/main" id="{250FE4FA-42DA-7936-C5F2-57B06DDED548}"/>
              </a:ext>
            </a:extLst>
          </p:cNvPr>
          <p:cNvPicPr>
            <a:picLocks noChangeAspect="1"/>
          </p:cNvPicPr>
          <p:nvPr/>
        </p:nvPicPr>
        <p:blipFill>
          <a:blip>
            <a:extLst>
              <a:ext uri="{96DAC541-7B7A-43D3-8B79-37D633B846F1}">
                <asvg:svgBlip xmlns:asvg="http://schemas.microsoft.com/office/drawing/2016/SVG/main" r:embed="rId2"/>
              </a:ext>
            </a:extLst>
          </a:blip>
          <a:srcRect t="15965" b="16341"/>
          <a:stretch>
            <a:fillRect/>
          </a:stretch>
        </p:blipFill>
        <p:spPr>
          <a:xfrm>
            <a:off x="6337149" y="1860073"/>
            <a:ext cx="744607" cy="504056"/>
          </a:xfrm>
          <a:prstGeom prst="rect">
            <a:avLst/>
          </a:prstGeom>
        </p:spPr>
      </p:pic>
      <p:sp>
        <p:nvSpPr>
          <p:cNvPr id="53" name="Rectangle 84">
            <a:extLst>
              <a:ext uri="{FF2B5EF4-FFF2-40B4-BE49-F238E27FC236}">
                <a16:creationId xmlns:a16="http://schemas.microsoft.com/office/drawing/2014/main" id="{DBBAB9FB-A1F0-C650-87EC-F68A7CC3F54D}"/>
              </a:ext>
            </a:extLst>
          </p:cNvPr>
          <p:cNvSpPr/>
          <p:nvPr/>
        </p:nvSpPr>
        <p:spPr>
          <a:xfrm>
            <a:off x="3703118" y="272416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商品共通</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DB</a:t>
            </a:r>
          </a:p>
        </p:txBody>
      </p:sp>
      <p:sp>
        <p:nvSpPr>
          <p:cNvPr id="58" name="Rectangle 89">
            <a:extLst>
              <a:ext uri="{FF2B5EF4-FFF2-40B4-BE49-F238E27FC236}">
                <a16:creationId xmlns:a16="http://schemas.microsoft.com/office/drawing/2014/main" id="{BF44A74B-5E4C-4B76-9894-936E65B0935D}"/>
              </a:ext>
            </a:extLst>
          </p:cNvPr>
          <p:cNvSpPr/>
          <p:nvPr/>
        </p:nvSpPr>
        <p:spPr>
          <a:xfrm>
            <a:off x="3703118" y="344424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マスタ</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管理</a:t>
            </a:r>
          </a:p>
        </p:txBody>
      </p:sp>
      <p:sp>
        <p:nvSpPr>
          <p:cNvPr id="62" name="Rectangle 90">
            <a:extLst>
              <a:ext uri="{FF2B5EF4-FFF2-40B4-BE49-F238E27FC236}">
                <a16:creationId xmlns:a16="http://schemas.microsoft.com/office/drawing/2014/main" id="{2C0E1EF1-EDAA-173D-22CA-3928F97E9244}"/>
              </a:ext>
            </a:extLst>
          </p:cNvPr>
          <p:cNvSpPr/>
          <p:nvPr/>
        </p:nvSpPr>
        <p:spPr>
          <a:xfrm>
            <a:off x="3703118" y="4164329"/>
            <a:ext cx="882217" cy="576000"/>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200" b="1">
                <a:solidFill>
                  <a:schemeClr val="bg1">
                    <a:lumMod val="65000"/>
                  </a:schemeClr>
                </a:solidFill>
                <a:latin typeface="メイリオ" panose="020B0604030504040204" pitchFamily="50" charset="-128"/>
                <a:ea typeface="メイリオ" panose="020B0604030504040204" pitchFamily="50" charset="-128"/>
              </a:rPr>
              <a:t>MD</a:t>
            </a: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基幹</a:t>
            </a:r>
            <a:endParaRPr kumimoji="1" lang="en-US" altLang="ja-JP" sz="1200" b="1">
              <a:solidFill>
                <a:schemeClr val="bg1">
                  <a:lumMod val="65000"/>
                </a:schemeClr>
              </a:solidFill>
              <a:latin typeface="メイリオ" panose="020B0604030504040204" pitchFamily="50" charset="-128"/>
              <a:ea typeface="メイリオ" panose="020B0604030504040204" pitchFamily="50" charset="-128"/>
            </a:endParaRPr>
          </a:p>
          <a:p>
            <a:pPr algn="ctr"/>
            <a:r>
              <a:rPr kumimoji="1" lang="ja-JP" altLang="en-US" sz="1200" b="1">
                <a:solidFill>
                  <a:schemeClr val="bg1">
                    <a:lumMod val="65000"/>
                  </a:schemeClr>
                </a:solidFill>
                <a:latin typeface="メイリオ" panose="020B0604030504040204" pitchFamily="50" charset="-128"/>
                <a:ea typeface="メイリオ" panose="020B0604030504040204" pitchFamily="50" charset="-128"/>
              </a:rPr>
              <a:t>システム</a:t>
            </a:r>
          </a:p>
        </p:txBody>
      </p:sp>
      <p:sp>
        <p:nvSpPr>
          <p:cNvPr id="66" name="Rectangle 92">
            <a:extLst>
              <a:ext uri="{FF2B5EF4-FFF2-40B4-BE49-F238E27FC236}">
                <a16:creationId xmlns:a16="http://schemas.microsoft.com/office/drawing/2014/main" id="{47A38EBB-160A-AD3C-62A6-777027AE5B27}"/>
              </a:ext>
            </a:extLst>
          </p:cNvPr>
          <p:cNvSpPr/>
          <p:nvPr/>
        </p:nvSpPr>
        <p:spPr>
          <a:xfrm>
            <a:off x="4639222" y="4825243"/>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6"/>
                </a:solidFill>
                <a:latin typeface="メイリオ" panose="020B0604030504040204" pitchFamily="50" charset="-128"/>
                <a:ea typeface="メイリオ" panose="020B0604030504040204" pitchFamily="50" charset="-128"/>
              </a:rPr>
              <a:t>トライアル</a:t>
            </a:r>
          </a:p>
        </p:txBody>
      </p:sp>
      <p:sp>
        <p:nvSpPr>
          <p:cNvPr id="72" name="Rectangle 96">
            <a:extLst>
              <a:ext uri="{FF2B5EF4-FFF2-40B4-BE49-F238E27FC236}">
                <a16:creationId xmlns:a16="http://schemas.microsoft.com/office/drawing/2014/main" id="{D31E54D6-E5EF-4F68-9277-E9EC0C8DB9DF}"/>
              </a:ext>
            </a:extLst>
          </p:cNvPr>
          <p:cNvSpPr/>
          <p:nvPr/>
        </p:nvSpPr>
        <p:spPr>
          <a:xfrm>
            <a:off x="7699682" y="4825243"/>
            <a:ext cx="1080000" cy="274656"/>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a:solidFill>
                  <a:schemeClr val="accent5"/>
                </a:solidFill>
                <a:latin typeface="メイリオ" panose="020B0604030504040204" pitchFamily="50" charset="-128"/>
                <a:ea typeface="メイリオ" panose="020B0604030504040204" pitchFamily="50" charset="-128"/>
              </a:rPr>
              <a:t>西友</a:t>
            </a:r>
          </a:p>
        </p:txBody>
      </p:sp>
      <p:sp>
        <p:nvSpPr>
          <p:cNvPr id="75" name="Rectangle 106">
            <a:extLst>
              <a:ext uri="{FF2B5EF4-FFF2-40B4-BE49-F238E27FC236}">
                <a16:creationId xmlns:a16="http://schemas.microsoft.com/office/drawing/2014/main" id="{7645DF60-C15B-A2E8-FA4C-FF08286A2A4F}"/>
              </a:ext>
            </a:extLst>
          </p:cNvPr>
          <p:cNvSpPr/>
          <p:nvPr/>
        </p:nvSpPr>
        <p:spPr>
          <a:xfrm flipH="1">
            <a:off x="5503318" y="2384884"/>
            <a:ext cx="1152128" cy="27278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4"/>
                </a:solidFill>
                <a:latin typeface="メイリオ" panose="020B0604030504040204" pitchFamily="50" charset="-128"/>
                <a:ea typeface="メイリオ" panose="020B0604030504040204" pitchFamily="50" charset="-128"/>
              </a:rPr>
              <a:t>TR / SY</a:t>
            </a:r>
            <a:r>
              <a:rPr kumimoji="1" lang="ja-JP" altLang="en-US" sz="700" b="1">
                <a:solidFill>
                  <a:schemeClr val="accent4"/>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a:p>
            <a:pPr algn="ctr"/>
            <a:r>
              <a:rPr kumimoji="1" lang="ja-JP" altLang="en-US" sz="700" b="1">
                <a:solidFill>
                  <a:schemeClr val="accent4"/>
                </a:solidFill>
                <a:latin typeface="メイリオ" panose="020B0604030504040204" pitchFamily="50" charset="-128"/>
                <a:ea typeface="メイリオ" panose="020B0604030504040204" pitchFamily="50" charset="-128"/>
              </a:rPr>
              <a:t>（商品 </a:t>
            </a:r>
            <a:r>
              <a:rPr kumimoji="1" lang="ja-JP" altLang="en-US" sz="1050" b="1" u="sng">
                <a:solidFill>
                  <a:schemeClr val="accent4"/>
                </a:solidFill>
                <a:latin typeface="メイリオ" panose="020B0604030504040204" pitchFamily="50" charset="-128"/>
                <a:ea typeface="メイリオ" panose="020B0604030504040204" pitchFamily="50" charset="-128"/>
              </a:rPr>
              <a:t>基礎</a:t>
            </a:r>
            <a:r>
              <a:rPr kumimoji="1" lang="ja-JP" altLang="en-US" sz="1050" b="1">
                <a:solidFill>
                  <a:schemeClr val="accent4"/>
                </a:solidFill>
                <a:latin typeface="メイリオ" panose="020B0604030504040204" pitchFamily="50" charset="-128"/>
                <a:ea typeface="メイリオ" panose="020B0604030504040204" pitchFamily="50" charset="-128"/>
              </a:rPr>
              <a:t> </a:t>
            </a:r>
            <a:r>
              <a:rPr kumimoji="1" lang="ja-JP" altLang="en-US" sz="700" b="1">
                <a:solidFill>
                  <a:schemeClr val="accent4"/>
                </a:solidFill>
                <a:latin typeface="メイリオ" panose="020B0604030504040204" pitchFamily="50" charset="-128"/>
                <a:ea typeface="メイリオ" panose="020B0604030504040204" pitchFamily="50" charset="-128"/>
              </a:rPr>
              <a:t>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p:txBody>
      </p:sp>
      <p:cxnSp>
        <p:nvCxnSpPr>
          <p:cNvPr id="79" name="Straight Arrow Connector 57">
            <a:extLst>
              <a:ext uri="{FF2B5EF4-FFF2-40B4-BE49-F238E27FC236}">
                <a16:creationId xmlns:a16="http://schemas.microsoft.com/office/drawing/2014/main" id="{88264AFD-9716-B6CD-896E-9B6E82FA16FA}"/>
              </a:ext>
            </a:extLst>
          </p:cNvPr>
          <p:cNvCxnSpPr>
            <a:cxnSpLocks/>
          </p:cNvCxnSpPr>
          <p:nvPr/>
        </p:nvCxnSpPr>
        <p:spPr>
          <a:xfrm>
            <a:off x="6637328" y="3300169"/>
            <a:ext cx="0" cy="189251"/>
          </a:xfrm>
          <a:prstGeom prst="straightConnector1">
            <a:avLst/>
          </a:pr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cxnSp>
      <p:sp>
        <p:nvSpPr>
          <p:cNvPr id="82" name="Rectangle 53">
            <a:extLst>
              <a:ext uri="{FF2B5EF4-FFF2-40B4-BE49-F238E27FC236}">
                <a16:creationId xmlns:a16="http://schemas.microsoft.com/office/drawing/2014/main" id="{C43B70BA-308D-9DE5-B3F6-33F4AB717780}"/>
              </a:ext>
            </a:extLst>
          </p:cNvPr>
          <p:cNvSpPr/>
          <p:nvPr/>
        </p:nvSpPr>
        <p:spPr>
          <a:xfrm>
            <a:off x="6501318" y="3487270"/>
            <a:ext cx="2221880" cy="595011"/>
          </a:xfrm>
          <a:prstGeom prst="rect">
            <a:avLst/>
          </a:prstGeom>
          <a:solidFill>
            <a:schemeClr val="accent1"/>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1200" b="1">
                <a:solidFill>
                  <a:schemeClr val="bg1"/>
                </a:solidFill>
                <a:latin typeface="メイリオ"/>
                <a:ea typeface="メイリオ"/>
              </a:rPr>
              <a:t>TRSY共通商談システム</a:t>
            </a:r>
          </a:p>
        </p:txBody>
      </p:sp>
      <p:sp>
        <p:nvSpPr>
          <p:cNvPr id="84" name="Freeform: Shape 6">
            <a:extLst>
              <a:ext uri="{FF2B5EF4-FFF2-40B4-BE49-F238E27FC236}">
                <a16:creationId xmlns:a16="http://schemas.microsoft.com/office/drawing/2014/main" id="{0863DBC5-C9EF-9C98-57EB-F9A1CF9D300E}"/>
              </a:ext>
            </a:extLst>
          </p:cNvPr>
          <p:cNvSpPr/>
          <p:nvPr/>
        </p:nvSpPr>
        <p:spPr>
          <a:xfrm rot="10800000" flipH="1">
            <a:off x="7089909" y="2146240"/>
            <a:ext cx="1221715" cy="1343179"/>
          </a:xfrm>
          <a:custGeom>
            <a:avLst/>
            <a:gdLst>
              <a:gd name="connsiteX0" fmla="*/ 0 w 808522"/>
              <a:gd name="connsiteY0" fmla="*/ 433137 h 433137"/>
              <a:gd name="connsiteX1" fmla="*/ 808522 w 808522"/>
              <a:gd name="connsiteY1" fmla="*/ 433137 h 433137"/>
              <a:gd name="connsiteX2" fmla="*/ 808522 w 808522"/>
              <a:gd name="connsiteY2" fmla="*/ 0 h 433137"/>
            </a:gdLst>
            <a:ahLst/>
            <a:cxnLst>
              <a:cxn ang="0">
                <a:pos x="connsiteX0" y="connsiteY0"/>
              </a:cxn>
              <a:cxn ang="0">
                <a:pos x="connsiteX1" y="connsiteY1"/>
              </a:cxn>
              <a:cxn ang="0">
                <a:pos x="connsiteX2" y="connsiteY2"/>
              </a:cxn>
            </a:cxnLst>
            <a:rect l="l" t="t" r="r" b="b"/>
            <a:pathLst>
              <a:path w="808522" h="433137">
                <a:moveTo>
                  <a:pt x="0" y="433137"/>
                </a:moveTo>
                <a:lnTo>
                  <a:pt x="808522" y="433137"/>
                </a:lnTo>
                <a:lnTo>
                  <a:pt x="808522" y="0"/>
                </a:lnTo>
              </a:path>
            </a:pathLst>
          </a:custGeom>
          <a:ln w="19050">
            <a:solidFill>
              <a:schemeClr val="accent4"/>
            </a:solidFill>
            <a:tailEnd type="arrow"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88" name="Rectangle 8">
            <a:extLst>
              <a:ext uri="{FF2B5EF4-FFF2-40B4-BE49-F238E27FC236}">
                <a16:creationId xmlns:a16="http://schemas.microsoft.com/office/drawing/2014/main" id="{53F5BA96-83F8-773E-3592-3F508BACBA71}"/>
              </a:ext>
            </a:extLst>
          </p:cNvPr>
          <p:cNvSpPr/>
          <p:nvPr/>
        </p:nvSpPr>
        <p:spPr>
          <a:xfrm flipH="1">
            <a:off x="7015486" y="2204864"/>
            <a:ext cx="1331331" cy="272784"/>
          </a:xfrm>
          <a:prstGeom prst="rect">
            <a:avLst/>
          </a:prstGeom>
          <a:no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700" b="1">
                <a:solidFill>
                  <a:schemeClr val="accent4"/>
                </a:solidFill>
                <a:latin typeface="メイリオ" panose="020B0604030504040204" pitchFamily="50" charset="-128"/>
                <a:ea typeface="メイリオ" panose="020B0604030504040204" pitchFamily="50" charset="-128"/>
              </a:rPr>
              <a:t>TR / SY</a:t>
            </a:r>
            <a:r>
              <a:rPr kumimoji="1" lang="ja-JP" altLang="en-US" sz="700" b="1">
                <a:solidFill>
                  <a:schemeClr val="accent4"/>
                </a:solidFill>
                <a:latin typeface="メイリオ" panose="020B0604030504040204" pitchFamily="50" charset="-128"/>
                <a:ea typeface="メイリオ" panose="020B0604030504040204" pitchFamily="50" charset="-128"/>
              </a:rPr>
              <a:t>新規商品情報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a:p>
            <a:pPr algn="ctr"/>
            <a:r>
              <a:rPr kumimoji="1" lang="ja-JP" altLang="en-US" sz="700" b="1">
                <a:solidFill>
                  <a:schemeClr val="accent4"/>
                </a:solidFill>
                <a:latin typeface="メイリオ" panose="020B0604030504040204" pitchFamily="50" charset="-128"/>
                <a:ea typeface="メイリオ" panose="020B0604030504040204" pitchFamily="50" charset="-128"/>
              </a:rPr>
              <a:t>（商品 </a:t>
            </a:r>
            <a:r>
              <a:rPr kumimoji="1" lang="ja-JP" altLang="en-US" sz="1050" b="1" u="sng">
                <a:solidFill>
                  <a:schemeClr val="accent4"/>
                </a:solidFill>
                <a:latin typeface="メイリオ" panose="020B0604030504040204" pitchFamily="50" charset="-128"/>
                <a:ea typeface="メイリオ" panose="020B0604030504040204" pitchFamily="50" charset="-128"/>
              </a:rPr>
              <a:t>追加属性</a:t>
            </a:r>
            <a:r>
              <a:rPr kumimoji="1" lang="ja-JP" altLang="en-US" sz="1050" b="1">
                <a:solidFill>
                  <a:schemeClr val="accent4"/>
                </a:solidFill>
                <a:latin typeface="メイリオ" panose="020B0604030504040204" pitchFamily="50" charset="-128"/>
                <a:ea typeface="メイリオ" panose="020B0604030504040204" pitchFamily="50" charset="-128"/>
              </a:rPr>
              <a:t> </a:t>
            </a:r>
            <a:r>
              <a:rPr kumimoji="1" lang="ja-JP" altLang="en-US" sz="700" b="1">
                <a:solidFill>
                  <a:schemeClr val="accent4"/>
                </a:solidFill>
                <a:latin typeface="メイリオ" panose="020B0604030504040204" pitchFamily="50" charset="-128"/>
                <a:ea typeface="メイリオ" panose="020B0604030504040204" pitchFamily="50" charset="-128"/>
              </a:rPr>
              <a:t>情報）</a:t>
            </a:r>
            <a:endParaRPr kumimoji="1" lang="en-US" altLang="ja-JP" sz="700" b="1">
              <a:solidFill>
                <a:schemeClr val="accent4"/>
              </a:solidFill>
              <a:latin typeface="メイリオ" panose="020B0604030504040204" pitchFamily="50" charset="-128"/>
              <a:ea typeface="メイリオ" panose="020B0604030504040204" pitchFamily="50" charset="-128"/>
            </a:endParaRPr>
          </a:p>
        </p:txBody>
      </p:sp>
      <p:sp>
        <p:nvSpPr>
          <p:cNvPr id="3" name="Speech Bubble: Rectangle with Corners Rounded 12">
            <a:extLst>
              <a:ext uri="{FF2B5EF4-FFF2-40B4-BE49-F238E27FC236}">
                <a16:creationId xmlns:a16="http://schemas.microsoft.com/office/drawing/2014/main" id="{90C4DBA5-C200-451B-E514-7E88F47DA5BA}"/>
              </a:ext>
            </a:extLst>
          </p:cNvPr>
          <p:cNvSpPr/>
          <p:nvPr/>
        </p:nvSpPr>
        <p:spPr>
          <a:xfrm>
            <a:off x="7824901" y="1490585"/>
            <a:ext cx="1913950" cy="511182"/>
          </a:xfrm>
          <a:prstGeom prst="wedgeRoundRectCallout">
            <a:avLst>
              <a:gd name="adj1" fmla="val 8253"/>
              <a:gd name="adj2" fmla="val 66822"/>
              <a:gd name="adj3" fmla="val 16667"/>
            </a:avLst>
          </a:prstGeom>
          <a:solidFill>
            <a:schemeClr val="accent5"/>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kumimoji="1" lang="ja-JP" altLang="en-US" sz="800">
                <a:solidFill>
                  <a:schemeClr val="bg1"/>
                </a:solidFill>
                <a:latin typeface="メイリオ" panose="020B0604030504040204" pitchFamily="50" charset="-128"/>
                <a:ea typeface="メイリオ" panose="020B0604030504040204" pitchFamily="50" charset="-128"/>
              </a:rPr>
              <a:t>既に商品共通</a:t>
            </a:r>
            <a:r>
              <a:rPr kumimoji="1" lang="en-US" altLang="ja-JP" sz="800">
                <a:solidFill>
                  <a:schemeClr val="bg1"/>
                </a:solidFill>
                <a:latin typeface="メイリオ" panose="020B0604030504040204" pitchFamily="50" charset="-128"/>
                <a:ea typeface="メイリオ" panose="020B0604030504040204" pitchFamily="50" charset="-128"/>
              </a:rPr>
              <a:t>DB</a:t>
            </a:r>
            <a:r>
              <a:rPr kumimoji="1" lang="ja-JP" altLang="en-US" sz="800">
                <a:solidFill>
                  <a:schemeClr val="bg1"/>
                </a:solidFill>
                <a:latin typeface="メイリオ" panose="020B0604030504040204" pitchFamily="50" charset="-128"/>
                <a:ea typeface="メイリオ" panose="020B0604030504040204" pitchFamily="50" charset="-128"/>
              </a:rPr>
              <a:t>に登録した商品基礎情報は</a:t>
            </a:r>
            <a:r>
              <a:rPr kumimoji="1" lang="en-US" altLang="ja-JP" sz="800">
                <a:solidFill>
                  <a:schemeClr val="bg1"/>
                </a:solidFill>
                <a:latin typeface="メイリオ" panose="020B0604030504040204" pitchFamily="50" charset="-128"/>
                <a:ea typeface="メイリオ" panose="020B0604030504040204" pitchFamily="50" charset="-128"/>
              </a:rPr>
              <a:t>JAN</a:t>
            </a:r>
            <a:r>
              <a:rPr kumimoji="1" lang="ja-JP" altLang="en-US" sz="800">
                <a:solidFill>
                  <a:schemeClr val="bg1"/>
                </a:solidFill>
                <a:latin typeface="メイリオ" panose="020B0604030504040204" pitchFamily="50" charset="-128"/>
                <a:ea typeface="メイリオ" panose="020B0604030504040204" pitchFamily="50" charset="-128"/>
              </a:rPr>
              <a:t>コードから呼び出し可能</a:t>
            </a:r>
            <a:endParaRPr kumimoji="1" lang="en-US" altLang="ja-JP" sz="800">
              <a:solidFill>
                <a:schemeClr val="bg1"/>
              </a:solidFill>
              <a:latin typeface="メイリオ" panose="020B0604030504040204" pitchFamily="50" charset="-128"/>
              <a:ea typeface="メイリオ" panose="020B0604030504040204" pitchFamily="50" charset="-128"/>
            </a:endParaRPr>
          </a:p>
          <a:p>
            <a:pPr algn="ctr"/>
            <a:r>
              <a:rPr kumimoji="1" lang="ja-JP" altLang="en-US" sz="800">
                <a:solidFill>
                  <a:schemeClr val="bg1"/>
                </a:solidFill>
                <a:latin typeface="メイリオ" panose="020B0604030504040204" pitchFamily="50" charset="-128"/>
                <a:ea typeface="メイリオ" panose="020B0604030504040204" pitchFamily="50" charset="-128"/>
              </a:rPr>
              <a:t>（＝</a:t>
            </a:r>
            <a:r>
              <a:rPr kumimoji="1" lang="ja-JP" altLang="en-US" sz="800" b="1" u="sng">
                <a:solidFill>
                  <a:schemeClr val="bg1"/>
                </a:solidFill>
                <a:latin typeface="メイリオ" panose="020B0604030504040204" pitchFamily="50" charset="-128"/>
                <a:ea typeface="メイリオ" panose="020B0604030504040204" pitchFamily="50" charset="-128"/>
              </a:rPr>
              <a:t>追加属性情報のみ</a:t>
            </a:r>
            <a:r>
              <a:rPr kumimoji="1" lang="ja-JP" altLang="en-US" sz="800">
                <a:solidFill>
                  <a:schemeClr val="bg1"/>
                </a:solidFill>
                <a:latin typeface="メイリオ" panose="020B0604030504040204" pitchFamily="50" charset="-128"/>
                <a:ea typeface="メイリオ" panose="020B0604030504040204" pitchFamily="50" charset="-128"/>
              </a:rPr>
              <a:t>の登録で</a:t>
            </a:r>
            <a:r>
              <a:rPr kumimoji="1" lang="en-US" altLang="ja-JP" sz="800">
                <a:solidFill>
                  <a:schemeClr val="bg1"/>
                </a:solidFill>
                <a:latin typeface="メイリオ" panose="020B0604030504040204" pitchFamily="50" charset="-128"/>
                <a:ea typeface="メイリオ" panose="020B0604030504040204" pitchFamily="50" charset="-128"/>
              </a:rPr>
              <a:t>OK</a:t>
            </a:r>
            <a:r>
              <a:rPr kumimoji="1" lang="ja-JP" altLang="en-US" sz="800">
                <a:solidFill>
                  <a:schemeClr val="bg1"/>
                </a:solidFill>
                <a:latin typeface="メイリオ" panose="020B0604030504040204" pitchFamily="50" charset="-128"/>
                <a:ea typeface="メイリオ" panose="020B0604030504040204" pitchFamily="50" charset="-128"/>
              </a:rPr>
              <a:t>）</a:t>
            </a:r>
          </a:p>
        </p:txBody>
      </p:sp>
      <p:sp>
        <p:nvSpPr>
          <p:cNvPr id="2" name="Rectangle 53">
            <a:extLst>
              <a:ext uri="{FF2B5EF4-FFF2-40B4-BE49-F238E27FC236}">
                <a16:creationId xmlns:a16="http://schemas.microsoft.com/office/drawing/2014/main" id="{88AE0625-07BB-CC22-4AA5-956DD19E9B7C}"/>
              </a:ext>
            </a:extLst>
          </p:cNvPr>
          <p:cNvSpPr/>
          <p:nvPr/>
        </p:nvSpPr>
        <p:spPr>
          <a:xfrm>
            <a:off x="4685767" y="3493408"/>
            <a:ext cx="1717618" cy="583805"/>
          </a:xfrm>
          <a:prstGeom prst="rect">
            <a:avLst/>
          </a:prstGeom>
          <a:solidFill>
            <a:schemeClr val="accent1"/>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1200" b="1">
                <a:solidFill>
                  <a:schemeClr val="bg1"/>
                </a:solidFill>
                <a:latin typeface="メイリオ"/>
                <a:ea typeface="メイリオ"/>
              </a:rPr>
              <a:t>生鮮商談システム</a:t>
            </a:r>
          </a:p>
        </p:txBody>
      </p:sp>
      <p:cxnSp>
        <p:nvCxnSpPr>
          <p:cNvPr id="8" name="直線矢印コネクタ 7">
            <a:extLst>
              <a:ext uri="{FF2B5EF4-FFF2-40B4-BE49-F238E27FC236}">
                <a16:creationId xmlns:a16="http://schemas.microsoft.com/office/drawing/2014/main" id="{0F157A8A-FEE0-7C60-32FC-FF88BF96CB04}"/>
              </a:ext>
            </a:extLst>
          </p:cNvPr>
          <p:cNvCxnSpPr/>
          <p:nvPr/>
        </p:nvCxnSpPr>
        <p:spPr>
          <a:xfrm>
            <a:off x="4996232" y="2136198"/>
            <a:ext cx="1306435" cy="17654"/>
          </a:xfrm>
          <a:prstGeom prst="straightConnector1">
            <a:avLst/>
          </a:prstGeom>
          <a:ln w="127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19D1ED63-09E6-8AA6-A428-16ECE64CEA11}"/>
              </a:ext>
            </a:extLst>
          </p:cNvPr>
          <p:cNvCxnSpPr/>
          <p:nvPr/>
        </p:nvCxnSpPr>
        <p:spPr>
          <a:xfrm>
            <a:off x="4996232" y="2136198"/>
            <a:ext cx="17654" cy="1288780"/>
          </a:xfrm>
          <a:prstGeom prst="straightConnector1">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5" name="タイトル 1">
            <a:extLst>
              <a:ext uri="{FF2B5EF4-FFF2-40B4-BE49-F238E27FC236}">
                <a16:creationId xmlns:a16="http://schemas.microsoft.com/office/drawing/2014/main" id="{C93E9D25-CFB9-294B-A6DD-25152C24674E}"/>
              </a:ext>
            </a:extLst>
          </p:cNvPr>
          <p:cNvSpPr txBox="1">
            <a:spLocks/>
          </p:cNvSpPr>
          <p:nvPr/>
        </p:nvSpPr>
        <p:spPr>
          <a:xfrm>
            <a:off x="630000" y="622800"/>
            <a:ext cx="10933600" cy="332399"/>
          </a:xfrm>
          <a:prstGeom prst="rect">
            <a:avLst/>
          </a:prstGeom>
          <a:noFill/>
          <a:ln>
            <a:noFill/>
          </a:ln>
        </p:spPr>
        <p:txBody>
          <a:bodyPr spcFirstLastPara="1" wrap="square" lIns="0" tIns="0" rIns="0" bIns="0" anchor="b"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rgbClr val="012916"/>
              </a:buClr>
              <a:buSzPts val="1800"/>
              <a:buFont typeface="MS PGothic"/>
              <a:buNone/>
              <a:defRPr sz="2400" b="1" i="0" u="none" strike="noStrike" cap="none">
                <a:solidFill>
                  <a:srgbClr val="2B2B2B"/>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r>
              <a:rPr lang="en-US" altLang="ja-JP" sz="1800">
                <a:solidFill>
                  <a:schemeClr val="bg1">
                    <a:lumMod val="65000"/>
                  </a:schemeClr>
                </a:solidFill>
              </a:rPr>
              <a:t>2. </a:t>
            </a:r>
            <a:r>
              <a:rPr lang="ja-JP" altLang="en-US" sz="1800">
                <a:solidFill>
                  <a:schemeClr val="bg1">
                    <a:lumMod val="65000"/>
                  </a:schemeClr>
                </a:solidFill>
              </a:rPr>
              <a:t>概要・アプローチ</a:t>
            </a:r>
            <a:br>
              <a:rPr lang="en-US" altLang="ja-JP" sz="1800">
                <a:solidFill>
                  <a:schemeClr val="bg1">
                    <a:lumMod val="65000"/>
                  </a:schemeClr>
                </a:solidFill>
              </a:rPr>
            </a:br>
            <a:r>
              <a:rPr lang="ja-JP" altLang="en-US"/>
              <a:t>共通マスタシステム構成推移（</a:t>
            </a:r>
            <a:r>
              <a:rPr lang="en-US" altLang="ja-JP"/>
              <a:t>4/4</a:t>
            </a:r>
            <a:r>
              <a:rPr lang="ja-JP" altLang="en-US"/>
              <a:t>）最終形</a:t>
            </a:r>
          </a:p>
        </p:txBody>
      </p:sp>
    </p:spTree>
    <p:extLst>
      <p:ext uri="{BB962C8B-B14F-4D97-AF65-F5344CB8AC3E}">
        <p14:creationId xmlns:p14="http://schemas.microsoft.com/office/powerpoint/2010/main" val="3512358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6"/>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3. スコープ</a:t>
            </a:r>
            <a:endParaRPr/>
          </a:p>
        </p:txBody>
      </p:sp>
      <p:graphicFrame>
        <p:nvGraphicFramePr>
          <p:cNvPr id="108" name="Google Shape;108;p6"/>
          <p:cNvGraphicFramePr/>
          <p:nvPr>
            <p:extLst>
              <p:ext uri="{D42A27DB-BD31-4B8C-83A1-F6EECF244321}">
                <p14:modId xmlns:p14="http://schemas.microsoft.com/office/powerpoint/2010/main" val="1859174067"/>
              </p:ext>
            </p:extLst>
          </p:nvPr>
        </p:nvGraphicFramePr>
        <p:xfrm>
          <a:off x="815413" y="1237723"/>
          <a:ext cx="5045000" cy="5290930"/>
        </p:xfrm>
        <a:graphic>
          <a:graphicData uri="http://schemas.openxmlformats.org/drawingml/2006/table">
            <a:tbl>
              <a:tblPr>
                <a:noFill/>
                <a:tableStyleId>{16DD54E9-F15A-4EFF-A1D8-E2CBB5DF2B52}</a:tableStyleId>
              </a:tblPr>
              <a:tblGrid>
                <a:gridCol w="5045000">
                  <a:extLst>
                    <a:ext uri="{9D8B030D-6E8A-4147-A177-3AD203B41FA5}">
                      <a16:colId xmlns:a16="http://schemas.microsoft.com/office/drawing/2014/main" val="20000"/>
                    </a:ext>
                  </a:extLst>
                </a:gridCol>
              </a:tblGrid>
              <a:tr h="480413">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スコープ </a:t>
                      </a:r>
                      <a:r>
                        <a:rPr lang="ja-JP" sz="2700" b="1" u="none" strike="noStrike" cap="none">
                          <a:solidFill>
                            <a:schemeClr val="lt1"/>
                          </a:solidFill>
                          <a:latin typeface="Meiryo"/>
                          <a:ea typeface="Meiryo"/>
                          <a:cs typeface="Meiryo"/>
                          <a:sym typeface="Meiryo"/>
                        </a:rPr>
                        <a:t>内</a:t>
                      </a:r>
                      <a:endParaRPr sz="1600" b="1" u="none" strike="noStrike" cap="none">
                        <a:solidFill>
                          <a:schemeClr val="lt1"/>
                        </a:solidFill>
                        <a:latin typeface="Meiryo"/>
                        <a:ea typeface="Meiryo"/>
                        <a:cs typeface="Meiryo"/>
                        <a:sym typeface="Meiryo"/>
                      </a:endParaRPr>
                    </a:p>
                  </a:txBody>
                  <a:tcPr marL="91425" marR="91425"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136904">
                <a:tc>
                  <a:txBody>
                    <a:bodyPr/>
                    <a:lstStyle/>
                    <a:p>
                      <a:pPr marL="285750" marR="0" lvl="0" indent="-198120" algn="l" rtl="0">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店舗販売/発注に関わる商品登録システムについてトライアル商談システム（非生鮮/アパレル）・トライアル生鮮商談システム（青果・水産・畜産・寿司）へのシステム移行・データ移行</a:t>
                      </a:r>
                      <a:endParaRPr lang="ja-JP"/>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既存トライアル商談システム（非生鮮）の性能改善</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トライアル商品階層への移行（商品紐付）</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西友の商品マスタ情報のデータ移行</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過渡期の西友MD基幹システム（TC）への商品マスタデータ連携</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マスタ統合後のECへの商品情報（画像・商品説明）・マスタ情報提供のための過渡期対応による対応</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メーカー基本商品情報の外部連携の検討（R-MELOS継続なのか、eBASE等の外部SaaSサービス利用か）</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上記に伴う、システム対応（要件定義/設計/開発/テスト/データ移UAT）</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マスタ移行計画・実行</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業務プロセス変更・教育</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社内外説明会・問い合わせ対応​</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運用/サポート体制確立</a:t>
                      </a:r>
                    </a:p>
                  </a:txBody>
                  <a:tcPr marL="108000" marR="108000" marT="108000" marB="10800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09" name="Google Shape;109;p6"/>
          <p:cNvGraphicFramePr/>
          <p:nvPr>
            <p:extLst>
              <p:ext uri="{D42A27DB-BD31-4B8C-83A1-F6EECF244321}">
                <p14:modId xmlns:p14="http://schemas.microsoft.com/office/powerpoint/2010/main" val="73274443"/>
              </p:ext>
            </p:extLst>
          </p:nvPr>
        </p:nvGraphicFramePr>
        <p:xfrm>
          <a:off x="6331573" y="1237723"/>
          <a:ext cx="5045000" cy="5338154"/>
        </p:xfrm>
        <a:graphic>
          <a:graphicData uri="http://schemas.openxmlformats.org/drawingml/2006/table">
            <a:tbl>
              <a:tblPr>
                <a:noFill/>
                <a:tableStyleId>{16DD54E9-F15A-4EFF-A1D8-E2CBB5DF2B52}</a:tableStyleId>
              </a:tblPr>
              <a:tblGrid>
                <a:gridCol w="5045000">
                  <a:extLst>
                    <a:ext uri="{9D8B030D-6E8A-4147-A177-3AD203B41FA5}">
                      <a16:colId xmlns:a16="http://schemas.microsoft.com/office/drawing/2014/main" val="20000"/>
                    </a:ext>
                  </a:extLst>
                </a:gridCol>
              </a:tblGrid>
              <a:tr h="573680">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スコープ </a:t>
                      </a:r>
                      <a:r>
                        <a:rPr lang="ja-JP" sz="2700" b="1" u="none" strike="noStrike" cap="none">
                          <a:solidFill>
                            <a:schemeClr val="lt1"/>
                          </a:solidFill>
                          <a:latin typeface="Meiryo"/>
                          <a:ea typeface="Meiryo"/>
                          <a:cs typeface="Meiryo"/>
                          <a:sym typeface="Meiryo"/>
                        </a:rPr>
                        <a:t>外</a:t>
                      </a:r>
                      <a:endParaRPr sz="1600" b="1" u="none" strike="noStrike" cap="none">
                        <a:solidFill>
                          <a:schemeClr val="lt1"/>
                        </a:solidFill>
                        <a:latin typeface="Meiryo"/>
                        <a:ea typeface="Meiryo"/>
                        <a:cs typeface="Meiryo"/>
                        <a:sym typeface="Meiryo"/>
                      </a:endParaRPr>
                    </a:p>
                  </a:txBody>
                  <a:tcPr marL="91425" marR="91425" marT="45725" marB="45725" anchor="ctr">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764474">
                <a:tc>
                  <a:txBody>
                    <a:bodyPr/>
                    <a:lstStyle/>
                    <a:p>
                      <a:pPr marL="285750" marR="0" lvl="0" indent="-198120" algn="l" rtl="0">
                        <a:lnSpc>
                          <a:spcPct val="100000"/>
                        </a:lnSpc>
                        <a:spcBef>
                          <a:spcPts val="0"/>
                        </a:spcBef>
                        <a:spcAft>
                          <a:spcPts val="0"/>
                        </a:spcAft>
                        <a:buClr>
                          <a:srgbClr val="BFBFBF"/>
                        </a:buClr>
                        <a:buSzPts val="1100"/>
                        <a:buFont typeface="Noto Sans Symbols"/>
                        <a:buChar char="■"/>
                      </a:pPr>
                      <a:r>
                        <a:rPr lang="en-US" altLang="ja-JP" sz="1500" u="none" strike="noStrike" cap="none" err="1">
                          <a:solidFill>
                            <a:schemeClr val="dk1"/>
                          </a:solidFill>
                          <a:latin typeface="Meiryo"/>
                          <a:ea typeface="Meiryo"/>
                        </a:rPr>
                        <a:t>惣菜商品の製品・原材料（仕入）に関わる商品マスタ統合は惣菜プロジェクトで対応</a:t>
                      </a:r>
                    </a:p>
                    <a:p>
                      <a:pPr marL="285750" marR="0" lvl="0" indent="-198120" algn="l">
                        <a:lnSpc>
                          <a:spcPct val="100000"/>
                        </a:lnSpc>
                        <a:spcBef>
                          <a:spcPts val="0"/>
                        </a:spcBef>
                        <a:spcAft>
                          <a:spcPts val="0"/>
                        </a:spcAft>
                        <a:buClr>
                          <a:srgbClr val="BFBFBF"/>
                        </a:buClr>
                        <a:buSzPts val="1100"/>
                        <a:buFont typeface="Noto Sans Symbols"/>
                        <a:buChar char="■"/>
                      </a:pPr>
                      <a:endParaRPr lang="en-US" altLang="ja-JP" sz="1500" u="none" strike="noStrike" cap="none">
                        <a:solidFill>
                          <a:schemeClr val="dk1"/>
                        </a:solidFill>
                        <a:latin typeface="Meiryo"/>
                        <a:ea typeface="Meiryo"/>
                      </a:endParaRPr>
                    </a:p>
                    <a:p>
                      <a:pPr marL="285750" marR="0" lvl="0" indent="-198120" algn="l">
                        <a:lnSpc>
                          <a:spcPct val="100000"/>
                        </a:lnSpc>
                        <a:spcBef>
                          <a:spcPts val="0"/>
                        </a:spcBef>
                        <a:spcAft>
                          <a:spcPts val="0"/>
                        </a:spcAft>
                        <a:buClr>
                          <a:srgbClr val="BFBFBF"/>
                        </a:buClr>
                        <a:buSzPts val="1100"/>
                        <a:buFont typeface="Noto Sans Symbols"/>
                        <a:buChar char="■"/>
                      </a:pPr>
                      <a:endParaRPr lang="en-US" altLang="ja-JP" sz="1500" u="none" strike="noStrike" cap="none">
                        <a:solidFill>
                          <a:schemeClr val="dk1"/>
                        </a:solidFill>
                        <a:latin typeface="Meiryo"/>
                        <a:ea typeface="Meiryo"/>
                      </a:endParaRPr>
                    </a:p>
                    <a:p>
                      <a:pPr marL="87630" marR="0" lvl="0" indent="0" algn="l">
                        <a:lnSpc>
                          <a:spcPct val="100000"/>
                        </a:lnSpc>
                        <a:spcBef>
                          <a:spcPts val="0"/>
                        </a:spcBef>
                        <a:spcAft>
                          <a:spcPts val="0"/>
                        </a:spcAft>
                        <a:buClr>
                          <a:srgbClr val="BFBFBF"/>
                        </a:buClr>
                        <a:buSzPts val="1100"/>
                        <a:buNone/>
                      </a:pPr>
                      <a:r>
                        <a:rPr lang="en-US" altLang="ja-JP" sz="1500" u="none" strike="noStrike" cap="none">
                          <a:solidFill>
                            <a:schemeClr val="dk1"/>
                          </a:solidFill>
                          <a:latin typeface="Meiryo"/>
                          <a:ea typeface="Meiryo"/>
                        </a:rPr>
                        <a:t>【</a:t>
                      </a:r>
                      <a:r>
                        <a:rPr lang="en-US" altLang="ja-JP" sz="1500" u="none" strike="noStrike" cap="none" err="1">
                          <a:solidFill>
                            <a:schemeClr val="dk1"/>
                          </a:solidFill>
                          <a:latin typeface="Meiryo"/>
                          <a:ea typeface="Meiryo"/>
                        </a:rPr>
                        <a:t>依存関係あり</a:t>
                      </a:r>
                      <a:r>
                        <a:rPr lang="en-US" altLang="ja-JP" sz="1500" u="none" strike="noStrike" cap="none">
                          <a:solidFill>
                            <a:schemeClr val="dk1"/>
                          </a:solidFill>
                          <a:latin typeface="Meiryo"/>
                          <a:ea typeface="Meiryo"/>
                        </a:rPr>
                        <a:t>】</a:t>
                      </a:r>
                    </a:p>
                    <a:p>
                      <a:pPr marL="285750" marR="0" lvl="0" indent="-198120" algn="l">
                        <a:lnSpc>
                          <a:spcPct val="100000"/>
                        </a:lnSpc>
                        <a:spcBef>
                          <a:spcPts val="0"/>
                        </a:spcBef>
                        <a:spcAft>
                          <a:spcPts val="0"/>
                        </a:spcAft>
                        <a:buClr>
                          <a:srgbClr val="BFBFBF"/>
                        </a:buClr>
                        <a:buSzPts val="1100"/>
                        <a:buFont typeface="Noto Sans Symbols"/>
                        <a:buChar char="■"/>
                      </a:pPr>
                      <a:r>
                        <a:rPr lang="en-US" altLang="ja-JP" sz="1500" u="none" strike="noStrike" cap="none" err="1">
                          <a:solidFill>
                            <a:schemeClr val="dk1"/>
                          </a:solidFill>
                          <a:latin typeface="Meiryo"/>
                          <a:ea typeface="Meiryo"/>
                        </a:rPr>
                        <a:t>商談システムとShiniseへの連携はトライアルのShiniseプロジェクトで対応</a:t>
                      </a:r>
                      <a:endParaRPr lang="en-US" altLang="ja-JP" sz="1500" u="none" strike="noStrike" cap="none">
                        <a:solidFill>
                          <a:schemeClr val="dk1"/>
                        </a:solidFill>
                        <a:latin typeface="Meiryo"/>
                        <a:ea typeface="Meiryo"/>
                      </a:endParaRP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商品マスタ以外のマスタデータ移行はMD基幹システム統合プロジェクトで対応（仕入先マスタ他）</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店舗コード統合</a:t>
                      </a:r>
                    </a:p>
                    <a:p>
                      <a:pPr marL="285750" marR="0" lvl="0" indent="-198120" algn="l">
                        <a:lnSpc>
                          <a:spcPct val="100000"/>
                        </a:lnSpc>
                        <a:spcBef>
                          <a:spcPts val="0"/>
                        </a:spcBef>
                        <a:spcAft>
                          <a:spcPts val="0"/>
                        </a:spcAft>
                        <a:buClr>
                          <a:srgbClr val="BFBFBF"/>
                        </a:buClr>
                        <a:buSzPts val="1100"/>
                        <a:buFont typeface="Noto Sans Symbols"/>
                        <a:buChar char="■"/>
                      </a:pPr>
                      <a:r>
                        <a:rPr lang="ja-JP" altLang="en-US" sz="1500" u="none" strike="noStrike" cap="none">
                          <a:solidFill>
                            <a:schemeClr val="dk1"/>
                          </a:solidFill>
                          <a:latin typeface="Meiryo"/>
                          <a:ea typeface="Meiryo"/>
                        </a:rPr>
                        <a:t>EC過渡期対応プロジェクト（商品マスタ以外の対応についてはスコープ外）</a:t>
                      </a:r>
                    </a:p>
                  </a:txBody>
                  <a:tcPr marL="108000" marR="108000" marT="108000" marB="108000">
                    <a:lnL w="9525" cap="flat" cmpd="sng">
                      <a:solidFill>
                        <a:srgbClr val="7F7F7F"/>
                      </a:solidFill>
                      <a:prstDash val="solid"/>
                      <a:round/>
                      <a:headEnd type="none" w="sm" len="sm"/>
                      <a:tailEnd type="none" w="sm" len="sm"/>
                    </a:lnL>
                    <a:lnR w="9525" cap="flat" cmpd="sng">
                      <a:solidFill>
                        <a:srgbClr val="7F7F7F"/>
                      </a:solidFill>
                      <a:prstDash val="solid"/>
                      <a:round/>
                      <a:headEnd type="none" w="sm" len="sm"/>
                      <a:tailEnd type="none" w="sm" len="sm"/>
                    </a:lnR>
                    <a:lnT w="9525" cap="flat" cmpd="sng">
                      <a:solidFill>
                        <a:srgbClr val="7F7F7F"/>
                      </a:solidFill>
                      <a:prstDash val="solid"/>
                      <a:round/>
                      <a:headEnd type="none" w="sm" len="sm"/>
                      <a:tailEnd type="none" w="sm" len="sm"/>
                    </a:lnT>
                    <a:lnB w="9525" cap="flat" cmpd="sng">
                      <a:solidFill>
                        <a:srgbClr val="7F7F7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graphicFrame>
        <p:nvGraphicFramePr>
          <p:cNvPr id="116" name="Google Shape;116;p7"/>
          <p:cNvGraphicFramePr/>
          <p:nvPr>
            <p:extLst>
              <p:ext uri="{D42A27DB-BD31-4B8C-83A1-F6EECF244321}">
                <p14:modId xmlns:p14="http://schemas.microsoft.com/office/powerpoint/2010/main" val="3967918692"/>
              </p:ext>
            </p:extLst>
          </p:nvPr>
        </p:nvGraphicFramePr>
        <p:xfrm>
          <a:off x="640757" y="1180439"/>
          <a:ext cx="10943984" cy="5427541"/>
        </p:xfrm>
        <a:graphic>
          <a:graphicData uri="http://schemas.openxmlformats.org/drawingml/2006/table">
            <a:tbl>
              <a:tblPr>
                <a:noFill/>
                <a:tableStyleId>{16DD54E9-F15A-4EFF-A1D8-E2CBB5DF2B52}</a:tableStyleId>
              </a:tblPr>
              <a:tblGrid>
                <a:gridCol w="260571">
                  <a:extLst>
                    <a:ext uri="{9D8B030D-6E8A-4147-A177-3AD203B41FA5}">
                      <a16:colId xmlns:a16="http://schemas.microsoft.com/office/drawing/2014/main" val="20000"/>
                    </a:ext>
                  </a:extLst>
                </a:gridCol>
                <a:gridCol w="1302857">
                  <a:extLst>
                    <a:ext uri="{9D8B030D-6E8A-4147-A177-3AD203B41FA5}">
                      <a16:colId xmlns:a16="http://schemas.microsoft.com/office/drawing/2014/main" val="20001"/>
                    </a:ext>
                  </a:extLst>
                </a:gridCol>
                <a:gridCol w="347428">
                  <a:extLst>
                    <a:ext uri="{9D8B030D-6E8A-4147-A177-3AD203B41FA5}">
                      <a16:colId xmlns:a16="http://schemas.microsoft.com/office/drawing/2014/main" val="20002"/>
                    </a:ext>
                  </a:extLst>
                </a:gridCol>
                <a:gridCol w="347428">
                  <a:extLst>
                    <a:ext uri="{9D8B030D-6E8A-4147-A177-3AD203B41FA5}">
                      <a16:colId xmlns:a16="http://schemas.microsoft.com/office/drawing/2014/main" val="20003"/>
                    </a:ext>
                  </a:extLst>
                </a:gridCol>
                <a:gridCol w="347428">
                  <a:extLst>
                    <a:ext uri="{9D8B030D-6E8A-4147-A177-3AD203B41FA5}">
                      <a16:colId xmlns:a16="http://schemas.microsoft.com/office/drawing/2014/main" val="20004"/>
                    </a:ext>
                  </a:extLst>
                </a:gridCol>
                <a:gridCol w="347428">
                  <a:extLst>
                    <a:ext uri="{9D8B030D-6E8A-4147-A177-3AD203B41FA5}">
                      <a16:colId xmlns:a16="http://schemas.microsoft.com/office/drawing/2014/main" val="20005"/>
                    </a:ext>
                  </a:extLst>
                </a:gridCol>
                <a:gridCol w="347428">
                  <a:extLst>
                    <a:ext uri="{9D8B030D-6E8A-4147-A177-3AD203B41FA5}">
                      <a16:colId xmlns:a16="http://schemas.microsoft.com/office/drawing/2014/main" val="20006"/>
                    </a:ext>
                  </a:extLst>
                </a:gridCol>
                <a:gridCol w="347428">
                  <a:extLst>
                    <a:ext uri="{9D8B030D-6E8A-4147-A177-3AD203B41FA5}">
                      <a16:colId xmlns:a16="http://schemas.microsoft.com/office/drawing/2014/main" val="20007"/>
                    </a:ext>
                  </a:extLst>
                </a:gridCol>
                <a:gridCol w="347428">
                  <a:extLst>
                    <a:ext uri="{9D8B030D-6E8A-4147-A177-3AD203B41FA5}">
                      <a16:colId xmlns:a16="http://schemas.microsoft.com/office/drawing/2014/main" val="20008"/>
                    </a:ext>
                  </a:extLst>
                </a:gridCol>
                <a:gridCol w="347428">
                  <a:extLst>
                    <a:ext uri="{9D8B030D-6E8A-4147-A177-3AD203B41FA5}">
                      <a16:colId xmlns:a16="http://schemas.microsoft.com/office/drawing/2014/main" val="20009"/>
                    </a:ext>
                  </a:extLst>
                </a:gridCol>
                <a:gridCol w="347428">
                  <a:extLst>
                    <a:ext uri="{9D8B030D-6E8A-4147-A177-3AD203B41FA5}">
                      <a16:colId xmlns:a16="http://schemas.microsoft.com/office/drawing/2014/main" val="20010"/>
                    </a:ext>
                  </a:extLst>
                </a:gridCol>
                <a:gridCol w="347428">
                  <a:extLst>
                    <a:ext uri="{9D8B030D-6E8A-4147-A177-3AD203B41FA5}">
                      <a16:colId xmlns:a16="http://schemas.microsoft.com/office/drawing/2014/main" val="20011"/>
                    </a:ext>
                  </a:extLst>
                </a:gridCol>
                <a:gridCol w="347428">
                  <a:extLst>
                    <a:ext uri="{9D8B030D-6E8A-4147-A177-3AD203B41FA5}">
                      <a16:colId xmlns:a16="http://schemas.microsoft.com/office/drawing/2014/main" val="20012"/>
                    </a:ext>
                  </a:extLst>
                </a:gridCol>
                <a:gridCol w="347428">
                  <a:extLst>
                    <a:ext uri="{9D8B030D-6E8A-4147-A177-3AD203B41FA5}">
                      <a16:colId xmlns:a16="http://schemas.microsoft.com/office/drawing/2014/main" val="20013"/>
                    </a:ext>
                  </a:extLst>
                </a:gridCol>
                <a:gridCol w="347428">
                  <a:extLst>
                    <a:ext uri="{9D8B030D-6E8A-4147-A177-3AD203B41FA5}">
                      <a16:colId xmlns:a16="http://schemas.microsoft.com/office/drawing/2014/main" val="20014"/>
                    </a:ext>
                  </a:extLst>
                </a:gridCol>
                <a:gridCol w="347428">
                  <a:extLst>
                    <a:ext uri="{9D8B030D-6E8A-4147-A177-3AD203B41FA5}">
                      <a16:colId xmlns:a16="http://schemas.microsoft.com/office/drawing/2014/main" val="20015"/>
                    </a:ext>
                  </a:extLst>
                </a:gridCol>
                <a:gridCol w="347428">
                  <a:extLst>
                    <a:ext uri="{9D8B030D-6E8A-4147-A177-3AD203B41FA5}">
                      <a16:colId xmlns:a16="http://schemas.microsoft.com/office/drawing/2014/main" val="20016"/>
                    </a:ext>
                  </a:extLst>
                </a:gridCol>
                <a:gridCol w="347428">
                  <a:extLst>
                    <a:ext uri="{9D8B030D-6E8A-4147-A177-3AD203B41FA5}">
                      <a16:colId xmlns:a16="http://schemas.microsoft.com/office/drawing/2014/main" val="20017"/>
                    </a:ext>
                  </a:extLst>
                </a:gridCol>
                <a:gridCol w="347428">
                  <a:extLst>
                    <a:ext uri="{9D8B030D-6E8A-4147-A177-3AD203B41FA5}">
                      <a16:colId xmlns:a16="http://schemas.microsoft.com/office/drawing/2014/main" val="20018"/>
                    </a:ext>
                  </a:extLst>
                </a:gridCol>
                <a:gridCol w="347428">
                  <a:extLst>
                    <a:ext uri="{9D8B030D-6E8A-4147-A177-3AD203B41FA5}">
                      <a16:colId xmlns:a16="http://schemas.microsoft.com/office/drawing/2014/main" val="20019"/>
                    </a:ext>
                  </a:extLst>
                </a:gridCol>
                <a:gridCol w="347428">
                  <a:extLst>
                    <a:ext uri="{9D8B030D-6E8A-4147-A177-3AD203B41FA5}">
                      <a16:colId xmlns:a16="http://schemas.microsoft.com/office/drawing/2014/main" val="20020"/>
                    </a:ext>
                  </a:extLst>
                </a:gridCol>
                <a:gridCol w="347428">
                  <a:extLst>
                    <a:ext uri="{9D8B030D-6E8A-4147-A177-3AD203B41FA5}">
                      <a16:colId xmlns:a16="http://schemas.microsoft.com/office/drawing/2014/main" val="20021"/>
                    </a:ext>
                  </a:extLst>
                </a:gridCol>
                <a:gridCol w="347428">
                  <a:extLst>
                    <a:ext uri="{9D8B030D-6E8A-4147-A177-3AD203B41FA5}">
                      <a16:colId xmlns:a16="http://schemas.microsoft.com/office/drawing/2014/main" val="20022"/>
                    </a:ext>
                  </a:extLst>
                </a:gridCol>
                <a:gridCol w="347428">
                  <a:extLst>
                    <a:ext uri="{9D8B030D-6E8A-4147-A177-3AD203B41FA5}">
                      <a16:colId xmlns:a16="http://schemas.microsoft.com/office/drawing/2014/main" val="20023"/>
                    </a:ext>
                  </a:extLst>
                </a:gridCol>
                <a:gridCol w="347428">
                  <a:extLst>
                    <a:ext uri="{9D8B030D-6E8A-4147-A177-3AD203B41FA5}">
                      <a16:colId xmlns:a16="http://schemas.microsoft.com/office/drawing/2014/main" val="20024"/>
                    </a:ext>
                  </a:extLst>
                </a:gridCol>
                <a:gridCol w="347428">
                  <a:extLst>
                    <a:ext uri="{9D8B030D-6E8A-4147-A177-3AD203B41FA5}">
                      <a16:colId xmlns:a16="http://schemas.microsoft.com/office/drawing/2014/main" val="20025"/>
                    </a:ext>
                  </a:extLst>
                </a:gridCol>
                <a:gridCol w="347428">
                  <a:extLst>
                    <a:ext uri="{9D8B030D-6E8A-4147-A177-3AD203B41FA5}">
                      <a16:colId xmlns:a16="http://schemas.microsoft.com/office/drawing/2014/main" val="1861820710"/>
                    </a:ext>
                  </a:extLst>
                </a:gridCol>
                <a:gridCol w="347428">
                  <a:extLst>
                    <a:ext uri="{9D8B030D-6E8A-4147-A177-3AD203B41FA5}">
                      <a16:colId xmlns:a16="http://schemas.microsoft.com/office/drawing/2014/main" val="3793903117"/>
                    </a:ext>
                  </a:extLst>
                </a:gridCol>
                <a:gridCol w="347428">
                  <a:extLst>
                    <a:ext uri="{9D8B030D-6E8A-4147-A177-3AD203B41FA5}">
                      <a16:colId xmlns:a16="http://schemas.microsoft.com/office/drawing/2014/main" val="3127040750"/>
                    </a:ext>
                  </a:extLst>
                </a:gridCol>
              </a:tblGrid>
              <a:tr h="285905">
                <a:tc rowSpan="2" gridSpan="2">
                  <a:txBody>
                    <a:bodyPr/>
                    <a:lstStyle/>
                    <a:p>
                      <a:pPr marL="0" marR="0" lvl="0" indent="0" algn="l" rtl="0">
                        <a:lnSpc>
                          <a:spcPct val="100000"/>
                        </a:lnSpc>
                        <a:spcBef>
                          <a:spcPts val="0"/>
                        </a:spcBef>
                        <a:spcAft>
                          <a:spcPts val="0"/>
                        </a:spcAft>
                        <a:buClr>
                          <a:srgbClr val="000000"/>
                        </a:buClr>
                        <a:buSzPts val="800"/>
                        <a:buFont typeface="Arial"/>
                        <a:buNone/>
                      </a:pPr>
                      <a:endParaRPr sz="11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lt1"/>
                    </a:solidFill>
                  </a:tcPr>
                </a:tc>
                <a:tc rowSpan="2"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kumimoji="1" lang="en-US" altLang="ja-JP"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rPr>
                        <a:t>2026</a:t>
                      </a: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lang="ja-JP" sz="1200" b="1" u="none" strike="noStrike" cap="none">
                          <a:solidFill>
                            <a:schemeClr val="lt1"/>
                          </a:solidFill>
                          <a:latin typeface="Meiryo"/>
                          <a:ea typeface="Meiryo"/>
                          <a:cs typeface="Meiryo"/>
                          <a:sym typeface="Meiryo"/>
                        </a:rPr>
                        <a:t>20</a:t>
                      </a:r>
                      <a:r>
                        <a:rPr lang="en-US" altLang="ja-JP" sz="1200" b="1" u="none" strike="noStrike" cap="none">
                          <a:solidFill>
                            <a:schemeClr val="lt1"/>
                          </a:solidFill>
                          <a:latin typeface="Meiryo"/>
                          <a:ea typeface="Meiryo"/>
                          <a:cs typeface="Meiryo"/>
                          <a:sym typeface="Meiryo"/>
                        </a:rPr>
                        <a:t>27</a:t>
                      </a:r>
                      <a:endParaRPr sz="1200" b="1" u="none" strike="noStrike" cap="none">
                        <a:solidFill>
                          <a:schemeClr val="lt1"/>
                        </a:solidFill>
                        <a:latin typeface="Meiryo"/>
                        <a:ea typeface="Meiryo"/>
                        <a:cs typeface="Meiryo"/>
                        <a:sym typeface="Meiryo"/>
                      </a:endParaRPr>
                    </a:p>
                  </a:txBody>
                  <a:tcPr marL="48000" marR="48000"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3">
                  <a:txBody>
                    <a:bodyPr/>
                    <a:lstStyle/>
                    <a:p>
                      <a:pPr marL="0" lvl="0" indent="0" algn="l">
                        <a:lnSpc>
                          <a:spcPct val="100000"/>
                        </a:lnSpc>
                        <a:spcBef>
                          <a:spcPts val="0"/>
                        </a:spcBef>
                        <a:spcAft>
                          <a:spcPts val="0"/>
                        </a:spcAft>
                        <a:buNone/>
                      </a:pPr>
                      <a:r>
                        <a:rPr lang="en-US" altLang="ja-JP" sz="1200" b="1" u="none" strike="noStrike" cap="none">
                          <a:solidFill>
                            <a:schemeClr val="lt1"/>
                          </a:solidFill>
                          <a:latin typeface="Meiryo"/>
                          <a:ea typeface="Meiryo"/>
                          <a:cs typeface="Meiryo"/>
                        </a:rPr>
                        <a:t>2028</a:t>
                      </a:r>
                      <a:endParaRPr lang="en-US" altLang="ja-JP" sz="1200" b="1" u="none" strike="noStrike" cap="none">
                        <a:solidFill>
                          <a:schemeClr val="lt1"/>
                        </a:solidFill>
                        <a:latin typeface="Meiryo"/>
                        <a:ea typeface="Meiryo"/>
                        <a:cs typeface="Meiryo"/>
                        <a:sym typeface="Meiryo"/>
                      </a:endParaRPr>
                    </a:p>
                  </a:txBody>
                  <a:tcPr marL="48000" marR="48000"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7F7F7F"/>
                    </a:solidFill>
                  </a:tcPr>
                </a:tc>
                <a:tc hMerge="1">
                  <a:txBody>
                    <a:bodyPr/>
                    <a:lstStyle/>
                    <a:p>
                      <a:endParaRPr lang="ja-JP" altLang="en-US">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7F7F7F"/>
                    </a:solidFill>
                  </a:tcPr>
                </a:tc>
                <a:tc hMerge="1">
                  <a:txBody>
                    <a:bodyPr/>
                    <a:lstStyle/>
                    <a:p>
                      <a:endParaRPr lang="ja-JP" altLang="en-US">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7F7F7F"/>
                    </a:solidFill>
                  </a:tcPr>
                </a:tc>
                <a:extLst>
                  <a:ext uri="{0D108BD9-81ED-4DB2-BD59-A6C34878D82A}">
                    <a16:rowId xmlns:a16="http://schemas.microsoft.com/office/drawing/2014/main" val="10000"/>
                  </a:ext>
                </a:extLst>
              </a:tr>
              <a:tr h="285905">
                <a:tc gridSpan="2" vMerge="1">
                  <a:txBody>
                    <a:bodyPr/>
                    <a:lstStyle/>
                    <a:p>
                      <a:endParaRPr lang="ja-JP"/>
                    </a:p>
                  </a:txBody>
                  <a:tcPr/>
                </a:tc>
                <a:tc hMerge="1" v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2</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3</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4</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5</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6</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7</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8</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b="1" u="none" strike="noStrike" cap="none">
                          <a:latin typeface="Meiryo"/>
                          <a:ea typeface="Meiryo"/>
                          <a:cs typeface="Meiryo"/>
                          <a:sym typeface="Meiryo"/>
                        </a:rPr>
                        <a:t>9</a:t>
                      </a:r>
                      <a:endParaRPr lang="ja-JP" altLang="en-US" sz="12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10</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12</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2</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3</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4</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5</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6</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7</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8</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9</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10</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12</a:t>
                      </a:r>
                      <a:endParaRPr sz="1200" b="1" u="none" strike="noStrike" cap="none">
                        <a:latin typeface="Meiryo"/>
                        <a:ea typeface="Meiryo"/>
                        <a:cs typeface="Meiryo"/>
                        <a:sym typeface="Meiryo"/>
                      </a:endParaRPr>
                    </a:p>
                  </a:txBody>
                  <a:tcPr marL="48000" marR="48000"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1</a:t>
                      </a:r>
                      <a:endParaRPr sz="1200" b="1" u="none" strike="noStrike" cap="none">
                        <a:latin typeface="Meiryo"/>
                        <a:ea typeface="Meiryo"/>
                        <a:cs typeface="Meiryo"/>
                        <a:sym typeface="Meiryo"/>
                      </a:endParaRPr>
                    </a:p>
                  </a:txBody>
                  <a:tcPr marL="48000" marR="48000"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2</a:t>
                      </a:r>
                      <a:endParaRPr sz="1200" b="1" u="none" strike="noStrike" cap="none">
                        <a:latin typeface="Meiryo"/>
                        <a:ea typeface="Meiryo"/>
                        <a:cs typeface="Meiryo"/>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3</a:t>
                      </a:r>
                      <a:endParaRPr sz="1200" b="1" u="none" strike="noStrike" cap="none">
                        <a:latin typeface="Meiryo"/>
                        <a:ea typeface="Meiryo"/>
                        <a:cs typeface="Meiryo"/>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D8D8D8"/>
                    </a:solidFill>
                  </a:tcPr>
                </a:tc>
                <a:extLst>
                  <a:ext uri="{0D108BD9-81ED-4DB2-BD59-A6C34878D82A}">
                    <a16:rowId xmlns:a16="http://schemas.microsoft.com/office/drawing/2014/main" val="10001"/>
                  </a:ext>
                </a:extLst>
              </a:tr>
              <a:tr h="634052">
                <a:tc gridSpan="2">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chemeClr val="lt1"/>
                          </a:solidFill>
                          <a:latin typeface="Meiryo"/>
                          <a:ea typeface="Meiryo"/>
                          <a:cs typeface="Meiryo"/>
                          <a:sym typeface="Meiryo"/>
                        </a:rPr>
                        <a:t>イベント・</a:t>
                      </a:r>
                      <a:endParaRPr sz="1500" b="1" u="none" strike="noStrike" cap="none">
                        <a:solidFill>
                          <a:schemeClr val="lt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chemeClr val="lt1"/>
                          </a:solidFill>
                          <a:latin typeface="Meiryo"/>
                          <a:ea typeface="Meiryo"/>
                          <a:cs typeface="Meiryo"/>
                          <a:sym typeface="Meiryo"/>
                        </a:rPr>
                        <a:t>マイルストーン</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2B2B2B"/>
                    </a:solidFill>
                  </a:tcPr>
                </a:tc>
                <a:tc hMerge="1">
                  <a:txBody>
                    <a:bodyPr/>
                    <a:lstStyle/>
                    <a:p>
                      <a:endParaRPr lang="ja-JP"/>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2"/>
                  </a:ext>
                </a:extLst>
              </a:tr>
              <a:tr h="634052">
                <a:tc>
                  <a:txBody>
                    <a:bodyPr/>
                    <a:lstStyle/>
                    <a:p>
                      <a:pPr marL="0" marR="0" lvl="0" indent="0" algn="ctr" rtl="0">
                        <a:lnSpc>
                          <a:spcPct val="100000"/>
                        </a:lnSpc>
                        <a:spcBef>
                          <a:spcPts val="0"/>
                        </a:spcBef>
                        <a:spcAft>
                          <a:spcPts val="0"/>
                        </a:spcAft>
                        <a:buClr>
                          <a:srgbClr val="000000"/>
                        </a:buClr>
                        <a:buSzPts val="1100"/>
                        <a:buFont typeface="Arial"/>
                        <a:buNone/>
                      </a:pPr>
                      <a:r>
                        <a:rPr lang="en-US" sz="1500" b="1" u="none" strike="noStrike" cap="none">
                          <a:solidFill>
                            <a:schemeClr val="lt1"/>
                          </a:solidFill>
                          <a:latin typeface="Meiryo"/>
                          <a:ea typeface="Meiryo"/>
                          <a:cs typeface="Meiryo"/>
                          <a:sym typeface="Meiryo"/>
                        </a:rPr>
                        <a:t>A</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400" b="1" u="none" strike="noStrike" cap="none">
                          <a:solidFill>
                            <a:schemeClr val="lt1"/>
                          </a:solidFill>
                          <a:latin typeface="Meiryo"/>
                          <a:ea typeface="Meiryo"/>
                          <a:cs typeface="Meiryo"/>
                          <a:sym typeface="Meiryo"/>
                        </a:rPr>
                        <a:t>性能改善</a:t>
                      </a:r>
                      <a:endParaRPr sz="1400" b="1" u="none" strike="noStrike" cap="none">
                        <a:solidFill>
                          <a:schemeClr val="lt1"/>
                        </a:solidFill>
                        <a:latin typeface="Meiryo"/>
                        <a:ea typeface="Meiryo"/>
                        <a:cs typeface="Meiryo"/>
                        <a:sym typeface="Meiryo"/>
                      </a:endParaRP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2203775844"/>
                  </a:ext>
                </a:extLst>
              </a:tr>
              <a:tr h="634052">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B</a:t>
                      </a:r>
                      <a:endParaRPr lang="en-US" altLang="ja-JP"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400" b="1" u="none" strike="noStrike" cap="none">
                          <a:solidFill>
                            <a:schemeClr val="lt1"/>
                          </a:solidFill>
                          <a:latin typeface="Meiryo"/>
                          <a:ea typeface="Meiryo"/>
                          <a:cs typeface="Meiryo"/>
                        </a:rPr>
                        <a:t>商品階層統合計画</a:t>
                      </a:r>
                      <a:endParaRPr lang="ja-JP"/>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4"/>
                  </a:ext>
                </a:extLst>
              </a:tr>
              <a:tr h="634052">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C</a:t>
                      </a:r>
                      <a:endParaRPr lang="en-US"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400" b="1" u="none" strike="noStrike" cap="none">
                          <a:solidFill>
                            <a:schemeClr val="lt1"/>
                          </a:solidFill>
                          <a:latin typeface="Meiryo"/>
                          <a:ea typeface="Meiryo"/>
                        </a:rPr>
                        <a:t>商品マスタ</a:t>
                      </a:r>
                    </a:p>
                    <a:p>
                      <a:pPr marL="0" marR="0" lvl="0" indent="0" algn="l">
                        <a:lnSpc>
                          <a:spcPct val="100000"/>
                        </a:lnSpc>
                        <a:spcBef>
                          <a:spcPts val="0"/>
                        </a:spcBef>
                        <a:spcAft>
                          <a:spcPts val="0"/>
                        </a:spcAft>
                        <a:buSzPts val="1100"/>
                        <a:buFont typeface="Arial"/>
                        <a:buNone/>
                      </a:pPr>
                      <a:r>
                        <a:rPr lang="ja-JP" altLang="en-US" sz="1400" b="1" u="none" strike="noStrike" cap="none">
                          <a:solidFill>
                            <a:schemeClr val="lt1"/>
                          </a:solidFill>
                          <a:latin typeface="Meiryo"/>
                          <a:ea typeface="Meiryo"/>
                        </a:rPr>
                        <a:t>マッピング</a:t>
                      </a: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5"/>
                  </a:ext>
                </a:extLst>
              </a:tr>
              <a:tr h="908221">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D</a:t>
                      </a: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500" b="1" u="none" strike="noStrike" cap="none">
                          <a:solidFill>
                            <a:schemeClr val="lt1"/>
                          </a:solidFill>
                          <a:latin typeface="Meiryo"/>
                          <a:ea typeface="Meiryo"/>
                        </a:rPr>
                        <a:t>データ移行プロセス確立・開始</a:t>
                      </a: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med" len="med"/>
                      <a:tailEnd type="none" w="med" len="med"/>
                    </a:lnR>
                    <a:lnT w="12700" cap="flat" cmpd="sng" algn="ctr">
                      <a:solidFill>
                        <a:schemeClr val="lt1"/>
                      </a:solidFill>
                      <a:prstDash val="solid"/>
                      <a:round/>
                      <a:headEnd type="none" w="med" len="med"/>
                      <a:tailEnd type="none" w="med" len="med"/>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med" len="med"/>
                      <a:tailEnd type="none" w="med" len="med"/>
                    </a:lnL>
                    <a:lnR w="12700" cap="flat" cmpd="sng" algn="ctr">
                      <a:solidFill>
                        <a:schemeClr val="lt1"/>
                      </a:solidFill>
                      <a:prstDash val="solid"/>
                      <a:round/>
                      <a:headEnd type="none" w="med" len="med"/>
                      <a:tailEnd type="none" w="med" len="med"/>
                    </a:lnR>
                    <a:lnT w="12700" cap="flat" cmpd="sng" algn="ctr">
                      <a:solidFill>
                        <a:schemeClr val="lt1"/>
                      </a:solidFill>
                      <a:prstDash val="solid"/>
                      <a:round/>
                      <a:headEnd type="none" w="med" len="med"/>
                      <a:tailEnd type="none" w="med" len="med"/>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med" len="med"/>
                      <a:tailEnd type="none" w="med" len="med"/>
                    </a:lnL>
                    <a:lnR w="12700">
                      <a:solidFill>
                        <a:schemeClr val="lt1"/>
                      </a:solidFill>
                    </a:lnR>
                    <a:lnT w="12700" cap="flat" cmpd="sng" algn="ctr">
                      <a:solidFill>
                        <a:schemeClr val="lt1"/>
                      </a:solidFill>
                      <a:prstDash val="solid"/>
                      <a:round/>
                      <a:headEnd type="none" w="med" len="med"/>
                      <a:tailEnd type="none" w="med" len="med"/>
                    </a:lnT>
                    <a:lnB w="12700">
                      <a:solidFill>
                        <a:schemeClr val="lt1"/>
                      </a:solidFill>
                    </a:lnB>
                    <a:solidFill>
                      <a:srgbClr val="F2F2F2"/>
                    </a:solidFill>
                  </a:tcPr>
                </a:tc>
                <a:extLst>
                  <a:ext uri="{0D108BD9-81ED-4DB2-BD59-A6C34878D82A}">
                    <a16:rowId xmlns:a16="http://schemas.microsoft.com/office/drawing/2014/main" val="10006"/>
                  </a:ext>
                </a:extLst>
              </a:tr>
              <a:tr h="634052">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E</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500" b="1" u="none" strike="noStrike" cap="none">
                          <a:solidFill>
                            <a:schemeClr val="lt1"/>
                          </a:solidFill>
                          <a:latin typeface="Meiryo"/>
                          <a:ea typeface="Meiryo"/>
                        </a:rPr>
                        <a:t>マスタメンテナンス</a:t>
                      </a:r>
                    </a:p>
                    <a:p>
                      <a:pPr marL="0" marR="0" lvl="0" indent="0" algn="l">
                        <a:lnSpc>
                          <a:spcPct val="100000"/>
                        </a:lnSpc>
                        <a:spcBef>
                          <a:spcPts val="0"/>
                        </a:spcBef>
                        <a:spcAft>
                          <a:spcPts val="0"/>
                        </a:spcAft>
                        <a:buSzPts val="1100"/>
                        <a:buFont typeface="Arial"/>
                        <a:buNone/>
                      </a:pPr>
                      <a:r>
                        <a:rPr lang="ja-JP" altLang="en-US" sz="1500" b="1" u="none" strike="noStrike" cap="none">
                          <a:solidFill>
                            <a:schemeClr val="lt1"/>
                          </a:solidFill>
                          <a:latin typeface="Meiryo"/>
                          <a:ea typeface="Meiryo"/>
                        </a:rPr>
                        <a:t>体制確立</a:t>
                      </a:r>
                      <a:endParaRPr altLang="en-US" sz="1500" b="1" u="none" strike="noStrike" cap="none">
                        <a:solidFill>
                          <a:schemeClr val="lt1"/>
                        </a:solidFill>
                        <a:latin typeface="Meiryo"/>
                        <a:ea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7"/>
                  </a:ext>
                </a:extLst>
              </a:tr>
              <a:tr h="634052">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F</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500" b="1" u="none" strike="noStrike" cap="none">
                          <a:solidFill>
                            <a:schemeClr val="lt1"/>
                          </a:solidFill>
                          <a:latin typeface="Meiryo"/>
                          <a:ea typeface="Meiryo"/>
                        </a:rPr>
                        <a:t>データクレンジング</a:t>
                      </a:r>
                      <a:endParaRPr altLang="en-US" sz="1500" b="1" u="none" strike="noStrike" cap="none">
                        <a:solidFill>
                          <a:schemeClr val="lt1"/>
                        </a:solidFill>
                        <a:latin typeface="Meiryo"/>
                        <a:ea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FF00FF"/>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8"/>
                  </a:ext>
                </a:extLst>
              </a:tr>
            </a:tbl>
          </a:graphicData>
        </a:graphic>
      </p:graphicFrame>
      <p:sp>
        <p:nvSpPr>
          <p:cNvPr id="120" name="Google Shape;120;p7"/>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r>
              <a:rPr lang="ja-JP"/>
              <a:t>4. </a:t>
            </a:r>
            <a:r>
              <a:rPr lang="en-US" altLang="ja-JP"/>
              <a:t>Phase1 :</a:t>
            </a:r>
            <a:r>
              <a:rPr lang="ja-JP"/>
              <a:t>スケジュール　組織統合（</a:t>
            </a:r>
            <a:r>
              <a:rPr lang="en-US" altLang="ja-JP"/>
              <a:t>7</a:t>
            </a:r>
            <a:r>
              <a:rPr lang="ja-JP"/>
              <a:t>月）以降の運営</a:t>
            </a:r>
            <a:r>
              <a:rPr lang="ja-JP" altLang="en-US"/>
              <a:t>体制/データ移行準備</a:t>
            </a:r>
          </a:p>
        </p:txBody>
      </p:sp>
      <p:sp>
        <p:nvSpPr>
          <p:cNvPr id="128" name="Google Shape;128;p7"/>
          <p:cNvSpPr/>
          <p:nvPr/>
        </p:nvSpPr>
        <p:spPr>
          <a:xfrm>
            <a:off x="3383642" y="5679510"/>
            <a:ext cx="1013104" cy="259106"/>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050" b="1">
                <a:solidFill>
                  <a:schemeClr val="dk1"/>
                </a:solidFill>
                <a:latin typeface="Meiryo"/>
                <a:ea typeface="Meiryo"/>
                <a:cs typeface="Meiryo"/>
              </a:rPr>
              <a:t>体制整備</a:t>
            </a:r>
            <a:endParaRPr lang="ja-JP" altLang="en-US" sz="1050" b="1" i="0" u="none" strike="noStrike" cap="none">
              <a:solidFill>
                <a:schemeClr val="dk1"/>
              </a:solidFill>
              <a:latin typeface="Meiryo"/>
              <a:ea typeface="Meiryo"/>
              <a:cs typeface="Meiryo"/>
            </a:endParaRPr>
          </a:p>
        </p:txBody>
      </p:sp>
      <p:sp>
        <p:nvSpPr>
          <p:cNvPr id="129" name="Google Shape;129;p7"/>
          <p:cNvSpPr/>
          <p:nvPr/>
        </p:nvSpPr>
        <p:spPr>
          <a:xfrm>
            <a:off x="5318584" y="4385637"/>
            <a:ext cx="1682259" cy="256978"/>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200" b="1">
                <a:solidFill>
                  <a:schemeClr val="dk1"/>
                </a:solidFill>
                <a:latin typeface="Meiryo"/>
                <a:ea typeface="Meiryo"/>
                <a:cs typeface="Meiryo"/>
                <a:sym typeface="Meiryo"/>
              </a:rPr>
              <a:t>先行データ移行</a:t>
            </a:r>
            <a:endParaRPr lang="ja-JP" altLang="en-US" sz="1200" b="1" i="0" u="none" strike="noStrike" cap="none">
              <a:solidFill>
                <a:schemeClr val="dk1"/>
              </a:solidFill>
              <a:latin typeface="Meiryo"/>
              <a:ea typeface="Meiryo"/>
              <a:cs typeface="Meiryo"/>
            </a:endParaRPr>
          </a:p>
        </p:txBody>
      </p:sp>
      <p:sp>
        <p:nvSpPr>
          <p:cNvPr id="2" name="テキスト ボックス 1">
            <a:extLst>
              <a:ext uri="{FF2B5EF4-FFF2-40B4-BE49-F238E27FC236}">
                <a16:creationId xmlns:a16="http://schemas.microsoft.com/office/drawing/2014/main" id="{7C112203-18D9-AEE4-358B-2D3D0D665226}"/>
              </a:ext>
            </a:extLst>
          </p:cNvPr>
          <p:cNvSpPr txBox="1"/>
          <p:nvPr/>
        </p:nvSpPr>
        <p:spPr>
          <a:xfrm>
            <a:off x="3165531" y="1773336"/>
            <a:ext cx="1536000" cy="430887"/>
          </a:xfrm>
          <a:prstGeom prst="rect">
            <a:avLst/>
          </a:prstGeom>
          <a:noFill/>
        </p:spPr>
        <p:txBody>
          <a:bodyPr wrap="square" lIns="91440" tIns="45720" rIns="91440" bIns="45720" rtlCol="0" anchor="t">
            <a:spAutoFit/>
          </a:bodyPr>
          <a:lstStyle/>
          <a:p>
            <a:r>
              <a:rPr kumimoji="1" lang="ja-JP" altLang="en-US" sz="1100">
                <a:latin typeface="メイリオ" panose="020B0604030504040204" pitchFamily="50" charset="-128"/>
                <a:ea typeface="メイリオ" panose="020B0604030504040204" pitchFamily="50" charset="-128"/>
              </a:rPr>
              <a:t>🔷</a:t>
            </a:r>
            <a:r>
              <a:rPr kumimoji="1" lang="en-US" altLang="ja-JP" sz="1100">
                <a:solidFill>
                  <a:srgbClr val="C00000"/>
                </a:solidFill>
                <a:latin typeface="メイリオ" panose="020B0604030504040204" pitchFamily="50" charset="-128"/>
                <a:ea typeface="メイリオ" panose="020B0604030504040204" pitchFamily="50" charset="-128"/>
              </a:rPr>
              <a:t>Phase1</a:t>
            </a:r>
          </a:p>
          <a:p>
            <a:r>
              <a:rPr kumimoji="1" lang="en-US" altLang="ja-JP" sz="1100">
                <a:solidFill>
                  <a:srgbClr val="C00000"/>
                </a:solidFill>
                <a:latin typeface="メイリオ"/>
                <a:ea typeface="メイリオ"/>
              </a:rPr>
              <a:t>   </a:t>
            </a:r>
            <a:r>
              <a:rPr kumimoji="1" lang="en-US" altLang="ja-JP" sz="1100" err="1">
                <a:solidFill>
                  <a:srgbClr val="C00000"/>
                </a:solidFill>
                <a:latin typeface="メイリオ"/>
                <a:ea typeface="メイリオ"/>
              </a:rPr>
              <a:t>プロジェクト</a:t>
            </a:r>
            <a:r>
              <a:rPr kumimoji="1" lang="ja-JP" altLang="en-US" sz="1100">
                <a:solidFill>
                  <a:srgbClr val="C00000"/>
                </a:solidFill>
                <a:latin typeface="メイリオ"/>
                <a:ea typeface="メイリオ"/>
              </a:rPr>
              <a:t>開始</a:t>
            </a:r>
            <a:endParaRPr lang="ja-JP" altLang="en-US" sz="1100">
              <a:solidFill>
                <a:srgbClr val="C00000"/>
              </a:solidFill>
              <a:latin typeface="メイリオ"/>
              <a:ea typeface="メイリオ"/>
            </a:endParaRPr>
          </a:p>
        </p:txBody>
      </p:sp>
      <p:sp>
        <p:nvSpPr>
          <p:cNvPr id="3" name="テキスト ボックス 2">
            <a:extLst>
              <a:ext uri="{FF2B5EF4-FFF2-40B4-BE49-F238E27FC236}">
                <a16:creationId xmlns:a16="http://schemas.microsoft.com/office/drawing/2014/main" id="{CD665A54-CC53-0BD8-C867-43652DD49A21}"/>
              </a:ext>
            </a:extLst>
          </p:cNvPr>
          <p:cNvSpPr txBox="1"/>
          <p:nvPr/>
        </p:nvSpPr>
        <p:spPr>
          <a:xfrm>
            <a:off x="7087541" y="1768825"/>
            <a:ext cx="2989980" cy="261610"/>
          </a:xfrm>
          <a:prstGeom prst="rect">
            <a:avLst/>
          </a:prstGeom>
          <a:noFill/>
        </p:spPr>
        <p:txBody>
          <a:bodyPr wrap="square" lIns="91440" tIns="45720" rIns="91440" bIns="45720" rtlCol="0" anchor="t">
            <a:spAutoFit/>
          </a:bodyPr>
          <a:lstStyle/>
          <a:p>
            <a:r>
              <a:rPr kumimoji="1" lang="ja-JP" altLang="en-US" sz="1100" dirty="0">
                <a:solidFill>
                  <a:srgbClr val="C00000"/>
                </a:solidFill>
                <a:latin typeface="メイリオ"/>
                <a:ea typeface="メイリオ"/>
              </a:rPr>
              <a:t>🔷本番リリース</a:t>
            </a:r>
            <a:r>
              <a:rPr kumimoji="1" lang="en-US" altLang="ja-JP" sz="1100" dirty="0">
                <a:solidFill>
                  <a:srgbClr val="C00000"/>
                </a:solidFill>
                <a:latin typeface="メイリオ"/>
                <a:ea typeface="メイリオ"/>
              </a:rPr>
              <a:t>(</a:t>
            </a:r>
            <a:r>
              <a:rPr kumimoji="1" lang="ja-JP" altLang="en-US" sz="1100" dirty="0">
                <a:solidFill>
                  <a:srgbClr val="C00000"/>
                </a:solidFill>
                <a:latin typeface="メイリオ"/>
                <a:ea typeface="メイリオ"/>
              </a:rPr>
              <a:t>商談システム利用開始）</a:t>
            </a:r>
            <a:endParaRPr lang="en-US" altLang="ja-JP" sz="1100" dirty="0">
              <a:solidFill>
                <a:srgbClr val="C00000"/>
              </a:solidFill>
              <a:latin typeface="メイリオ"/>
              <a:ea typeface="メイリオ"/>
            </a:endParaRPr>
          </a:p>
        </p:txBody>
      </p:sp>
      <p:sp>
        <p:nvSpPr>
          <p:cNvPr id="5" name="テキスト ボックス 4">
            <a:extLst>
              <a:ext uri="{FF2B5EF4-FFF2-40B4-BE49-F238E27FC236}">
                <a16:creationId xmlns:a16="http://schemas.microsoft.com/office/drawing/2014/main" id="{4FFFDBE3-1A9F-F34A-9A84-57DA7E7EA6C8}"/>
              </a:ext>
            </a:extLst>
          </p:cNvPr>
          <p:cNvSpPr txBox="1"/>
          <p:nvPr/>
        </p:nvSpPr>
        <p:spPr>
          <a:xfrm>
            <a:off x="4411167" y="1738541"/>
            <a:ext cx="1531336" cy="261610"/>
          </a:xfrm>
          <a:prstGeom prst="rect">
            <a:avLst/>
          </a:prstGeom>
          <a:noFill/>
        </p:spPr>
        <p:txBody>
          <a:bodyPr wrap="square" rtlCol="0">
            <a:spAutoFit/>
          </a:bodyPr>
          <a:lstStyle/>
          <a:p>
            <a:r>
              <a:rPr kumimoji="1" lang="ja-JP" altLang="en-US" sz="1100">
                <a:solidFill>
                  <a:srgbClr val="FF0000"/>
                </a:solidFill>
                <a:latin typeface="メイリオ" panose="020B0604030504040204" pitchFamily="50" charset="-128"/>
                <a:ea typeface="メイリオ" panose="020B0604030504040204" pitchFamily="50" charset="-128"/>
              </a:rPr>
              <a:t>🔷</a:t>
            </a:r>
            <a:r>
              <a:rPr kumimoji="1" lang="en-US" altLang="ja-JP" sz="1100" err="1">
                <a:solidFill>
                  <a:schemeClr val="tx1"/>
                </a:solidFill>
                <a:latin typeface="メイリオ" panose="020B0604030504040204" pitchFamily="50" charset="-128"/>
                <a:ea typeface="メイリオ" panose="020B0604030504040204" pitchFamily="50" charset="-128"/>
              </a:rPr>
              <a:t>eB</a:t>
            </a:r>
            <a:r>
              <a:rPr kumimoji="1" lang="en-US" altLang="ja-JP" sz="1100">
                <a:solidFill>
                  <a:schemeClr val="tx1"/>
                </a:solidFill>
                <a:latin typeface="メイリオ" panose="020B0604030504040204" pitchFamily="50" charset="-128"/>
                <a:ea typeface="メイリオ" panose="020B0604030504040204" pitchFamily="50" charset="-128"/>
              </a:rPr>
              <a:t>-MDM</a:t>
            </a:r>
            <a:r>
              <a:rPr kumimoji="1" lang="ja-JP" altLang="en-US" sz="1100">
                <a:solidFill>
                  <a:schemeClr val="tx1"/>
                </a:solidFill>
                <a:latin typeface="メイリオ" panose="020B0604030504040204" pitchFamily="50" charset="-128"/>
                <a:ea typeface="メイリオ" panose="020B0604030504040204" pitchFamily="50" charset="-128"/>
              </a:rPr>
              <a:t>導入完了</a:t>
            </a:r>
            <a:endParaRPr kumimoji="1" lang="en-US" altLang="ja-JP" sz="110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F6D3AE1F-3F21-20E4-C19B-D3E3B62230BA}"/>
              </a:ext>
            </a:extLst>
          </p:cNvPr>
          <p:cNvSpPr txBox="1"/>
          <p:nvPr/>
        </p:nvSpPr>
        <p:spPr>
          <a:xfrm>
            <a:off x="8582531" y="2155629"/>
            <a:ext cx="1156060" cy="268385"/>
          </a:xfrm>
          <a:prstGeom prst="rect">
            <a:avLst/>
          </a:prstGeom>
          <a:noFill/>
        </p:spPr>
        <p:txBody>
          <a:bodyPr wrap="square" rtlCol="0">
            <a:spAutoFit/>
          </a:bodyPr>
          <a:lstStyle/>
          <a:p>
            <a:r>
              <a:rPr kumimoji="1" lang="ja-JP" altLang="en-US" sz="1100">
                <a:latin typeface="メイリオ" panose="020B0604030504040204" pitchFamily="50" charset="-128"/>
                <a:ea typeface="メイリオ" panose="020B0604030504040204" pitchFamily="50" charset="-128"/>
              </a:rPr>
              <a:t>🔷店舗</a:t>
            </a:r>
            <a:r>
              <a:rPr kumimoji="1" lang="en-US" altLang="ja-JP" sz="1100">
                <a:latin typeface="メイリオ" panose="020B0604030504040204" pitchFamily="50" charset="-128"/>
                <a:ea typeface="メイリオ" panose="020B0604030504040204" pitchFamily="50" charset="-128"/>
              </a:rPr>
              <a:t>CV</a:t>
            </a:r>
            <a:r>
              <a:rPr kumimoji="1" lang="ja-JP" altLang="en-US" sz="1100">
                <a:latin typeface="メイリオ" panose="020B0604030504040204" pitchFamily="50" charset="-128"/>
                <a:ea typeface="メイリオ" panose="020B0604030504040204" pitchFamily="50" charset="-128"/>
              </a:rPr>
              <a:t>開始</a:t>
            </a:r>
          </a:p>
        </p:txBody>
      </p:sp>
      <p:sp>
        <p:nvSpPr>
          <p:cNvPr id="7" name="テキスト ボックス 6">
            <a:extLst>
              <a:ext uri="{FF2B5EF4-FFF2-40B4-BE49-F238E27FC236}">
                <a16:creationId xmlns:a16="http://schemas.microsoft.com/office/drawing/2014/main" id="{A689B916-7EE6-C34E-C957-3F5E04C583B6}"/>
              </a:ext>
            </a:extLst>
          </p:cNvPr>
          <p:cNvSpPr txBox="1"/>
          <p:nvPr/>
        </p:nvSpPr>
        <p:spPr>
          <a:xfrm>
            <a:off x="9537959" y="2157666"/>
            <a:ext cx="1156060" cy="261610"/>
          </a:xfrm>
          <a:prstGeom prst="rect">
            <a:avLst/>
          </a:prstGeom>
          <a:noFill/>
        </p:spPr>
        <p:txBody>
          <a:bodyPr wrap="square" rtlCol="0">
            <a:spAutoFit/>
          </a:bodyPr>
          <a:lstStyle/>
          <a:p>
            <a:r>
              <a:rPr kumimoji="1" lang="ja-JP" altLang="en-US" sz="1100">
                <a:latin typeface="メイリオ" panose="020B0604030504040204" pitchFamily="50" charset="-128"/>
                <a:ea typeface="メイリオ" panose="020B0604030504040204" pitchFamily="50" charset="-128"/>
              </a:rPr>
              <a:t>🔷店舗</a:t>
            </a:r>
            <a:r>
              <a:rPr kumimoji="1" lang="en-US" altLang="ja-JP" sz="1100">
                <a:latin typeface="メイリオ" panose="020B0604030504040204" pitchFamily="50" charset="-128"/>
                <a:ea typeface="メイリオ" panose="020B0604030504040204" pitchFamily="50" charset="-128"/>
              </a:rPr>
              <a:t>CV</a:t>
            </a:r>
            <a:r>
              <a:rPr kumimoji="1" lang="ja-JP" altLang="en-US" sz="1100">
                <a:latin typeface="メイリオ" panose="020B0604030504040204" pitchFamily="50" charset="-128"/>
                <a:ea typeface="メイリオ" panose="020B0604030504040204" pitchFamily="50" charset="-128"/>
              </a:rPr>
              <a:t>完了</a:t>
            </a:r>
          </a:p>
        </p:txBody>
      </p:sp>
      <p:sp>
        <p:nvSpPr>
          <p:cNvPr id="8" name="テキスト ボックス 7">
            <a:extLst>
              <a:ext uri="{FF2B5EF4-FFF2-40B4-BE49-F238E27FC236}">
                <a16:creationId xmlns:a16="http://schemas.microsoft.com/office/drawing/2014/main" id="{A5A275AC-72B4-A3F7-9F02-B8556A3BE88A}"/>
              </a:ext>
            </a:extLst>
          </p:cNvPr>
          <p:cNvSpPr txBox="1"/>
          <p:nvPr/>
        </p:nvSpPr>
        <p:spPr>
          <a:xfrm>
            <a:off x="4790725" y="2124949"/>
            <a:ext cx="2119399" cy="261610"/>
          </a:xfrm>
          <a:prstGeom prst="rect">
            <a:avLst/>
          </a:prstGeom>
          <a:noFill/>
        </p:spPr>
        <p:txBody>
          <a:bodyPr wrap="square" lIns="91440" tIns="45720" rIns="91440" bIns="45720" rtlCol="0" anchor="t">
            <a:spAutoFit/>
          </a:bodyPr>
          <a:lstStyle/>
          <a:p>
            <a:r>
              <a:rPr kumimoji="1" lang="ja-JP" altLang="en-US" sz="1100">
                <a:solidFill>
                  <a:srgbClr val="FF0000"/>
                </a:solidFill>
                <a:latin typeface="メイリオ"/>
                <a:ea typeface="メイリオ"/>
              </a:rPr>
              <a:t>🔷</a:t>
            </a:r>
            <a:r>
              <a:rPr kumimoji="1" lang="en-US" altLang="ja-JP" sz="1100">
                <a:solidFill>
                  <a:srgbClr val="C00000"/>
                </a:solidFill>
                <a:latin typeface="メイリオ"/>
                <a:ea typeface="メイリオ"/>
              </a:rPr>
              <a:t>Phase2プロジェクト</a:t>
            </a:r>
            <a:r>
              <a:rPr kumimoji="1" lang="ja-JP" altLang="en-US" sz="1100">
                <a:solidFill>
                  <a:srgbClr val="C00000"/>
                </a:solidFill>
                <a:latin typeface="メイリオ"/>
                <a:ea typeface="メイリオ"/>
              </a:rPr>
              <a:t>開始</a:t>
            </a:r>
            <a:endParaRPr kumimoji="1" lang="en-US" altLang="ja-JP" sz="1100">
              <a:solidFill>
                <a:srgbClr val="C00000"/>
              </a:solidFill>
              <a:latin typeface="メイリオ"/>
              <a:ea typeface="メイリオ"/>
            </a:endParaRPr>
          </a:p>
        </p:txBody>
      </p:sp>
      <p:sp>
        <p:nvSpPr>
          <p:cNvPr id="9" name="Google Shape;129;p7">
            <a:extLst>
              <a:ext uri="{FF2B5EF4-FFF2-40B4-BE49-F238E27FC236}">
                <a16:creationId xmlns:a16="http://schemas.microsoft.com/office/drawing/2014/main" id="{3ECEA7A3-C990-169C-1323-AA68955A50D7}"/>
              </a:ext>
            </a:extLst>
          </p:cNvPr>
          <p:cNvSpPr/>
          <p:nvPr/>
        </p:nvSpPr>
        <p:spPr>
          <a:xfrm>
            <a:off x="3928873" y="4384449"/>
            <a:ext cx="1098535" cy="719621"/>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200" b="1">
                <a:solidFill>
                  <a:schemeClr val="dk1"/>
                </a:solidFill>
                <a:latin typeface="Meiryo"/>
                <a:ea typeface="Meiryo"/>
                <a:cs typeface="Meiryo"/>
                <a:sym typeface="Meiryo"/>
              </a:rPr>
              <a:t>移行計画</a:t>
            </a:r>
            <a:endParaRPr sz="1200" b="1" i="0" u="none" strike="noStrike" cap="none">
              <a:solidFill>
                <a:schemeClr val="dk1"/>
              </a:solidFill>
              <a:latin typeface="Meiryo"/>
              <a:ea typeface="Meiryo"/>
              <a:cs typeface="Meiryo"/>
              <a:sym typeface="Meiryo"/>
            </a:endParaRPr>
          </a:p>
        </p:txBody>
      </p:sp>
      <p:sp>
        <p:nvSpPr>
          <p:cNvPr id="16" name="Google Shape;125;p7">
            <a:extLst>
              <a:ext uri="{FF2B5EF4-FFF2-40B4-BE49-F238E27FC236}">
                <a16:creationId xmlns:a16="http://schemas.microsoft.com/office/drawing/2014/main" id="{42C2838D-D129-9FBB-96F7-6E207959B0D8}"/>
              </a:ext>
            </a:extLst>
          </p:cNvPr>
          <p:cNvSpPr/>
          <p:nvPr/>
        </p:nvSpPr>
        <p:spPr>
          <a:xfrm>
            <a:off x="3286999" y="2485642"/>
            <a:ext cx="1408382" cy="458101"/>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ja-JP" altLang="en-US" sz="900" b="1" i="0" u="none" strike="noStrike" cap="none">
                <a:solidFill>
                  <a:schemeClr val="dk1"/>
                </a:solidFill>
                <a:latin typeface="Meiryo"/>
                <a:ea typeface="Meiryo"/>
                <a:cs typeface="Meiryo"/>
                <a:sym typeface="Meiryo"/>
              </a:rPr>
              <a:t>性能調査・</a:t>
            </a:r>
            <a:r>
              <a:rPr lang="ja-JP" altLang="en-US" sz="900" b="1">
                <a:solidFill>
                  <a:schemeClr val="dk1"/>
                </a:solidFill>
                <a:latin typeface="Meiryo"/>
                <a:ea typeface="Meiryo"/>
                <a:cs typeface="Meiryo"/>
                <a:sym typeface="Meiryo"/>
              </a:rPr>
              <a:t>改善対応</a:t>
            </a:r>
            <a:endParaRPr lang="ja-JP">
              <a:solidFill>
                <a:schemeClr val="dk1"/>
              </a:solidFill>
            </a:endParaRPr>
          </a:p>
        </p:txBody>
      </p:sp>
      <p:sp>
        <p:nvSpPr>
          <p:cNvPr id="19" name="Google Shape;126;p7">
            <a:extLst>
              <a:ext uri="{FF2B5EF4-FFF2-40B4-BE49-F238E27FC236}">
                <a16:creationId xmlns:a16="http://schemas.microsoft.com/office/drawing/2014/main" id="{8B58E2DD-BB43-2A78-12E1-14307541CFA3}"/>
              </a:ext>
            </a:extLst>
          </p:cNvPr>
          <p:cNvSpPr/>
          <p:nvPr/>
        </p:nvSpPr>
        <p:spPr>
          <a:xfrm>
            <a:off x="9305627" y="377439"/>
            <a:ext cx="1394571" cy="181522"/>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a:lnSpc>
                <a:spcPct val="100000"/>
              </a:lnSpc>
              <a:spcBef>
                <a:spcPts val="0"/>
              </a:spcBef>
              <a:spcAft>
                <a:spcPts val="0"/>
              </a:spcAft>
              <a:buNone/>
            </a:pPr>
            <a:r>
              <a:rPr lang="en-US" altLang="ja-JP" sz="1200" b="1" err="1">
                <a:solidFill>
                  <a:schemeClr val="dk1"/>
                </a:solidFill>
                <a:latin typeface="Meiryo"/>
                <a:ea typeface="Meiryo"/>
                <a:cs typeface="Meiryo"/>
              </a:rPr>
              <a:t>ビジネス主体</a:t>
            </a:r>
          </a:p>
        </p:txBody>
      </p:sp>
      <p:grpSp>
        <p:nvGrpSpPr>
          <p:cNvPr id="121" name="Google Shape;121;p7"/>
          <p:cNvGrpSpPr/>
          <p:nvPr/>
        </p:nvGrpSpPr>
        <p:grpSpPr>
          <a:xfrm>
            <a:off x="3729021" y="802112"/>
            <a:ext cx="494062" cy="5832230"/>
            <a:chOff x="3287687" y="1641358"/>
            <a:chExt cx="521276" cy="4640149"/>
          </a:xfrm>
        </p:grpSpPr>
        <p:sp>
          <p:nvSpPr>
            <p:cNvPr id="122" name="Google Shape;122;p7"/>
            <p:cNvSpPr/>
            <p:nvPr/>
          </p:nvSpPr>
          <p:spPr>
            <a:xfrm rot="5400000">
              <a:off x="3390529" y="1639374"/>
              <a:ext cx="315591" cy="521275"/>
            </a:xfrm>
            <a:prstGeom prst="homePlate">
              <a:avLst>
                <a:gd name="adj" fmla="val 34307"/>
              </a:avLst>
            </a:prstGeom>
            <a:solidFill>
              <a:srgbClr val="E5001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123" name="Google Shape;123;p7"/>
            <p:cNvSpPr txBox="1"/>
            <p:nvPr/>
          </p:nvSpPr>
          <p:spPr>
            <a:xfrm>
              <a:off x="3311377" y="1641358"/>
              <a:ext cx="497586" cy="463146"/>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900" b="1" i="0" u="none" strike="noStrike" cap="none">
                  <a:solidFill>
                    <a:schemeClr val="lt1"/>
                  </a:solidFill>
                  <a:latin typeface="Meiryo"/>
                  <a:ea typeface="Meiryo"/>
                  <a:cs typeface="Meiryo"/>
                  <a:sym typeface="Meiryo"/>
                </a:rPr>
                <a:t>現在</a:t>
              </a:r>
              <a:endParaRPr sz="900" b="0" i="0" u="none" strike="noStrike" cap="none">
                <a:solidFill>
                  <a:srgbClr val="000000"/>
                </a:solidFill>
                <a:latin typeface="Arial"/>
                <a:ea typeface="Arial"/>
                <a:cs typeface="Arial"/>
                <a:sym typeface="Arial"/>
              </a:endParaRPr>
            </a:p>
          </p:txBody>
        </p:sp>
        <p:cxnSp>
          <p:nvCxnSpPr>
            <p:cNvPr id="124" name="Google Shape;124;p7"/>
            <p:cNvCxnSpPr>
              <a:stCxn id="122" idx="3"/>
            </p:cNvCxnSpPr>
            <p:nvPr/>
          </p:nvCxnSpPr>
          <p:spPr>
            <a:xfrm>
              <a:off x="3548325" y="2057807"/>
              <a:ext cx="0" cy="4223700"/>
            </a:xfrm>
            <a:prstGeom prst="straightConnector1">
              <a:avLst/>
            </a:prstGeom>
            <a:noFill/>
            <a:ln w="19050" cap="flat" cmpd="sng">
              <a:solidFill>
                <a:srgbClr val="E50012"/>
              </a:solidFill>
              <a:prstDash val="solid"/>
              <a:round/>
              <a:headEnd type="none" w="sm" len="sm"/>
              <a:tailEnd type="none" w="sm" len="sm"/>
            </a:ln>
          </p:spPr>
        </p:cxnSp>
      </p:grpSp>
      <p:sp>
        <p:nvSpPr>
          <p:cNvPr id="4" name="テキスト ボックス 3">
            <a:extLst>
              <a:ext uri="{FF2B5EF4-FFF2-40B4-BE49-F238E27FC236}">
                <a16:creationId xmlns:a16="http://schemas.microsoft.com/office/drawing/2014/main" id="{60F93D44-D687-6B82-476D-694C441A8070}"/>
              </a:ext>
            </a:extLst>
          </p:cNvPr>
          <p:cNvSpPr txBox="1"/>
          <p:nvPr/>
        </p:nvSpPr>
        <p:spPr>
          <a:xfrm>
            <a:off x="7416303" y="1974540"/>
            <a:ext cx="2799691" cy="261610"/>
          </a:xfrm>
          <a:prstGeom prst="rect">
            <a:avLst/>
          </a:prstGeom>
          <a:noFill/>
        </p:spPr>
        <p:txBody>
          <a:bodyPr wrap="square" rtlCol="0">
            <a:spAutoFit/>
          </a:bodyPr>
          <a:lstStyle/>
          <a:p>
            <a:r>
              <a:rPr kumimoji="1" lang="ja-JP" altLang="en-US" sz="1100">
                <a:latin typeface="メイリオ" panose="020B0604030504040204" pitchFamily="50" charset="-128"/>
                <a:ea typeface="メイリオ" panose="020B0604030504040204" pitchFamily="50" charset="-128"/>
              </a:rPr>
              <a:t>🔷周辺システムへのマスタ連携開始</a:t>
            </a:r>
          </a:p>
        </p:txBody>
      </p:sp>
      <p:sp>
        <p:nvSpPr>
          <p:cNvPr id="20" name="テキスト ボックス 19">
            <a:extLst>
              <a:ext uri="{FF2B5EF4-FFF2-40B4-BE49-F238E27FC236}">
                <a16:creationId xmlns:a16="http://schemas.microsoft.com/office/drawing/2014/main" id="{6C33E5E0-9CBC-07A4-B457-55C86440F7D4}"/>
              </a:ext>
            </a:extLst>
          </p:cNvPr>
          <p:cNvSpPr txBox="1"/>
          <p:nvPr/>
        </p:nvSpPr>
        <p:spPr>
          <a:xfrm>
            <a:off x="9678265" y="1772389"/>
            <a:ext cx="1248542" cy="261610"/>
          </a:xfrm>
          <a:prstGeom prst="rect">
            <a:avLst/>
          </a:prstGeom>
          <a:noFill/>
        </p:spPr>
        <p:txBody>
          <a:bodyPr wrap="square" lIns="91440" tIns="45720" rIns="91440" bIns="45720" rtlCol="0" anchor="t">
            <a:spAutoFit/>
          </a:bodyPr>
          <a:lstStyle/>
          <a:p>
            <a:r>
              <a:rPr kumimoji="1" lang="ja-JP" altLang="en-US" sz="1100">
                <a:solidFill>
                  <a:srgbClr val="FF0000"/>
                </a:solidFill>
                <a:latin typeface="メイリオ"/>
                <a:ea typeface="メイリオ"/>
              </a:rPr>
              <a:t>🔷</a:t>
            </a:r>
            <a:r>
              <a:rPr kumimoji="1" lang="en-US" altLang="ja-JP" sz="1100">
                <a:solidFill>
                  <a:srgbClr val="C00000"/>
                </a:solidFill>
                <a:latin typeface="メイリオ"/>
                <a:ea typeface="メイリオ"/>
              </a:rPr>
              <a:t>Phase3</a:t>
            </a:r>
            <a:r>
              <a:rPr kumimoji="1" lang="ja-JP" altLang="en-US" sz="1100">
                <a:solidFill>
                  <a:srgbClr val="C00000"/>
                </a:solidFill>
                <a:latin typeface="メイリオ"/>
                <a:ea typeface="メイリオ"/>
              </a:rPr>
              <a:t>開始</a:t>
            </a:r>
            <a:endParaRPr kumimoji="1" lang="en-US" altLang="ja-JP" sz="1100">
              <a:solidFill>
                <a:srgbClr val="C00000"/>
              </a:solidFill>
              <a:latin typeface="メイリオ"/>
              <a:ea typeface="メイリオ"/>
            </a:endParaRPr>
          </a:p>
        </p:txBody>
      </p:sp>
      <p:sp>
        <p:nvSpPr>
          <p:cNvPr id="25" name="Google Shape;126;p7">
            <a:extLst>
              <a:ext uri="{FF2B5EF4-FFF2-40B4-BE49-F238E27FC236}">
                <a16:creationId xmlns:a16="http://schemas.microsoft.com/office/drawing/2014/main" id="{EBF3B04C-8A19-A0D1-1BF8-B00C07295642}"/>
              </a:ext>
            </a:extLst>
          </p:cNvPr>
          <p:cNvSpPr/>
          <p:nvPr/>
        </p:nvSpPr>
        <p:spPr>
          <a:xfrm>
            <a:off x="3381344" y="6177737"/>
            <a:ext cx="3619500" cy="324074"/>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050" b="1">
                <a:solidFill>
                  <a:schemeClr val="dk1"/>
                </a:solidFill>
                <a:latin typeface="Meiryo"/>
                <a:ea typeface="Meiryo"/>
              </a:rPr>
              <a:t>データクレンジング</a:t>
            </a:r>
          </a:p>
        </p:txBody>
      </p:sp>
      <p:sp>
        <p:nvSpPr>
          <p:cNvPr id="27" name="Google Shape;129;p7">
            <a:extLst>
              <a:ext uri="{FF2B5EF4-FFF2-40B4-BE49-F238E27FC236}">
                <a16:creationId xmlns:a16="http://schemas.microsoft.com/office/drawing/2014/main" id="{7E6E61D0-0CC9-9DA6-5A22-8A4674DE1483}"/>
              </a:ext>
            </a:extLst>
          </p:cNvPr>
          <p:cNvSpPr/>
          <p:nvPr/>
        </p:nvSpPr>
        <p:spPr>
          <a:xfrm>
            <a:off x="3384586" y="3087230"/>
            <a:ext cx="1316249" cy="520052"/>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800" b="1">
                <a:solidFill>
                  <a:schemeClr val="dk1"/>
                </a:solidFill>
                <a:latin typeface="Meiryo"/>
                <a:ea typeface="Meiryo"/>
              </a:rPr>
              <a:t>商品階層マッピングリスト・</a:t>
            </a:r>
          </a:p>
          <a:p>
            <a:pPr algn="ctr"/>
            <a:r>
              <a:rPr lang="ja-JP" altLang="en-US" sz="800" b="1">
                <a:solidFill>
                  <a:schemeClr val="dk1"/>
                </a:solidFill>
                <a:latin typeface="Meiryo"/>
                <a:ea typeface="Meiryo"/>
              </a:rPr>
              <a:t>移行リスト作成</a:t>
            </a:r>
            <a:endParaRPr lang="ja-JP" sz="1200">
              <a:solidFill>
                <a:schemeClr val="dk1"/>
              </a:solidFill>
            </a:endParaRPr>
          </a:p>
        </p:txBody>
      </p:sp>
      <p:sp>
        <p:nvSpPr>
          <p:cNvPr id="15" name="テキスト ボックス 14">
            <a:extLst>
              <a:ext uri="{FF2B5EF4-FFF2-40B4-BE49-F238E27FC236}">
                <a16:creationId xmlns:a16="http://schemas.microsoft.com/office/drawing/2014/main" id="{B67F02FF-E84A-9DA0-91E7-BF8386A383DE}"/>
              </a:ext>
            </a:extLst>
          </p:cNvPr>
          <p:cNvSpPr txBox="1"/>
          <p:nvPr/>
        </p:nvSpPr>
        <p:spPr>
          <a:xfrm>
            <a:off x="11361316" y="1785736"/>
            <a:ext cx="1156060" cy="600164"/>
          </a:xfrm>
          <a:prstGeom prst="rect">
            <a:avLst/>
          </a:prstGeom>
          <a:noFill/>
        </p:spPr>
        <p:txBody>
          <a:bodyPr wrap="square" lIns="91440" tIns="45720" rIns="91440" bIns="45720" rtlCol="0" anchor="t">
            <a:spAutoFit/>
          </a:bodyPr>
          <a:lstStyle/>
          <a:p>
            <a:r>
              <a:rPr kumimoji="1" lang="ja-JP" altLang="en-US" sz="1100">
                <a:latin typeface="メイリオ"/>
                <a:ea typeface="メイリオ"/>
              </a:rPr>
              <a:t>🔷</a:t>
            </a:r>
          </a:p>
          <a:p>
            <a:r>
              <a:rPr kumimoji="1" lang="ja-JP" altLang="en-US" sz="1100">
                <a:latin typeface="メイリオ"/>
                <a:ea typeface="メイリオ"/>
              </a:rPr>
              <a:t>既存システム停止</a:t>
            </a:r>
            <a:endParaRPr lang="ja-JP" altLang="en-US" sz="1100">
              <a:latin typeface="メイリオ"/>
              <a:ea typeface="メイリオ"/>
            </a:endParaRPr>
          </a:p>
        </p:txBody>
      </p:sp>
      <p:sp>
        <p:nvSpPr>
          <p:cNvPr id="29" name="Google Shape;125;p7">
            <a:extLst>
              <a:ext uri="{FF2B5EF4-FFF2-40B4-BE49-F238E27FC236}">
                <a16:creationId xmlns:a16="http://schemas.microsoft.com/office/drawing/2014/main" id="{E92C7687-2BE8-4ED7-CC0A-F37D321D4C4B}"/>
              </a:ext>
            </a:extLst>
          </p:cNvPr>
          <p:cNvSpPr/>
          <p:nvPr/>
        </p:nvSpPr>
        <p:spPr>
          <a:xfrm>
            <a:off x="3389091" y="3741455"/>
            <a:ext cx="500254" cy="1806864"/>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900" b="1">
                <a:solidFill>
                  <a:schemeClr val="dk1"/>
                </a:solidFill>
                <a:latin typeface="Meiryo"/>
                <a:ea typeface="Meiryo"/>
                <a:cs typeface="Meiryo"/>
              </a:rPr>
              <a:t>商品マスタ</a:t>
            </a:r>
            <a:endParaRPr lang="ja-JP">
              <a:solidFill>
                <a:schemeClr val="dk1"/>
              </a:solidFill>
              <a:ea typeface="Meiryo"/>
            </a:endParaRPr>
          </a:p>
          <a:p>
            <a:pPr algn="ctr"/>
            <a:r>
              <a:rPr lang="ja-JP" altLang="en-US" sz="900" b="1">
                <a:solidFill>
                  <a:schemeClr val="dk1"/>
                </a:solidFill>
                <a:latin typeface="Meiryo"/>
                <a:ea typeface="Meiryo"/>
                <a:cs typeface="Meiryo"/>
              </a:rPr>
              <a:t>項目</a:t>
            </a:r>
            <a:endParaRPr lang="ja-JP">
              <a:solidFill>
                <a:schemeClr val="dk1"/>
              </a:solidFill>
            </a:endParaRPr>
          </a:p>
          <a:p>
            <a:pPr marL="0" marR="0" lvl="0" indent="0" algn="ctr">
              <a:lnSpc>
                <a:spcPct val="100000"/>
              </a:lnSpc>
              <a:spcBef>
                <a:spcPts val="0"/>
              </a:spcBef>
              <a:spcAft>
                <a:spcPts val="0"/>
              </a:spcAft>
              <a:buNone/>
            </a:pPr>
            <a:r>
              <a:rPr lang="ja-JP" altLang="en-US" sz="900" b="1">
                <a:solidFill>
                  <a:schemeClr val="dk1"/>
                </a:solidFill>
                <a:latin typeface="Meiryo"/>
                <a:ea typeface="Meiryo"/>
                <a:cs typeface="Meiryo"/>
              </a:rPr>
              <a:t>マッピング</a:t>
            </a:r>
            <a:endParaRPr lang="ja-JP">
              <a:solidFill>
                <a:schemeClr val="dk1"/>
              </a:solidFill>
            </a:endParaRPr>
          </a:p>
        </p:txBody>
      </p:sp>
      <p:sp>
        <p:nvSpPr>
          <p:cNvPr id="30" name="Google Shape;125;p7">
            <a:extLst>
              <a:ext uri="{FF2B5EF4-FFF2-40B4-BE49-F238E27FC236}">
                <a16:creationId xmlns:a16="http://schemas.microsoft.com/office/drawing/2014/main" id="{AADF511C-43F0-579A-08C7-AFC01B8A51A7}"/>
              </a:ext>
            </a:extLst>
          </p:cNvPr>
          <p:cNvSpPr/>
          <p:nvPr/>
        </p:nvSpPr>
        <p:spPr>
          <a:xfrm>
            <a:off x="9303663" y="67526"/>
            <a:ext cx="1398322" cy="237508"/>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a:lnSpc>
                <a:spcPct val="100000"/>
              </a:lnSpc>
              <a:spcBef>
                <a:spcPts val="0"/>
              </a:spcBef>
              <a:spcAft>
                <a:spcPts val="0"/>
              </a:spcAft>
              <a:buNone/>
            </a:pPr>
            <a:r>
              <a:rPr lang="ja-JP" altLang="en-US" sz="1200" b="1">
                <a:solidFill>
                  <a:schemeClr val="dk1"/>
                </a:solidFill>
                <a:latin typeface="Meiryo"/>
                <a:ea typeface="Meiryo"/>
                <a:cs typeface="Meiryo"/>
              </a:rPr>
              <a:t>システム主体</a:t>
            </a:r>
            <a:endParaRPr lang="ja-JP" altLang="en-US" sz="1200" b="1" i="0" u="none" strike="noStrike" cap="none">
              <a:solidFill>
                <a:schemeClr val="dk1"/>
              </a:solidFill>
              <a:latin typeface="Meiryo"/>
              <a:ea typeface="Meiryo"/>
              <a:cs typeface="Meiryo"/>
            </a:endParaRPr>
          </a:p>
        </p:txBody>
      </p:sp>
      <p:sp>
        <p:nvSpPr>
          <p:cNvPr id="31" name="Google Shape;125;p7">
            <a:extLst>
              <a:ext uri="{FF2B5EF4-FFF2-40B4-BE49-F238E27FC236}">
                <a16:creationId xmlns:a16="http://schemas.microsoft.com/office/drawing/2014/main" id="{2A25F2AB-D168-D7F3-4331-E1DED94C1E2C}"/>
              </a:ext>
            </a:extLst>
          </p:cNvPr>
          <p:cNvSpPr/>
          <p:nvPr/>
        </p:nvSpPr>
        <p:spPr>
          <a:xfrm>
            <a:off x="4795161" y="3088311"/>
            <a:ext cx="2205682" cy="518723"/>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200" b="1">
                <a:solidFill>
                  <a:schemeClr val="dk1"/>
                </a:solidFill>
                <a:latin typeface="Meiryo"/>
                <a:ea typeface="Meiryo"/>
              </a:rPr>
              <a:t>デパ変更について</a:t>
            </a:r>
          </a:p>
          <a:p>
            <a:pPr algn="ctr"/>
            <a:r>
              <a:rPr lang="ja-JP" altLang="en-US" sz="1200" b="1">
                <a:solidFill>
                  <a:schemeClr val="dk1"/>
                </a:solidFill>
                <a:latin typeface="Meiryo"/>
                <a:ea typeface="Meiryo"/>
              </a:rPr>
              <a:t>既存運用切替時期検討</a:t>
            </a:r>
          </a:p>
        </p:txBody>
      </p:sp>
      <p:sp>
        <p:nvSpPr>
          <p:cNvPr id="32" name="Google Shape;128;p7">
            <a:extLst>
              <a:ext uri="{FF2B5EF4-FFF2-40B4-BE49-F238E27FC236}">
                <a16:creationId xmlns:a16="http://schemas.microsoft.com/office/drawing/2014/main" id="{C100F9C7-4B5D-A69F-4346-2ECE865EDBEF}"/>
              </a:ext>
            </a:extLst>
          </p:cNvPr>
          <p:cNvSpPr/>
          <p:nvPr/>
        </p:nvSpPr>
        <p:spPr>
          <a:xfrm>
            <a:off x="3746497" y="5289438"/>
            <a:ext cx="659319" cy="259106"/>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600" b="1">
                <a:solidFill>
                  <a:schemeClr val="dk1"/>
                </a:solidFill>
                <a:latin typeface="Meiryo"/>
                <a:ea typeface="Meiryo"/>
                <a:cs typeface="Meiryo"/>
              </a:rPr>
              <a:t>入力フォーマット作成</a:t>
            </a:r>
            <a:endParaRPr lang="ja-JP" altLang="en-US" sz="600" b="1" i="0" u="none" strike="noStrike" cap="none">
              <a:solidFill>
                <a:schemeClr val="dk1"/>
              </a:solidFill>
              <a:latin typeface="Meiryo"/>
              <a:ea typeface="Meiryo"/>
              <a:cs typeface="Meiryo"/>
            </a:endParaRPr>
          </a:p>
        </p:txBody>
      </p:sp>
      <p:sp>
        <p:nvSpPr>
          <p:cNvPr id="33" name="Google Shape;128;p7">
            <a:extLst>
              <a:ext uri="{FF2B5EF4-FFF2-40B4-BE49-F238E27FC236}">
                <a16:creationId xmlns:a16="http://schemas.microsoft.com/office/drawing/2014/main" id="{15F3B2CE-C865-7C6C-3B3A-55A95654367F}"/>
              </a:ext>
            </a:extLst>
          </p:cNvPr>
          <p:cNvSpPr/>
          <p:nvPr/>
        </p:nvSpPr>
        <p:spPr>
          <a:xfrm>
            <a:off x="4490354" y="5289437"/>
            <a:ext cx="2510490" cy="649177"/>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050" b="1">
                <a:solidFill>
                  <a:schemeClr val="dk1"/>
                </a:solidFill>
                <a:latin typeface="Meiryo"/>
                <a:ea typeface="Meiryo"/>
                <a:cs typeface="Meiryo"/>
              </a:rPr>
              <a:t>組織統合後のマスタメンテナンス運用実施</a:t>
            </a:r>
            <a:endParaRPr lang="ja-JP" altLang="en-US" sz="1050" b="1" i="0" u="none" strike="noStrike" cap="none">
              <a:solidFill>
                <a:schemeClr val="dk1"/>
              </a:solidFill>
              <a:latin typeface="Meiryo"/>
              <a:ea typeface="Meiryo"/>
              <a:cs typeface="Meiryo"/>
            </a:endParaRPr>
          </a:p>
        </p:txBody>
      </p:sp>
      <p:sp>
        <p:nvSpPr>
          <p:cNvPr id="10" name="Google Shape;125;p7">
            <a:extLst>
              <a:ext uri="{FF2B5EF4-FFF2-40B4-BE49-F238E27FC236}">
                <a16:creationId xmlns:a16="http://schemas.microsoft.com/office/drawing/2014/main" id="{9E58728C-3585-5849-B99C-C62610E51D00}"/>
              </a:ext>
            </a:extLst>
          </p:cNvPr>
          <p:cNvSpPr/>
          <p:nvPr/>
        </p:nvSpPr>
        <p:spPr>
          <a:xfrm>
            <a:off x="5176160" y="4748383"/>
            <a:ext cx="1643253" cy="273793"/>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200" b="1">
                <a:solidFill>
                  <a:schemeClr val="dk1"/>
                </a:solidFill>
                <a:latin typeface="Meiryo"/>
                <a:ea typeface="Meiryo"/>
              </a:rPr>
              <a:t>移行対象確認・承認</a:t>
            </a:r>
          </a:p>
        </p:txBody>
      </p:sp>
      <p:sp>
        <p:nvSpPr>
          <p:cNvPr id="13" name="Google Shape;128;p7">
            <a:extLst>
              <a:ext uri="{FF2B5EF4-FFF2-40B4-BE49-F238E27FC236}">
                <a16:creationId xmlns:a16="http://schemas.microsoft.com/office/drawing/2014/main" id="{DC74C38B-217D-6E63-F224-AE677437C354}"/>
              </a:ext>
            </a:extLst>
          </p:cNvPr>
          <p:cNvSpPr/>
          <p:nvPr/>
        </p:nvSpPr>
        <p:spPr>
          <a:xfrm>
            <a:off x="3927925" y="3738222"/>
            <a:ext cx="3072918" cy="440534"/>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050" b="1">
                <a:solidFill>
                  <a:schemeClr val="dk1"/>
                </a:solidFill>
                <a:latin typeface="Meiryo"/>
                <a:ea typeface="Meiryo"/>
                <a:cs typeface="Meiryo"/>
              </a:rPr>
              <a:t>西友独自項目特定</a:t>
            </a:r>
          </a:p>
          <a:p>
            <a:pPr algn="ctr"/>
            <a:r>
              <a:rPr lang="ja-JP" altLang="en-US" sz="1050" b="1">
                <a:solidFill>
                  <a:schemeClr val="dk1"/>
                </a:solidFill>
                <a:latin typeface="Meiryo"/>
                <a:ea typeface="Meiryo"/>
                <a:cs typeface="Meiryo"/>
              </a:rPr>
              <a:t>今後の運用方針検討</a:t>
            </a:r>
          </a:p>
        </p:txBody>
      </p:sp>
      <p:sp>
        <p:nvSpPr>
          <p:cNvPr id="17" name="吹き出し: 線 16">
            <a:extLst>
              <a:ext uri="{FF2B5EF4-FFF2-40B4-BE49-F238E27FC236}">
                <a16:creationId xmlns:a16="http://schemas.microsoft.com/office/drawing/2014/main" id="{CE9F8FE8-BB0C-5DF5-73BB-B7FAB277D16A}"/>
              </a:ext>
            </a:extLst>
          </p:cNvPr>
          <p:cNvSpPr/>
          <p:nvPr/>
        </p:nvSpPr>
        <p:spPr>
          <a:xfrm>
            <a:off x="8174971" y="2651913"/>
            <a:ext cx="3000826" cy="585434"/>
          </a:xfrm>
          <a:prstGeom prst="borderCallout1">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r>
              <a:rPr lang="ja-JP" altLang="en-US" sz="1200" dirty="0">
                <a:ea typeface="ＭＳ Ｐゴシック"/>
                <a:cs typeface="Arial"/>
              </a:rPr>
              <a:t>2027年</a:t>
            </a:r>
            <a:r>
              <a:rPr lang="en-US" altLang="ja-JP" sz="1200" dirty="0">
                <a:ea typeface="ＭＳ Ｐゴシック"/>
                <a:cs typeface="Arial"/>
              </a:rPr>
              <a:t>3</a:t>
            </a:r>
            <a:r>
              <a:rPr lang="ja-JP" altLang="en-US" sz="1200" dirty="0">
                <a:ea typeface="ＭＳ Ｐゴシック"/>
                <a:cs typeface="Arial"/>
              </a:rPr>
              <a:t>月より前にデパ変更</a:t>
            </a:r>
            <a:endParaRPr lang="ja-JP" altLang="en-US" sz="1200" dirty="0">
              <a:ea typeface="ＭＳ Ｐゴシック" panose="020B0600070205080204" pitchFamily="34" charset="-128"/>
              <a:cs typeface="Arial"/>
            </a:endParaRPr>
          </a:p>
          <a:p>
            <a:pPr algn="ctr"/>
            <a:r>
              <a:rPr lang="ja-JP" altLang="en-US" sz="1200" dirty="0">
                <a:ea typeface="ＭＳ Ｐゴシック"/>
                <a:cs typeface="Arial"/>
              </a:rPr>
              <a:t>（西友システム上）をするかの検討</a:t>
            </a:r>
          </a:p>
        </p:txBody>
      </p:sp>
      <p:sp>
        <p:nvSpPr>
          <p:cNvPr id="21" name="吹き出し: 線 20">
            <a:extLst>
              <a:ext uri="{FF2B5EF4-FFF2-40B4-BE49-F238E27FC236}">
                <a16:creationId xmlns:a16="http://schemas.microsoft.com/office/drawing/2014/main" id="{0B9F84E9-D3F3-CA0F-650C-610E1FD63081}"/>
              </a:ext>
            </a:extLst>
          </p:cNvPr>
          <p:cNvSpPr/>
          <p:nvPr/>
        </p:nvSpPr>
        <p:spPr>
          <a:xfrm>
            <a:off x="8619470" y="5092127"/>
            <a:ext cx="3000826" cy="585434"/>
          </a:xfrm>
          <a:prstGeom prst="borderCallout1">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1200">
                <a:ea typeface="ＭＳ Ｐゴシック"/>
                <a:cs typeface="Arial"/>
              </a:rPr>
              <a:t>両システムへのメンテナンスの</a:t>
            </a:r>
          </a:p>
          <a:p>
            <a:pPr algn="ctr"/>
            <a:r>
              <a:rPr lang="ja-JP" altLang="en-US" sz="1200">
                <a:ea typeface="ＭＳ Ｐゴシック"/>
                <a:cs typeface="Arial"/>
              </a:rPr>
              <a:t>運用体制（リソース確保）</a:t>
            </a:r>
          </a:p>
        </p:txBody>
      </p:sp>
      <p:sp>
        <p:nvSpPr>
          <p:cNvPr id="22" name="吹き出し: 線 21">
            <a:extLst>
              <a:ext uri="{FF2B5EF4-FFF2-40B4-BE49-F238E27FC236}">
                <a16:creationId xmlns:a16="http://schemas.microsoft.com/office/drawing/2014/main" id="{414BDB33-F2CA-065E-364F-BB5956E95831}"/>
              </a:ext>
            </a:extLst>
          </p:cNvPr>
          <p:cNvSpPr/>
          <p:nvPr/>
        </p:nvSpPr>
        <p:spPr>
          <a:xfrm>
            <a:off x="8728327" y="3722341"/>
            <a:ext cx="2982683" cy="721505"/>
          </a:xfrm>
          <a:prstGeom prst="borderCallout1">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ja-JP" altLang="en-US" sz="1200" dirty="0">
                <a:ea typeface="ＭＳ Ｐゴシック"/>
                <a:cs typeface="Arial"/>
              </a:rPr>
              <a:t>2027年</a:t>
            </a:r>
            <a:r>
              <a:rPr lang="en-US" altLang="ja-JP" sz="1200" dirty="0">
                <a:ea typeface="ＭＳ Ｐゴシック"/>
                <a:cs typeface="Arial"/>
              </a:rPr>
              <a:t>3</a:t>
            </a:r>
            <a:r>
              <a:rPr lang="ja-JP" altLang="en-US" sz="1200" dirty="0">
                <a:ea typeface="ＭＳ Ｐゴシック"/>
                <a:cs typeface="Arial"/>
              </a:rPr>
              <a:t>月リリース直前ではなく、</a:t>
            </a:r>
          </a:p>
          <a:p>
            <a:pPr algn="ctr"/>
            <a:r>
              <a:rPr lang="ja-JP" altLang="en-US" sz="1200" dirty="0">
                <a:ea typeface="ＭＳ Ｐゴシック"/>
                <a:cs typeface="Arial"/>
              </a:rPr>
              <a:t>2026年より順次データ移行できるものは</a:t>
            </a:r>
          </a:p>
          <a:p>
            <a:pPr algn="ctr"/>
            <a:r>
              <a:rPr lang="ja-JP" altLang="en-US" sz="1200" dirty="0">
                <a:ea typeface="ＭＳ Ｐゴシック"/>
                <a:cs typeface="Arial"/>
              </a:rPr>
              <a:t>実施する</a:t>
            </a:r>
          </a:p>
        </p:txBody>
      </p:sp>
      <p:sp>
        <p:nvSpPr>
          <p:cNvPr id="11" name="正方形/長方形 10">
            <a:extLst>
              <a:ext uri="{FF2B5EF4-FFF2-40B4-BE49-F238E27FC236}">
                <a16:creationId xmlns:a16="http://schemas.microsoft.com/office/drawing/2014/main" id="{7C7742E2-D4F7-3A44-6AA8-C2930AED855C}"/>
              </a:ext>
            </a:extLst>
          </p:cNvPr>
          <p:cNvSpPr/>
          <p:nvPr/>
        </p:nvSpPr>
        <p:spPr>
          <a:xfrm>
            <a:off x="11785600" y="1202363"/>
            <a:ext cx="2229138" cy="56556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青がシステム主体</a:t>
            </a:r>
            <a:endParaRPr kumimoji="1" lang="en-US" altLang="ja-JP"/>
          </a:p>
          <a:p>
            <a:pPr algn="ctr"/>
            <a:r>
              <a:rPr kumimoji="1" lang="ja-JP" altLang="en-US"/>
              <a:t>性能改善は</a:t>
            </a:r>
            <a:r>
              <a:rPr kumimoji="1" lang="en-US" altLang="ja-JP"/>
              <a:t>26</a:t>
            </a:r>
            <a:r>
              <a:rPr kumimoji="1" lang="ja-JP" altLang="en-US"/>
              <a:t>年</a:t>
            </a:r>
            <a:r>
              <a:rPr kumimoji="1" lang="en-US" altLang="ja-JP"/>
              <a:t>7</a:t>
            </a:r>
            <a:r>
              <a:rPr kumimoji="1" lang="ja-JP" altLang="en-US"/>
              <a:t>月末まで</a:t>
            </a:r>
            <a:endParaRPr kumimoji="1" lang="en-US" altLang="ja-JP"/>
          </a:p>
          <a:p>
            <a:pPr algn="ctr"/>
            <a:endParaRPr kumimoji="1" lang="en-US" altLang="ja-JP"/>
          </a:p>
          <a:p>
            <a:pPr algn="ctr"/>
            <a:r>
              <a:rPr kumimoji="1" lang="ja-JP" altLang="en-US"/>
              <a:t>商談システムは</a:t>
            </a:r>
            <a:r>
              <a:rPr kumimoji="1" lang="en-US" altLang="ja-JP"/>
              <a:t>27</a:t>
            </a:r>
            <a:r>
              <a:rPr kumimoji="1" lang="ja-JP" altLang="en-US"/>
              <a:t>年</a:t>
            </a:r>
            <a:r>
              <a:rPr kumimoji="1" lang="en-US" altLang="ja-JP"/>
              <a:t>3</a:t>
            </a:r>
            <a:r>
              <a:rPr kumimoji="1" lang="ja-JP" altLang="en-US"/>
              <a:t>月までに完了し使えるように</a:t>
            </a:r>
            <a:endParaRPr kumimoji="1" lang="en-US" altLang="ja-JP"/>
          </a:p>
          <a:p>
            <a:pPr algn="ctr"/>
            <a:r>
              <a:rPr kumimoji="1" lang="ja-JP" altLang="en-US"/>
              <a:t>店舗パイロットが</a:t>
            </a:r>
            <a:r>
              <a:rPr kumimoji="1" lang="en-US" altLang="ja-JP"/>
              <a:t>5</a:t>
            </a:r>
            <a:r>
              <a:rPr kumimoji="1" lang="ja-JP" altLang="en-US"/>
              <a:t>月から始まる</a:t>
            </a:r>
          </a:p>
        </p:txBody>
      </p:sp>
      <p:sp>
        <p:nvSpPr>
          <p:cNvPr id="12" name="テキスト ボックス 11">
            <a:extLst>
              <a:ext uri="{FF2B5EF4-FFF2-40B4-BE49-F238E27FC236}">
                <a16:creationId xmlns:a16="http://schemas.microsoft.com/office/drawing/2014/main" id="{F84F1F7C-B40B-3DC8-07BD-D3A89B1BEC5B}"/>
              </a:ext>
            </a:extLst>
          </p:cNvPr>
          <p:cNvSpPr txBox="1"/>
          <p:nvPr/>
        </p:nvSpPr>
        <p:spPr>
          <a:xfrm>
            <a:off x="7677974" y="2196908"/>
            <a:ext cx="1606896" cy="261610"/>
          </a:xfrm>
          <a:prstGeom prst="rect">
            <a:avLst/>
          </a:prstGeom>
          <a:noFill/>
        </p:spPr>
        <p:txBody>
          <a:bodyPr wrap="square" rtlCol="0">
            <a:spAutoFit/>
          </a:bodyPr>
          <a:lstStyle/>
          <a:p>
            <a:r>
              <a:rPr kumimoji="1" lang="ja-JP" altLang="en-US" sz="1100">
                <a:latin typeface="メイリオ" panose="020B0604030504040204" pitchFamily="50" charset="-128"/>
                <a:ea typeface="メイリオ" panose="020B0604030504040204" pitchFamily="50" charset="-128"/>
              </a:rPr>
              <a:t>🔷店舗</a:t>
            </a:r>
            <a:r>
              <a:rPr kumimoji="1" lang="en-US" altLang="ja-JP" sz="1100">
                <a:latin typeface="メイリオ" panose="020B0604030504040204" pitchFamily="50" charset="-128"/>
                <a:ea typeface="メイリオ" panose="020B0604030504040204" pitchFamily="50" charset="-128"/>
              </a:rPr>
              <a:t>CV</a:t>
            </a:r>
            <a:r>
              <a:rPr kumimoji="1" lang="ja-JP" altLang="en-US" sz="1100">
                <a:latin typeface="メイリオ" panose="020B0604030504040204" pitchFamily="50" charset="-128"/>
                <a:ea typeface="メイリオ" panose="020B0604030504040204" pitchFamily="50" charset="-128"/>
              </a:rPr>
              <a:t>パイロット</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5">
          <a:extLst>
            <a:ext uri="{FF2B5EF4-FFF2-40B4-BE49-F238E27FC236}">
              <a16:creationId xmlns:a16="http://schemas.microsoft.com/office/drawing/2014/main" id="{F2E0FED8-DFB8-802C-E257-72CB4A241DD3}"/>
            </a:ext>
          </a:extLst>
        </p:cNvPr>
        <p:cNvGrpSpPr/>
        <p:nvPr/>
      </p:nvGrpSpPr>
      <p:grpSpPr>
        <a:xfrm>
          <a:off x="0" y="0"/>
          <a:ext cx="0" cy="0"/>
          <a:chOff x="0" y="0"/>
          <a:chExt cx="0" cy="0"/>
        </a:xfrm>
      </p:grpSpPr>
      <p:graphicFrame>
        <p:nvGraphicFramePr>
          <p:cNvPr id="116" name="Google Shape;116;p7">
            <a:extLst>
              <a:ext uri="{FF2B5EF4-FFF2-40B4-BE49-F238E27FC236}">
                <a16:creationId xmlns:a16="http://schemas.microsoft.com/office/drawing/2014/main" id="{075D073C-2573-B934-8DBD-E2305131A89D}"/>
              </a:ext>
            </a:extLst>
          </p:cNvPr>
          <p:cNvGraphicFramePr/>
          <p:nvPr>
            <p:extLst>
              <p:ext uri="{D42A27DB-BD31-4B8C-83A1-F6EECF244321}">
                <p14:modId xmlns:p14="http://schemas.microsoft.com/office/powerpoint/2010/main" val="2293170227"/>
              </p:ext>
            </p:extLst>
          </p:nvPr>
        </p:nvGraphicFramePr>
        <p:xfrm>
          <a:off x="778194" y="965056"/>
          <a:ext cx="10943956" cy="5725167"/>
        </p:xfrm>
        <a:graphic>
          <a:graphicData uri="http://schemas.openxmlformats.org/drawingml/2006/table">
            <a:tbl>
              <a:tblPr>
                <a:noFill/>
                <a:tableStyleId>{16DD54E9-F15A-4EFF-A1D8-E2CBB5DF2B52}</a:tableStyleId>
              </a:tblPr>
              <a:tblGrid>
                <a:gridCol w="323366">
                  <a:extLst>
                    <a:ext uri="{9D8B030D-6E8A-4147-A177-3AD203B41FA5}">
                      <a16:colId xmlns:a16="http://schemas.microsoft.com/office/drawing/2014/main" val="20000"/>
                    </a:ext>
                  </a:extLst>
                </a:gridCol>
                <a:gridCol w="1191954">
                  <a:extLst>
                    <a:ext uri="{9D8B030D-6E8A-4147-A177-3AD203B41FA5}">
                      <a16:colId xmlns:a16="http://schemas.microsoft.com/office/drawing/2014/main" val="20001"/>
                    </a:ext>
                  </a:extLst>
                </a:gridCol>
                <a:gridCol w="336737">
                  <a:extLst>
                    <a:ext uri="{9D8B030D-6E8A-4147-A177-3AD203B41FA5}">
                      <a16:colId xmlns:a16="http://schemas.microsoft.com/office/drawing/2014/main" val="20002"/>
                    </a:ext>
                  </a:extLst>
                </a:gridCol>
                <a:gridCol w="336737">
                  <a:extLst>
                    <a:ext uri="{9D8B030D-6E8A-4147-A177-3AD203B41FA5}">
                      <a16:colId xmlns:a16="http://schemas.microsoft.com/office/drawing/2014/main" val="20003"/>
                    </a:ext>
                  </a:extLst>
                </a:gridCol>
                <a:gridCol w="336737">
                  <a:extLst>
                    <a:ext uri="{9D8B030D-6E8A-4147-A177-3AD203B41FA5}">
                      <a16:colId xmlns:a16="http://schemas.microsoft.com/office/drawing/2014/main" val="20004"/>
                    </a:ext>
                  </a:extLst>
                </a:gridCol>
                <a:gridCol w="336737">
                  <a:extLst>
                    <a:ext uri="{9D8B030D-6E8A-4147-A177-3AD203B41FA5}">
                      <a16:colId xmlns:a16="http://schemas.microsoft.com/office/drawing/2014/main" val="20005"/>
                    </a:ext>
                  </a:extLst>
                </a:gridCol>
                <a:gridCol w="336737">
                  <a:extLst>
                    <a:ext uri="{9D8B030D-6E8A-4147-A177-3AD203B41FA5}">
                      <a16:colId xmlns:a16="http://schemas.microsoft.com/office/drawing/2014/main" val="20006"/>
                    </a:ext>
                  </a:extLst>
                </a:gridCol>
                <a:gridCol w="336737">
                  <a:extLst>
                    <a:ext uri="{9D8B030D-6E8A-4147-A177-3AD203B41FA5}">
                      <a16:colId xmlns:a16="http://schemas.microsoft.com/office/drawing/2014/main" val="20007"/>
                    </a:ext>
                  </a:extLst>
                </a:gridCol>
                <a:gridCol w="336737">
                  <a:extLst>
                    <a:ext uri="{9D8B030D-6E8A-4147-A177-3AD203B41FA5}">
                      <a16:colId xmlns:a16="http://schemas.microsoft.com/office/drawing/2014/main" val="20008"/>
                    </a:ext>
                  </a:extLst>
                </a:gridCol>
                <a:gridCol w="336737">
                  <a:extLst>
                    <a:ext uri="{9D8B030D-6E8A-4147-A177-3AD203B41FA5}">
                      <a16:colId xmlns:a16="http://schemas.microsoft.com/office/drawing/2014/main" val="20009"/>
                    </a:ext>
                  </a:extLst>
                </a:gridCol>
                <a:gridCol w="336737">
                  <a:extLst>
                    <a:ext uri="{9D8B030D-6E8A-4147-A177-3AD203B41FA5}">
                      <a16:colId xmlns:a16="http://schemas.microsoft.com/office/drawing/2014/main" val="20010"/>
                    </a:ext>
                  </a:extLst>
                </a:gridCol>
                <a:gridCol w="336737">
                  <a:extLst>
                    <a:ext uri="{9D8B030D-6E8A-4147-A177-3AD203B41FA5}">
                      <a16:colId xmlns:a16="http://schemas.microsoft.com/office/drawing/2014/main" val="20011"/>
                    </a:ext>
                  </a:extLst>
                </a:gridCol>
                <a:gridCol w="336737">
                  <a:extLst>
                    <a:ext uri="{9D8B030D-6E8A-4147-A177-3AD203B41FA5}">
                      <a16:colId xmlns:a16="http://schemas.microsoft.com/office/drawing/2014/main" val="20012"/>
                    </a:ext>
                  </a:extLst>
                </a:gridCol>
                <a:gridCol w="336737">
                  <a:extLst>
                    <a:ext uri="{9D8B030D-6E8A-4147-A177-3AD203B41FA5}">
                      <a16:colId xmlns:a16="http://schemas.microsoft.com/office/drawing/2014/main" val="20013"/>
                    </a:ext>
                  </a:extLst>
                </a:gridCol>
                <a:gridCol w="336737">
                  <a:extLst>
                    <a:ext uri="{9D8B030D-6E8A-4147-A177-3AD203B41FA5}">
                      <a16:colId xmlns:a16="http://schemas.microsoft.com/office/drawing/2014/main" val="20014"/>
                    </a:ext>
                  </a:extLst>
                </a:gridCol>
                <a:gridCol w="336737">
                  <a:extLst>
                    <a:ext uri="{9D8B030D-6E8A-4147-A177-3AD203B41FA5}">
                      <a16:colId xmlns:a16="http://schemas.microsoft.com/office/drawing/2014/main" val="20015"/>
                    </a:ext>
                  </a:extLst>
                </a:gridCol>
                <a:gridCol w="382246">
                  <a:extLst>
                    <a:ext uri="{9D8B030D-6E8A-4147-A177-3AD203B41FA5}">
                      <a16:colId xmlns:a16="http://schemas.microsoft.com/office/drawing/2014/main" val="20016"/>
                    </a:ext>
                  </a:extLst>
                </a:gridCol>
                <a:gridCol w="291228">
                  <a:extLst>
                    <a:ext uri="{9D8B030D-6E8A-4147-A177-3AD203B41FA5}">
                      <a16:colId xmlns:a16="http://schemas.microsoft.com/office/drawing/2014/main" val="20017"/>
                    </a:ext>
                  </a:extLst>
                </a:gridCol>
                <a:gridCol w="336737">
                  <a:extLst>
                    <a:ext uri="{9D8B030D-6E8A-4147-A177-3AD203B41FA5}">
                      <a16:colId xmlns:a16="http://schemas.microsoft.com/office/drawing/2014/main" val="20018"/>
                    </a:ext>
                  </a:extLst>
                </a:gridCol>
                <a:gridCol w="336737">
                  <a:extLst>
                    <a:ext uri="{9D8B030D-6E8A-4147-A177-3AD203B41FA5}">
                      <a16:colId xmlns:a16="http://schemas.microsoft.com/office/drawing/2014/main" val="20019"/>
                    </a:ext>
                  </a:extLst>
                </a:gridCol>
                <a:gridCol w="336737">
                  <a:extLst>
                    <a:ext uri="{9D8B030D-6E8A-4147-A177-3AD203B41FA5}">
                      <a16:colId xmlns:a16="http://schemas.microsoft.com/office/drawing/2014/main" val="20020"/>
                    </a:ext>
                  </a:extLst>
                </a:gridCol>
                <a:gridCol w="336737">
                  <a:extLst>
                    <a:ext uri="{9D8B030D-6E8A-4147-A177-3AD203B41FA5}">
                      <a16:colId xmlns:a16="http://schemas.microsoft.com/office/drawing/2014/main" val="20021"/>
                    </a:ext>
                  </a:extLst>
                </a:gridCol>
                <a:gridCol w="336737">
                  <a:extLst>
                    <a:ext uri="{9D8B030D-6E8A-4147-A177-3AD203B41FA5}">
                      <a16:colId xmlns:a16="http://schemas.microsoft.com/office/drawing/2014/main" val="20022"/>
                    </a:ext>
                  </a:extLst>
                </a:gridCol>
                <a:gridCol w="336737">
                  <a:extLst>
                    <a:ext uri="{9D8B030D-6E8A-4147-A177-3AD203B41FA5}">
                      <a16:colId xmlns:a16="http://schemas.microsoft.com/office/drawing/2014/main" val="20023"/>
                    </a:ext>
                  </a:extLst>
                </a:gridCol>
                <a:gridCol w="336737">
                  <a:extLst>
                    <a:ext uri="{9D8B030D-6E8A-4147-A177-3AD203B41FA5}">
                      <a16:colId xmlns:a16="http://schemas.microsoft.com/office/drawing/2014/main" val="20024"/>
                    </a:ext>
                  </a:extLst>
                </a:gridCol>
                <a:gridCol w="336737">
                  <a:extLst>
                    <a:ext uri="{9D8B030D-6E8A-4147-A177-3AD203B41FA5}">
                      <a16:colId xmlns:a16="http://schemas.microsoft.com/office/drawing/2014/main" val="20025"/>
                    </a:ext>
                  </a:extLst>
                </a:gridCol>
                <a:gridCol w="336737">
                  <a:extLst>
                    <a:ext uri="{9D8B030D-6E8A-4147-A177-3AD203B41FA5}">
                      <a16:colId xmlns:a16="http://schemas.microsoft.com/office/drawing/2014/main" val="1861820710"/>
                    </a:ext>
                  </a:extLst>
                </a:gridCol>
                <a:gridCol w="336737">
                  <a:extLst>
                    <a:ext uri="{9D8B030D-6E8A-4147-A177-3AD203B41FA5}">
                      <a16:colId xmlns:a16="http://schemas.microsoft.com/office/drawing/2014/main" val="3793903117"/>
                    </a:ext>
                  </a:extLst>
                </a:gridCol>
                <a:gridCol w="336737">
                  <a:extLst>
                    <a:ext uri="{9D8B030D-6E8A-4147-A177-3AD203B41FA5}">
                      <a16:colId xmlns:a16="http://schemas.microsoft.com/office/drawing/2014/main" val="3127040750"/>
                    </a:ext>
                  </a:extLst>
                </a:gridCol>
                <a:gridCol w="336737">
                  <a:extLst>
                    <a:ext uri="{9D8B030D-6E8A-4147-A177-3AD203B41FA5}">
                      <a16:colId xmlns:a16="http://schemas.microsoft.com/office/drawing/2014/main" val="3192657083"/>
                    </a:ext>
                  </a:extLst>
                </a:gridCol>
              </a:tblGrid>
              <a:tr h="280036">
                <a:tc rowSpan="2" gridSpan="2">
                  <a:txBody>
                    <a:bodyPr/>
                    <a:lstStyle/>
                    <a:p>
                      <a:pPr marL="0" marR="0" lvl="0" indent="0" algn="l" rtl="0">
                        <a:lnSpc>
                          <a:spcPct val="100000"/>
                        </a:lnSpc>
                        <a:spcBef>
                          <a:spcPts val="0"/>
                        </a:spcBef>
                        <a:spcAft>
                          <a:spcPts val="0"/>
                        </a:spcAft>
                        <a:buClr>
                          <a:srgbClr val="000000"/>
                        </a:buClr>
                        <a:buSzPts val="800"/>
                        <a:buFont typeface="Arial"/>
                        <a:buNone/>
                      </a:pPr>
                      <a:endParaRPr sz="11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lt1"/>
                    </a:solidFill>
                  </a:tcPr>
                </a:tc>
                <a:tc rowSpan="2"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kumimoji="1" lang="en-US" altLang="ja-JP"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rPr>
                        <a:t>2026</a:t>
                      </a: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lang="ja-JP" sz="1200" b="1" u="none" strike="noStrike" cap="none">
                          <a:solidFill>
                            <a:schemeClr val="lt1"/>
                          </a:solidFill>
                          <a:latin typeface="Meiryo"/>
                          <a:ea typeface="Meiryo"/>
                          <a:cs typeface="Meiryo"/>
                          <a:sym typeface="Meiryo"/>
                        </a:rPr>
                        <a:t>20</a:t>
                      </a:r>
                      <a:r>
                        <a:rPr lang="en-US" altLang="ja-JP" sz="1200" b="1" u="none" strike="noStrike" cap="none">
                          <a:solidFill>
                            <a:schemeClr val="lt1"/>
                          </a:solidFill>
                          <a:latin typeface="Meiryo"/>
                          <a:ea typeface="Meiryo"/>
                          <a:cs typeface="Meiryo"/>
                          <a:sym typeface="Meiryo"/>
                        </a:rPr>
                        <a:t>27</a:t>
                      </a:r>
                      <a:endParaRPr sz="1200" b="1" u="none" strike="noStrike" cap="none">
                        <a:solidFill>
                          <a:schemeClr val="lt1"/>
                        </a:solidFill>
                        <a:latin typeface="Meiryo"/>
                        <a:ea typeface="Meiryo"/>
                        <a:cs typeface="Meiryo"/>
                        <a:sym typeface="Meiryo"/>
                      </a:endParaRPr>
                    </a:p>
                  </a:txBody>
                  <a:tcPr marL="48000" marR="48000"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4">
                  <a:txBody>
                    <a:bodyPr/>
                    <a:lstStyle/>
                    <a:p>
                      <a:pPr marL="0" lvl="0" indent="0" algn="l">
                        <a:lnSpc>
                          <a:spcPct val="100000"/>
                        </a:lnSpc>
                        <a:spcBef>
                          <a:spcPts val="0"/>
                        </a:spcBef>
                        <a:spcAft>
                          <a:spcPts val="0"/>
                        </a:spcAft>
                        <a:buNone/>
                      </a:pPr>
                      <a:r>
                        <a:rPr lang="en-US" altLang="ja-JP" sz="1200" b="1" u="none" strike="noStrike" cap="none">
                          <a:solidFill>
                            <a:schemeClr val="lt1"/>
                          </a:solidFill>
                          <a:latin typeface="Meiryo"/>
                          <a:ea typeface="Meiryo"/>
                          <a:cs typeface="Meiryo"/>
                        </a:rPr>
                        <a:t>2028</a:t>
                      </a:r>
                      <a:endParaRPr lang="en-US" altLang="ja-JP" sz="1200" b="1" u="none" strike="noStrike" cap="none">
                        <a:solidFill>
                          <a:schemeClr val="lt1"/>
                        </a:solidFill>
                        <a:latin typeface="Meiryo"/>
                        <a:ea typeface="Meiryo"/>
                        <a:cs typeface="Meiryo"/>
                        <a:sym typeface="Meiryo"/>
                      </a:endParaRPr>
                    </a:p>
                  </a:txBody>
                  <a:tcPr marL="48000" marR="48000"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7F7F7F"/>
                    </a:solidFill>
                  </a:tcPr>
                </a:tc>
                <a:tc hMerge="1">
                  <a:txBody>
                    <a:bodyPr/>
                    <a:lstStyle/>
                    <a:p>
                      <a:endParaRPr lang="ja-JP" altLang="en-US">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7F7F7F"/>
                    </a:solidFill>
                  </a:tcPr>
                </a:tc>
                <a:tc hMerge="1">
                  <a:txBody>
                    <a:bodyPr/>
                    <a:lstStyle/>
                    <a:p>
                      <a:endParaRPr lang="ja-JP" altLang="en-US">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7F7F7F"/>
                    </a:solidFill>
                  </a:tcPr>
                </a:tc>
                <a:tc hMerge="1">
                  <a:txBody>
                    <a:bodyPr/>
                    <a:lstStyle/>
                    <a:p>
                      <a:endParaRPr lang="ja-JP" altLang="en-US">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7F7F7F"/>
                    </a:solidFill>
                  </a:tcPr>
                </a:tc>
                <a:extLst>
                  <a:ext uri="{0D108BD9-81ED-4DB2-BD59-A6C34878D82A}">
                    <a16:rowId xmlns:a16="http://schemas.microsoft.com/office/drawing/2014/main" val="10000"/>
                  </a:ext>
                </a:extLst>
              </a:tr>
              <a:tr h="280036">
                <a:tc gridSpan="2" vMerge="1">
                  <a:txBody>
                    <a:bodyPr/>
                    <a:lstStyle/>
                    <a:p>
                      <a:endParaRPr lang="ja-JP"/>
                    </a:p>
                  </a:txBody>
                  <a:tcPr/>
                </a:tc>
                <a:tc hMerge="1" v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2</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3</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4</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5</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6</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7</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8</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b="1" u="none" strike="noStrike" cap="none">
                          <a:latin typeface="Meiryo"/>
                          <a:ea typeface="Meiryo"/>
                          <a:cs typeface="Meiryo"/>
                          <a:sym typeface="Meiryo"/>
                        </a:rPr>
                        <a:t>9</a:t>
                      </a:r>
                      <a:endParaRPr lang="ja-JP" altLang="en-US" sz="12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10</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12</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2</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3</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4</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5</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6</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7</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8</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9</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10</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11</a:t>
                      </a:r>
                      <a:endParaRPr sz="1900" u="none" strike="noStrike" cap="none"/>
                    </a:p>
                  </a:txBody>
                  <a:tcPr marL="48000" marR="48000"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u="none" strike="noStrike" cap="none">
                          <a:latin typeface="Meiryo"/>
                          <a:ea typeface="Meiryo"/>
                          <a:cs typeface="Meiryo"/>
                          <a:sym typeface="Meiryo"/>
                        </a:rPr>
                        <a:t>12</a:t>
                      </a:r>
                      <a:endParaRPr sz="1200" b="1" u="none" strike="noStrike" cap="none">
                        <a:latin typeface="Meiryo"/>
                        <a:ea typeface="Meiryo"/>
                        <a:cs typeface="Meiryo"/>
                        <a:sym typeface="Meiryo"/>
                      </a:endParaRPr>
                    </a:p>
                  </a:txBody>
                  <a:tcPr marL="48000" marR="48000"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1</a:t>
                      </a:r>
                      <a:endParaRPr sz="1200" b="1" u="none" strike="noStrike" cap="none">
                        <a:latin typeface="Meiryo"/>
                        <a:ea typeface="Meiryo"/>
                        <a:cs typeface="Meiryo"/>
                        <a:sym typeface="Meiryo"/>
                      </a:endParaRPr>
                    </a:p>
                  </a:txBody>
                  <a:tcPr marL="48000" marR="48000"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2</a:t>
                      </a:r>
                      <a:endParaRPr sz="1200" b="1" u="none" strike="noStrike" cap="none">
                        <a:latin typeface="Meiryo"/>
                        <a:ea typeface="Meiryo"/>
                        <a:cs typeface="Meiryo"/>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3</a:t>
                      </a:r>
                      <a:endParaRPr sz="1200" b="1" u="none" strike="noStrike" cap="none">
                        <a:latin typeface="Meiryo"/>
                        <a:ea typeface="Meiryo"/>
                        <a:cs typeface="Meiryo"/>
                        <a:sym typeface="Meiryo"/>
                      </a:endParaRPr>
                    </a:p>
                  </a:txBody>
                  <a:tcPr marL="48000" marR="48000"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D8D8D8"/>
                    </a:solidFill>
                  </a:tcPr>
                </a:tc>
                <a:tc>
                  <a:txBody>
                    <a:bodyPr/>
                    <a:lstStyle/>
                    <a:p>
                      <a:pPr marL="0" lvl="0" indent="0" algn="ctr">
                        <a:lnSpc>
                          <a:spcPct val="100000"/>
                        </a:lnSpc>
                        <a:spcBef>
                          <a:spcPts val="0"/>
                        </a:spcBef>
                        <a:spcAft>
                          <a:spcPts val="0"/>
                        </a:spcAft>
                        <a:buNone/>
                      </a:pPr>
                      <a:r>
                        <a:rPr lang="en-US" altLang="ja-JP" sz="1200" b="1" u="none" strike="noStrike" cap="none">
                          <a:latin typeface="Meiryo"/>
                          <a:ea typeface="Meiryo"/>
                          <a:cs typeface="Meiryo"/>
                        </a:rPr>
                        <a:t>４</a:t>
                      </a:r>
                      <a:endParaRPr lang="en-US" altLang="ja-JP" sz="1200" b="1" u="none" strike="noStrike" cap="none">
                        <a:latin typeface="Meiryo"/>
                        <a:ea typeface="Meiryo"/>
                        <a:cs typeface="Meiryo"/>
                        <a:sym typeface="Meiryo"/>
                      </a:endParaRPr>
                    </a:p>
                  </a:txBody>
                  <a:tcPr marL="48000" marR="48000" marT="45724" marB="45724">
                    <a:lnL w="12700">
                      <a:solidFill>
                        <a:schemeClr val="lt1"/>
                      </a:solidFill>
                    </a:lnL>
                    <a:lnR w="12700">
                      <a:solidFill>
                        <a:schemeClr val="lt1"/>
                      </a:solidFill>
                    </a:lnR>
                    <a:lnT w="12700">
                      <a:solidFill>
                        <a:schemeClr val="lt1"/>
                      </a:solidFill>
                    </a:lnT>
                    <a:lnB w="12700">
                      <a:solidFill>
                        <a:schemeClr val="lt1"/>
                      </a:solidFill>
                    </a:lnB>
                    <a:solidFill>
                      <a:srgbClr val="D8D8D8"/>
                    </a:solidFill>
                  </a:tcPr>
                </a:tc>
                <a:extLst>
                  <a:ext uri="{0D108BD9-81ED-4DB2-BD59-A6C34878D82A}">
                    <a16:rowId xmlns:a16="http://schemas.microsoft.com/office/drawing/2014/main" val="10001"/>
                  </a:ext>
                </a:extLst>
              </a:tr>
              <a:tr h="767840">
                <a:tc gridSpan="2">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chemeClr val="lt1"/>
                          </a:solidFill>
                          <a:latin typeface="Meiryo"/>
                          <a:ea typeface="Meiryo"/>
                          <a:cs typeface="Meiryo"/>
                          <a:sym typeface="Meiryo"/>
                        </a:rPr>
                        <a:t>イベント・</a:t>
                      </a:r>
                      <a:endParaRPr sz="1500" b="1" u="none" strike="noStrike" cap="none">
                        <a:solidFill>
                          <a:schemeClr val="lt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chemeClr val="lt1"/>
                          </a:solidFill>
                          <a:latin typeface="Meiryo"/>
                          <a:ea typeface="Meiryo"/>
                          <a:cs typeface="Meiryo"/>
                          <a:sym typeface="Meiryo"/>
                        </a:rPr>
                        <a:t>マイルストーン</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2B2B2B"/>
                    </a:solidFill>
                  </a:tcPr>
                </a:tc>
                <a:tc hMerge="1">
                  <a:txBody>
                    <a:bodyPr/>
                    <a:lstStyle/>
                    <a:p>
                      <a:endParaRPr lang="ja-JP"/>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2"/>
                  </a:ext>
                </a:extLst>
              </a:tr>
              <a:tr h="614271">
                <a:tc>
                  <a:txBody>
                    <a:bodyPr/>
                    <a:lstStyle/>
                    <a:p>
                      <a:pPr marL="0" marR="0" lvl="0" indent="0" algn="ctr" rtl="0">
                        <a:lnSpc>
                          <a:spcPct val="100000"/>
                        </a:lnSpc>
                        <a:spcBef>
                          <a:spcPts val="0"/>
                        </a:spcBef>
                        <a:spcAft>
                          <a:spcPts val="0"/>
                        </a:spcAft>
                        <a:buClr>
                          <a:srgbClr val="000000"/>
                        </a:buClr>
                        <a:buSzPts val="1100"/>
                        <a:buFont typeface="Arial"/>
                        <a:buNone/>
                      </a:pPr>
                      <a:r>
                        <a:rPr lang="en-US" sz="1500" b="1" u="none" strike="noStrike" cap="none">
                          <a:solidFill>
                            <a:schemeClr val="lt1"/>
                          </a:solidFill>
                          <a:latin typeface="Meiryo"/>
                          <a:ea typeface="Meiryo"/>
                          <a:cs typeface="Meiryo"/>
                          <a:sym typeface="Meiryo"/>
                        </a:rPr>
                        <a:t>A</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7F7F7F"/>
                    </a:solidFill>
                  </a:tcPr>
                </a:tc>
                <a:tc>
                  <a:txBody>
                    <a:bodyPr/>
                    <a:lstStyle/>
                    <a:p>
                      <a:pPr marL="0" marR="0" lvl="0" indent="0" algn="l">
                        <a:lnSpc>
                          <a:spcPct val="100000"/>
                        </a:lnSpc>
                        <a:spcBef>
                          <a:spcPts val="0"/>
                        </a:spcBef>
                        <a:spcAft>
                          <a:spcPts val="0"/>
                        </a:spcAft>
                        <a:buSzPts val="1100"/>
                        <a:buFont typeface="Arial"/>
                        <a:buNone/>
                      </a:pPr>
                      <a:r>
                        <a:rPr lang="ja-JP" altLang="en-US" sz="1400" b="1" u="none" strike="noStrike" cap="none">
                          <a:solidFill>
                            <a:schemeClr val="lt1"/>
                          </a:solidFill>
                          <a:latin typeface="Meiryo"/>
                          <a:ea typeface="Meiryo"/>
                          <a:cs typeface="Meiryo"/>
                        </a:rPr>
                        <a:t>要件定義～</a:t>
                      </a:r>
                    </a:p>
                    <a:p>
                      <a:pPr marL="0" marR="0" lvl="0" indent="0" algn="l">
                        <a:lnSpc>
                          <a:spcPct val="100000"/>
                        </a:lnSpc>
                        <a:spcBef>
                          <a:spcPts val="0"/>
                        </a:spcBef>
                        <a:spcAft>
                          <a:spcPts val="0"/>
                        </a:spcAft>
                        <a:buSzPts val="1100"/>
                        <a:buFont typeface="Arial"/>
                        <a:buNone/>
                      </a:pPr>
                      <a:r>
                        <a:rPr lang="ja-JP" altLang="en-US" sz="1400" b="1" u="none" strike="noStrike" cap="none">
                          <a:solidFill>
                            <a:schemeClr val="lt1"/>
                          </a:solidFill>
                          <a:latin typeface="Meiryo"/>
                          <a:ea typeface="Meiryo"/>
                          <a:cs typeface="Meiryo"/>
                        </a:rPr>
                        <a:t>テスト</a:t>
                      </a: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highlight>
                          <a:srgbClr val="808080"/>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2203775844"/>
                  </a:ext>
                </a:extLst>
              </a:tr>
              <a:tr h="614271">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B</a:t>
                      </a:r>
                      <a:endParaRPr lang="en-US" altLang="ja-JP"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a:lnSpc>
                          <a:spcPct val="100000"/>
                        </a:lnSpc>
                        <a:spcBef>
                          <a:spcPts val="0"/>
                        </a:spcBef>
                        <a:spcAft>
                          <a:spcPts val="0"/>
                        </a:spcAft>
                        <a:buSzPts val="1100"/>
                        <a:buFont typeface="Arial"/>
                        <a:buNone/>
                      </a:pPr>
                      <a:r>
                        <a:rPr lang="ja-JP" altLang="en-US" sz="1400" b="1" u="none" strike="noStrike" cap="none">
                          <a:solidFill>
                            <a:schemeClr val="lt1"/>
                          </a:solidFill>
                          <a:latin typeface="Meiryo"/>
                          <a:ea typeface="Meiryo"/>
                          <a:cs typeface="Meiryo"/>
                        </a:rPr>
                        <a:t>外部連携</a:t>
                      </a:r>
                    </a:p>
                    <a:p>
                      <a:pPr marL="0" marR="0" lvl="0" indent="0" algn="l">
                        <a:lnSpc>
                          <a:spcPct val="100000"/>
                        </a:lnSpc>
                        <a:spcBef>
                          <a:spcPts val="0"/>
                        </a:spcBef>
                        <a:spcAft>
                          <a:spcPts val="0"/>
                        </a:spcAft>
                        <a:buSzPts val="1100"/>
                        <a:buFont typeface="Arial"/>
                        <a:buNone/>
                      </a:pPr>
                      <a:r>
                        <a:rPr lang="ja-JP" altLang="en-US" sz="1400" b="1" u="none" strike="noStrike" cap="none">
                          <a:solidFill>
                            <a:schemeClr val="lt1"/>
                          </a:solidFill>
                          <a:latin typeface="Meiryo"/>
                          <a:ea typeface="Meiryo"/>
                          <a:cs typeface="Meiryo"/>
                        </a:rPr>
                        <a:t>/UAT</a:t>
                      </a:r>
                    </a:p>
                  </a:txBody>
                  <a:tcPr marL="91425" marR="91425" marT="45725" marB="45725" anchor="ctr">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highlight>
                          <a:srgbClr val="808080"/>
                        </a:highlight>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4"/>
                  </a:ext>
                </a:extLst>
              </a:tr>
              <a:tr h="614271">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C</a:t>
                      </a:r>
                      <a:endParaRPr lang="en-US"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400" b="1" u="none" strike="noStrike" cap="none">
                          <a:solidFill>
                            <a:schemeClr val="lt1"/>
                          </a:solidFill>
                          <a:latin typeface="Meiryo"/>
                          <a:ea typeface="Meiryo"/>
                        </a:rPr>
                        <a:t>移行計画・</a:t>
                      </a:r>
                    </a:p>
                    <a:p>
                      <a:pPr marL="0" marR="0" lvl="0" indent="0" algn="l">
                        <a:lnSpc>
                          <a:spcPct val="100000"/>
                        </a:lnSpc>
                        <a:spcBef>
                          <a:spcPts val="0"/>
                        </a:spcBef>
                        <a:spcAft>
                          <a:spcPts val="0"/>
                        </a:spcAft>
                        <a:buSzPts val="1100"/>
                        <a:buFont typeface="Arial"/>
                        <a:buNone/>
                      </a:pPr>
                      <a:r>
                        <a:rPr lang="ja-JP" altLang="en-US" sz="1400" b="1" u="none" strike="noStrike" cap="none">
                          <a:solidFill>
                            <a:schemeClr val="lt1"/>
                          </a:solidFill>
                          <a:latin typeface="Meiryo"/>
                          <a:ea typeface="Meiryo"/>
                        </a:rPr>
                        <a:t>実行</a:t>
                      </a: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5"/>
                  </a:ext>
                </a:extLst>
              </a:tr>
              <a:tr h="542004">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D</a:t>
                      </a: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a:lnSpc>
                          <a:spcPct val="100000"/>
                        </a:lnSpc>
                        <a:spcBef>
                          <a:spcPts val="0"/>
                        </a:spcBef>
                        <a:spcAft>
                          <a:spcPts val="0"/>
                        </a:spcAft>
                        <a:buSzPts val="1100"/>
                        <a:buFont typeface="Arial"/>
                        <a:buNone/>
                      </a:pPr>
                      <a:r>
                        <a:rPr lang="ja-JP" altLang="en-US" sz="1500" b="1" u="none" strike="noStrike" cap="none">
                          <a:solidFill>
                            <a:schemeClr val="lt1"/>
                          </a:solidFill>
                          <a:latin typeface="Meiryo"/>
                          <a:ea typeface="Meiryo"/>
                        </a:rPr>
                        <a:t>本番稼働/</a:t>
                      </a:r>
                    </a:p>
                    <a:p>
                      <a:pPr marL="0" marR="0" lvl="0" indent="0" algn="l">
                        <a:lnSpc>
                          <a:spcPct val="100000"/>
                        </a:lnSpc>
                        <a:spcBef>
                          <a:spcPts val="0"/>
                        </a:spcBef>
                        <a:spcAft>
                          <a:spcPts val="0"/>
                        </a:spcAft>
                        <a:buSzPts val="1100"/>
                        <a:buFont typeface="Arial"/>
                        <a:buNone/>
                      </a:pPr>
                      <a:r>
                        <a:rPr lang="ja-JP" altLang="en-US" sz="1500" b="1" u="none" strike="noStrike" cap="none">
                          <a:solidFill>
                            <a:schemeClr val="lt1"/>
                          </a:solidFill>
                          <a:latin typeface="Meiryo"/>
                          <a:ea typeface="Meiryo"/>
                        </a:rPr>
                        <a:t>運用開始</a:t>
                      </a: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500" u="none" strike="noStrike" cap="none" dirty="0">
                          <a:latin typeface="Meiryo"/>
                          <a:ea typeface="Meiryo"/>
                          <a:cs typeface="Meiryo"/>
                          <a:sym typeface="Meiryo"/>
                        </a:rPr>
                        <a:t>★</a:t>
                      </a: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ctr" rtl="0">
                        <a:lnSpc>
                          <a:spcPct val="100000"/>
                        </a:lnSpc>
                        <a:spcBef>
                          <a:spcPts val="0"/>
                        </a:spcBef>
                        <a:spcAft>
                          <a:spcPts val="0"/>
                        </a:spcAft>
                        <a:buClr>
                          <a:srgbClr val="000000"/>
                        </a:buClr>
                        <a:buSzPts val="1100"/>
                        <a:buFont typeface="Arial"/>
                        <a:buNone/>
                      </a:pPr>
                      <a:endParaRPr altLang="en-US" sz="1500" u="none" strike="noStrike" cap="none" dirty="0">
                        <a:solidFill>
                          <a:srgbClr val="FF0000"/>
                        </a:solidFill>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6"/>
                  </a:ext>
                </a:extLst>
              </a:tr>
              <a:tr h="767840">
                <a:tc>
                  <a:txBody>
                    <a:bodyPr/>
                    <a:lstStyle/>
                    <a:p>
                      <a:pPr marL="0" marR="0" lvl="0" indent="0" algn="ctr" rtl="0">
                        <a:lnSpc>
                          <a:spcPct val="100000"/>
                        </a:lnSpc>
                        <a:spcBef>
                          <a:spcPts val="0"/>
                        </a:spcBef>
                        <a:spcAft>
                          <a:spcPts val="0"/>
                        </a:spcAft>
                        <a:buClr>
                          <a:srgbClr val="000000"/>
                        </a:buClr>
                        <a:buSzPts val="1100"/>
                        <a:buFont typeface="Arial"/>
                        <a:buNone/>
                      </a:pPr>
                      <a:r>
                        <a:rPr lang="en-US" altLang="ja-JP" sz="1500" b="1" u="none" strike="noStrike" cap="none">
                          <a:solidFill>
                            <a:schemeClr val="lt1"/>
                          </a:solidFill>
                          <a:latin typeface="Meiryo"/>
                          <a:ea typeface="Meiryo"/>
                          <a:cs typeface="Meiryo"/>
                        </a:rPr>
                        <a:t>E</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500" b="1" u="none" strike="noStrike" cap="none">
                          <a:solidFill>
                            <a:schemeClr val="lt1"/>
                          </a:solidFill>
                          <a:latin typeface="Meiryo"/>
                          <a:ea typeface="Meiryo"/>
                        </a:rPr>
                        <a:t>業務プロセス変更</a:t>
                      </a: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7"/>
                  </a:ext>
                </a:extLst>
              </a:tr>
              <a:tr h="614271">
                <a:tc>
                  <a:txBody>
                    <a:bodyPr/>
                    <a:lstStyle/>
                    <a:p>
                      <a:pPr marL="0" marR="0" lvl="0" indent="0" algn="ctr">
                        <a:lnSpc>
                          <a:spcPct val="100000"/>
                        </a:lnSpc>
                        <a:spcBef>
                          <a:spcPts val="0"/>
                        </a:spcBef>
                        <a:spcAft>
                          <a:spcPts val="0"/>
                        </a:spcAft>
                        <a:buSzPts val="1100"/>
                        <a:buFont typeface="Arial"/>
                        <a:buNone/>
                      </a:pPr>
                      <a:r>
                        <a:rPr lang="en-US" altLang="ja-JP" sz="1500" b="1" u="none" strike="noStrike" cap="none">
                          <a:solidFill>
                            <a:schemeClr val="lt1"/>
                          </a:solidFill>
                          <a:latin typeface="Meiryo"/>
                          <a:ea typeface="Meiryo"/>
                          <a:cs typeface="Meiryo"/>
                        </a:rPr>
                        <a:t>F</a:t>
                      </a:r>
                      <a:endParaRPr sz="1500" b="1" u="none" strike="noStrike" cap="none">
                        <a:solidFill>
                          <a:schemeClr val="lt1"/>
                        </a:solidFill>
                        <a:latin typeface="Meiryo"/>
                        <a:ea typeface="Meiryo"/>
                        <a:cs typeface="Meiryo"/>
                        <a:sym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500" b="1" u="none" strike="noStrike" cap="none">
                          <a:solidFill>
                            <a:schemeClr val="lt1"/>
                          </a:solidFill>
                          <a:latin typeface="Meiryo"/>
                          <a:ea typeface="Meiryo"/>
                        </a:rPr>
                        <a:t>取引先説明会</a:t>
                      </a:r>
                      <a:endParaRPr altLang="en-US" sz="1500" b="1" u="none" strike="noStrike" cap="none">
                        <a:solidFill>
                          <a:schemeClr val="lt1"/>
                        </a:solidFill>
                        <a:latin typeface="Meiryo"/>
                        <a:ea typeface="Meiryo"/>
                      </a:endParaRPr>
                    </a:p>
                  </a:txBody>
                  <a:tcPr marL="91425" marR="91425" marT="45725" marB="45725" anchor="ctr">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7F7F7F"/>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kumimoji="1" sz="1100" b="0" i="0" u="none" strike="noStrike" cap="none">
                        <a:solidFill>
                          <a:schemeClr val="tx1">
                            <a:lumMod val="65000"/>
                            <a:lumOff val="35000"/>
                          </a:schemeClr>
                        </a:solidFill>
                        <a:latin typeface="メイリオ" panose="020B0604030504040204" pitchFamily="50" charset="-128"/>
                        <a:ea typeface="メイリオ" panose="020B0604030504040204" pitchFamily="50" charset="-128"/>
                        <a:cs typeface="Arial"/>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5">
                        <a:lumMod val="40000"/>
                        <a:lumOff val="6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highlight>
                          <a:srgbClr val="808080"/>
                        </a:highlight>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dirty="0">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accent2">
                        <a:lumMod val="20000"/>
                        <a:lumOff val="8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chemeClr val="bg1">
                        <a:lumMod val="6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500" u="none" strike="noStrike" cap="none">
                        <a:latin typeface="Meiryo"/>
                        <a:ea typeface="Meiryo"/>
                        <a:cs typeface="Meiryo"/>
                        <a:sym typeface="Meiryo"/>
                      </a:endParaRPr>
                    </a:p>
                  </a:txBody>
                  <a:tcPr marL="91425" marR="91425" marT="45725" marB="45725">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cap="flat" cmpd="sng" algn="ctr">
                      <a:solidFill>
                        <a:schemeClr val="lt1"/>
                      </a:solidFill>
                      <a:prstDash val="solid"/>
                      <a:round/>
                      <a:headEnd type="none" w="sm" len="sm"/>
                      <a:tailEnd type="none" w="sm" len="sm"/>
                    </a:lnL>
                    <a:lnR w="12700">
                      <a:solidFill>
                        <a:schemeClr val="lt1"/>
                      </a:solidFill>
                    </a:lnR>
                    <a:lnT w="12700">
                      <a:solidFill>
                        <a:schemeClr val="lt1"/>
                      </a:solidFill>
                    </a:lnT>
                    <a:lnB w="12700" cap="flat" cmpd="sng" algn="ctr">
                      <a:solidFill>
                        <a:schemeClr val="lt1"/>
                      </a:solidFill>
                      <a:prstDash val="solid"/>
                      <a:round/>
                      <a:headEnd type="none" w="med" len="med"/>
                      <a:tailEnd type="none" w="med" len="med"/>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cap="flat" cmpd="sng" algn="ctr">
                      <a:solidFill>
                        <a:schemeClr val="lt1"/>
                      </a:solidFill>
                      <a:prstDash val="solid"/>
                      <a:round/>
                      <a:headEnd type="none" w="med" len="med"/>
                      <a:tailEnd type="none" w="med" len="med"/>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cap="flat" cmpd="sng" algn="ctr">
                      <a:solidFill>
                        <a:schemeClr val="lt1"/>
                      </a:solidFill>
                      <a:prstDash val="solid"/>
                      <a:round/>
                      <a:headEnd type="none" w="med" len="med"/>
                      <a:tailEnd type="none" w="med" len="med"/>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0008"/>
                  </a:ext>
                </a:extLst>
              </a:tr>
              <a:tr h="614271">
                <a:tc>
                  <a:txBody>
                    <a:bodyPr/>
                    <a:lstStyle/>
                    <a:p>
                      <a:pPr marL="0" lvl="0" indent="0" algn="ctr">
                        <a:lnSpc>
                          <a:spcPct val="100000"/>
                        </a:lnSpc>
                        <a:spcBef>
                          <a:spcPts val="0"/>
                        </a:spcBef>
                        <a:spcAft>
                          <a:spcPts val="0"/>
                        </a:spcAft>
                        <a:buNone/>
                      </a:pPr>
                      <a:r>
                        <a:rPr lang="en-US" altLang="ja-JP" sz="1500" b="1" u="none" strike="noStrike" cap="none">
                          <a:solidFill>
                            <a:schemeClr val="lt1"/>
                          </a:solidFill>
                          <a:latin typeface="Meiryo"/>
                          <a:ea typeface="Meiryo"/>
                          <a:cs typeface="Meiryo"/>
                        </a:rPr>
                        <a:t>G</a:t>
                      </a:r>
                      <a:endParaRPr sz="1500" b="1" u="none" strike="noStrike" cap="none">
                        <a:solidFill>
                          <a:schemeClr val="lt1"/>
                        </a:solidFill>
                        <a:latin typeface="Meiryo"/>
                        <a:ea typeface="Meiryo"/>
                        <a:cs typeface="Meiryo"/>
                        <a:sym typeface="Meiryo"/>
                      </a:endParaRPr>
                    </a:p>
                  </a:txBody>
                  <a:tcPr marL="91425" marR="91425" marT="45724" marB="45724" anchor="ctr">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7F7F7F"/>
                    </a:solidFill>
                  </a:tcPr>
                </a:tc>
                <a:tc>
                  <a:txBody>
                    <a:bodyPr/>
                    <a:lstStyle/>
                    <a:p>
                      <a:pPr marL="0" lvl="0" indent="0" algn="l">
                        <a:lnSpc>
                          <a:spcPct val="100000"/>
                        </a:lnSpc>
                        <a:spcBef>
                          <a:spcPts val="0"/>
                        </a:spcBef>
                        <a:spcAft>
                          <a:spcPts val="0"/>
                        </a:spcAft>
                        <a:buNone/>
                      </a:pPr>
                      <a:r>
                        <a:rPr lang="ja-JP" altLang="en-US" sz="1500" b="1" u="none" strike="noStrike" cap="none">
                          <a:solidFill>
                            <a:schemeClr val="lt1"/>
                          </a:solidFill>
                          <a:latin typeface="Meiryo"/>
                          <a:ea typeface="Meiryo"/>
                        </a:rPr>
                        <a:t>システム環境準備</a:t>
                      </a:r>
                    </a:p>
                  </a:txBody>
                  <a:tcPr marL="91425" marR="91425" marT="45724" marB="45724" anchor="ctr">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7F7F7F"/>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kumimoji="1" sz="1100" b="0" i="0" u="none" strike="noStrike" cap="none">
                        <a:solidFill>
                          <a:schemeClr val="tx1">
                            <a:lumMod val="65000"/>
                            <a:lumOff val="35000"/>
                          </a:schemeClr>
                        </a:solidFill>
                        <a:latin typeface="メイリオ"/>
                        <a:ea typeface="メイリオ"/>
                        <a:cs typeface="Arial"/>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dirty="0">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dirty="0">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accent5">
                        <a:lumMod val="40000"/>
                        <a:lumOff val="60000"/>
                      </a:schemeClr>
                    </a:solidFill>
                  </a:tcPr>
                </a:tc>
                <a:tc>
                  <a:txBody>
                    <a:bodyPr/>
                    <a:lstStyle/>
                    <a:p>
                      <a:pPr marL="0" lvl="0" indent="0" algn="l">
                        <a:lnSpc>
                          <a:spcPct val="100000"/>
                        </a:lnSpc>
                        <a:spcBef>
                          <a:spcPts val="0"/>
                        </a:spcBef>
                        <a:spcAft>
                          <a:spcPts val="0"/>
                        </a:spcAft>
                        <a:buNone/>
                      </a:pPr>
                      <a:endParaRPr sz="1500" u="none" strike="noStrike" cap="none" dirty="0">
                        <a:highlight>
                          <a:srgbClr val="808080"/>
                        </a:highlight>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9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accent2">
                        <a:lumMod val="20000"/>
                        <a:lumOff val="80000"/>
                      </a:schemeClr>
                    </a:solidFill>
                  </a:tcPr>
                </a:tc>
                <a:tc>
                  <a:txBody>
                    <a:bodyPr/>
                    <a:lstStyle/>
                    <a:p>
                      <a:pPr marL="0" lvl="0" indent="0" algn="l">
                        <a:lnSpc>
                          <a:spcPct val="100000"/>
                        </a:lnSpc>
                        <a:spcBef>
                          <a:spcPts val="0"/>
                        </a:spcBef>
                        <a:spcAft>
                          <a:spcPts val="0"/>
                        </a:spcAft>
                        <a:buNone/>
                      </a:pPr>
                      <a:endParaRPr sz="1500" u="none" strike="noStrike" cap="none" dirty="0">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accent2">
                        <a:lumMod val="20000"/>
                        <a:lumOff val="80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6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6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chemeClr val="bg1">
                        <a:lumMod val="65000"/>
                      </a:schemeClr>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cap="flat" cmpd="sng" algn="ctr">
                      <a:solidFill>
                        <a:schemeClr val="lt1"/>
                      </a:solidFill>
                      <a:prstDash val="solid"/>
                      <a:round/>
                      <a:headEnd type="none" w="sm" len="sm"/>
                      <a:tailEnd type="none" w="sm" len="sm"/>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sz="1500" u="none" strike="noStrike" cap="none">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lang="ja-JP" altLang="en-US" sz="1500" u="none" strike="noStrike" cap="none">
                        <a:latin typeface="Meiryo"/>
                        <a:ea typeface="Meiryo"/>
                        <a:cs typeface="Meiryo"/>
                      </a:endParaRPr>
                    </a:p>
                    <a:p>
                      <a:pPr marL="0" lvl="0" indent="0" algn="l">
                        <a:lnSpc>
                          <a:spcPct val="100000"/>
                        </a:lnSpc>
                        <a:spcBef>
                          <a:spcPts val="0"/>
                        </a:spcBef>
                        <a:spcAft>
                          <a:spcPts val="0"/>
                        </a:spcAft>
                        <a:buNone/>
                      </a:pPr>
                      <a:endParaRPr lang="ja-JP" altLang="en-US" sz="1500" u="none" strike="noStrike" cap="none">
                        <a:latin typeface="Meiryo"/>
                        <a:ea typeface="Meiryo"/>
                        <a:cs typeface="Meiryo"/>
                        <a:sym typeface="Meiryo"/>
                      </a:endParaRPr>
                    </a:p>
                  </a:txBody>
                  <a:tcPr marL="91425" marR="91425" marT="45724" marB="45724">
                    <a:lnL w="12700">
                      <a:solidFill>
                        <a:schemeClr val="lt1"/>
                      </a:solidFill>
                    </a:lnL>
                    <a:lnR w="12700" cap="flat" cmpd="sng" algn="ctr">
                      <a:solidFill>
                        <a:schemeClr val="lt1"/>
                      </a:solidFill>
                      <a:prstDash val="solid"/>
                      <a:round/>
                      <a:headEnd type="none" w="med" len="med"/>
                      <a:tailEnd type="none" w="med" len="med"/>
                    </a:lnR>
                    <a:lnT w="12700">
                      <a:solidFill>
                        <a:schemeClr val="lt1"/>
                      </a:solidFill>
                    </a:lnT>
                    <a:lnB w="12700">
                      <a:solidFill>
                        <a:schemeClr val="lt1"/>
                      </a:solidFill>
                    </a:lnB>
                    <a:solidFill>
                      <a:srgbClr val="F2F2F2"/>
                    </a:solidFill>
                  </a:tcPr>
                </a:tc>
                <a:tc>
                  <a:txBody>
                    <a:bodyPr/>
                    <a:lstStyle/>
                    <a:p>
                      <a:pPr marL="0" lvl="0" indent="0" algn="l">
                        <a:lnSpc>
                          <a:spcPct val="100000"/>
                        </a:lnSpc>
                        <a:spcBef>
                          <a:spcPts val="0"/>
                        </a:spcBef>
                        <a:spcAft>
                          <a:spcPts val="0"/>
                        </a:spcAft>
                        <a:buNone/>
                      </a:pPr>
                      <a:endParaRPr altLang="en-US" sz="1500" u="none" strike="noStrike" cap="none" dirty="0">
                        <a:latin typeface="Meiryo"/>
                        <a:ea typeface="Meiryo"/>
                        <a:cs typeface="Meiryo"/>
                        <a:sym typeface="Meiryo"/>
                      </a:endParaRPr>
                    </a:p>
                  </a:txBody>
                  <a:tcPr marL="91425" marR="91425" marT="45724" marB="45724">
                    <a:lnL w="12700">
                      <a:solidFill>
                        <a:schemeClr val="lt1"/>
                      </a:solidFill>
                    </a:lnL>
                    <a:lnR w="12700">
                      <a:solidFill>
                        <a:schemeClr val="lt1"/>
                      </a:solidFill>
                    </a:lnR>
                    <a:lnT w="12700">
                      <a:solidFill>
                        <a:schemeClr val="lt1"/>
                      </a:solidFill>
                    </a:lnT>
                    <a:lnB w="12700">
                      <a:solidFill>
                        <a:schemeClr val="lt1"/>
                      </a:solidFill>
                    </a:lnB>
                    <a:solidFill>
                      <a:srgbClr val="F2F2F2"/>
                    </a:solidFill>
                  </a:tcPr>
                </a:tc>
                <a:extLst>
                  <a:ext uri="{0D108BD9-81ED-4DB2-BD59-A6C34878D82A}">
                    <a16:rowId xmlns:a16="http://schemas.microsoft.com/office/drawing/2014/main" val="1753422765"/>
                  </a:ext>
                </a:extLst>
              </a:tr>
            </a:tbl>
          </a:graphicData>
        </a:graphic>
      </p:graphicFrame>
      <p:sp>
        <p:nvSpPr>
          <p:cNvPr id="120" name="Google Shape;120;p7">
            <a:extLst>
              <a:ext uri="{FF2B5EF4-FFF2-40B4-BE49-F238E27FC236}">
                <a16:creationId xmlns:a16="http://schemas.microsoft.com/office/drawing/2014/main" id="{A3C4444A-D42A-F964-182D-2CB6A363DDE6}"/>
              </a:ext>
            </a:extLst>
          </p:cNvPr>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r>
              <a:rPr lang="ja-JP"/>
              <a:t>4. </a:t>
            </a:r>
            <a:r>
              <a:rPr lang="en-US" altLang="ja-JP"/>
              <a:t>Phase2-3:</a:t>
            </a:r>
            <a:r>
              <a:rPr lang="ja-JP"/>
              <a:t>スケジュール</a:t>
            </a:r>
            <a:r>
              <a:rPr lang="ja-JP" altLang="en-US"/>
              <a:t>　商談システム本番リリース</a:t>
            </a:r>
            <a:endParaRPr/>
          </a:p>
        </p:txBody>
      </p:sp>
      <p:sp>
        <p:nvSpPr>
          <p:cNvPr id="125" name="Google Shape;125;p7">
            <a:extLst>
              <a:ext uri="{FF2B5EF4-FFF2-40B4-BE49-F238E27FC236}">
                <a16:creationId xmlns:a16="http://schemas.microsoft.com/office/drawing/2014/main" id="{2D042891-A1E7-B3E8-A606-0E4A5663F917}"/>
              </a:ext>
            </a:extLst>
          </p:cNvPr>
          <p:cNvSpPr/>
          <p:nvPr/>
        </p:nvSpPr>
        <p:spPr>
          <a:xfrm>
            <a:off x="3254234" y="2457063"/>
            <a:ext cx="741083" cy="430887"/>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200" b="1" i="0" u="none" strike="noStrike" cap="none">
                <a:solidFill>
                  <a:schemeClr val="dk1"/>
                </a:solidFill>
                <a:latin typeface="Meiryo"/>
                <a:ea typeface="Meiryo"/>
                <a:cs typeface="Meiryo"/>
                <a:sym typeface="Meiryo"/>
              </a:rPr>
              <a:t>要件</a:t>
            </a:r>
            <a:endParaRPr lang="en-US" altLang="ja-JP" sz="1200" b="1">
              <a:solidFill>
                <a:schemeClr val="dk1"/>
              </a:solidFill>
              <a:latin typeface="Meiryo"/>
              <a:ea typeface="Meiryo"/>
              <a:cs typeface="Meiryo"/>
            </a:endParaRPr>
          </a:p>
          <a:p>
            <a:pPr marL="0" marR="0" lvl="0" indent="0" algn="ctr">
              <a:lnSpc>
                <a:spcPct val="100000"/>
              </a:lnSpc>
              <a:spcBef>
                <a:spcPts val="0"/>
              </a:spcBef>
              <a:spcAft>
                <a:spcPts val="0"/>
              </a:spcAft>
              <a:buNone/>
            </a:pPr>
            <a:r>
              <a:rPr lang="ja-JP" altLang="en-US" sz="1200" b="1">
                <a:solidFill>
                  <a:schemeClr val="dk1"/>
                </a:solidFill>
                <a:latin typeface="Meiryo"/>
                <a:ea typeface="Meiryo"/>
                <a:cs typeface="Meiryo"/>
              </a:rPr>
              <a:t>定義</a:t>
            </a:r>
            <a:endParaRPr lang="en-US" altLang="ja-JP" sz="1200" b="1" i="0" u="none" strike="noStrike" cap="none">
              <a:solidFill>
                <a:schemeClr val="dk1"/>
              </a:solidFill>
              <a:latin typeface="Meiryo"/>
              <a:ea typeface="Meiryo"/>
              <a:cs typeface="Meiryo"/>
            </a:endParaRPr>
          </a:p>
        </p:txBody>
      </p:sp>
      <p:sp>
        <p:nvSpPr>
          <p:cNvPr id="126" name="Google Shape;126;p7">
            <a:extLst>
              <a:ext uri="{FF2B5EF4-FFF2-40B4-BE49-F238E27FC236}">
                <a16:creationId xmlns:a16="http://schemas.microsoft.com/office/drawing/2014/main" id="{0DB0F2BA-F42A-BBB0-4762-0525FBB450E8}"/>
              </a:ext>
            </a:extLst>
          </p:cNvPr>
          <p:cNvSpPr/>
          <p:nvPr/>
        </p:nvSpPr>
        <p:spPr>
          <a:xfrm>
            <a:off x="4049021" y="2435001"/>
            <a:ext cx="1536000" cy="470216"/>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ja-JP" altLang="en-US" sz="1100" b="1" dirty="0">
                <a:solidFill>
                  <a:schemeClr val="dk1"/>
                </a:solidFill>
                <a:latin typeface="Meiryo"/>
                <a:ea typeface="Meiryo"/>
                <a:cs typeface="Meiryo"/>
                <a:sym typeface="Meiryo"/>
              </a:rPr>
              <a:t>設計・開発・テスト</a:t>
            </a:r>
            <a:endParaRPr sz="1100" b="1" i="0" u="none" strike="noStrike" cap="none" dirty="0">
              <a:solidFill>
                <a:schemeClr val="dk1"/>
              </a:solidFill>
              <a:latin typeface="Meiryo"/>
              <a:ea typeface="Meiryo"/>
              <a:cs typeface="Meiryo"/>
              <a:sym typeface="Meiryo"/>
            </a:endParaRPr>
          </a:p>
        </p:txBody>
      </p:sp>
      <p:sp>
        <p:nvSpPr>
          <p:cNvPr id="128" name="Google Shape;128;p7">
            <a:extLst>
              <a:ext uri="{FF2B5EF4-FFF2-40B4-BE49-F238E27FC236}">
                <a16:creationId xmlns:a16="http://schemas.microsoft.com/office/drawing/2014/main" id="{7EF1A2A6-4E82-434E-702A-8797C4B01702}"/>
              </a:ext>
            </a:extLst>
          </p:cNvPr>
          <p:cNvSpPr/>
          <p:nvPr/>
        </p:nvSpPr>
        <p:spPr>
          <a:xfrm>
            <a:off x="4128711" y="4786410"/>
            <a:ext cx="1521103" cy="667319"/>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200" b="1" dirty="0">
                <a:solidFill>
                  <a:schemeClr val="dk1"/>
                </a:solidFill>
                <a:latin typeface="Meiryo"/>
                <a:ea typeface="Meiryo"/>
                <a:cs typeface="Meiryo"/>
              </a:rPr>
              <a:t>業務プロセス整理</a:t>
            </a:r>
          </a:p>
          <a:p>
            <a:pPr algn="ctr"/>
            <a:r>
              <a:rPr lang="ja-JP" altLang="en-US" sz="1200" b="1" dirty="0">
                <a:solidFill>
                  <a:schemeClr val="dk1"/>
                </a:solidFill>
                <a:latin typeface="Meiryo"/>
                <a:ea typeface="Meiryo"/>
                <a:cs typeface="Meiryo"/>
              </a:rPr>
              <a:t>マニュアル更新</a:t>
            </a:r>
          </a:p>
        </p:txBody>
      </p:sp>
      <p:sp>
        <p:nvSpPr>
          <p:cNvPr id="2" name="テキスト ボックス 1">
            <a:extLst>
              <a:ext uri="{FF2B5EF4-FFF2-40B4-BE49-F238E27FC236}">
                <a16:creationId xmlns:a16="http://schemas.microsoft.com/office/drawing/2014/main" id="{19987172-EA7E-BB08-52A2-C59E45162568}"/>
              </a:ext>
            </a:extLst>
          </p:cNvPr>
          <p:cNvSpPr txBox="1"/>
          <p:nvPr/>
        </p:nvSpPr>
        <p:spPr>
          <a:xfrm>
            <a:off x="3165531" y="1600979"/>
            <a:ext cx="1536000" cy="430887"/>
          </a:xfrm>
          <a:prstGeom prst="rect">
            <a:avLst/>
          </a:prstGeom>
          <a:noFill/>
        </p:spPr>
        <p:txBody>
          <a:bodyPr wrap="square" lIns="91440" tIns="45720" rIns="91440" bIns="45720" rtlCol="0" anchor="t">
            <a:spAutoFit/>
          </a:bodyPr>
          <a:lstStyle/>
          <a:p>
            <a:r>
              <a:rPr kumimoji="1" lang="ja-JP" altLang="en-US" sz="1100">
                <a:latin typeface="メイリオ" panose="020B0604030504040204" pitchFamily="50" charset="-128"/>
                <a:ea typeface="メイリオ" panose="020B0604030504040204" pitchFamily="50" charset="-128"/>
              </a:rPr>
              <a:t>🔷</a:t>
            </a:r>
            <a:r>
              <a:rPr kumimoji="1" lang="en-US" altLang="ja-JP" sz="1100">
                <a:solidFill>
                  <a:srgbClr val="C00000"/>
                </a:solidFill>
                <a:latin typeface="メイリオ" panose="020B0604030504040204" pitchFamily="50" charset="-128"/>
                <a:ea typeface="メイリオ" panose="020B0604030504040204" pitchFamily="50" charset="-128"/>
              </a:rPr>
              <a:t>Phase1</a:t>
            </a:r>
          </a:p>
          <a:p>
            <a:r>
              <a:rPr kumimoji="1" lang="en-US" altLang="ja-JP" sz="1100">
                <a:solidFill>
                  <a:srgbClr val="C00000"/>
                </a:solidFill>
                <a:latin typeface="メイリオ"/>
                <a:ea typeface="メイリオ"/>
              </a:rPr>
              <a:t>   </a:t>
            </a:r>
            <a:r>
              <a:rPr kumimoji="1" lang="en-US" altLang="ja-JP" sz="1100" err="1">
                <a:solidFill>
                  <a:srgbClr val="C00000"/>
                </a:solidFill>
                <a:latin typeface="メイリオ"/>
                <a:ea typeface="メイリオ"/>
              </a:rPr>
              <a:t>プロジェクト</a:t>
            </a:r>
            <a:r>
              <a:rPr kumimoji="1" lang="ja-JP" altLang="en-US" sz="1100">
                <a:solidFill>
                  <a:srgbClr val="C00000"/>
                </a:solidFill>
                <a:latin typeface="メイリオ"/>
                <a:ea typeface="メイリオ"/>
              </a:rPr>
              <a:t>開始</a:t>
            </a:r>
            <a:endParaRPr lang="ja-JP" altLang="en-US" sz="1100">
              <a:solidFill>
                <a:srgbClr val="C00000"/>
              </a:solidFill>
              <a:latin typeface="メイリオ"/>
              <a:ea typeface="メイリオ"/>
            </a:endParaRPr>
          </a:p>
        </p:txBody>
      </p:sp>
      <p:sp>
        <p:nvSpPr>
          <p:cNvPr id="3" name="テキスト ボックス 2">
            <a:extLst>
              <a:ext uri="{FF2B5EF4-FFF2-40B4-BE49-F238E27FC236}">
                <a16:creationId xmlns:a16="http://schemas.microsoft.com/office/drawing/2014/main" id="{8C3E1896-8C0D-6CD3-0376-AEFC5FEC194B}"/>
              </a:ext>
            </a:extLst>
          </p:cNvPr>
          <p:cNvSpPr txBox="1"/>
          <p:nvPr/>
        </p:nvSpPr>
        <p:spPr>
          <a:xfrm>
            <a:off x="6922547" y="1607306"/>
            <a:ext cx="2989980" cy="261610"/>
          </a:xfrm>
          <a:prstGeom prst="rect">
            <a:avLst/>
          </a:prstGeom>
          <a:noFill/>
        </p:spPr>
        <p:txBody>
          <a:bodyPr wrap="square" lIns="91440" tIns="45720" rIns="91440" bIns="45720" rtlCol="0" anchor="t">
            <a:spAutoFit/>
          </a:bodyPr>
          <a:lstStyle/>
          <a:p>
            <a:r>
              <a:rPr kumimoji="1" lang="ja-JP" altLang="en-US" sz="1100" dirty="0">
                <a:solidFill>
                  <a:srgbClr val="C00000"/>
                </a:solidFill>
                <a:latin typeface="メイリオ"/>
                <a:ea typeface="メイリオ"/>
              </a:rPr>
              <a:t>🔷本番リリース</a:t>
            </a:r>
            <a:r>
              <a:rPr kumimoji="1" lang="en-US" altLang="ja-JP" sz="1100" dirty="0">
                <a:solidFill>
                  <a:srgbClr val="C00000"/>
                </a:solidFill>
                <a:latin typeface="メイリオ"/>
                <a:ea typeface="メイリオ"/>
              </a:rPr>
              <a:t>(</a:t>
            </a:r>
            <a:r>
              <a:rPr kumimoji="1" lang="ja-JP" altLang="en-US" sz="1100" dirty="0">
                <a:solidFill>
                  <a:srgbClr val="C00000"/>
                </a:solidFill>
                <a:latin typeface="メイリオ"/>
                <a:ea typeface="メイリオ"/>
              </a:rPr>
              <a:t>商談システム利用開始）</a:t>
            </a:r>
            <a:endParaRPr lang="en-US" altLang="ja-JP" sz="1100" dirty="0">
              <a:solidFill>
                <a:srgbClr val="C00000"/>
              </a:solidFill>
              <a:latin typeface="メイリオ"/>
              <a:ea typeface="メイリオ"/>
            </a:endParaRPr>
          </a:p>
        </p:txBody>
      </p:sp>
      <p:sp>
        <p:nvSpPr>
          <p:cNvPr id="5" name="テキスト ボックス 4">
            <a:extLst>
              <a:ext uri="{FF2B5EF4-FFF2-40B4-BE49-F238E27FC236}">
                <a16:creationId xmlns:a16="http://schemas.microsoft.com/office/drawing/2014/main" id="{2D698E01-7233-BF9F-ABE4-CE21C25EA354}"/>
              </a:ext>
            </a:extLst>
          </p:cNvPr>
          <p:cNvSpPr txBox="1"/>
          <p:nvPr/>
        </p:nvSpPr>
        <p:spPr>
          <a:xfrm>
            <a:off x="4311381" y="1566184"/>
            <a:ext cx="1531336" cy="261610"/>
          </a:xfrm>
          <a:prstGeom prst="rect">
            <a:avLst/>
          </a:prstGeom>
          <a:noFill/>
        </p:spPr>
        <p:txBody>
          <a:bodyPr wrap="square" rtlCol="0">
            <a:spAutoFit/>
          </a:bodyPr>
          <a:lstStyle/>
          <a:p>
            <a:r>
              <a:rPr kumimoji="1" lang="ja-JP" altLang="en-US" sz="1100">
                <a:solidFill>
                  <a:srgbClr val="FF0000"/>
                </a:solidFill>
                <a:latin typeface="メイリオ" panose="020B0604030504040204" pitchFamily="50" charset="-128"/>
                <a:ea typeface="メイリオ" panose="020B0604030504040204" pitchFamily="50" charset="-128"/>
              </a:rPr>
              <a:t>🔷</a:t>
            </a:r>
            <a:r>
              <a:rPr kumimoji="1" lang="en-US" altLang="ja-JP" sz="1100" err="1">
                <a:solidFill>
                  <a:schemeClr val="tx1"/>
                </a:solidFill>
                <a:latin typeface="メイリオ" panose="020B0604030504040204" pitchFamily="50" charset="-128"/>
                <a:ea typeface="メイリオ" panose="020B0604030504040204" pitchFamily="50" charset="-128"/>
              </a:rPr>
              <a:t>eB</a:t>
            </a:r>
            <a:r>
              <a:rPr kumimoji="1" lang="en-US" altLang="ja-JP" sz="1100">
                <a:solidFill>
                  <a:schemeClr val="tx1"/>
                </a:solidFill>
                <a:latin typeface="メイリオ" panose="020B0604030504040204" pitchFamily="50" charset="-128"/>
                <a:ea typeface="メイリオ" panose="020B0604030504040204" pitchFamily="50" charset="-128"/>
              </a:rPr>
              <a:t>-MDM</a:t>
            </a:r>
            <a:r>
              <a:rPr kumimoji="1" lang="ja-JP" altLang="en-US" sz="1100">
                <a:solidFill>
                  <a:schemeClr val="tx1"/>
                </a:solidFill>
                <a:latin typeface="メイリオ" panose="020B0604030504040204" pitchFamily="50" charset="-128"/>
                <a:ea typeface="メイリオ" panose="020B0604030504040204" pitchFamily="50" charset="-128"/>
              </a:rPr>
              <a:t>導入完了</a:t>
            </a:r>
            <a:endParaRPr kumimoji="1" lang="en-US" altLang="ja-JP" sz="110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2E5F4496-96FE-A64D-804A-A15F648E83F6}"/>
              </a:ext>
            </a:extLst>
          </p:cNvPr>
          <p:cNvSpPr txBox="1"/>
          <p:nvPr/>
        </p:nvSpPr>
        <p:spPr>
          <a:xfrm>
            <a:off x="8196092" y="2101199"/>
            <a:ext cx="1546131" cy="261610"/>
          </a:xfrm>
          <a:prstGeom prst="rect">
            <a:avLst/>
          </a:prstGeom>
          <a:noFill/>
        </p:spPr>
        <p:txBody>
          <a:bodyPr wrap="square" lIns="91440" tIns="45720" rIns="91440" bIns="45720" rtlCol="0" anchor="t">
            <a:spAutoFit/>
          </a:bodyPr>
          <a:lstStyle/>
          <a:p>
            <a:r>
              <a:rPr kumimoji="1" lang="ja-JP" altLang="en-US" sz="1100" dirty="0">
                <a:latin typeface="メイリオ"/>
                <a:ea typeface="メイリオ"/>
              </a:rPr>
              <a:t>🔷店舗</a:t>
            </a:r>
            <a:r>
              <a:rPr kumimoji="1" lang="en-US" altLang="ja-JP" sz="1100" dirty="0">
                <a:latin typeface="メイリオ"/>
                <a:ea typeface="メイリオ"/>
              </a:rPr>
              <a:t>CV(7-9月）</a:t>
            </a:r>
            <a:endParaRPr lang="ja-JP" altLang="en-US" sz="1100" dirty="0">
              <a:latin typeface="メイリオ"/>
              <a:ea typeface="メイリオ"/>
            </a:endParaRPr>
          </a:p>
        </p:txBody>
      </p:sp>
      <p:sp>
        <p:nvSpPr>
          <p:cNvPr id="8" name="テキスト ボックス 7">
            <a:extLst>
              <a:ext uri="{FF2B5EF4-FFF2-40B4-BE49-F238E27FC236}">
                <a16:creationId xmlns:a16="http://schemas.microsoft.com/office/drawing/2014/main" id="{09C0EDAE-4F4B-0466-87FB-41FFB9AD2B8B}"/>
              </a:ext>
            </a:extLst>
          </p:cNvPr>
          <p:cNvSpPr txBox="1"/>
          <p:nvPr/>
        </p:nvSpPr>
        <p:spPr>
          <a:xfrm>
            <a:off x="4518583" y="2088663"/>
            <a:ext cx="2064970" cy="261610"/>
          </a:xfrm>
          <a:prstGeom prst="rect">
            <a:avLst/>
          </a:prstGeom>
          <a:noFill/>
        </p:spPr>
        <p:txBody>
          <a:bodyPr wrap="square" lIns="91440" tIns="45720" rIns="91440" bIns="45720" rtlCol="0" anchor="t">
            <a:spAutoFit/>
          </a:bodyPr>
          <a:lstStyle/>
          <a:p>
            <a:r>
              <a:rPr kumimoji="1" lang="ja-JP" altLang="en-US" sz="1100">
                <a:solidFill>
                  <a:srgbClr val="FF0000"/>
                </a:solidFill>
                <a:latin typeface="メイリオ"/>
                <a:ea typeface="メイリオ"/>
              </a:rPr>
              <a:t>🔷</a:t>
            </a:r>
            <a:r>
              <a:rPr kumimoji="1" lang="en-US" altLang="ja-JP" sz="1100">
                <a:solidFill>
                  <a:srgbClr val="C00000"/>
                </a:solidFill>
                <a:latin typeface="メイリオ"/>
                <a:ea typeface="メイリオ"/>
              </a:rPr>
              <a:t>Phase2プロジェクト</a:t>
            </a:r>
            <a:r>
              <a:rPr kumimoji="1" lang="ja-JP" altLang="en-US" sz="1100">
                <a:solidFill>
                  <a:srgbClr val="C00000"/>
                </a:solidFill>
                <a:latin typeface="メイリオ"/>
                <a:ea typeface="メイリオ"/>
              </a:rPr>
              <a:t>開始</a:t>
            </a:r>
            <a:endParaRPr kumimoji="1" lang="en-US" altLang="ja-JP" sz="1100">
              <a:solidFill>
                <a:srgbClr val="C00000"/>
              </a:solidFill>
              <a:latin typeface="メイリオ"/>
              <a:ea typeface="メイリオ"/>
            </a:endParaRPr>
          </a:p>
        </p:txBody>
      </p:sp>
      <p:sp>
        <p:nvSpPr>
          <p:cNvPr id="18" name="Google Shape;126;p7">
            <a:extLst>
              <a:ext uri="{FF2B5EF4-FFF2-40B4-BE49-F238E27FC236}">
                <a16:creationId xmlns:a16="http://schemas.microsoft.com/office/drawing/2014/main" id="{6AFBBE6A-60BD-63FE-97F9-F01D8261769E}"/>
              </a:ext>
            </a:extLst>
          </p:cNvPr>
          <p:cNvSpPr/>
          <p:nvPr/>
        </p:nvSpPr>
        <p:spPr>
          <a:xfrm>
            <a:off x="5612725" y="2432508"/>
            <a:ext cx="587216" cy="905681"/>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rtl="0">
              <a:lnSpc>
                <a:spcPct val="100000"/>
              </a:lnSpc>
              <a:spcBef>
                <a:spcPts val="0"/>
              </a:spcBef>
              <a:spcAft>
                <a:spcPts val="0"/>
              </a:spcAft>
              <a:buNone/>
            </a:pPr>
            <a:r>
              <a:rPr lang="en-US" altLang="ja-JP" sz="1000" b="1">
                <a:solidFill>
                  <a:schemeClr val="dk1"/>
                </a:solidFill>
                <a:latin typeface="Meiryo"/>
                <a:ea typeface="Meiryo"/>
                <a:cs typeface="Meiryo"/>
                <a:sym typeface="Meiryo"/>
              </a:rPr>
              <a:t>SIT</a:t>
            </a:r>
            <a:endParaRPr lang="en-US" altLang="ja-JP" sz="1000" b="1">
              <a:solidFill>
                <a:schemeClr val="dk1"/>
              </a:solidFill>
              <a:latin typeface="Meiryo"/>
              <a:ea typeface="Meiryo"/>
              <a:cs typeface="Meiryo"/>
            </a:endParaRPr>
          </a:p>
        </p:txBody>
      </p:sp>
      <p:sp>
        <p:nvSpPr>
          <p:cNvPr id="19" name="Google Shape;126;p7">
            <a:extLst>
              <a:ext uri="{FF2B5EF4-FFF2-40B4-BE49-F238E27FC236}">
                <a16:creationId xmlns:a16="http://schemas.microsoft.com/office/drawing/2014/main" id="{0003F0F0-F764-4969-D976-A3FAB2D63E8F}"/>
              </a:ext>
            </a:extLst>
          </p:cNvPr>
          <p:cNvSpPr/>
          <p:nvPr/>
        </p:nvSpPr>
        <p:spPr>
          <a:xfrm>
            <a:off x="6239482" y="3352864"/>
            <a:ext cx="614428" cy="208333"/>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US" altLang="ja-JP" sz="1200" b="1">
                <a:solidFill>
                  <a:schemeClr val="dk1"/>
                </a:solidFill>
                <a:latin typeface="Meiryo"/>
                <a:ea typeface="Meiryo"/>
                <a:cs typeface="Meiryo"/>
                <a:sym typeface="Meiryo"/>
              </a:rPr>
              <a:t>UAT</a:t>
            </a:r>
          </a:p>
        </p:txBody>
      </p:sp>
      <p:grpSp>
        <p:nvGrpSpPr>
          <p:cNvPr id="121" name="Google Shape;121;p7">
            <a:extLst>
              <a:ext uri="{FF2B5EF4-FFF2-40B4-BE49-F238E27FC236}">
                <a16:creationId xmlns:a16="http://schemas.microsoft.com/office/drawing/2014/main" id="{3054B6DD-68E4-1CBD-D1DA-C99EBC74CF14}"/>
              </a:ext>
            </a:extLst>
          </p:cNvPr>
          <p:cNvGrpSpPr/>
          <p:nvPr/>
        </p:nvGrpSpPr>
        <p:grpSpPr>
          <a:xfrm>
            <a:off x="3428192" y="783968"/>
            <a:ext cx="494061" cy="5950160"/>
            <a:chOff x="3306829" y="1641358"/>
            <a:chExt cx="521275" cy="4640149"/>
          </a:xfrm>
        </p:grpSpPr>
        <p:sp>
          <p:nvSpPr>
            <p:cNvPr id="122" name="Google Shape;122;p7">
              <a:extLst>
                <a:ext uri="{FF2B5EF4-FFF2-40B4-BE49-F238E27FC236}">
                  <a16:creationId xmlns:a16="http://schemas.microsoft.com/office/drawing/2014/main" id="{DEA3FB06-8338-3704-1E68-50DE79C9CDE9}"/>
                </a:ext>
              </a:extLst>
            </p:cNvPr>
            <p:cNvSpPr/>
            <p:nvPr/>
          </p:nvSpPr>
          <p:spPr>
            <a:xfrm rot="5400000">
              <a:off x="3409671" y="1639374"/>
              <a:ext cx="315591" cy="521275"/>
            </a:xfrm>
            <a:prstGeom prst="homePlate">
              <a:avLst>
                <a:gd name="adj" fmla="val 34307"/>
              </a:avLst>
            </a:prstGeom>
            <a:solidFill>
              <a:srgbClr val="E5001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123" name="Google Shape;123;p7">
              <a:extLst>
                <a:ext uri="{FF2B5EF4-FFF2-40B4-BE49-F238E27FC236}">
                  <a16:creationId xmlns:a16="http://schemas.microsoft.com/office/drawing/2014/main" id="{E3F31C50-BB9D-E9D9-8022-5E53BDFB1450}"/>
                </a:ext>
              </a:extLst>
            </p:cNvPr>
            <p:cNvSpPr txBox="1"/>
            <p:nvPr/>
          </p:nvSpPr>
          <p:spPr>
            <a:xfrm>
              <a:off x="3311377" y="1641358"/>
              <a:ext cx="497586" cy="463146"/>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900" b="1" i="0" u="none" strike="noStrike" cap="none">
                  <a:solidFill>
                    <a:schemeClr val="lt1"/>
                  </a:solidFill>
                  <a:latin typeface="Meiryo"/>
                  <a:ea typeface="Meiryo"/>
                  <a:cs typeface="Meiryo"/>
                  <a:sym typeface="Meiryo"/>
                </a:rPr>
                <a:t>現在</a:t>
              </a:r>
              <a:endParaRPr sz="900" b="0" i="0" u="none" strike="noStrike" cap="none">
                <a:solidFill>
                  <a:srgbClr val="000000"/>
                </a:solidFill>
                <a:latin typeface="Arial"/>
                <a:ea typeface="Arial"/>
                <a:cs typeface="Arial"/>
                <a:sym typeface="Arial"/>
              </a:endParaRPr>
            </a:p>
          </p:txBody>
        </p:sp>
        <p:cxnSp>
          <p:nvCxnSpPr>
            <p:cNvPr id="124" name="Google Shape;124;p7">
              <a:extLst>
                <a:ext uri="{FF2B5EF4-FFF2-40B4-BE49-F238E27FC236}">
                  <a16:creationId xmlns:a16="http://schemas.microsoft.com/office/drawing/2014/main" id="{3ED7BA65-3400-11AB-C450-D496187B1D69}"/>
                </a:ext>
              </a:extLst>
            </p:cNvPr>
            <p:cNvCxnSpPr>
              <a:stCxn id="122" idx="3"/>
            </p:cNvCxnSpPr>
            <p:nvPr/>
          </p:nvCxnSpPr>
          <p:spPr>
            <a:xfrm>
              <a:off x="3567467" y="2057807"/>
              <a:ext cx="0" cy="4223700"/>
            </a:xfrm>
            <a:prstGeom prst="straightConnector1">
              <a:avLst/>
            </a:prstGeom>
            <a:noFill/>
            <a:ln w="19050" cap="flat" cmpd="sng">
              <a:solidFill>
                <a:srgbClr val="E50012"/>
              </a:solidFill>
              <a:prstDash val="solid"/>
              <a:round/>
              <a:headEnd type="none" w="sm" len="sm"/>
              <a:tailEnd type="none" w="sm" len="sm"/>
            </a:ln>
          </p:spPr>
        </p:cxnSp>
      </p:grpSp>
      <p:sp>
        <p:nvSpPr>
          <p:cNvPr id="4" name="テキスト ボックス 3">
            <a:extLst>
              <a:ext uri="{FF2B5EF4-FFF2-40B4-BE49-F238E27FC236}">
                <a16:creationId xmlns:a16="http://schemas.microsoft.com/office/drawing/2014/main" id="{96BA80AE-2900-9383-A46C-53E78E8F4EB0}"/>
              </a:ext>
            </a:extLst>
          </p:cNvPr>
          <p:cNvSpPr txBox="1"/>
          <p:nvPr/>
        </p:nvSpPr>
        <p:spPr>
          <a:xfrm>
            <a:off x="7191939" y="1783377"/>
            <a:ext cx="2799691" cy="261610"/>
          </a:xfrm>
          <a:prstGeom prst="rect">
            <a:avLst/>
          </a:prstGeom>
          <a:noFill/>
        </p:spPr>
        <p:txBody>
          <a:bodyPr wrap="square" rtlCol="0">
            <a:spAutoFit/>
          </a:bodyPr>
          <a:lstStyle/>
          <a:p>
            <a:r>
              <a:rPr kumimoji="1" lang="ja-JP" altLang="en-US" sz="1100" dirty="0">
                <a:latin typeface="メイリオ" panose="020B0604030504040204" pitchFamily="50" charset="-128"/>
                <a:ea typeface="メイリオ" panose="020B0604030504040204" pitchFamily="50" charset="-128"/>
              </a:rPr>
              <a:t>🔷周辺システムへのマスタ連携開始</a:t>
            </a:r>
          </a:p>
        </p:txBody>
      </p:sp>
      <p:sp>
        <p:nvSpPr>
          <p:cNvPr id="23" name="Google Shape;126;p7">
            <a:extLst>
              <a:ext uri="{FF2B5EF4-FFF2-40B4-BE49-F238E27FC236}">
                <a16:creationId xmlns:a16="http://schemas.microsoft.com/office/drawing/2014/main" id="{A1FE2844-9E3B-3CC4-B7B8-E3ADDF82D6BB}"/>
              </a:ext>
            </a:extLst>
          </p:cNvPr>
          <p:cNvSpPr/>
          <p:nvPr/>
        </p:nvSpPr>
        <p:spPr>
          <a:xfrm>
            <a:off x="5604482" y="3371010"/>
            <a:ext cx="605359" cy="208735"/>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a:lnSpc>
                <a:spcPct val="100000"/>
              </a:lnSpc>
              <a:spcBef>
                <a:spcPts val="0"/>
              </a:spcBef>
              <a:spcAft>
                <a:spcPts val="0"/>
              </a:spcAft>
              <a:buNone/>
            </a:pPr>
            <a:r>
              <a:rPr lang="en-US" altLang="ja-JP" sz="900" b="1" err="1">
                <a:solidFill>
                  <a:schemeClr val="dk1"/>
                </a:solidFill>
                <a:latin typeface="Meiryo"/>
                <a:ea typeface="Meiryo"/>
                <a:cs typeface="Meiryo"/>
              </a:rPr>
              <a:t>テスト</a:t>
            </a:r>
            <a:r>
              <a:rPr lang="en-US" altLang="ja-JP" sz="900" b="1">
                <a:solidFill>
                  <a:schemeClr val="dk1"/>
                </a:solidFill>
                <a:latin typeface="Meiryo"/>
                <a:ea typeface="Meiryo"/>
                <a:cs typeface="Meiryo"/>
              </a:rPr>
              <a:t>計画</a:t>
            </a:r>
          </a:p>
        </p:txBody>
      </p:sp>
      <p:sp>
        <p:nvSpPr>
          <p:cNvPr id="24" name="Google Shape;126;p7">
            <a:extLst>
              <a:ext uri="{FF2B5EF4-FFF2-40B4-BE49-F238E27FC236}">
                <a16:creationId xmlns:a16="http://schemas.microsoft.com/office/drawing/2014/main" id="{A59065D9-DAB3-FBD1-5E38-C87749401183}"/>
              </a:ext>
            </a:extLst>
          </p:cNvPr>
          <p:cNvSpPr/>
          <p:nvPr/>
        </p:nvSpPr>
        <p:spPr>
          <a:xfrm>
            <a:off x="4280682" y="3000918"/>
            <a:ext cx="1224636" cy="265790"/>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900" b="1" dirty="0">
                <a:solidFill>
                  <a:schemeClr val="dk1"/>
                </a:solidFill>
                <a:latin typeface="Meiryo"/>
                <a:ea typeface="Meiryo"/>
                <a:cs typeface="Meiryo"/>
              </a:rPr>
              <a:t>Data Spider構築</a:t>
            </a:r>
          </a:p>
        </p:txBody>
      </p:sp>
      <p:sp>
        <p:nvSpPr>
          <p:cNvPr id="25" name="Google Shape;126;p7">
            <a:extLst>
              <a:ext uri="{FF2B5EF4-FFF2-40B4-BE49-F238E27FC236}">
                <a16:creationId xmlns:a16="http://schemas.microsoft.com/office/drawing/2014/main" id="{AF9AD80B-4034-046A-68C6-EA1C3855861B}"/>
              </a:ext>
            </a:extLst>
          </p:cNvPr>
          <p:cNvSpPr/>
          <p:nvPr/>
        </p:nvSpPr>
        <p:spPr>
          <a:xfrm>
            <a:off x="5927648" y="3626759"/>
            <a:ext cx="908459" cy="269647"/>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cs typeface="Meiryo"/>
              </a:rPr>
              <a:t>移行</a:t>
            </a:r>
          </a:p>
        </p:txBody>
      </p:sp>
      <p:sp>
        <p:nvSpPr>
          <p:cNvPr id="15" name="Google Shape;126;p7">
            <a:extLst>
              <a:ext uri="{FF2B5EF4-FFF2-40B4-BE49-F238E27FC236}">
                <a16:creationId xmlns:a16="http://schemas.microsoft.com/office/drawing/2014/main" id="{88BC4800-86C7-BE53-F731-EC52390914C5}"/>
              </a:ext>
            </a:extLst>
          </p:cNvPr>
          <p:cNvSpPr/>
          <p:nvPr/>
        </p:nvSpPr>
        <p:spPr>
          <a:xfrm>
            <a:off x="4515270" y="3347450"/>
            <a:ext cx="1044446" cy="197076"/>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cs typeface="Meiryo"/>
              </a:rPr>
              <a:t>テスト計画</a:t>
            </a:r>
          </a:p>
        </p:txBody>
      </p:sp>
      <p:sp>
        <p:nvSpPr>
          <p:cNvPr id="16" name="Google Shape;128;p7">
            <a:extLst>
              <a:ext uri="{FF2B5EF4-FFF2-40B4-BE49-F238E27FC236}">
                <a16:creationId xmlns:a16="http://schemas.microsoft.com/office/drawing/2014/main" id="{95C1523B-02FF-0CE4-6D75-FE2F4E4BA2DD}"/>
              </a:ext>
            </a:extLst>
          </p:cNvPr>
          <p:cNvSpPr/>
          <p:nvPr/>
        </p:nvSpPr>
        <p:spPr>
          <a:xfrm>
            <a:off x="5705928" y="4771310"/>
            <a:ext cx="1130180" cy="667318"/>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000" b="1">
                <a:solidFill>
                  <a:schemeClr val="dk1"/>
                </a:solidFill>
                <a:latin typeface="Meiryo"/>
                <a:ea typeface="Meiryo"/>
                <a:cs typeface="Meiryo"/>
              </a:rPr>
              <a:t>トレーニング</a:t>
            </a:r>
            <a:endParaRPr lang="ja-JP" altLang="en-US" sz="1000" b="1" i="0" u="none" strike="noStrike" cap="none">
              <a:solidFill>
                <a:schemeClr val="dk1"/>
              </a:solidFill>
              <a:latin typeface="Meiryo"/>
              <a:ea typeface="Meiryo"/>
              <a:cs typeface="Meiryo"/>
            </a:endParaRPr>
          </a:p>
        </p:txBody>
      </p:sp>
      <p:sp>
        <p:nvSpPr>
          <p:cNvPr id="17" name="Google Shape;128;p7">
            <a:extLst>
              <a:ext uri="{FF2B5EF4-FFF2-40B4-BE49-F238E27FC236}">
                <a16:creationId xmlns:a16="http://schemas.microsoft.com/office/drawing/2014/main" id="{A5F77D55-2B5B-4A07-B513-E3528F233051}"/>
              </a:ext>
            </a:extLst>
          </p:cNvPr>
          <p:cNvSpPr/>
          <p:nvPr/>
        </p:nvSpPr>
        <p:spPr>
          <a:xfrm>
            <a:off x="5315005" y="5572787"/>
            <a:ext cx="1521103" cy="485891"/>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algn="ctr"/>
            <a:r>
              <a:rPr lang="ja-JP" altLang="en-US" sz="1200" b="1">
                <a:solidFill>
                  <a:schemeClr val="dk1"/>
                </a:solidFill>
                <a:latin typeface="Meiryo"/>
                <a:ea typeface="Meiryo"/>
                <a:cs typeface="Meiryo"/>
              </a:rPr>
              <a:t>資料作成</a:t>
            </a:r>
          </a:p>
          <a:p>
            <a:pPr algn="ctr"/>
            <a:r>
              <a:rPr lang="ja-JP" altLang="en-US" sz="1200" b="1">
                <a:solidFill>
                  <a:schemeClr val="dk1"/>
                </a:solidFill>
                <a:latin typeface="Meiryo"/>
                <a:ea typeface="Meiryo"/>
                <a:cs typeface="Meiryo"/>
              </a:rPr>
              <a:t>取引先説明</a:t>
            </a:r>
          </a:p>
        </p:txBody>
      </p:sp>
      <p:sp>
        <p:nvSpPr>
          <p:cNvPr id="22" name="Google Shape;126;p7">
            <a:extLst>
              <a:ext uri="{FF2B5EF4-FFF2-40B4-BE49-F238E27FC236}">
                <a16:creationId xmlns:a16="http://schemas.microsoft.com/office/drawing/2014/main" id="{C7F32657-15F6-B607-8D0C-C0C7768DFD32}"/>
              </a:ext>
            </a:extLst>
          </p:cNvPr>
          <p:cNvSpPr/>
          <p:nvPr/>
        </p:nvSpPr>
        <p:spPr>
          <a:xfrm>
            <a:off x="4905343" y="4281808"/>
            <a:ext cx="1948566" cy="423860"/>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rPr>
              <a:t>システム運用体制確立</a:t>
            </a:r>
          </a:p>
        </p:txBody>
      </p:sp>
      <p:sp>
        <p:nvSpPr>
          <p:cNvPr id="29" name="Google Shape;126;p7">
            <a:extLst>
              <a:ext uri="{FF2B5EF4-FFF2-40B4-BE49-F238E27FC236}">
                <a16:creationId xmlns:a16="http://schemas.microsoft.com/office/drawing/2014/main" id="{F877AAF5-7664-03B6-0945-1244E395C17B}"/>
              </a:ext>
            </a:extLst>
          </p:cNvPr>
          <p:cNvSpPr/>
          <p:nvPr/>
        </p:nvSpPr>
        <p:spPr>
          <a:xfrm>
            <a:off x="7447084" y="4402059"/>
            <a:ext cx="1821664" cy="287790"/>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rPr>
              <a:t>運用サポート</a:t>
            </a:r>
          </a:p>
          <a:p>
            <a:pPr algn="ctr"/>
            <a:r>
              <a:rPr lang="ja-JP" altLang="en-US" sz="1100" b="1">
                <a:solidFill>
                  <a:schemeClr val="dk1"/>
                </a:solidFill>
                <a:latin typeface="Meiryo"/>
                <a:ea typeface="Meiryo"/>
              </a:rPr>
              <a:t>（過渡期）</a:t>
            </a:r>
          </a:p>
        </p:txBody>
      </p:sp>
      <p:sp>
        <p:nvSpPr>
          <p:cNvPr id="31" name="Google Shape;129;p7">
            <a:extLst>
              <a:ext uri="{FF2B5EF4-FFF2-40B4-BE49-F238E27FC236}">
                <a16:creationId xmlns:a16="http://schemas.microsoft.com/office/drawing/2014/main" id="{C0313BFB-80D9-9700-D4D9-096D8FA0C33F}"/>
              </a:ext>
            </a:extLst>
          </p:cNvPr>
          <p:cNvSpPr/>
          <p:nvPr/>
        </p:nvSpPr>
        <p:spPr>
          <a:xfrm>
            <a:off x="3702087" y="3577091"/>
            <a:ext cx="735606" cy="538193"/>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200" b="1">
                <a:solidFill>
                  <a:schemeClr val="dk1"/>
                </a:solidFill>
                <a:latin typeface="Meiryo"/>
                <a:ea typeface="Meiryo"/>
                <a:cs typeface="Meiryo"/>
                <a:sym typeface="Meiryo"/>
              </a:rPr>
              <a:t>移行計画</a:t>
            </a:r>
            <a:endParaRPr sz="1200" b="1" i="0" u="none" strike="noStrike" cap="none">
              <a:solidFill>
                <a:schemeClr val="dk1"/>
              </a:solidFill>
              <a:latin typeface="Meiryo"/>
              <a:ea typeface="Meiryo"/>
              <a:cs typeface="Meiryo"/>
              <a:sym typeface="Meiryo"/>
            </a:endParaRPr>
          </a:p>
        </p:txBody>
      </p:sp>
      <p:sp>
        <p:nvSpPr>
          <p:cNvPr id="32" name="Google Shape;126;p7">
            <a:extLst>
              <a:ext uri="{FF2B5EF4-FFF2-40B4-BE49-F238E27FC236}">
                <a16:creationId xmlns:a16="http://schemas.microsoft.com/office/drawing/2014/main" id="{7FED3BAC-BF50-8054-A4B2-AB0AC5239DA3}"/>
              </a:ext>
            </a:extLst>
          </p:cNvPr>
          <p:cNvSpPr/>
          <p:nvPr/>
        </p:nvSpPr>
        <p:spPr>
          <a:xfrm>
            <a:off x="4476480" y="3605306"/>
            <a:ext cx="1292961" cy="260575"/>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800" b="1" dirty="0">
                <a:solidFill>
                  <a:schemeClr val="dk1"/>
                </a:solidFill>
                <a:latin typeface="Meiryo"/>
                <a:ea typeface="Meiryo"/>
                <a:cs typeface="Meiryo"/>
              </a:rPr>
              <a:t>先行データ</a:t>
            </a:r>
            <a:endParaRPr lang="en-US" altLang="ja-JP" sz="800" b="1" dirty="0">
              <a:solidFill>
                <a:schemeClr val="dk1"/>
              </a:solidFill>
              <a:latin typeface="Meiryo"/>
              <a:ea typeface="Meiryo"/>
              <a:cs typeface="Meiryo"/>
            </a:endParaRPr>
          </a:p>
          <a:p>
            <a:pPr algn="ctr"/>
            <a:r>
              <a:rPr lang="ja-JP" altLang="en-US" sz="800" b="1" dirty="0">
                <a:solidFill>
                  <a:schemeClr val="dk1"/>
                </a:solidFill>
                <a:latin typeface="Meiryo"/>
                <a:ea typeface="Meiryo"/>
                <a:cs typeface="Meiryo"/>
              </a:rPr>
              <a:t>移行</a:t>
            </a:r>
          </a:p>
        </p:txBody>
      </p:sp>
      <p:sp>
        <p:nvSpPr>
          <p:cNvPr id="33" name="Google Shape;126;p7">
            <a:extLst>
              <a:ext uri="{FF2B5EF4-FFF2-40B4-BE49-F238E27FC236}">
                <a16:creationId xmlns:a16="http://schemas.microsoft.com/office/drawing/2014/main" id="{F9129EA7-EEBC-6322-A041-D790956B205A}"/>
              </a:ext>
            </a:extLst>
          </p:cNvPr>
          <p:cNvSpPr/>
          <p:nvPr/>
        </p:nvSpPr>
        <p:spPr>
          <a:xfrm>
            <a:off x="4515270" y="3934294"/>
            <a:ext cx="1675786" cy="199664"/>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a:lnSpc>
                <a:spcPct val="100000"/>
              </a:lnSpc>
              <a:spcBef>
                <a:spcPts val="0"/>
              </a:spcBef>
              <a:spcAft>
                <a:spcPts val="0"/>
              </a:spcAft>
              <a:buNone/>
            </a:pPr>
            <a:r>
              <a:rPr lang="en-US" altLang="ja-JP" sz="1200" b="1" err="1">
                <a:solidFill>
                  <a:schemeClr val="dk1"/>
                </a:solidFill>
                <a:latin typeface="Meiryo"/>
                <a:ea typeface="Meiryo"/>
                <a:cs typeface="Meiryo"/>
              </a:rPr>
              <a:t>切替計画・準備</a:t>
            </a:r>
          </a:p>
        </p:txBody>
      </p:sp>
      <p:sp>
        <p:nvSpPr>
          <p:cNvPr id="36" name="Google Shape;126;p7">
            <a:extLst>
              <a:ext uri="{FF2B5EF4-FFF2-40B4-BE49-F238E27FC236}">
                <a16:creationId xmlns:a16="http://schemas.microsoft.com/office/drawing/2014/main" id="{C5B4C968-40B1-90A2-CC91-AE369DED4DA3}"/>
              </a:ext>
            </a:extLst>
          </p:cNvPr>
          <p:cNvSpPr/>
          <p:nvPr/>
        </p:nvSpPr>
        <p:spPr>
          <a:xfrm>
            <a:off x="9412356" y="4417877"/>
            <a:ext cx="2161713" cy="287790"/>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rPr>
              <a:t>運用サポート</a:t>
            </a:r>
          </a:p>
          <a:p>
            <a:pPr algn="ctr"/>
            <a:r>
              <a:rPr lang="ja-JP" altLang="en-US" sz="1100" b="1">
                <a:solidFill>
                  <a:schemeClr val="dk1"/>
                </a:solidFill>
                <a:latin typeface="Meiryo"/>
                <a:ea typeface="Meiryo"/>
              </a:rPr>
              <a:t>（通常）</a:t>
            </a:r>
          </a:p>
        </p:txBody>
      </p:sp>
      <p:sp>
        <p:nvSpPr>
          <p:cNvPr id="40" name="Google Shape;126;p7">
            <a:extLst>
              <a:ext uri="{FF2B5EF4-FFF2-40B4-BE49-F238E27FC236}">
                <a16:creationId xmlns:a16="http://schemas.microsoft.com/office/drawing/2014/main" id="{A7E5E8A9-DF9D-1F67-310B-F3150EA3B78A}"/>
              </a:ext>
            </a:extLst>
          </p:cNvPr>
          <p:cNvSpPr/>
          <p:nvPr/>
        </p:nvSpPr>
        <p:spPr>
          <a:xfrm>
            <a:off x="9169555" y="477225"/>
            <a:ext cx="1358286" cy="326663"/>
          </a:xfrm>
          <a:prstGeom prst="rect">
            <a:avLst/>
          </a:prstGeom>
          <a:solidFill>
            <a:schemeClr val="accent5">
              <a:lumMod val="20000"/>
              <a:lumOff val="80000"/>
            </a:schemeClr>
          </a:solidFill>
          <a:ln w="12700" cap="flat" cmpd="sng">
            <a:solidFill>
              <a:schemeClr val="lt1"/>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a:lnSpc>
                <a:spcPct val="100000"/>
              </a:lnSpc>
              <a:spcBef>
                <a:spcPts val="0"/>
              </a:spcBef>
              <a:spcAft>
                <a:spcPts val="0"/>
              </a:spcAft>
              <a:buNone/>
            </a:pPr>
            <a:r>
              <a:rPr lang="en-US" altLang="ja-JP" sz="1200" b="1" err="1">
                <a:solidFill>
                  <a:schemeClr val="dk1"/>
                </a:solidFill>
                <a:latin typeface="Meiryo"/>
                <a:ea typeface="Meiryo"/>
                <a:cs typeface="Meiryo"/>
              </a:rPr>
              <a:t>ビジネス主体</a:t>
            </a:r>
          </a:p>
        </p:txBody>
      </p:sp>
      <p:sp>
        <p:nvSpPr>
          <p:cNvPr id="42" name="Google Shape;125;p7">
            <a:extLst>
              <a:ext uri="{FF2B5EF4-FFF2-40B4-BE49-F238E27FC236}">
                <a16:creationId xmlns:a16="http://schemas.microsoft.com/office/drawing/2014/main" id="{ABDBB103-AE67-BFDC-63A6-B7F7B67AA534}"/>
              </a:ext>
            </a:extLst>
          </p:cNvPr>
          <p:cNvSpPr/>
          <p:nvPr/>
        </p:nvSpPr>
        <p:spPr>
          <a:xfrm>
            <a:off x="9167591" y="76598"/>
            <a:ext cx="1362037" cy="319151"/>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marL="0" marR="0" lvl="0" indent="0" algn="ctr">
              <a:lnSpc>
                <a:spcPct val="100000"/>
              </a:lnSpc>
              <a:spcBef>
                <a:spcPts val="0"/>
              </a:spcBef>
              <a:spcAft>
                <a:spcPts val="0"/>
              </a:spcAft>
              <a:buNone/>
            </a:pPr>
            <a:r>
              <a:rPr lang="ja-JP" altLang="en-US" sz="1200" b="1">
                <a:solidFill>
                  <a:schemeClr val="dk1"/>
                </a:solidFill>
                <a:latin typeface="Meiryo"/>
                <a:ea typeface="Meiryo"/>
                <a:cs typeface="Meiryo"/>
              </a:rPr>
              <a:t>システム主体</a:t>
            </a:r>
            <a:endParaRPr lang="ja-JP" altLang="en-US" sz="1200" b="1" i="0" u="none" strike="noStrike" cap="none">
              <a:solidFill>
                <a:schemeClr val="dk1"/>
              </a:solidFill>
              <a:latin typeface="Meiryo"/>
              <a:ea typeface="Meiryo"/>
              <a:cs typeface="Meiryo"/>
            </a:endParaRPr>
          </a:p>
        </p:txBody>
      </p:sp>
      <p:sp>
        <p:nvSpPr>
          <p:cNvPr id="43" name="Google Shape;126;p7">
            <a:extLst>
              <a:ext uri="{FF2B5EF4-FFF2-40B4-BE49-F238E27FC236}">
                <a16:creationId xmlns:a16="http://schemas.microsoft.com/office/drawing/2014/main" id="{21D4ED8E-57E2-6EE1-89C5-170F40B7DAD4}"/>
              </a:ext>
            </a:extLst>
          </p:cNvPr>
          <p:cNvSpPr/>
          <p:nvPr/>
        </p:nvSpPr>
        <p:spPr>
          <a:xfrm>
            <a:off x="3934697" y="6177737"/>
            <a:ext cx="1244017" cy="487359"/>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rPr>
              <a:t>西友PCでの</a:t>
            </a:r>
          </a:p>
          <a:p>
            <a:pPr algn="ctr"/>
            <a:r>
              <a:rPr lang="ja-JP" altLang="en-US" sz="1100" b="1">
                <a:solidFill>
                  <a:schemeClr val="dk1"/>
                </a:solidFill>
                <a:latin typeface="Meiryo"/>
                <a:ea typeface="Meiryo"/>
              </a:rPr>
              <a:t>アプリログイン</a:t>
            </a:r>
          </a:p>
        </p:txBody>
      </p:sp>
      <p:sp>
        <p:nvSpPr>
          <p:cNvPr id="44" name="Google Shape;126;p7">
            <a:extLst>
              <a:ext uri="{FF2B5EF4-FFF2-40B4-BE49-F238E27FC236}">
                <a16:creationId xmlns:a16="http://schemas.microsoft.com/office/drawing/2014/main" id="{1C1F8F6C-2592-9B11-C761-36C5CADEB753}"/>
              </a:ext>
            </a:extLst>
          </p:cNvPr>
          <p:cNvSpPr/>
          <p:nvPr/>
        </p:nvSpPr>
        <p:spPr>
          <a:xfrm>
            <a:off x="5177482" y="6177736"/>
            <a:ext cx="1062589" cy="487359"/>
          </a:xfrm>
          <a:prstGeom prst="rect">
            <a:avLst/>
          </a:prstGeom>
          <a:solidFill>
            <a:srgbClr val="CADFEE"/>
          </a:solidFill>
          <a:ln w="12700" cap="flat" cmpd="sng">
            <a:solidFill>
              <a:schemeClr val="lt1"/>
            </a:solidFill>
            <a:prstDash val="solid"/>
            <a:round/>
            <a:headEnd type="none" w="sm" len="sm"/>
            <a:tailEnd type="none" w="sm" len="sm"/>
          </a:ln>
        </p:spPr>
        <p:txBody>
          <a:bodyPr spcFirstLastPara="1" wrap="square" lIns="121900" tIns="60925" rIns="121900" bIns="60925" anchor="t" anchorCtr="0">
            <a:noAutofit/>
          </a:bodyPr>
          <a:lstStyle/>
          <a:p>
            <a:pPr algn="ctr"/>
            <a:r>
              <a:rPr lang="ja-JP" altLang="en-US" sz="1100" b="1">
                <a:solidFill>
                  <a:schemeClr val="dk1"/>
                </a:solidFill>
                <a:latin typeface="Meiryo"/>
                <a:ea typeface="Meiryo"/>
              </a:rPr>
              <a:t>UAT/トレーニング環境</a:t>
            </a:r>
          </a:p>
        </p:txBody>
      </p:sp>
      <p:sp>
        <p:nvSpPr>
          <p:cNvPr id="45" name="テキスト ボックス 44">
            <a:extLst>
              <a:ext uri="{FF2B5EF4-FFF2-40B4-BE49-F238E27FC236}">
                <a16:creationId xmlns:a16="http://schemas.microsoft.com/office/drawing/2014/main" id="{566C6590-1CB2-6977-556B-A8F2D86F5BD1}"/>
              </a:ext>
            </a:extLst>
          </p:cNvPr>
          <p:cNvSpPr txBox="1"/>
          <p:nvPr/>
        </p:nvSpPr>
        <p:spPr>
          <a:xfrm>
            <a:off x="10922958" y="2101199"/>
            <a:ext cx="1546131" cy="261610"/>
          </a:xfrm>
          <a:prstGeom prst="rect">
            <a:avLst/>
          </a:prstGeom>
          <a:noFill/>
        </p:spPr>
        <p:txBody>
          <a:bodyPr wrap="square" lIns="91440" tIns="45720" rIns="91440" bIns="45720" rtlCol="0" anchor="t">
            <a:spAutoFit/>
          </a:bodyPr>
          <a:lstStyle/>
          <a:p>
            <a:r>
              <a:rPr kumimoji="1" lang="ja-JP" altLang="en-US" sz="1100">
                <a:latin typeface="メイリオ"/>
                <a:ea typeface="メイリオ"/>
              </a:rPr>
              <a:t>🔷</a:t>
            </a:r>
            <a:r>
              <a:rPr lang="ja-JP" altLang="en-US" sz="1100">
                <a:latin typeface="メイリオ"/>
                <a:ea typeface="メイリオ"/>
              </a:rPr>
              <a:t>EC過渡期終了</a:t>
            </a:r>
            <a:endParaRPr lang="ja-JP"/>
          </a:p>
        </p:txBody>
      </p:sp>
      <p:sp>
        <p:nvSpPr>
          <p:cNvPr id="7" name="正方形/長方形 6">
            <a:extLst>
              <a:ext uri="{FF2B5EF4-FFF2-40B4-BE49-F238E27FC236}">
                <a16:creationId xmlns:a16="http://schemas.microsoft.com/office/drawing/2014/main" id="{22634758-A88C-344B-28DA-8FE8B85DAF24}"/>
              </a:ext>
            </a:extLst>
          </p:cNvPr>
          <p:cNvSpPr/>
          <p:nvPr/>
        </p:nvSpPr>
        <p:spPr>
          <a:xfrm>
            <a:off x="11785600" y="1202363"/>
            <a:ext cx="2229138" cy="56556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a:t>青がシステム主体</a:t>
            </a:r>
            <a:endParaRPr kumimoji="1" lang="en-US" altLang="ja-JP"/>
          </a:p>
          <a:p>
            <a:pPr algn="ctr"/>
            <a:r>
              <a:rPr kumimoji="1" lang="ja-JP" altLang="en-US"/>
              <a:t>性能改善は</a:t>
            </a:r>
            <a:r>
              <a:rPr kumimoji="1" lang="en-US" altLang="ja-JP"/>
              <a:t>26</a:t>
            </a:r>
            <a:r>
              <a:rPr kumimoji="1" lang="ja-JP" altLang="en-US"/>
              <a:t>年</a:t>
            </a:r>
            <a:r>
              <a:rPr kumimoji="1" lang="en-US" altLang="ja-JP"/>
              <a:t>7</a:t>
            </a:r>
            <a:r>
              <a:rPr kumimoji="1" lang="ja-JP" altLang="en-US"/>
              <a:t>月末まで</a:t>
            </a:r>
            <a:endParaRPr kumimoji="1" lang="en-US" altLang="ja-JP"/>
          </a:p>
          <a:p>
            <a:pPr algn="ctr"/>
            <a:endParaRPr kumimoji="1" lang="en-US" altLang="ja-JP"/>
          </a:p>
          <a:p>
            <a:pPr algn="ctr"/>
            <a:r>
              <a:rPr kumimoji="1" lang="ja-JP" altLang="en-US"/>
              <a:t>商談システムは</a:t>
            </a:r>
            <a:r>
              <a:rPr kumimoji="1" lang="en-US" altLang="ja-JP"/>
              <a:t>27</a:t>
            </a:r>
            <a:r>
              <a:rPr kumimoji="1" lang="ja-JP" altLang="en-US"/>
              <a:t>年</a:t>
            </a:r>
            <a:r>
              <a:rPr kumimoji="1" lang="en-US" altLang="ja-JP"/>
              <a:t>3</a:t>
            </a:r>
            <a:r>
              <a:rPr kumimoji="1" lang="ja-JP" altLang="en-US"/>
              <a:t>月までに完了し使えるように</a:t>
            </a:r>
            <a:endParaRPr kumimoji="1" lang="en-US" altLang="ja-JP"/>
          </a:p>
          <a:p>
            <a:pPr algn="ctr"/>
            <a:r>
              <a:rPr kumimoji="1" lang="ja-JP" altLang="en-US"/>
              <a:t>店舗パイロットが</a:t>
            </a:r>
            <a:r>
              <a:rPr kumimoji="1" lang="en-US" altLang="ja-JP"/>
              <a:t>5</a:t>
            </a:r>
            <a:r>
              <a:rPr kumimoji="1" lang="ja-JP" altLang="en-US"/>
              <a:t>月から始まる</a:t>
            </a:r>
          </a:p>
        </p:txBody>
      </p:sp>
      <p:sp>
        <p:nvSpPr>
          <p:cNvPr id="9" name="テキスト ボックス 8">
            <a:extLst>
              <a:ext uri="{FF2B5EF4-FFF2-40B4-BE49-F238E27FC236}">
                <a16:creationId xmlns:a16="http://schemas.microsoft.com/office/drawing/2014/main" id="{BDC2AD77-35A2-7290-E6EB-26944FA91CA1}"/>
              </a:ext>
            </a:extLst>
          </p:cNvPr>
          <p:cNvSpPr txBox="1"/>
          <p:nvPr/>
        </p:nvSpPr>
        <p:spPr>
          <a:xfrm>
            <a:off x="7477539" y="1970799"/>
            <a:ext cx="1546131" cy="430887"/>
          </a:xfrm>
          <a:prstGeom prst="rect">
            <a:avLst/>
          </a:prstGeom>
          <a:noFill/>
        </p:spPr>
        <p:txBody>
          <a:bodyPr wrap="square" lIns="91440" tIns="45720" rIns="91440" bIns="45720" rtlCol="0" anchor="t">
            <a:spAutoFit/>
          </a:bodyPr>
          <a:lstStyle/>
          <a:p>
            <a:r>
              <a:rPr kumimoji="1" lang="ja-JP" altLang="en-US" sz="1100" dirty="0">
                <a:latin typeface="メイリオ"/>
                <a:ea typeface="メイリオ"/>
              </a:rPr>
              <a:t>🔷店舗</a:t>
            </a:r>
            <a:r>
              <a:rPr kumimoji="1" lang="en-US" altLang="ja-JP" sz="1100" dirty="0">
                <a:latin typeface="メイリオ"/>
                <a:ea typeface="メイリオ"/>
              </a:rPr>
              <a:t>Pilot</a:t>
            </a:r>
          </a:p>
          <a:p>
            <a:r>
              <a:rPr kumimoji="1" lang="en-US" altLang="ja-JP" sz="1100" dirty="0">
                <a:latin typeface="メイリオ"/>
                <a:ea typeface="メイリオ"/>
              </a:rPr>
              <a:t>(5-6</a:t>
            </a:r>
            <a:r>
              <a:rPr kumimoji="1" lang="ja-JP" altLang="en-US" sz="1100" dirty="0">
                <a:latin typeface="メイリオ"/>
                <a:ea typeface="メイリオ"/>
              </a:rPr>
              <a:t>月）</a:t>
            </a:r>
            <a:endParaRPr lang="ja-JP" altLang="en-US" sz="1100" dirty="0">
              <a:latin typeface="メイリオ"/>
              <a:ea typeface="メイリオ"/>
            </a:endParaRPr>
          </a:p>
        </p:txBody>
      </p:sp>
    </p:spTree>
    <p:extLst>
      <p:ext uri="{BB962C8B-B14F-4D97-AF65-F5344CB8AC3E}">
        <p14:creationId xmlns:p14="http://schemas.microsoft.com/office/powerpoint/2010/main" val="457670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a:spLocks noGrp="1"/>
          </p:cNvSpPr>
          <p:nvPr>
            <p:ph type="title"/>
          </p:nvPr>
        </p:nvSpPr>
        <p:spPr>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5. コスト</a:t>
            </a:r>
            <a:r>
              <a:rPr lang="ja-JP" sz="1867"/>
              <a:t>（単位：百万円）</a:t>
            </a:r>
            <a:endParaRPr/>
          </a:p>
        </p:txBody>
      </p:sp>
      <p:graphicFrame>
        <p:nvGraphicFramePr>
          <p:cNvPr id="10" name="表 9">
            <a:extLst>
              <a:ext uri="{FF2B5EF4-FFF2-40B4-BE49-F238E27FC236}">
                <a16:creationId xmlns:a16="http://schemas.microsoft.com/office/drawing/2014/main" id="{8032DB54-4BE2-E07E-DD98-83737A41C377}"/>
              </a:ext>
            </a:extLst>
          </p:cNvPr>
          <p:cNvGraphicFramePr>
            <a:graphicFrameLocks noGrp="1"/>
          </p:cNvGraphicFramePr>
          <p:nvPr>
            <p:extLst>
              <p:ext uri="{D42A27DB-BD31-4B8C-83A1-F6EECF244321}">
                <p14:modId xmlns:p14="http://schemas.microsoft.com/office/powerpoint/2010/main" val="3180021932"/>
              </p:ext>
            </p:extLst>
          </p:nvPr>
        </p:nvGraphicFramePr>
        <p:xfrm>
          <a:off x="206828" y="1486366"/>
          <a:ext cx="11768866" cy="4692534"/>
        </p:xfrm>
        <a:graphic>
          <a:graphicData uri="http://schemas.openxmlformats.org/drawingml/2006/table">
            <a:tbl>
              <a:tblPr/>
              <a:tblGrid>
                <a:gridCol w="227719">
                  <a:extLst>
                    <a:ext uri="{9D8B030D-6E8A-4147-A177-3AD203B41FA5}">
                      <a16:colId xmlns:a16="http://schemas.microsoft.com/office/drawing/2014/main" val="827873790"/>
                    </a:ext>
                  </a:extLst>
                </a:gridCol>
                <a:gridCol w="632553">
                  <a:extLst>
                    <a:ext uri="{9D8B030D-6E8A-4147-A177-3AD203B41FA5}">
                      <a16:colId xmlns:a16="http://schemas.microsoft.com/office/drawing/2014/main" val="1299180725"/>
                    </a:ext>
                  </a:extLst>
                </a:gridCol>
                <a:gridCol w="868706">
                  <a:extLst>
                    <a:ext uri="{9D8B030D-6E8A-4147-A177-3AD203B41FA5}">
                      <a16:colId xmlns:a16="http://schemas.microsoft.com/office/drawing/2014/main" val="2530422432"/>
                    </a:ext>
                  </a:extLst>
                </a:gridCol>
                <a:gridCol w="1028953">
                  <a:extLst>
                    <a:ext uri="{9D8B030D-6E8A-4147-A177-3AD203B41FA5}">
                      <a16:colId xmlns:a16="http://schemas.microsoft.com/office/drawing/2014/main" val="4227085231"/>
                    </a:ext>
                  </a:extLst>
                </a:gridCol>
                <a:gridCol w="2361532">
                  <a:extLst>
                    <a:ext uri="{9D8B030D-6E8A-4147-A177-3AD203B41FA5}">
                      <a16:colId xmlns:a16="http://schemas.microsoft.com/office/drawing/2014/main" val="948861991"/>
                    </a:ext>
                  </a:extLst>
                </a:gridCol>
                <a:gridCol w="409895">
                  <a:extLst>
                    <a:ext uri="{9D8B030D-6E8A-4147-A177-3AD203B41FA5}">
                      <a16:colId xmlns:a16="http://schemas.microsoft.com/office/drawing/2014/main" val="118793616"/>
                    </a:ext>
                  </a:extLst>
                </a:gridCol>
                <a:gridCol w="409895">
                  <a:extLst>
                    <a:ext uri="{9D8B030D-6E8A-4147-A177-3AD203B41FA5}">
                      <a16:colId xmlns:a16="http://schemas.microsoft.com/office/drawing/2014/main" val="715831671"/>
                    </a:ext>
                  </a:extLst>
                </a:gridCol>
                <a:gridCol w="409895">
                  <a:extLst>
                    <a:ext uri="{9D8B030D-6E8A-4147-A177-3AD203B41FA5}">
                      <a16:colId xmlns:a16="http://schemas.microsoft.com/office/drawing/2014/main" val="290479694"/>
                    </a:ext>
                  </a:extLst>
                </a:gridCol>
                <a:gridCol w="409895">
                  <a:extLst>
                    <a:ext uri="{9D8B030D-6E8A-4147-A177-3AD203B41FA5}">
                      <a16:colId xmlns:a16="http://schemas.microsoft.com/office/drawing/2014/main" val="1176022810"/>
                    </a:ext>
                  </a:extLst>
                </a:gridCol>
                <a:gridCol w="409895">
                  <a:extLst>
                    <a:ext uri="{9D8B030D-6E8A-4147-A177-3AD203B41FA5}">
                      <a16:colId xmlns:a16="http://schemas.microsoft.com/office/drawing/2014/main" val="1909106046"/>
                    </a:ext>
                  </a:extLst>
                </a:gridCol>
                <a:gridCol w="409895">
                  <a:extLst>
                    <a:ext uri="{9D8B030D-6E8A-4147-A177-3AD203B41FA5}">
                      <a16:colId xmlns:a16="http://schemas.microsoft.com/office/drawing/2014/main" val="816779049"/>
                    </a:ext>
                  </a:extLst>
                </a:gridCol>
                <a:gridCol w="409895">
                  <a:extLst>
                    <a:ext uri="{9D8B030D-6E8A-4147-A177-3AD203B41FA5}">
                      <a16:colId xmlns:a16="http://schemas.microsoft.com/office/drawing/2014/main" val="1776288633"/>
                    </a:ext>
                  </a:extLst>
                </a:gridCol>
                <a:gridCol w="409895">
                  <a:extLst>
                    <a:ext uri="{9D8B030D-6E8A-4147-A177-3AD203B41FA5}">
                      <a16:colId xmlns:a16="http://schemas.microsoft.com/office/drawing/2014/main" val="1136333910"/>
                    </a:ext>
                  </a:extLst>
                </a:gridCol>
                <a:gridCol w="409895">
                  <a:extLst>
                    <a:ext uri="{9D8B030D-6E8A-4147-A177-3AD203B41FA5}">
                      <a16:colId xmlns:a16="http://schemas.microsoft.com/office/drawing/2014/main" val="498976563"/>
                    </a:ext>
                  </a:extLst>
                </a:gridCol>
                <a:gridCol w="396399">
                  <a:extLst>
                    <a:ext uri="{9D8B030D-6E8A-4147-A177-3AD203B41FA5}">
                      <a16:colId xmlns:a16="http://schemas.microsoft.com/office/drawing/2014/main" val="2473438836"/>
                    </a:ext>
                  </a:extLst>
                </a:gridCol>
                <a:gridCol w="2563949">
                  <a:extLst>
                    <a:ext uri="{9D8B030D-6E8A-4147-A177-3AD203B41FA5}">
                      <a16:colId xmlns:a16="http://schemas.microsoft.com/office/drawing/2014/main" val="3926947727"/>
                    </a:ext>
                  </a:extLst>
                </a:gridCol>
              </a:tblGrid>
              <a:tr h="161771">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no.</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対象</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費目</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gridSpan="3">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予算</a:t>
                      </a:r>
                      <a:r>
                        <a:rPr lang="en-US" altLang="ja-JP" sz="800" b="1" i="0" u="none" strike="noStrike">
                          <a:solidFill>
                            <a:srgbClr val="000000"/>
                          </a:solidFill>
                          <a:effectLst/>
                          <a:latin typeface="Meiryo UI" panose="020B0604030504040204" pitchFamily="50" charset="-128"/>
                          <a:ea typeface="Meiryo UI" panose="020B0604030504040204" pitchFamily="50" charset="-128"/>
                        </a:rPr>
                        <a:t>(2026</a:t>
                      </a:r>
                      <a:r>
                        <a:rPr lang="ja-JP" altLang="en-US" sz="800" b="1" i="0" u="none" strike="noStrike">
                          <a:solidFill>
                            <a:srgbClr val="000000"/>
                          </a:solidFill>
                          <a:effectLst/>
                          <a:latin typeface="Meiryo UI" panose="020B0604030504040204" pitchFamily="50" charset="-128"/>
                          <a:ea typeface="Meiryo UI" panose="020B0604030504040204" pitchFamily="50" charset="-128"/>
                        </a:rPr>
                        <a:t>年</a:t>
                      </a:r>
                      <a:r>
                        <a:rPr lang="en-US" altLang="ja-JP" sz="800" b="1" i="0" u="none" strike="noStrike">
                          <a:solidFill>
                            <a:srgbClr val="000000"/>
                          </a:solidFill>
                          <a:effectLst/>
                          <a:latin typeface="Meiryo UI" panose="020B0604030504040204" pitchFamily="50" charset="-128"/>
                          <a:ea typeface="Meiryo UI" panose="020B0604030504040204" pitchFamily="50" charset="-128"/>
                        </a:rPr>
                        <a:t>:47</a:t>
                      </a:r>
                      <a:r>
                        <a:rPr lang="ja-JP" altLang="en-US" sz="800" b="1" i="0" u="none" strike="noStrike">
                          <a:solidFill>
                            <a:srgbClr val="000000"/>
                          </a:solidFill>
                          <a:effectLst/>
                          <a:latin typeface="Meiryo UI" panose="020B0604030504040204" pitchFamily="50" charset="-128"/>
                          <a:ea typeface="Meiryo UI" panose="020B0604030504040204" pitchFamily="50" charset="-128"/>
                        </a:rPr>
                        <a:t>期</a:t>
                      </a:r>
                      <a:r>
                        <a:rPr lang="en-US" altLang="ja-JP" sz="800" b="1" i="0" u="none" strike="noStrike">
                          <a:solidFill>
                            <a:srgbClr val="000000"/>
                          </a:solidFill>
                          <a:effectLst/>
                          <a:latin typeface="Meiryo UI" panose="020B0604030504040204" pitchFamily="50" charset="-128"/>
                          <a:ea typeface="Meiryo UI" panose="020B0604030504040204" pitchFamily="50" charset="-128"/>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予算</a:t>
                      </a:r>
                      <a:r>
                        <a:rPr lang="en-US" altLang="ja-JP" sz="800" b="1" i="0" u="none" strike="noStrike">
                          <a:solidFill>
                            <a:srgbClr val="000000"/>
                          </a:solidFill>
                          <a:effectLst/>
                          <a:latin typeface="Meiryo UI" panose="020B0604030504040204" pitchFamily="50" charset="-128"/>
                          <a:ea typeface="Meiryo UI" panose="020B0604030504040204" pitchFamily="50" charset="-128"/>
                        </a:rPr>
                        <a:t>(2027</a:t>
                      </a:r>
                      <a:r>
                        <a:rPr lang="ja-JP" altLang="en-US" sz="800" b="1" i="0" u="none" strike="noStrike">
                          <a:solidFill>
                            <a:srgbClr val="000000"/>
                          </a:solidFill>
                          <a:effectLst/>
                          <a:latin typeface="Meiryo UI" panose="020B0604030504040204" pitchFamily="50" charset="-128"/>
                          <a:ea typeface="Meiryo UI" panose="020B0604030504040204" pitchFamily="50" charset="-128"/>
                        </a:rPr>
                        <a:t>年</a:t>
                      </a:r>
                      <a:r>
                        <a:rPr lang="en-US" altLang="ja-JP" sz="800" b="1" i="0" u="none" strike="noStrike">
                          <a:solidFill>
                            <a:srgbClr val="000000"/>
                          </a:solidFill>
                          <a:effectLst/>
                          <a:latin typeface="Meiryo UI" panose="020B0604030504040204" pitchFamily="50" charset="-128"/>
                          <a:ea typeface="Meiryo UI" panose="020B0604030504040204" pitchFamily="50" charset="-128"/>
                        </a:rPr>
                        <a:t>:48</a:t>
                      </a:r>
                      <a:r>
                        <a:rPr lang="ja-JP" altLang="en-US" sz="800" b="1" i="0" u="none" strike="noStrike">
                          <a:solidFill>
                            <a:srgbClr val="000000"/>
                          </a:solidFill>
                          <a:effectLst/>
                          <a:latin typeface="Meiryo UI" panose="020B0604030504040204" pitchFamily="50" charset="-128"/>
                          <a:ea typeface="Meiryo UI" panose="020B0604030504040204" pitchFamily="50" charset="-128"/>
                        </a:rPr>
                        <a:t>期</a:t>
                      </a:r>
                      <a:r>
                        <a:rPr lang="en-US" altLang="ja-JP" sz="800" b="1" i="0" u="none" strike="noStrike">
                          <a:solidFill>
                            <a:srgbClr val="000000"/>
                          </a:solidFill>
                          <a:effectLst/>
                          <a:latin typeface="Meiryo UI" panose="020B0604030504040204" pitchFamily="50" charset="-128"/>
                          <a:ea typeface="Meiryo UI" panose="020B0604030504040204" pitchFamily="50" charset="-128"/>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hMerge="1">
                  <a:txBody>
                    <a:bodyPr/>
                    <a:lstStyle/>
                    <a:p>
                      <a:endParaRPr kumimoji="1" lang="ja-JP" altLang="en-US"/>
                    </a:p>
                  </a:txBody>
                  <a:tcPr/>
                </a:tc>
                <a:tc hMerge="1">
                  <a:txBody>
                    <a:bodyPr/>
                    <a:lstStyle/>
                    <a:p>
                      <a:endParaRPr kumimoji="1" lang="ja-JP" altLang="en-US"/>
                    </a:p>
                  </a:txBody>
                  <a:tcPr/>
                </a:tc>
                <a:tc gridSpan="3">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予算</a:t>
                      </a:r>
                      <a:r>
                        <a:rPr lang="en-US" altLang="ja-JP" sz="800" b="1" i="0" u="none" strike="noStrike">
                          <a:solidFill>
                            <a:srgbClr val="000000"/>
                          </a:solidFill>
                          <a:effectLst/>
                          <a:latin typeface="Meiryo UI" panose="020B0604030504040204" pitchFamily="50" charset="-128"/>
                          <a:ea typeface="Meiryo UI" panose="020B0604030504040204" pitchFamily="50" charset="-128"/>
                        </a:rPr>
                        <a:t>(2028</a:t>
                      </a:r>
                      <a:r>
                        <a:rPr lang="ja-JP" altLang="en-US" sz="800" b="1" i="0" u="none" strike="noStrike">
                          <a:solidFill>
                            <a:srgbClr val="000000"/>
                          </a:solidFill>
                          <a:effectLst/>
                          <a:latin typeface="Meiryo UI" panose="020B0604030504040204" pitchFamily="50" charset="-128"/>
                          <a:ea typeface="Meiryo UI" panose="020B0604030504040204" pitchFamily="50" charset="-128"/>
                        </a:rPr>
                        <a:t>年</a:t>
                      </a:r>
                      <a:r>
                        <a:rPr lang="en-US" altLang="ja-JP" sz="800" b="1" i="0" u="none" strike="noStrike">
                          <a:solidFill>
                            <a:srgbClr val="000000"/>
                          </a:solidFill>
                          <a:effectLst/>
                          <a:latin typeface="Meiryo UI" panose="020B0604030504040204" pitchFamily="50" charset="-128"/>
                          <a:ea typeface="Meiryo UI" panose="020B0604030504040204" pitchFamily="50" charset="-128"/>
                        </a:rPr>
                        <a:t>:49</a:t>
                      </a:r>
                      <a:r>
                        <a:rPr lang="ja-JP" altLang="en-US" sz="800" b="1" i="0" u="none" strike="noStrike">
                          <a:solidFill>
                            <a:srgbClr val="000000"/>
                          </a:solidFill>
                          <a:effectLst/>
                          <a:latin typeface="Meiryo UI" panose="020B0604030504040204" pitchFamily="50" charset="-128"/>
                          <a:ea typeface="Meiryo UI" panose="020B0604030504040204" pitchFamily="50" charset="-128"/>
                        </a:rPr>
                        <a:t>期</a:t>
                      </a:r>
                      <a:r>
                        <a:rPr lang="en-US" altLang="ja-JP" sz="800" b="1" i="0" u="none" strike="noStrike">
                          <a:solidFill>
                            <a:srgbClr val="000000"/>
                          </a:solidFill>
                          <a:effectLst/>
                          <a:latin typeface="Meiryo UI" panose="020B0604030504040204" pitchFamily="50" charset="-128"/>
                          <a:ea typeface="Meiryo UI" panose="020B0604030504040204" pitchFamily="50" charset="-128"/>
                        </a:rPr>
                        <a: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hMerge="1">
                  <a:txBody>
                    <a:bodyPr/>
                    <a:lstStyle/>
                    <a:p>
                      <a:endParaRPr kumimoji="1" lang="ja-JP" altLang="en-US"/>
                    </a:p>
                  </a:txBody>
                  <a:tcPr/>
                </a:tc>
                <a:tc hMerge="1">
                  <a:txBody>
                    <a:bodyPr/>
                    <a:lstStyle/>
                    <a:p>
                      <a:endParaRPr kumimoji="1" lang="ja-JP" altLang="en-US"/>
                    </a:p>
                  </a:txBody>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備考</a:t>
                      </a:r>
                    </a:p>
                  </a:txBody>
                  <a:tcPr marL="0" marR="0" marT="0" marB="0" anchor="b">
                    <a:lnL w="6350" cap="flat" cmpd="sng" algn="ctr">
                      <a:solidFill>
                        <a:srgbClr val="000000"/>
                      </a:solidFill>
                      <a:prstDash val="solid"/>
                      <a:round/>
                      <a:headEnd type="none" w="med" len="med"/>
                      <a:tailEnd type="none" w="med" len="med"/>
                    </a:lnL>
                    <a:lnR>
                      <a:noFill/>
                    </a:lnR>
                    <a:lnT>
                      <a:noFill/>
                    </a:lnT>
                    <a:lnB>
                      <a:noFill/>
                    </a:lnB>
                    <a:solidFill>
                      <a:srgbClr val="D9D9D9"/>
                    </a:solidFill>
                  </a:tcPr>
                </a:tc>
                <a:extLst>
                  <a:ext uri="{0D108BD9-81ED-4DB2-BD59-A6C34878D82A}">
                    <a16:rowId xmlns:a16="http://schemas.microsoft.com/office/drawing/2014/main" val="3426689651"/>
                  </a:ext>
                </a:extLst>
              </a:tr>
              <a:tr h="161771">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a:noFill/>
                    </a:lnL>
                    <a:lnR w="6350" cap="flat" cmpd="sng" algn="ctr">
                      <a:solidFill>
                        <a:srgbClr val="000000"/>
                      </a:solidFill>
                      <a:prstDash val="solid"/>
                      <a:round/>
                      <a:headEnd type="none" w="med" len="med"/>
                      <a:tailEnd type="none" w="med" len="med"/>
                    </a:lnR>
                    <a:lnT>
                      <a:noFill/>
                    </a:lnT>
                    <a:lnB>
                      <a:noFill/>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CAPEX</a:t>
                      </a:r>
                    </a:p>
                  </a:txBody>
                  <a:tcPr marL="0" marR="0" marT="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OPEX</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合計</a:t>
                      </a:r>
                    </a:p>
                  </a:txBody>
                  <a:tcPr marL="0" marR="0" marT="0"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CAPEX</a:t>
                      </a:r>
                    </a:p>
                  </a:txBody>
                  <a:tcPr marL="0" marR="0" marT="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OPEX</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合計</a:t>
                      </a:r>
                    </a:p>
                  </a:txBody>
                  <a:tcPr marL="0" marR="0" marT="0"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CAPEX</a:t>
                      </a:r>
                    </a:p>
                  </a:txBody>
                  <a:tcPr marL="0" marR="0" marT="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en-US" sz="800" b="1" i="0" u="none" strike="noStrike">
                          <a:solidFill>
                            <a:srgbClr val="000000"/>
                          </a:solidFill>
                          <a:effectLst/>
                          <a:latin typeface="Meiryo UI" panose="020B0604030504040204" pitchFamily="50" charset="-128"/>
                          <a:ea typeface="Meiryo UI" panose="020B0604030504040204" pitchFamily="50" charset="-128"/>
                        </a:rPr>
                        <a:t>OPEX</a:t>
                      </a:r>
                    </a:p>
                  </a:txBody>
                  <a:tcPr marL="0" marR="0" marT="0" marB="0" anchor="b">
                    <a:lnL>
                      <a:noFill/>
                    </a:lnL>
                    <a:lnR>
                      <a:noFill/>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合計</a:t>
                      </a:r>
                    </a:p>
                  </a:txBody>
                  <a:tcPr marL="0" marR="0" marT="0" marB="0" anchor="b">
                    <a:lnL>
                      <a:noFill/>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panose="020B0604030504040204" pitchFamily="50" charset="-128"/>
                          <a:ea typeface="Meiryo UI" panose="020B0604030504040204" pitchFamily="50" charset="-128"/>
                        </a:rPr>
                        <a:t>総合計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D9D9D9"/>
                    </a:solidFill>
                  </a:tcPr>
                </a:tc>
                <a:tc>
                  <a:txBody>
                    <a:bodyPr/>
                    <a:lstStyle/>
                    <a:p>
                      <a:pPr algn="ctr" fontAlgn="b">
                        <a:buNone/>
                      </a:pPr>
                      <a:r>
                        <a:rPr lang="ja-JP" altLang="en-US" sz="800" b="1"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3476756929"/>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panose="020B0604030504040204" pitchFamily="50" charset="-128"/>
                          <a:ea typeface="Meiryo UI" panose="020B0604030504040204" pitchFamily="50" charset="-128"/>
                        </a:rPr>
                        <a:t>初期投資</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en-US" sz="800" b="0" i="0" u="none" strike="noStrike">
                          <a:solidFill>
                            <a:srgbClr val="000000"/>
                          </a:solidFill>
                          <a:effectLst/>
                          <a:latin typeface="Meiryo UI" panose="020B0604030504040204" pitchFamily="50" charset="-128"/>
                          <a:ea typeface="Meiryo UI" panose="020B0604030504040204" pitchFamily="50" charset="-128"/>
                        </a:rPr>
                        <a:t>TRIAL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商談システム改修費用　　</a:t>
                      </a:r>
                      <a:r>
                        <a:rPr lang="ja-JP" sz="800" b="0" i="0" u="none" strike="noStrike" noProof="0">
                          <a:solidFill>
                            <a:srgbClr val="000000"/>
                          </a:solidFill>
                          <a:effectLst/>
                        </a:rPr>
                        <a:t>48期（39.7人月＊60万）</a:t>
                      </a: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23.8</a:t>
                      </a: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r" fontAlgn="b">
                        <a:buNone/>
                      </a:pPr>
                      <a:r>
                        <a:rPr lang="en-US" altLang="ja-JP" sz="800" b="0" i="0" u="none" strike="noStrike">
                          <a:solidFill>
                            <a:srgbClr val="000000"/>
                          </a:solidFill>
                          <a:effectLst/>
                          <a:latin typeface="Meiryo UI"/>
                          <a:ea typeface="Meiryo UI"/>
                        </a:rPr>
                        <a:t>23.8</a:t>
                      </a: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EC過渡期対応含むシステム改修全般を想定</a:t>
                      </a: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938083574"/>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2</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lvl="0" algn="l">
                        <a:buNone/>
                      </a:pPr>
                      <a:r>
                        <a:rPr lang="ja-JP" sz="800" b="0" i="0" u="none" strike="noStrike" noProof="0">
                          <a:solidFill>
                            <a:srgbClr val="000000"/>
                          </a:solidFill>
                          <a:effectLst/>
                          <a:latin typeface="Meiryo UI"/>
                          <a:ea typeface="Meiryo UI"/>
                        </a:rPr>
                        <a:t>商談システム改修費用　</a:t>
                      </a:r>
                      <a:r>
                        <a:rPr lang="ja-JP" altLang="en-US" sz="800" b="0" i="0" u="none" strike="noStrike" noProof="0">
                          <a:solidFill>
                            <a:srgbClr val="000000"/>
                          </a:solidFill>
                          <a:effectLst/>
                          <a:latin typeface="Meiryo UI"/>
                          <a:ea typeface="Meiryo UI"/>
                        </a:rPr>
                        <a:t>　</a:t>
                      </a:r>
                      <a:r>
                        <a:rPr lang="en-US" altLang="ja-JP" sz="800" b="0" i="0" u="none" strike="noStrike" noProof="0">
                          <a:solidFill>
                            <a:srgbClr val="000000"/>
                          </a:solidFill>
                          <a:effectLst/>
                        </a:rPr>
                        <a:t>49</a:t>
                      </a:r>
                      <a:r>
                        <a:rPr lang="ja-JP" altLang="en-US" sz="800" b="0" i="0" u="none" strike="noStrike" noProof="0">
                          <a:solidFill>
                            <a:srgbClr val="000000"/>
                          </a:solidFill>
                          <a:effectLst/>
                        </a:rPr>
                        <a:t>期（</a:t>
                      </a:r>
                      <a:r>
                        <a:rPr lang="en-US" altLang="ja-JP" sz="800" b="0" i="0" u="none" strike="noStrike" noProof="0">
                          <a:solidFill>
                            <a:srgbClr val="000000"/>
                          </a:solidFill>
                          <a:effectLst/>
                        </a:rPr>
                        <a:t>8</a:t>
                      </a:r>
                      <a:r>
                        <a:rPr lang="ja-JP" altLang="en-US" sz="800" b="0" i="0" u="none" strike="noStrike" noProof="0">
                          <a:solidFill>
                            <a:srgbClr val="000000"/>
                          </a:solidFill>
                          <a:effectLst/>
                        </a:rPr>
                        <a:t>人月＊</a:t>
                      </a:r>
                      <a:r>
                        <a:rPr lang="en-US" altLang="ja-JP" sz="800" b="0" i="0" u="none" strike="noStrike" noProof="0">
                          <a:solidFill>
                            <a:srgbClr val="000000"/>
                          </a:solidFill>
                          <a:effectLst/>
                        </a:rPr>
                        <a:t>60</a:t>
                      </a:r>
                      <a:r>
                        <a:rPr lang="ja-JP" altLang="en-US" sz="800" b="0" i="0" u="none" strike="noStrike" noProof="0">
                          <a:solidFill>
                            <a:srgbClr val="000000"/>
                          </a:solidFill>
                          <a:effectLst/>
                        </a:rPr>
                        <a:t>万）</a:t>
                      </a:r>
                      <a:endParaRPr lang="ja-JP"/>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4.8</a:t>
                      </a:r>
                    </a:p>
                    <a:p>
                      <a:pPr lvl="0" algn="l">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r" fontAlgn="b">
                        <a:buNone/>
                      </a:pPr>
                      <a:r>
                        <a:rPr lang="en-US" altLang="ja-JP" sz="800" b="0" i="0" u="none" strike="noStrike">
                          <a:solidFill>
                            <a:srgbClr val="000000"/>
                          </a:solidFill>
                          <a:effectLst/>
                          <a:latin typeface="Meiryo UI"/>
                          <a:ea typeface="Meiryo UI"/>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　リリース後に課題発生時の対応費用を想定</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4038852676"/>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3</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en-US" sz="800" b="1" i="0" u="sng" strike="noStrike">
                          <a:solidFill>
                            <a:srgbClr val="000000"/>
                          </a:solidFill>
                          <a:effectLst/>
                          <a:latin typeface="Meiryo UI" panose="020B0604030504040204" pitchFamily="50" charset="-128"/>
                          <a:ea typeface="Meiryo UI" panose="020B0604030504040204" pitchFamily="50" charset="-128"/>
                        </a:rPr>
                        <a:t>TRIAL</a:t>
                      </a:r>
                      <a:r>
                        <a:rPr lang="ja-JP" altLang="en-US" sz="800" b="1" i="0" u="sng" strike="noStrike">
                          <a:solidFill>
                            <a:srgbClr val="000000"/>
                          </a:solidFill>
                          <a:effectLst/>
                          <a:latin typeface="Meiryo UI" panose="020B0604030504040204" pitchFamily="50" charset="-128"/>
                          <a:ea typeface="Meiryo UI" panose="020B0604030504040204" pitchFamily="50" charset="-128"/>
                        </a:rPr>
                        <a:t>小計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r>
                        <a:rPr lang="en-US" altLang="ja-JP" sz="800" b="1" i="0" u="sng" strike="noStrike">
                          <a:solidFill>
                            <a:srgbClr val="000000"/>
                          </a:solidFill>
                          <a:effectLst/>
                          <a:latin typeface="Meiryo UI"/>
                          <a:ea typeface="Meiryo UI"/>
                        </a:rPr>
                        <a:t>23.8</a:t>
                      </a: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r>
                        <a:rPr lang="en-US" altLang="ja-JP" sz="800" b="1" i="0" u="sng" strike="noStrike">
                          <a:solidFill>
                            <a:srgbClr val="000000"/>
                          </a:solidFill>
                          <a:effectLst/>
                          <a:latin typeface="Meiryo UI"/>
                          <a:ea typeface="Meiryo UI"/>
                        </a:rPr>
                        <a:t>4.8</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869646048"/>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4</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46051788"/>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5</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786553769"/>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6</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25703747"/>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7</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351486572"/>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8</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1" i="0" u="sng" strike="noStrike">
                          <a:solidFill>
                            <a:srgbClr val="000000"/>
                          </a:solidFill>
                          <a:effectLst/>
                          <a:latin typeface="Meiryo UI" panose="020B0604030504040204" pitchFamily="50" charset="-128"/>
                          <a:ea typeface="Meiryo UI" panose="020B0604030504040204" pitchFamily="50" charset="-128"/>
                        </a:rPr>
                        <a:t>西友小計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r>
                        <a:rPr lang="ja-JP" altLang="en-US" sz="800" b="1" i="0" u="sng"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73562694"/>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9</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（富士通）</a:t>
                      </a:r>
                      <a:endParaRPr 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　（商談システムからのマスタデータ連携）</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　MD基幹システムプロジェクト予算に含む</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176260194"/>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10</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601035535"/>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11</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965035023"/>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12</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1" i="0" u="sng" strike="noStrike">
                          <a:solidFill>
                            <a:srgbClr val="000000"/>
                          </a:solidFill>
                          <a:effectLst/>
                          <a:latin typeface="Meiryo UI" panose="020B0604030504040204" pitchFamily="50" charset="-128"/>
                          <a:ea typeface="Meiryo UI" panose="020B0604030504040204" pitchFamily="50" charset="-128"/>
                        </a:rPr>
                        <a:t>ベンダー小計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r>
                        <a:rPr lang="ja-JP" altLang="en-US" sz="800" b="1" i="0" u="sng"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dash"/>
                      <a:round/>
                      <a:headEnd type="none" w="med" len="med"/>
                      <a:tailEnd type="none" w="med" len="med"/>
                    </a:lnB>
                    <a:solidFill>
                      <a:srgbClr val="F2F2F2"/>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217160766"/>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13</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zh-TW" altLang="en-US" sz="800" b="1" i="0" u="sng" strike="noStrike">
                          <a:solidFill>
                            <a:srgbClr val="000000"/>
                          </a:solidFill>
                          <a:effectLst/>
                          <a:latin typeface="Meiryo UI" panose="020B0604030504040204" pitchFamily="50" charset="-128"/>
                          <a:ea typeface="Meiryo UI" panose="020B0604030504040204" pitchFamily="50" charset="-128"/>
                        </a:rPr>
                        <a:t>初期投資合計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ja-JP" altLang="en-US" sz="800" b="1" i="0" u="sng"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2960426"/>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14</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panose="020B0604030504040204" pitchFamily="50" charset="-128"/>
                          <a:ea typeface="Meiryo UI" panose="020B0604030504040204" pitchFamily="50" charset="-128"/>
                        </a:rPr>
                        <a:t>ランニング</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ja-JP" altLang="en-US" sz="800" b="0" i="0" u="none" strike="noStrike">
                          <a:solidFill>
                            <a:srgbClr val="000000"/>
                          </a:solidFill>
                          <a:effectLst/>
                          <a:latin typeface="Meiryo UI" panose="020B0604030504040204" pitchFamily="50" charset="-128"/>
                          <a:ea typeface="Meiryo UI" panose="020B0604030504040204" pitchFamily="50" charset="-128"/>
                        </a:rPr>
                        <a:t>保守</a:t>
                      </a:r>
                      <a:r>
                        <a:rPr lang="en-US" altLang="ja-JP" sz="800" b="0" i="0" u="none" strike="noStrike">
                          <a:solidFill>
                            <a:srgbClr val="000000"/>
                          </a:solidFill>
                          <a:effectLst/>
                          <a:latin typeface="Meiryo UI" panose="020B0604030504040204" pitchFamily="50" charset="-128"/>
                          <a:ea typeface="Meiryo UI" panose="020B0604030504040204" pitchFamily="50" charset="-128"/>
                        </a:rPr>
                        <a:t>/</a:t>
                      </a:r>
                      <a:r>
                        <a:rPr lang="ja-JP" altLang="en-US" sz="800" b="0" i="0" u="none" strike="noStrike">
                          <a:solidFill>
                            <a:srgbClr val="000000"/>
                          </a:solidFill>
                          <a:effectLst/>
                          <a:latin typeface="Meiryo UI" panose="020B0604030504040204" pitchFamily="50" charset="-128"/>
                          <a:ea typeface="Meiryo UI" panose="020B0604030504040204" pitchFamily="50" charset="-128"/>
                        </a:rPr>
                        <a:t>運用</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ja-JP" altLang="en-US" sz="800" b="0" i="0" u="none" strike="noStrike">
                          <a:solidFill>
                            <a:srgbClr val="000000"/>
                          </a:solidFill>
                          <a:effectLst/>
                          <a:latin typeface="Meiryo UI" panose="020B0604030504040204" pitchFamily="50" charset="-128"/>
                          <a:ea typeface="Meiryo UI" panose="020B0604030504040204" pitchFamily="50" charset="-128"/>
                        </a:rPr>
                        <a:t>年額</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162320429"/>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15</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endParaRPr 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a:noFill/>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948487884"/>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16</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endParaRPr 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a:noFill/>
                    </a:lnT>
                    <a:lnB w="6350" cap="flat" cmpd="sng" algn="ctr">
                      <a:solidFill>
                        <a:srgbClr val="000000"/>
                      </a:solidFill>
                      <a:prstDash val="dot"/>
                      <a:round/>
                      <a:headEnd type="none" w="med" len="med"/>
                      <a:tailEnd type="none" w="med" len="med"/>
                    </a:lnB>
                    <a:no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dot"/>
                      <a:round/>
                      <a:headEnd type="none" w="med" len="med"/>
                      <a:tailEnd type="none" w="med" len="med"/>
                    </a:lnB>
                    <a:no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474588966"/>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17</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noFill/>
                  </a:tcPr>
                </a:tc>
                <a:tc>
                  <a:txBody>
                    <a:bodyPr/>
                    <a:lstStyle/>
                    <a:p>
                      <a:pPr algn="ctr" fontAlgn="b">
                        <a:buNone/>
                      </a:pPr>
                      <a:r>
                        <a:rPr lang="zh-TW" altLang="en-US" sz="800" b="1" i="0" u="none" strike="noStrike">
                          <a:solidFill>
                            <a:srgbClr val="000000"/>
                          </a:solidFill>
                          <a:effectLst/>
                          <a:latin typeface="Meiryo UI" panose="020B0604030504040204" pitchFamily="50" charset="-128"/>
                          <a:ea typeface="Meiryo UI" panose="020B0604030504040204" pitchFamily="50" charset="-128"/>
                        </a:rPr>
                        <a:t>保守</a:t>
                      </a:r>
                      <a:r>
                        <a:rPr lang="en-US" altLang="zh-TW" sz="800" b="1" i="0" u="none" strike="noStrike">
                          <a:solidFill>
                            <a:srgbClr val="000000"/>
                          </a:solidFill>
                          <a:effectLst/>
                          <a:latin typeface="Meiryo UI" panose="020B0604030504040204" pitchFamily="50" charset="-128"/>
                          <a:ea typeface="Meiryo UI" panose="020B0604030504040204" pitchFamily="50" charset="-128"/>
                        </a:rPr>
                        <a:t>/</a:t>
                      </a:r>
                      <a:r>
                        <a:rPr lang="zh-TW" altLang="en-US" sz="800" b="1" i="0" u="none" strike="noStrike">
                          <a:solidFill>
                            <a:srgbClr val="000000"/>
                          </a:solidFill>
                          <a:effectLst/>
                          <a:latin typeface="Meiryo UI" panose="020B0604030504040204" pitchFamily="50" charset="-128"/>
                          <a:ea typeface="Meiryo UI" panose="020B0604030504040204" pitchFamily="50" charset="-128"/>
                        </a:rPr>
                        <a:t>運用費用合計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endParaRPr lang="ja-JP" altLang="en-US" sz="800" b="0" i="0" u="none" strike="noStrike">
                        <a:solidFill>
                          <a:srgbClr val="000000"/>
                        </a:solidFill>
                        <a:effectLst/>
                        <a:latin typeface="Meiryo UI"/>
                        <a:ea typeface="Meiryo UI"/>
                      </a:endParaRPr>
                    </a:p>
                  </a:txBody>
                  <a:tcPr marL="0" marR="0" marT="0" marB="0" anchor="b">
                    <a:lnL>
                      <a:noFill/>
                    </a:lnL>
                    <a:lnR>
                      <a:noFill/>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r" fontAlgn="b">
                        <a:buNone/>
                      </a:pPr>
                      <a:endParaRPr lang="en-US" altLang="ja-JP" sz="800" b="0" i="0" u="none"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00528811"/>
                  </a:ext>
                </a:extLst>
              </a:tr>
              <a:tr h="242656">
                <a:tc>
                  <a:txBody>
                    <a:bodyPr/>
                    <a:lstStyle/>
                    <a:p>
                      <a:pPr algn="r" fontAlgn="b">
                        <a:buNone/>
                      </a:pPr>
                      <a:r>
                        <a:rPr lang="en-US" altLang="ja-JP" sz="800" b="0" i="0" u="none" strike="noStrike">
                          <a:solidFill>
                            <a:srgbClr val="000000"/>
                          </a:solidFill>
                          <a:effectLst/>
                          <a:latin typeface="Meiryo UI" panose="020B0604030504040204" pitchFamily="50" charset="-128"/>
                          <a:ea typeface="Meiryo UI" panose="020B0604030504040204" pitchFamily="50" charset="-128"/>
                        </a:rPr>
                        <a:t>18</a:t>
                      </a:r>
                    </a:p>
                  </a:txBody>
                  <a:tcPr marL="0" marR="0" marT="0" marB="0" anchor="b">
                    <a:lnL>
                      <a:noFill/>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lgn="ctr" fontAlgn="b">
                        <a:buNone/>
                      </a:pPr>
                      <a:r>
                        <a:rPr lang="ja-JP" altLang="en-US" sz="800" b="1" i="0" u="sng" strike="noStrike">
                          <a:solidFill>
                            <a:srgbClr val="000000"/>
                          </a:solidFill>
                          <a:effectLst/>
                          <a:latin typeface="Meiryo UI" panose="020B0604030504040204" pitchFamily="50" charset="-128"/>
                          <a:ea typeface="Meiryo UI" panose="020B0604030504040204" pitchFamily="50" charset="-128"/>
                        </a:rPr>
                        <a:t>総合計</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r>
                        <a:rPr lang="ja-JP" altLang="en-US" sz="800" b="1" i="0" u="sng"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endParaRPr lang="ja-JP" altLang="en-US" sz="800" b="1" i="0" u="sng" strike="noStrike">
                        <a:solidFill>
                          <a:srgbClr val="000000"/>
                        </a:solidFill>
                        <a:effectLst/>
                        <a:latin typeface="Meiryo UI"/>
                        <a:ea typeface="Meiryo UI"/>
                      </a:endParaRPr>
                    </a:p>
                  </a:txBody>
                  <a:tcPr marL="0" marR="0" marT="0" marB="0" anchor="b">
                    <a:lnL>
                      <a:noFill/>
                    </a:lnL>
                    <a:lnR>
                      <a:noFill/>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a:noFill/>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r" fontAlgn="b">
                        <a:buNone/>
                      </a:pPr>
                      <a:endParaRPr lang="en-US" altLang="ja-JP" sz="800" b="1" i="0" u="sng" strike="noStrike">
                        <a:solidFill>
                          <a:srgbClr val="000000"/>
                        </a:solidFill>
                        <a:effectLst/>
                        <a:latin typeface="Meiryo UI"/>
                        <a:ea typeface="Meiryo UI"/>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D9D9D9"/>
                    </a:solidFill>
                  </a:tcPr>
                </a:tc>
                <a:tc>
                  <a:txBody>
                    <a:bodyPr/>
                    <a:lstStyle/>
                    <a:p>
                      <a:pPr algn="l" fontAlgn="b">
                        <a:buNone/>
                      </a:pPr>
                      <a:r>
                        <a:rPr lang="ja-JP" altLang="en-US" sz="800" b="0" i="0" u="none" strike="noStrike">
                          <a:solidFill>
                            <a:srgbClr val="000000"/>
                          </a:solidFill>
                          <a:effectLst/>
                          <a:latin typeface="Meiryo UI"/>
                          <a:ea typeface="Meiryo UI"/>
                        </a:rPr>
                        <a:t>　</a:t>
                      </a:r>
                    </a:p>
                  </a:txBody>
                  <a:tcPr marL="0" marR="0" marT="0" marB="0" anchor="b">
                    <a:lnL w="635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251802538"/>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1D09DE3E-E39B-1DCC-AD8D-9B6CD7609932}"/>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5F605EC4-5073-DC64-7B67-E9DBCC452C25}"/>
              </a:ext>
            </a:extLst>
          </p:cNvPr>
          <p:cNvSpPr/>
          <p:nvPr/>
        </p:nvSpPr>
        <p:spPr>
          <a:xfrm>
            <a:off x="7003458" y="3654248"/>
            <a:ext cx="4987468" cy="2284186"/>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4" name="Google Shape;144;p9">
            <a:extLst>
              <a:ext uri="{FF2B5EF4-FFF2-40B4-BE49-F238E27FC236}">
                <a16:creationId xmlns:a16="http://schemas.microsoft.com/office/drawing/2014/main" id="{3873B713-4AF2-A24D-71D5-17D4F685CE3D}"/>
              </a:ext>
            </a:extLst>
          </p:cNvPr>
          <p:cNvSpPr txBox="1">
            <a:spLocks noGrp="1"/>
          </p:cNvSpPr>
          <p:nvPr>
            <p:ph type="title"/>
          </p:nvPr>
        </p:nvSpPr>
        <p:spPr>
          <a:xfrm>
            <a:off x="630000" y="622800"/>
            <a:ext cx="10933600" cy="664797"/>
          </a:xfrm>
          <a:prstGeom prst="rect">
            <a:avLst/>
          </a:prstGeom>
          <a:noFill/>
          <a:ln>
            <a:noFill/>
          </a:ln>
        </p:spPr>
        <p:txBody>
          <a:bodyPr spcFirstLastPara="1" wrap="square" lIns="0" tIns="0" rIns="0" bIns="0" anchor="t" anchorCtr="0">
            <a:spAutoFit/>
          </a:bodyPr>
          <a:lstStyle/>
          <a:p>
            <a:r>
              <a:rPr lang="ja-JP">
                <a:solidFill>
                  <a:srgbClr val="000000"/>
                </a:solidFill>
                <a:latin typeface="Meiryo"/>
                <a:ea typeface="Meiryo"/>
                <a:cs typeface="Meiryo"/>
                <a:sym typeface="Meiryo"/>
              </a:rPr>
              <a:t>6. </a:t>
            </a:r>
            <a:r>
              <a:rPr lang="en-US" altLang="ja-JP">
                <a:solidFill>
                  <a:srgbClr val="000000"/>
                </a:solidFill>
              </a:rPr>
              <a:t>Phase1</a:t>
            </a:r>
            <a:r>
              <a:rPr lang="ja-JP" altLang="en-US">
                <a:solidFill>
                  <a:srgbClr val="000000"/>
                </a:solidFill>
              </a:rPr>
              <a:t> </a:t>
            </a:r>
            <a:r>
              <a:rPr lang="ja-JP">
                <a:solidFill>
                  <a:srgbClr val="000000"/>
                </a:solidFill>
                <a:latin typeface="Meiryo"/>
                <a:ea typeface="Meiryo"/>
                <a:cs typeface="Meiryo"/>
                <a:sym typeface="Meiryo"/>
              </a:rPr>
              <a:t>体制・役割</a:t>
            </a:r>
            <a:r>
              <a:rPr lang="ja-JP">
                <a:solidFill>
                  <a:srgbClr val="000000"/>
                </a:solidFill>
              </a:rPr>
              <a:t>　-</a:t>
            </a:r>
            <a:r>
              <a:rPr lang="en-US" altLang="ja-JP">
                <a:solidFill>
                  <a:srgbClr val="000000"/>
                </a:solidFill>
              </a:rPr>
              <a:t>2026</a:t>
            </a:r>
            <a:r>
              <a:rPr lang="ja-JP" altLang="en-US">
                <a:solidFill>
                  <a:srgbClr val="000000"/>
                </a:solidFill>
              </a:rPr>
              <a:t>年7月組織統合以降の商品マスタ運用体制と</a:t>
            </a:r>
            <a:br>
              <a:rPr lang="ja-JP" altLang="en-US">
                <a:solidFill>
                  <a:srgbClr val="000000"/>
                </a:solidFill>
              </a:rPr>
            </a:br>
            <a:r>
              <a:rPr lang="ja-JP" altLang="en-US">
                <a:solidFill>
                  <a:srgbClr val="000000"/>
                </a:solidFill>
              </a:rPr>
              <a:t>　　　　　　　　　　　　　　　　　　　　　　　　　　　　先行データ移行</a:t>
            </a:r>
            <a:endParaRPr lang="ja-JP" altLang="en-US">
              <a:solidFill>
                <a:srgbClr val="000000"/>
              </a:solidFill>
              <a:latin typeface="Meiryo"/>
              <a:ea typeface="Meiryo"/>
              <a:cs typeface="Meiryo"/>
            </a:endParaRPr>
          </a:p>
        </p:txBody>
      </p:sp>
      <p:graphicFrame>
        <p:nvGraphicFramePr>
          <p:cNvPr id="145" name="Google Shape;145;p9">
            <a:extLst>
              <a:ext uri="{FF2B5EF4-FFF2-40B4-BE49-F238E27FC236}">
                <a16:creationId xmlns:a16="http://schemas.microsoft.com/office/drawing/2014/main" id="{49D8BC45-207A-9565-41ED-B59E94607D89}"/>
              </a:ext>
            </a:extLst>
          </p:cNvPr>
          <p:cNvGraphicFramePr/>
          <p:nvPr>
            <p:extLst>
              <p:ext uri="{D42A27DB-BD31-4B8C-83A1-F6EECF244321}">
                <p14:modId xmlns:p14="http://schemas.microsoft.com/office/powerpoint/2010/main" val="1911348769"/>
              </p:ext>
            </p:extLst>
          </p:nvPr>
        </p:nvGraphicFramePr>
        <p:xfrm>
          <a:off x="5178948" y="1911999"/>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プロジェクトオーナー</a:t>
                      </a:r>
                      <a:endParaRPr sz="1100" b="1" u="none" strike="noStrike" cap="none">
                        <a:solidFill>
                          <a:schemeClr val="lt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cs typeface="Meiryo"/>
                          <a:sym typeface="Meiryo"/>
                        </a:rPr>
                        <a:t>杉崎</a:t>
                      </a:r>
                      <a:r>
                        <a:rPr lang="ja-JP" altLang="en-US" sz="1100" b="1" u="none" strike="noStrike" cap="none">
                          <a:solidFill>
                            <a:schemeClr val="dk1"/>
                          </a:solidFill>
                          <a:latin typeface="Meiryo"/>
                          <a:ea typeface="Meiryo"/>
                          <a:cs typeface="Meiryo"/>
                        </a:rPr>
                        <a:t>・牧草</a:t>
                      </a:r>
                      <a:endParaRPr lang="ja-JP" altLang="en-US" sz="1100" b="1" u="none" strike="noStrike" cap="none">
                        <a:solidFill>
                          <a:srgbClr val="FF0000"/>
                        </a:solidFill>
                        <a:latin typeface="Meiryo"/>
                        <a:ea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48" name="Google Shape;148;p9">
            <a:extLst>
              <a:ext uri="{FF2B5EF4-FFF2-40B4-BE49-F238E27FC236}">
                <a16:creationId xmlns:a16="http://schemas.microsoft.com/office/drawing/2014/main" id="{359D96E3-B321-8797-036B-C4D2DDD5E80D}"/>
              </a:ext>
            </a:extLst>
          </p:cNvPr>
          <p:cNvGraphicFramePr/>
          <p:nvPr>
            <p:extLst>
              <p:ext uri="{D42A27DB-BD31-4B8C-83A1-F6EECF244321}">
                <p14:modId xmlns:p14="http://schemas.microsoft.com/office/powerpoint/2010/main" val="3876457494"/>
              </p:ext>
            </p:extLst>
          </p:nvPr>
        </p:nvGraphicFramePr>
        <p:xfrm>
          <a:off x="9328128" y="2759302"/>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PMO</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sym typeface="Meiryo"/>
                        </a:rPr>
                        <a:t>佐々木</a:t>
                      </a:r>
                      <a:endParaRPr altLang="en-US" sz="1100" b="1" u="none" strike="noStrike" cap="none">
                        <a:solidFill>
                          <a:schemeClr val="dk1"/>
                        </a:solidFill>
                        <a:latin typeface="Meiryo"/>
                        <a:ea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64" name="Google Shape;164;p9">
            <a:extLst>
              <a:ext uri="{FF2B5EF4-FFF2-40B4-BE49-F238E27FC236}">
                <a16:creationId xmlns:a16="http://schemas.microsoft.com/office/drawing/2014/main" id="{3B398036-0739-2F45-1912-1A2EAD959F1A}"/>
              </a:ext>
            </a:extLst>
          </p:cNvPr>
          <p:cNvSpPr txBox="1"/>
          <p:nvPr/>
        </p:nvSpPr>
        <p:spPr>
          <a:xfrm>
            <a:off x="7105845" y="1985216"/>
            <a:ext cx="2712295" cy="518161"/>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本プロジェクトの最終責任者</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エスカレーションされた課題の解決支援</a:t>
            </a:r>
            <a:endParaRPr sz="1867" b="0" i="0" u="none" strike="noStrike" cap="none">
              <a:solidFill>
                <a:srgbClr val="000000"/>
              </a:solidFill>
              <a:latin typeface="Arial"/>
              <a:ea typeface="Arial"/>
              <a:cs typeface="Arial"/>
              <a:sym typeface="Arial"/>
            </a:endParaRPr>
          </a:p>
        </p:txBody>
      </p:sp>
      <p:sp>
        <p:nvSpPr>
          <p:cNvPr id="166" name="Google Shape;166;p9">
            <a:extLst>
              <a:ext uri="{FF2B5EF4-FFF2-40B4-BE49-F238E27FC236}">
                <a16:creationId xmlns:a16="http://schemas.microsoft.com/office/drawing/2014/main" id="{EBF37C3F-8280-A553-ABFA-05E10F610F2B}"/>
              </a:ext>
            </a:extLst>
          </p:cNvPr>
          <p:cNvSpPr txBox="1"/>
          <p:nvPr/>
        </p:nvSpPr>
        <p:spPr>
          <a:xfrm>
            <a:off x="11096272" y="2676019"/>
            <a:ext cx="2183219" cy="518159"/>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プロジェクト管理の実務執行</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日々の進捗・課題／リスク・コスト等の管理</a:t>
            </a:r>
            <a:endParaRPr sz="1000" b="0" i="0" u="none" strike="noStrike" cap="none">
              <a:solidFill>
                <a:srgbClr val="7F7F7F"/>
              </a:solidFill>
              <a:latin typeface="Meiryo"/>
              <a:ea typeface="Meiryo"/>
              <a:cs typeface="Meiryo"/>
              <a:sym typeface="Meiryo"/>
            </a:endParaRPr>
          </a:p>
        </p:txBody>
      </p:sp>
      <p:sp>
        <p:nvSpPr>
          <p:cNvPr id="167" name="Google Shape;167;p9">
            <a:extLst>
              <a:ext uri="{FF2B5EF4-FFF2-40B4-BE49-F238E27FC236}">
                <a16:creationId xmlns:a16="http://schemas.microsoft.com/office/drawing/2014/main" id="{277FCEE6-DC5E-C302-8724-7B3E46EA001A}"/>
              </a:ext>
            </a:extLst>
          </p:cNvPr>
          <p:cNvSpPr txBox="1"/>
          <p:nvPr/>
        </p:nvSpPr>
        <p:spPr>
          <a:xfrm>
            <a:off x="988471" y="1333330"/>
            <a:ext cx="3888432" cy="1106903"/>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プロジェクト実行の責任者</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プロジェクト全体方針の立案・実行</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プロジェクト全体の進捗管理進捗・課題／リスク・コスト等のモニタリング</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ステークホルダーへのレポーティング・コミュニケーション</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チーム横断的な課題の解決支援</a:t>
            </a:r>
            <a:endParaRPr sz="1867" b="0" i="0" u="none" strike="noStrike" cap="none">
              <a:solidFill>
                <a:srgbClr val="000000"/>
              </a:solidFill>
              <a:latin typeface="Arial"/>
              <a:ea typeface="Arial"/>
              <a:cs typeface="Arial"/>
              <a:sym typeface="Arial"/>
            </a:endParaRPr>
          </a:p>
        </p:txBody>
      </p:sp>
      <p:graphicFrame>
        <p:nvGraphicFramePr>
          <p:cNvPr id="170" name="Google Shape;170;p9">
            <a:extLst>
              <a:ext uri="{FF2B5EF4-FFF2-40B4-BE49-F238E27FC236}">
                <a16:creationId xmlns:a16="http://schemas.microsoft.com/office/drawing/2014/main" id="{E51FB8D5-4BBB-E95C-FD61-61848B231134}"/>
              </a:ext>
            </a:extLst>
          </p:cNvPr>
          <p:cNvGraphicFramePr/>
          <p:nvPr/>
        </p:nvGraphicFramePr>
        <p:xfrm>
          <a:off x="5183899" y="1211130"/>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ステアリングコミッティ</a:t>
                      </a:r>
                      <a:endParaRPr sz="1100" b="1" u="none" strike="noStrike" cap="none">
                        <a:solidFill>
                          <a:schemeClr val="lt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latin typeface="Meiryo"/>
                          <a:ea typeface="Meiryo"/>
                          <a:cs typeface="Meiryo"/>
                          <a:sym typeface="Meiryo"/>
                        </a:rPr>
                        <a:t>春本</a:t>
                      </a:r>
                      <a:r>
                        <a:rPr lang="ja-JP" sz="1100" b="1" u="none" strike="noStrike" cap="none">
                          <a:latin typeface="Meiryo"/>
                          <a:ea typeface="Meiryo"/>
                          <a:cs typeface="Meiryo"/>
                          <a:sym typeface="Meiryo"/>
                        </a:rPr>
                        <a:t>・</a:t>
                      </a:r>
                      <a:r>
                        <a:rPr lang="ja-JP" altLang="en-US" sz="1100" b="1" u="none" strike="noStrike" cap="none">
                          <a:latin typeface="Meiryo"/>
                          <a:ea typeface="Meiryo"/>
                          <a:cs typeface="Meiryo"/>
                          <a:sym typeface="Meiryo"/>
                        </a:rPr>
                        <a:t>塩川・荒木・藤田</a:t>
                      </a:r>
                      <a:endParaRPr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71" name="Google Shape;171;p9">
            <a:extLst>
              <a:ext uri="{FF2B5EF4-FFF2-40B4-BE49-F238E27FC236}">
                <a16:creationId xmlns:a16="http://schemas.microsoft.com/office/drawing/2014/main" id="{F0A0444D-AC42-487A-CF9A-2F65F9D7F6A7}"/>
              </a:ext>
            </a:extLst>
          </p:cNvPr>
          <p:cNvSpPr txBox="1"/>
          <p:nvPr/>
        </p:nvSpPr>
        <p:spPr>
          <a:xfrm>
            <a:off x="7032103" y="1211131"/>
            <a:ext cx="2712295" cy="518161"/>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本プロジェクトの最高意思決定機関</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プロジェクト全体の承認事項対応</a:t>
            </a:r>
            <a:endParaRPr sz="1867" b="0" i="0" u="none" strike="noStrike" cap="none">
              <a:solidFill>
                <a:srgbClr val="000000"/>
              </a:solidFill>
              <a:latin typeface="Arial"/>
              <a:ea typeface="Arial"/>
              <a:cs typeface="Arial"/>
              <a:sym typeface="Arial"/>
            </a:endParaRPr>
          </a:p>
        </p:txBody>
      </p:sp>
      <p:cxnSp>
        <p:nvCxnSpPr>
          <p:cNvPr id="172" name="Google Shape;172;p9">
            <a:extLst>
              <a:ext uri="{FF2B5EF4-FFF2-40B4-BE49-F238E27FC236}">
                <a16:creationId xmlns:a16="http://schemas.microsoft.com/office/drawing/2014/main" id="{9FCCA4C5-09F7-AE06-0BA1-4FE383700610}"/>
              </a:ext>
            </a:extLst>
          </p:cNvPr>
          <p:cNvCxnSpPr/>
          <p:nvPr/>
        </p:nvCxnSpPr>
        <p:spPr>
          <a:xfrm rot="10800000">
            <a:off x="6083999" y="1729216"/>
            <a:ext cx="0" cy="256000"/>
          </a:xfrm>
          <a:prstGeom prst="straightConnector1">
            <a:avLst/>
          </a:prstGeom>
          <a:noFill/>
          <a:ln w="19050" cap="flat" cmpd="sng">
            <a:solidFill>
              <a:srgbClr val="BFBFBF"/>
            </a:solidFill>
            <a:prstDash val="solid"/>
            <a:round/>
            <a:headEnd type="none" w="sm" len="sm"/>
            <a:tailEnd type="none" w="sm" len="sm"/>
          </a:ln>
        </p:spPr>
      </p:cxnSp>
      <p:sp>
        <p:nvSpPr>
          <p:cNvPr id="173" name="Google Shape;173;p9">
            <a:extLst>
              <a:ext uri="{FF2B5EF4-FFF2-40B4-BE49-F238E27FC236}">
                <a16:creationId xmlns:a16="http://schemas.microsoft.com/office/drawing/2014/main" id="{A39C278C-CA47-E568-BC1B-2A7C204D990B}"/>
              </a:ext>
            </a:extLst>
          </p:cNvPr>
          <p:cNvSpPr/>
          <p:nvPr/>
        </p:nvSpPr>
        <p:spPr>
          <a:xfrm>
            <a:off x="623393" y="1211415"/>
            <a:ext cx="1116124" cy="250307"/>
          </a:xfrm>
          <a:prstGeom prst="rect">
            <a:avLst/>
          </a:prstGeom>
          <a:noFill/>
          <a:ln>
            <a:noFill/>
          </a:ln>
        </p:spPr>
        <p:txBody>
          <a:bodyPr spcFirstLastPara="1" wrap="square" lIns="121900" tIns="60925" rIns="121900" bIns="60925" anchor="ctr" anchorCtr="0">
            <a:noAutofit/>
          </a:bodyPr>
          <a:lstStyle/>
          <a:p>
            <a:pPr marL="0" marR="0" lvl="0" indent="0" algn="l" rtl="0">
              <a:lnSpc>
                <a:spcPct val="100000"/>
              </a:lnSpc>
              <a:spcBef>
                <a:spcPts val="0"/>
              </a:spcBef>
              <a:spcAft>
                <a:spcPts val="0"/>
              </a:spcAft>
              <a:buNone/>
            </a:pPr>
            <a:r>
              <a:rPr lang="ja-JP" sz="1100" b="1" i="0" u="sng" strike="noStrike" cap="none">
                <a:solidFill>
                  <a:schemeClr val="dk1"/>
                </a:solidFill>
                <a:latin typeface="Meiryo"/>
                <a:ea typeface="Meiryo"/>
                <a:cs typeface="Meiryo"/>
                <a:sym typeface="Meiryo"/>
              </a:rPr>
              <a:t>下線</a:t>
            </a:r>
            <a:r>
              <a:rPr lang="ja-JP" sz="1100" b="1" i="0" u="none" strike="noStrike" cap="none">
                <a:solidFill>
                  <a:schemeClr val="dk1"/>
                </a:solidFill>
                <a:latin typeface="Meiryo"/>
                <a:ea typeface="Meiryo"/>
                <a:cs typeface="Meiryo"/>
                <a:sym typeface="Meiryo"/>
              </a:rPr>
              <a:t>はリード</a:t>
            </a:r>
            <a:endParaRPr sz="1867" b="0" i="0" u="none" strike="noStrike" cap="none">
              <a:solidFill>
                <a:srgbClr val="000000"/>
              </a:solidFill>
              <a:latin typeface="Arial"/>
              <a:ea typeface="Arial"/>
              <a:cs typeface="Arial"/>
              <a:sym typeface="Arial"/>
            </a:endParaRPr>
          </a:p>
        </p:txBody>
      </p:sp>
      <p:graphicFrame>
        <p:nvGraphicFramePr>
          <p:cNvPr id="176" name="Google Shape;176;p9">
            <a:extLst>
              <a:ext uri="{FF2B5EF4-FFF2-40B4-BE49-F238E27FC236}">
                <a16:creationId xmlns:a16="http://schemas.microsoft.com/office/drawing/2014/main" id="{B358D2DD-8130-0520-8A8A-942BFFA85ED4}"/>
              </a:ext>
            </a:extLst>
          </p:cNvPr>
          <p:cNvGraphicFramePr/>
          <p:nvPr>
            <p:extLst>
              <p:ext uri="{D42A27DB-BD31-4B8C-83A1-F6EECF244321}">
                <p14:modId xmlns:p14="http://schemas.microsoft.com/office/powerpoint/2010/main" val="143235354"/>
              </p:ext>
            </p:extLst>
          </p:nvPr>
        </p:nvGraphicFramePr>
        <p:xfrm>
          <a:off x="1589113" y="5586815"/>
          <a:ext cx="1800198" cy="704871"/>
        </p:xfrm>
        <a:graphic>
          <a:graphicData uri="http://schemas.openxmlformats.org/drawingml/2006/table">
            <a:tbl>
              <a:tblPr>
                <a:noFill/>
                <a:tableStyleId>{16DD54E9-F15A-4EFF-A1D8-E2CBB5DF2B52}</a:tableStyleId>
              </a:tblPr>
              <a:tblGrid>
                <a:gridCol w="1800198">
                  <a:extLst>
                    <a:ext uri="{9D8B030D-6E8A-4147-A177-3AD203B41FA5}">
                      <a16:colId xmlns:a16="http://schemas.microsoft.com/office/drawing/2014/main" val="20000"/>
                    </a:ext>
                  </a:extLst>
                </a:gridCol>
              </a:tblGrid>
              <a:tr h="194319">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性能改善支援</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45781">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rPr>
                        <a:t>宮下</a:t>
                      </a:r>
                    </a:p>
                    <a:p>
                      <a:pPr marL="0" marR="0" lvl="0" indent="0" algn="ctr">
                        <a:lnSpc>
                          <a:spcPct val="100000"/>
                        </a:lnSpc>
                        <a:spcBef>
                          <a:spcPts val="0"/>
                        </a:spcBef>
                        <a:spcAft>
                          <a:spcPts val="0"/>
                        </a:spcAft>
                        <a:buSzPts val="800"/>
                        <a:buFont typeface="Arial"/>
                        <a:buNone/>
                      </a:pPr>
                      <a:r>
                        <a:rPr lang="ja-JP" altLang="en-US" sz="1100" b="1" u="none" strike="noStrike" cap="none">
                          <a:solidFill>
                            <a:schemeClr val="dk1"/>
                          </a:solidFill>
                          <a:latin typeface="Meiryo"/>
                          <a:ea typeface="Meiryo"/>
                        </a:rPr>
                        <a:t>鈴野</a:t>
                      </a: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81" name="Google Shape;181;p9">
            <a:extLst>
              <a:ext uri="{FF2B5EF4-FFF2-40B4-BE49-F238E27FC236}">
                <a16:creationId xmlns:a16="http://schemas.microsoft.com/office/drawing/2014/main" id="{85786789-1F83-0625-5790-E0B303742489}"/>
              </a:ext>
            </a:extLst>
          </p:cNvPr>
          <p:cNvSpPr txBox="1"/>
          <p:nvPr/>
        </p:nvSpPr>
        <p:spPr>
          <a:xfrm>
            <a:off x="0" y="4775736"/>
            <a:ext cx="1587141" cy="641613"/>
          </a:xfrm>
          <a:prstGeom prst="rect">
            <a:avLst/>
          </a:prstGeom>
          <a:noFill/>
          <a:ln>
            <a:noFill/>
          </a:ln>
        </p:spPr>
        <p:txBody>
          <a:bodyPr spcFirstLastPara="1" wrap="square" lIns="90000" tIns="60925" rIns="121900" bIns="60925" anchor="t" anchorCtr="0">
            <a:noAutofit/>
          </a:bodyPr>
          <a:lstStyle/>
          <a:p>
            <a:pPr marL="170815" indent="-170815">
              <a:buClr>
                <a:srgbClr val="BFBFBF"/>
              </a:buClr>
              <a:buSzPts val="750"/>
              <a:buFont typeface="Noto Sans Symbols"/>
              <a:buChar char="■"/>
            </a:pPr>
            <a:r>
              <a:rPr lang="ja-JP" altLang="en-US" sz="1000">
                <a:solidFill>
                  <a:srgbClr val="7F7F7F"/>
                </a:solidFill>
                <a:latin typeface="Meiryo"/>
                <a:ea typeface="Meiryo"/>
                <a:cs typeface="Meiryo"/>
              </a:rPr>
              <a:t>商品項目マスタ</a:t>
            </a:r>
          </a:p>
          <a:p>
            <a:pPr>
              <a:buClr>
                <a:srgbClr val="BFBFBF"/>
              </a:buClr>
              <a:buSzPts val="750"/>
            </a:pPr>
            <a:r>
              <a:rPr lang="ja-JP" altLang="en-US" sz="1000">
                <a:solidFill>
                  <a:srgbClr val="7F7F7F"/>
                </a:solidFill>
                <a:latin typeface="Meiryo"/>
                <a:ea typeface="Meiryo"/>
                <a:cs typeface="Meiryo"/>
              </a:rPr>
              <a:t>　マッピング</a:t>
            </a:r>
          </a:p>
          <a:p>
            <a:pPr marL="170815" marR="0" lvl="0" indent="-170815" algn="l">
              <a:lnSpc>
                <a:spcPct val="100000"/>
              </a:lnSpc>
              <a:spcBef>
                <a:spcPts val="0"/>
              </a:spcBef>
              <a:spcAft>
                <a:spcPts val="0"/>
              </a:spcAft>
              <a:buClr>
                <a:srgbClr val="BFBFBF"/>
              </a:buClr>
              <a:buSzPts val="750"/>
              <a:buFont typeface="Noto Sans Symbols"/>
              <a:buChar char="■"/>
            </a:pPr>
            <a:r>
              <a:rPr lang="ja-JP" altLang="en-US" sz="1000">
                <a:solidFill>
                  <a:srgbClr val="7F7F7F"/>
                </a:solidFill>
                <a:latin typeface="Meiryo"/>
                <a:ea typeface="Meiryo"/>
                <a:cs typeface="Meiryo"/>
                <a:sym typeface="Meiryo"/>
              </a:rPr>
              <a:t>性能改善</a:t>
            </a:r>
          </a:p>
          <a:p>
            <a:pPr marL="170815" indent="-170815">
              <a:buClr>
                <a:srgbClr val="BFBFBF"/>
              </a:buClr>
              <a:buSzPts val="750"/>
              <a:buFont typeface="Noto Sans Symbols"/>
              <a:buChar char="■"/>
            </a:pPr>
            <a:r>
              <a:rPr lang="ja-JP" altLang="en-US" sz="1000">
                <a:solidFill>
                  <a:srgbClr val="7F7F7F"/>
                </a:solidFill>
                <a:latin typeface="Meiryo"/>
                <a:ea typeface="Meiryo"/>
                <a:cs typeface="Meiryo"/>
              </a:rPr>
              <a:t>データ移行取り込</a:t>
            </a:r>
          </a:p>
        </p:txBody>
      </p:sp>
      <p:graphicFrame>
        <p:nvGraphicFramePr>
          <p:cNvPr id="35" name="Google Shape;176;p9">
            <a:extLst>
              <a:ext uri="{FF2B5EF4-FFF2-40B4-BE49-F238E27FC236}">
                <a16:creationId xmlns:a16="http://schemas.microsoft.com/office/drawing/2014/main" id="{4FF3DF9B-7CD1-398C-3C95-90D4B2485336}"/>
              </a:ext>
            </a:extLst>
          </p:cNvPr>
          <p:cNvGraphicFramePr/>
          <p:nvPr>
            <p:extLst>
              <p:ext uri="{D42A27DB-BD31-4B8C-83A1-F6EECF244321}">
                <p14:modId xmlns:p14="http://schemas.microsoft.com/office/powerpoint/2010/main" val="593306843"/>
              </p:ext>
            </p:extLst>
          </p:nvPr>
        </p:nvGraphicFramePr>
        <p:xfrm>
          <a:off x="8237837" y="4685270"/>
          <a:ext cx="1739434" cy="685820"/>
        </p:xfrm>
        <a:graphic>
          <a:graphicData uri="http://schemas.openxmlformats.org/drawingml/2006/table">
            <a:tbl>
              <a:tblPr>
                <a:noFill/>
                <a:tableStyleId>{16DD54E9-F15A-4EFF-A1D8-E2CBB5DF2B52}</a:tableStyleId>
              </a:tblPr>
              <a:tblGrid>
                <a:gridCol w="1739434">
                  <a:extLst>
                    <a:ext uri="{9D8B030D-6E8A-4147-A177-3AD203B41FA5}">
                      <a16:colId xmlns:a16="http://schemas.microsoft.com/office/drawing/2014/main" val="20000"/>
                    </a:ext>
                  </a:extLst>
                </a:gridCol>
              </a:tblGrid>
              <a:tr h="192852">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rPr>
                        <a:t>運用整理</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74362">
                <a:tc>
                  <a:txBody>
                    <a:bodyPr/>
                    <a:lstStyle/>
                    <a:p>
                      <a:pPr marL="0" marR="0" lvl="0" indent="0" algn="ctr">
                        <a:lnSpc>
                          <a:spcPct val="100000"/>
                        </a:lnSpc>
                        <a:spcBef>
                          <a:spcPts val="0"/>
                        </a:spcBef>
                        <a:spcAft>
                          <a:spcPts val="0"/>
                        </a:spcAft>
                        <a:buSzPts val="800"/>
                        <a:buFont typeface="Arial"/>
                        <a:buNone/>
                      </a:pPr>
                      <a:r>
                        <a:rPr lang="ja-JP" altLang="en-US" sz="1100" b="1" u="sng" strike="noStrike" cap="none">
                          <a:solidFill>
                            <a:schemeClr val="dk1"/>
                          </a:solidFill>
                          <a:latin typeface="Meiryo"/>
                          <a:ea typeface="Meiryo"/>
                        </a:rPr>
                        <a:t>TR谷口・西友川口</a:t>
                      </a:r>
                    </a:p>
                    <a:p>
                      <a:pPr marL="0" marR="0" lvl="0" indent="0" algn="ctr">
                        <a:lnSpc>
                          <a:spcPct val="100000"/>
                        </a:lnSpc>
                        <a:spcBef>
                          <a:spcPts val="0"/>
                        </a:spcBef>
                        <a:spcAft>
                          <a:spcPts val="0"/>
                        </a:spcAft>
                        <a:buNone/>
                      </a:pPr>
                      <a:endParaRPr lang="ja-JP" altLang="en-US" sz="1100" b="1" i="0" u="none" strike="noStrike" cap="none" noProof="0">
                        <a:solidFill>
                          <a:schemeClr val="dk1"/>
                        </a:solidFill>
                        <a:latin typeface="Meiryo"/>
                        <a:ea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41" name="Google Shape;160;p9">
            <a:extLst>
              <a:ext uri="{FF2B5EF4-FFF2-40B4-BE49-F238E27FC236}">
                <a16:creationId xmlns:a16="http://schemas.microsoft.com/office/drawing/2014/main" id="{1E4895B4-9CF8-9ADB-C4EA-9B93EA775AD1}"/>
              </a:ext>
            </a:extLst>
          </p:cNvPr>
          <p:cNvCxnSpPr>
            <a:cxnSpLocks/>
            <a:stCxn id="148" idx="0"/>
            <a:endCxn id="145" idx="2"/>
          </p:cNvCxnSpPr>
          <p:nvPr/>
        </p:nvCxnSpPr>
        <p:spPr>
          <a:xfrm rot="16200000" flipV="1">
            <a:off x="7989077" y="520151"/>
            <a:ext cx="329123" cy="4149180"/>
          </a:xfrm>
          <a:prstGeom prst="bentConnector3">
            <a:avLst>
              <a:gd name="adj1" fmla="val 50000"/>
            </a:avLst>
          </a:prstGeom>
          <a:noFill/>
          <a:ln w="19050" cap="flat" cmpd="sng">
            <a:solidFill>
              <a:srgbClr val="BFBFBF"/>
            </a:solidFill>
            <a:prstDash val="solid"/>
            <a:round/>
            <a:headEnd type="none" w="sm" len="sm"/>
            <a:tailEnd type="none" w="sm" len="sm"/>
          </a:ln>
        </p:spPr>
      </p:cxnSp>
      <p:graphicFrame>
        <p:nvGraphicFramePr>
          <p:cNvPr id="14" name="Google Shape;146;p9">
            <a:extLst>
              <a:ext uri="{FF2B5EF4-FFF2-40B4-BE49-F238E27FC236}">
                <a16:creationId xmlns:a16="http://schemas.microsoft.com/office/drawing/2014/main" id="{96FA84B7-8CC3-70D5-728D-3F4F2157F284}"/>
              </a:ext>
            </a:extLst>
          </p:cNvPr>
          <p:cNvGraphicFramePr/>
          <p:nvPr>
            <p:extLst>
              <p:ext uri="{D42A27DB-BD31-4B8C-83A1-F6EECF244321}">
                <p14:modId xmlns:p14="http://schemas.microsoft.com/office/powerpoint/2010/main" val="581066540"/>
              </p:ext>
            </p:extLst>
          </p:nvPr>
        </p:nvGraphicFramePr>
        <p:xfrm>
          <a:off x="2371412" y="3774385"/>
          <a:ext cx="1800200" cy="53342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200" b="1" u="none" strike="noStrike" cap="none">
                          <a:solidFill>
                            <a:schemeClr val="lt1"/>
                          </a:solidFill>
                          <a:latin typeface="メイリオ"/>
                          <a:ea typeface="メイリオ"/>
                        </a:rPr>
                        <a:t>データ関連リード</a:t>
                      </a:r>
                      <a:endParaRPr sz="1200" b="1" u="none" strike="noStrike" cap="none">
                        <a:solidFill>
                          <a:schemeClr val="lt1"/>
                        </a:solidFill>
                        <a:latin typeface="メイリオ"/>
                        <a:ea typeface="メイリオ"/>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cs typeface="Meiryo"/>
                          <a:sym typeface="Meiryo"/>
                        </a:rPr>
                        <a:t>許</a:t>
                      </a: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7" name="Google Shape;146;p9">
            <a:extLst>
              <a:ext uri="{FF2B5EF4-FFF2-40B4-BE49-F238E27FC236}">
                <a16:creationId xmlns:a16="http://schemas.microsoft.com/office/drawing/2014/main" id="{E6190568-03EB-826D-B6CB-84408EE2EB1F}"/>
              </a:ext>
            </a:extLst>
          </p:cNvPr>
          <p:cNvGraphicFramePr/>
          <p:nvPr>
            <p:extLst>
              <p:ext uri="{D42A27DB-BD31-4B8C-83A1-F6EECF244321}">
                <p14:modId xmlns:p14="http://schemas.microsoft.com/office/powerpoint/2010/main" val="3543479086"/>
              </p:ext>
            </p:extLst>
          </p:nvPr>
        </p:nvGraphicFramePr>
        <p:xfrm>
          <a:off x="7592785" y="3755571"/>
          <a:ext cx="2377350" cy="519992"/>
        </p:xfrm>
        <a:graphic>
          <a:graphicData uri="http://schemas.openxmlformats.org/drawingml/2006/table">
            <a:tbl>
              <a:tblPr>
                <a:noFill/>
                <a:tableStyleId>{16DD54E9-F15A-4EFF-A1D8-E2CBB5DF2B52}</a:tableStyleId>
              </a:tblPr>
              <a:tblGrid>
                <a:gridCol w="2377350">
                  <a:extLst>
                    <a:ext uri="{9D8B030D-6E8A-4147-A177-3AD203B41FA5}">
                      <a16:colId xmlns:a16="http://schemas.microsoft.com/office/drawing/2014/main" val="20000"/>
                    </a:ext>
                  </a:extLst>
                </a:gridCol>
              </a:tblGrid>
              <a:tr h="260902">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プロセス検討リード</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a:lnSpc>
                          <a:spcPct val="100000"/>
                        </a:lnSpc>
                        <a:spcBef>
                          <a:spcPts val="0"/>
                        </a:spcBef>
                        <a:spcAft>
                          <a:spcPts val="0"/>
                        </a:spcAft>
                        <a:buSzPts val="800"/>
                        <a:buFont typeface="Arial"/>
                        <a:buNone/>
                      </a:pPr>
                      <a:r>
                        <a:rPr lang="en-US" altLang="ja-JP" sz="1100" b="1" u="none" strike="noStrike" cap="none" err="1">
                          <a:solidFill>
                            <a:schemeClr val="dk1"/>
                          </a:solidFill>
                          <a:latin typeface="Meiryo"/>
                          <a:ea typeface="Meiryo"/>
                          <a:cs typeface="Meiryo"/>
                        </a:rPr>
                        <a:t>TR</a:t>
                      </a:r>
                      <a:r>
                        <a:rPr lang="en-US" altLang="ja-JP" sz="1100" b="1" u="sng" strike="noStrike" cap="none" err="1">
                          <a:solidFill>
                            <a:schemeClr val="dk1"/>
                          </a:solidFill>
                          <a:latin typeface="Meiryo"/>
                          <a:ea typeface="Meiryo"/>
                          <a:cs typeface="Meiryo"/>
                        </a:rPr>
                        <a:t>杜</a:t>
                      </a:r>
                      <a:r>
                        <a:rPr lang="en-US" altLang="ja-JP" sz="1100" b="1" u="none" strike="noStrike" cap="none">
                          <a:solidFill>
                            <a:schemeClr val="dk1"/>
                          </a:solidFill>
                          <a:latin typeface="Meiryo"/>
                          <a:ea typeface="Meiryo"/>
                          <a:cs typeface="Meiryo"/>
                        </a:rPr>
                        <a:t>・</a:t>
                      </a:r>
                      <a:r>
                        <a:rPr lang="ja-JP" altLang="en-US" sz="1100" b="1" u="none" strike="noStrike" cap="none">
                          <a:solidFill>
                            <a:schemeClr val="dk1"/>
                          </a:solidFill>
                          <a:latin typeface="Meiryo"/>
                          <a:ea typeface="Meiryo"/>
                          <a:cs typeface="Meiryo"/>
                        </a:rPr>
                        <a:t>西友</a:t>
                      </a:r>
                      <a:r>
                        <a:rPr lang="ja-JP" altLang="en-US" sz="1100" b="1" u="sng" strike="noStrike" cap="none">
                          <a:solidFill>
                            <a:schemeClr val="dk1"/>
                          </a:solidFill>
                          <a:latin typeface="Meiryo"/>
                          <a:ea typeface="Meiryo"/>
                          <a:cs typeface="Meiryo"/>
                        </a:rPr>
                        <a:t>川口</a:t>
                      </a:r>
                      <a:endParaRPr lang="en-US" altLang="ja-JP" sz="1100" b="1" u="sng" strike="noStrike" cap="none">
                        <a:solidFill>
                          <a:schemeClr val="dk1"/>
                        </a:solidFill>
                        <a:latin typeface="Meiryo"/>
                        <a:ea typeface="Meiryo"/>
                        <a:cs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25" name="Google Shape;181;p9">
            <a:extLst>
              <a:ext uri="{FF2B5EF4-FFF2-40B4-BE49-F238E27FC236}">
                <a16:creationId xmlns:a16="http://schemas.microsoft.com/office/drawing/2014/main" id="{CAEC1FBE-3484-7445-8475-AF855689E2BC}"/>
              </a:ext>
            </a:extLst>
          </p:cNvPr>
          <p:cNvSpPr txBox="1"/>
          <p:nvPr/>
        </p:nvSpPr>
        <p:spPr>
          <a:xfrm>
            <a:off x="10031243" y="3754996"/>
            <a:ext cx="1964532" cy="699762"/>
          </a:xfrm>
          <a:prstGeom prst="rect">
            <a:avLst/>
          </a:prstGeom>
          <a:noFill/>
          <a:ln>
            <a:noFill/>
          </a:ln>
        </p:spPr>
        <p:txBody>
          <a:bodyPr spcFirstLastPara="1" wrap="square" lIns="90000" tIns="60925" rIns="121900" bIns="60925" anchor="t" anchorCtr="0">
            <a:noAutofit/>
          </a:bodyPr>
          <a:lstStyle/>
          <a:p>
            <a:pPr marL="170815" marR="0" lvl="0" indent="-170815" algn="l" rtl="0">
              <a:lnSpc>
                <a:spcPct val="100000"/>
              </a:lnSpc>
              <a:spcBef>
                <a:spcPts val="0"/>
              </a:spcBef>
              <a:spcAft>
                <a:spcPts val="0"/>
              </a:spcAft>
              <a:buClr>
                <a:srgbClr val="BFBFBF"/>
              </a:buClr>
              <a:buSzPts val="750"/>
              <a:buFont typeface="Noto Sans Symbols"/>
              <a:buChar char="■"/>
            </a:pPr>
            <a:r>
              <a:rPr lang="ja-JP" altLang="en-US" sz="1000">
                <a:solidFill>
                  <a:srgbClr val="7F7F7F"/>
                </a:solidFill>
                <a:latin typeface="Meiryo"/>
                <a:ea typeface="Meiryo"/>
              </a:rPr>
              <a:t>組織統合後のマスタメンテナンス体制作り・リソース確保</a:t>
            </a:r>
          </a:p>
          <a:p>
            <a:pPr marL="170815" indent="-170815">
              <a:buClr>
                <a:srgbClr val="BFBFBF"/>
              </a:buClr>
              <a:buSzPts val="750"/>
              <a:buFont typeface="Noto Sans Symbols"/>
              <a:buChar char="■"/>
            </a:pPr>
            <a:r>
              <a:rPr lang="ja-JP" altLang="en-US" sz="1000">
                <a:solidFill>
                  <a:srgbClr val="7F7F7F"/>
                </a:solidFill>
                <a:latin typeface="Meiryo"/>
                <a:ea typeface="Meiryo"/>
              </a:rPr>
              <a:t>衣料住居・食品・生鮮のマスタメンテナンス</a:t>
            </a:r>
          </a:p>
        </p:txBody>
      </p:sp>
      <p:sp>
        <p:nvSpPr>
          <p:cNvPr id="26" name="Google Shape;181;p9">
            <a:extLst>
              <a:ext uri="{FF2B5EF4-FFF2-40B4-BE49-F238E27FC236}">
                <a16:creationId xmlns:a16="http://schemas.microsoft.com/office/drawing/2014/main" id="{93E6B501-7009-2593-E865-C2808301C290}"/>
              </a:ext>
            </a:extLst>
          </p:cNvPr>
          <p:cNvSpPr txBox="1"/>
          <p:nvPr/>
        </p:nvSpPr>
        <p:spPr>
          <a:xfrm>
            <a:off x="4215135" y="3790375"/>
            <a:ext cx="2160180" cy="511190"/>
          </a:xfrm>
          <a:prstGeom prst="rect">
            <a:avLst/>
          </a:prstGeom>
          <a:noFill/>
          <a:ln>
            <a:noFill/>
          </a:ln>
        </p:spPr>
        <p:txBody>
          <a:bodyPr spcFirstLastPara="1" wrap="square" lIns="90000" tIns="60925" rIns="121900" bIns="60925" anchor="t" anchorCtr="0">
            <a:noAutofit/>
          </a:bodyPr>
          <a:lstStyle/>
          <a:p>
            <a:pPr marL="170815" marR="0" lvl="0" indent="-170815" algn="l" rtl="0">
              <a:lnSpc>
                <a:spcPct val="100000"/>
              </a:lnSpc>
              <a:spcBef>
                <a:spcPts val="0"/>
              </a:spcBef>
              <a:spcAft>
                <a:spcPts val="0"/>
              </a:spcAft>
              <a:buClr>
                <a:srgbClr val="BFBFBF"/>
              </a:buClr>
              <a:buSzPts val="750"/>
              <a:buFont typeface="Noto Sans Symbols"/>
              <a:buChar char="■"/>
            </a:pPr>
            <a:r>
              <a:rPr lang="ja-JP" altLang="en-US" sz="1000">
                <a:solidFill>
                  <a:srgbClr val="7F7F7F"/>
                </a:solidFill>
                <a:latin typeface="Meiryo"/>
                <a:ea typeface="Meiryo"/>
              </a:rPr>
              <a:t>商品階層/商品マスタデータ移行に向けた対応推進・リード</a:t>
            </a:r>
          </a:p>
        </p:txBody>
      </p:sp>
      <p:cxnSp>
        <p:nvCxnSpPr>
          <p:cNvPr id="29" name="コネクタ: カギ線 28">
            <a:extLst>
              <a:ext uri="{FF2B5EF4-FFF2-40B4-BE49-F238E27FC236}">
                <a16:creationId xmlns:a16="http://schemas.microsoft.com/office/drawing/2014/main" id="{91F3010F-B516-F65F-89AE-79D8743D9628}"/>
              </a:ext>
            </a:extLst>
          </p:cNvPr>
          <p:cNvCxnSpPr>
            <a:cxnSpLocks/>
            <a:stCxn id="14" idx="0"/>
            <a:endCxn id="17" idx="0"/>
          </p:cNvCxnSpPr>
          <p:nvPr/>
        </p:nvCxnSpPr>
        <p:spPr>
          <a:xfrm rot="5400000" flipH="1" flipV="1">
            <a:off x="6017079" y="1010004"/>
            <a:ext cx="18814" cy="5509948"/>
          </a:xfrm>
          <a:prstGeom prst="bentConnector3">
            <a:avLst>
              <a:gd name="adj1" fmla="val 1315053"/>
            </a:avLst>
          </a:prstGeom>
          <a:noFill/>
          <a:ln w="19050" cap="flat" cmpd="sng">
            <a:solidFill>
              <a:srgbClr val="BFBFBF"/>
            </a:solidFill>
            <a:prstDash val="solid"/>
            <a:round/>
            <a:headEnd type="none" w="sm" len="sm"/>
            <a:tailEnd type="none" w="sm" len="sm"/>
          </a:ln>
        </p:spPr>
      </p:cxnSp>
      <p:cxnSp>
        <p:nvCxnSpPr>
          <p:cNvPr id="32" name="直線コネクタ 31">
            <a:extLst>
              <a:ext uri="{FF2B5EF4-FFF2-40B4-BE49-F238E27FC236}">
                <a16:creationId xmlns:a16="http://schemas.microsoft.com/office/drawing/2014/main" id="{27EFCD7B-CD10-5280-7396-C93447FE6F35}"/>
              </a:ext>
            </a:extLst>
          </p:cNvPr>
          <p:cNvCxnSpPr>
            <a:cxnSpLocks/>
            <a:stCxn id="145" idx="2"/>
          </p:cNvCxnSpPr>
          <p:nvPr/>
        </p:nvCxnSpPr>
        <p:spPr>
          <a:xfrm>
            <a:off x="6079048" y="2430179"/>
            <a:ext cx="0" cy="1122646"/>
          </a:xfrm>
          <a:prstGeom prst="line">
            <a:avLst/>
          </a:prstGeom>
          <a:noFill/>
          <a:ln w="19050" cap="flat" cmpd="sng">
            <a:solidFill>
              <a:srgbClr val="BFBFBF"/>
            </a:solidFill>
            <a:prstDash val="solid"/>
            <a:round/>
            <a:headEnd type="none" w="sm" len="sm"/>
            <a:tailEnd type="none" w="sm" len="sm"/>
          </a:ln>
        </p:spPr>
      </p:cxnSp>
      <p:graphicFrame>
        <p:nvGraphicFramePr>
          <p:cNvPr id="146" name="Google Shape;146;p9">
            <a:extLst>
              <a:ext uri="{FF2B5EF4-FFF2-40B4-BE49-F238E27FC236}">
                <a16:creationId xmlns:a16="http://schemas.microsoft.com/office/drawing/2014/main" id="{237EE014-79DC-C635-D6FF-BCA13136405C}"/>
              </a:ext>
            </a:extLst>
          </p:cNvPr>
          <p:cNvGraphicFramePr/>
          <p:nvPr>
            <p:extLst>
              <p:ext uri="{D42A27DB-BD31-4B8C-83A1-F6EECF244321}">
                <p14:modId xmlns:p14="http://schemas.microsoft.com/office/powerpoint/2010/main" val="3945950912"/>
              </p:ext>
            </p:extLst>
          </p:nvPr>
        </p:nvGraphicFramePr>
        <p:xfrm>
          <a:off x="5174032" y="2757143"/>
          <a:ext cx="1753655" cy="518180"/>
        </p:xfrm>
        <a:graphic>
          <a:graphicData uri="http://schemas.openxmlformats.org/drawingml/2006/table">
            <a:tbl>
              <a:tblPr>
                <a:noFill/>
                <a:tableStyleId>{16DD54E9-F15A-4EFF-A1D8-E2CBB5DF2B52}</a:tableStyleId>
              </a:tblPr>
              <a:tblGrid>
                <a:gridCol w="1753655">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プロジェクトマネジャー</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dk1"/>
                          </a:solidFill>
                          <a:latin typeface="Meiryo"/>
                          <a:ea typeface="Meiryo"/>
                          <a:cs typeface="Meiryo"/>
                        </a:rPr>
                        <a:t>後田</a:t>
                      </a:r>
                      <a:endParaRPr lang="ja-JP" altLang="en-US"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34" name="Google Shape;176;p9">
            <a:extLst>
              <a:ext uri="{FF2B5EF4-FFF2-40B4-BE49-F238E27FC236}">
                <a16:creationId xmlns:a16="http://schemas.microsoft.com/office/drawing/2014/main" id="{AF8521AC-C00C-4A4F-0F4F-C6922A7E4F35}"/>
              </a:ext>
            </a:extLst>
          </p:cNvPr>
          <p:cNvGraphicFramePr/>
          <p:nvPr>
            <p:extLst>
              <p:ext uri="{D42A27DB-BD31-4B8C-83A1-F6EECF244321}">
                <p14:modId xmlns:p14="http://schemas.microsoft.com/office/powerpoint/2010/main" val="200426809"/>
              </p:ext>
            </p:extLst>
          </p:nvPr>
        </p:nvGraphicFramePr>
        <p:xfrm>
          <a:off x="3458273" y="4790449"/>
          <a:ext cx="1800198" cy="704871"/>
        </p:xfrm>
        <a:graphic>
          <a:graphicData uri="http://schemas.openxmlformats.org/drawingml/2006/table">
            <a:tbl>
              <a:tblPr>
                <a:noFill/>
                <a:tableStyleId>{16DD54E9-F15A-4EFF-A1D8-E2CBB5DF2B52}</a:tableStyleId>
              </a:tblPr>
              <a:tblGrid>
                <a:gridCol w="1800198">
                  <a:extLst>
                    <a:ext uri="{9D8B030D-6E8A-4147-A177-3AD203B41FA5}">
                      <a16:colId xmlns:a16="http://schemas.microsoft.com/office/drawing/2014/main" val="20000"/>
                    </a:ext>
                  </a:extLst>
                </a:gridCol>
              </a:tblGrid>
              <a:tr h="194319">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データ移行</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45781">
                <a:tc>
                  <a:txBody>
                    <a:bodyPr/>
                    <a:lstStyle/>
                    <a:p>
                      <a:pPr marL="0" marR="0" lvl="0" indent="0" algn="ctr">
                        <a:lnSpc>
                          <a:spcPct val="100000"/>
                        </a:lnSpc>
                        <a:spcBef>
                          <a:spcPts val="0"/>
                        </a:spcBef>
                        <a:spcAft>
                          <a:spcPts val="0"/>
                        </a:spcAft>
                        <a:buSzPts val="800"/>
                        <a:buFont typeface="Arial"/>
                        <a:buNone/>
                      </a:pPr>
                      <a:r>
                        <a:rPr lang="ja-JP" altLang="en-US" sz="1100" b="1" u="sng" strike="noStrike" cap="none">
                          <a:solidFill>
                            <a:schemeClr val="dk1"/>
                          </a:solidFill>
                          <a:latin typeface="Meiryo"/>
                          <a:ea typeface="Meiryo"/>
                        </a:rPr>
                        <a:t>許（兼）</a:t>
                      </a:r>
                    </a:p>
                    <a:p>
                      <a:pPr marL="0" marR="0" lvl="0" indent="0" algn="ctr">
                        <a:lnSpc>
                          <a:spcPct val="100000"/>
                        </a:lnSpc>
                        <a:spcBef>
                          <a:spcPts val="0"/>
                        </a:spcBef>
                        <a:spcAft>
                          <a:spcPts val="0"/>
                        </a:spcAft>
                        <a:buSzPts val="800"/>
                        <a:buFont typeface="Arial"/>
                        <a:buNone/>
                      </a:pPr>
                      <a:endParaRPr lang="ja-JP" altLang="en-US" sz="1100" b="1" u="none" strike="noStrike" cap="none">
                        <a:solidFill>
                          <a:schemeClr val="dk1"/>
                        </a:solidFill>
                        <a:latin typeface="Meiryo"/>
                        <a:ea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3" name="Google Shape;176;p9">
            <a:extLst>
              <a:ext uri="{FF2B5EF4-FFF2-40B4-BE49-F238E27FC236}">
                <a16:creationId xmlns:a16="http://schemas.microsoft.com/office/drawing/2014/main" id="{BA9EA79C-8F1D-0E1D-34D8-D72B931C830E}"/>
              </a:ext>
            </a:extLst>
          </p:cNvPr>
          <p:cNvGraphicFramePr/>
          <p:nvPr>
            <p:extLst>
              <p:ext uri="{D42A27DB-BD31-4B8C-83A1-F6EECF244321}">
                <p14:modId xmlns:p14="http://schemas.microsoft.com/office/powerpoint/2010/main" val="164537883"/>
              </p:ext>
            </p:extLst>
          </p:nvPr>
        </p:nvGraphicFramePr>
        <p:xfrm>
          <a:off x="3482663" y="5583778"/>
          <a:ext cx="1800198" cy="704871"/>
        </p:xfrm>
        <a:graphic>
          <a:graphicData uri="http://schemas.openxmlformats.org/drawingml/2006/table">
            <a:tbl>
              <a:tblPr>
                <a:noFill/>
                <a:tableStyleId>{16DD54E9-F15A-4EFF-A1D8-E2CBB5DF2B52}</a:tableStyleId>
              </a:tblPr>
              <a:tblGrid>
                <a:gridCol w="1800198">
                  <a:extLst>
                    <a:ext uri="{9D8B030D-6E8A-4147-A177-3AD203B41FA5}">
                      <a16:colId xmlns:a16="http://schemas.microsoft.com/office/drawing/2014/main" val="20000"/>
                    </a:ext>
                  </a:extLst>
                </a:gridCol>
              </a:tblGrid>
              <a:tr h="194319">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rPr>
                        <a:t>内製対応</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45781">
                <a:tc>
                  <a:txBody>
                    <a:bodyPr/>
                    <a:lstStyle/>
                    <a:p>
                      <a:pPr marL="0" marR="0" lvl="0" indent="0" algn="ctr">
                        <a:lnSpc>
                          <a:spcPct val="100000"/>
                        </a:lnSpc>
                        <a:spcBef>
                          <a:spcPts val="0"/>
                        </a:spcBef>
                        <a:spcAft>
                          <a:spcPts val="0"/>
                        </a:spcAft>
                        <a:buSzPts val="800"/>
                        <a:buFont typeface="Arial"/>
                        <a:buNone/>
                      </a:pPr>
                      <a:r>
                        <a:rPr lang="ja-JP" altLang="en-US" sz="1100" b="1" u="sng" strike="noStrike" cap="none">
                          <a:solidFill>
                            <a:schemeClr val="dk1"/>
                          </a:solidFill>
                          <a:latin typeface="Meiryo"/>
                          <a:ea typeface="Meiryo"/>
                          <a:cs typeface="Meiryo"/>
                        </a:rPr>
                        <a:t>岩瀬</a:t>
                      </a:r>
                    </a:p>
                    <a:p>
                      <a:pPr marL="0" marR="0" lvl="0" indent="0" algn="ctr">
                        <a:lnSpc>
                          <a:spcPct val="100000"/>
                        </a:lnSpc>
                        <a:spcBef>
                          <a:spcPts val="0"/>
                        </a:spcBef>
                        <a:spcAft>
                          <a:spcPts val="0"/>
                        </a:spcAft>
                        <a:buSzPts val="800"/>
                        <a:buFont typeface="Arial"/>
                        <a:buNone/>
                      </a:pPr>
                      <a:r>
                        <a:rPr lang="ja-JP" altLang="en-US" sz="1100" b="1" u="none" strike="noStrike" cap="none">
                          <a:solidFill>
                            <a:schemeClr val="dk1"/>
                          </a:solidFill>
                          <a:latin typeface="Meiryo"/>
                          <a:ea typeface="Meiryo"/>
                          <a:cs typeface="Meiryo"/>
                        </a:rPr>
                        <a:t>田村・佐藤（光）</a:t>
                      </a: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2" name="Google Shape;176;p9">
            <a:extLst>
              <a:ext uri="{FF2B5EF4-FFF2-40B4-BE49-F238E27FC236}">
                <a16:creationId xmlns:a16="http://schemas.microsoft.com/office/drawing/2014/main" id="{81063250-9707-3A0A-48DA-DCF2C28ADF69}"/>
              </a:ext>
            </a:extLst>
          </p:cNvPr>
          <p:cNvGraphicFramePr/>
          <p:nvPr>
            <p:extLst>
              <p:ext uri="{D42A27DB-BD31-4B8C-83A1-F6EECF244321}">
                <p14:modId xmlns:p14="http://schemas.microsoft.com/office/powerpoint/2010/main" val="2018617846"/>
              </p:ext>
            </p:extLst>
          </p:nvPr>
        </p:nvGraphicFramePr>
        <p:xfrm>
          <a:off x="1362572" y="4772265"/>
          <a:ext cx="1800198" cy="704293"/>
        </p:xfrm>
        <a:graphic>
          <a:graphicData uri="http://schemas.openxmlformats.org/drawingml/2006/table">
            <a:tbl>
              <a:tblPr>
                <a:noFill/>
                <a:tableStyleId>{16DD54E9-F15A-4EFF-A1D8-E2CBB5DF2B52}</a:tableStyleId>
              </a:tblPr>
              <a:tblGrid>
                <a:gridCol w="1800198">
                  <a:extLst>
                    <a:ext uri="{9D8B030D-6E8A-4147-A177-3AD203B41FA5}">
                      <a16:colId xmlns:a16="http://schemas.microsoft.com/office/drawing/2014/main" val="20000"/>
                    </a:ext>
                  </a:extLst>
                </a:gridCol>
              </a:tblGrid>
              <a:tr h="332024">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rPr>
                        <a:t>商談システム担当</a:t>
                      </a:r>
                      <a:endParaRPr lang="ja-JP"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72269">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cs typeface="Meiryo"/>
                          <a:sym typeface="Meiryo"/>
                        </a:rPr>
                        <a:t>山村</a:t>
                      </a:r>
                      <a:endParaRPr lang="en-US" altLang="ja-JP"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6" name="Google Shape;148;p9">
            <a:extLst>
              <a:ext uri="{FF2B5EF4-FFF2-40B4-BE49-F238E27FC236}">
                <a16:creationId xmlns:a16="http://schemas.microsoft.com/office/drawing/2014/main" id="{BAF3D893-37D8-5B4E-4BAB-C3D5CF29D057}"/>
              </a:ext>
            </a:extLst>
          </p:cNvPr>
          <p:cNvGraphicFramePr/>
          <p:nvPr>
            <p:extLst>
              <p:ext uri="{D42A27DB-BD31-4B8C-83A1-F6EECF244321}">
                <p14:modId xmlns:p14="http://schemas.microsoft.com/office/powerpoint/2010/main" val="2935762371"/>
              </p:ext>
            </p:extLst>
          </p:nvPr>
        </p:nvGraphicFramePr>
        <p:xfrm>
          <a:off x="1811052" y="2748671"/>
          <a:ext cx="1351718" cy="518180"/>
        </p:xfrm>
        <a:graphic>
          <a:graphicData uri="http://schemas.openxmlformats.org/drawingml/2006/table">
            <a:tbl>
              <a:tblPr>
                <a:noFill/>
                <a:tableStyleId>{16DD54E9-F15A-4EFF-A1D8-E2CBB5DF2B52}</a:tableStyleId>
              </a:tblPr>
              <a:tblGrid>
                <a:gridCol w="1351718">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en-US" altLang="ja-JP" sz="1100" b="1" u="none" strike="noStrike" cap="none">
                          <a:solidFill>
                            <a:schemeClr val="lt1"/>
                          </a:solidFill>
                          <a:latin typeface="Meiryo"/>
                          <a:ea typeface="Meiryo"/>
                          <a:cs typeface="Meiryo"/>
                          <a:sym typeface="Meiryo"/>
                        </a:rPr>
                        <a:t>PMI</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sym typeface="Meiryo"/>
                        </a:rPr>
                        <a:t>嵯峨根</a:t>
                      </a:r>
                      <a:endParaRPr sz="1900" u="none" strike="noStrike" cap="none"/>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0" name="Google Shape;176;p9">
            <a:extLst>
              <a:ext uri="{FF2B5EF4-FFF2-40B4-BE49-F238E27FC236}">
                <a16:creationId xmlns:a16="http://schemas.microsoft.com/office/drawing/2014/main" id="{35BDA10A-EEDB-F92C-F557-B03AF4F39BAE}"/>
              </a:ext>
            </a:extLst>
          </p:cNvPr>
          <p:cNvGraphicFramePr/>
          <p:nvPr>
            <p:extLst>
              <p:ext uri="{D42A27DB-BD31-4B8C-83A1-F6EECF244321}">
                <p14:modId xmlns:p14="http://schemas.microsoft.com/office/powerpoint/2010/main" val="2341129526"/>
              </p:ext>
            </p:extLst>
          </p:nvPr>
        </p:nvGraphicFramePr>
        <p:xfrm>
          <a:off x="5480339" y="5594075"/>
          <a:ext cx="1475924" cy="704871"/>
        </p:xfrm>
        <a:graphic>
          <a:graphicData uri="http://schemas.openxmlformats.org/drawingml/2006/table">
            <a:tbl>
              <a:tblPr>
                <a:noFill/>
                <a:tableStyleId>{16DD54E9-F15A-4EFF-A1D8-E2CBB5DF2B52}</a:tableStyleId>
              </a:tblPr>
              <a:tblGrid>
                <a:gridCol w="1475924">
                  <a:extLst>
                    <a:ext uri="{9D8B030D-6E8A-4147-A177-3AD203B41FA5}">
                      <a16:colId xmlns:a16="http://schemas.microsoft.com/office/drawing/2014/main" val="20000"/>
                    </a:ext>
                  </a:extLst>
                </a:gridCol>
              </a:tblGrid>
              <a:tr h="194319">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RPA</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45781">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cs typeface="Meiryo"/>
                        </a:rPr>
                        <a:t>森​</a:t>
                      </a:r>
                      <a:endParaRPr lang="ja-JP" altLang="en-US" sz="1050" b="1" u="none" strike="noStrike" cap="none">
                        <a:solidFill>
                          <a:schemeClr val="dk1"/>
                        </a:solidFill>
                        <a:latin typeface="Meiryo"/>
                        <a:ea typeface="Meiryo"/>
                        <a:cs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13" name="直線矢印コネクタ 12">
            <a:extLst>
              <a:ext uri="{FF2B5EF4-FFF2-40B4-BE49-F238E27FC236}">
                <a16:creationId xmlns:a16="http://schemas.microsoft.com/office/drawing/2014/main" id="{5D735BCA-20C9-5F81-29B5-7CBC5CD56F59}"/>
              </a:ext>
            </a:extLst>
          </p:cNvPr>
          <p:cNvCxnSpPr/>
          <p:nvPr/>
        </p:nvCxnSpPr>
        <p:spPr>
          <a:xfrm>
            <a:off x="2289862" y="4505559"/>
            <a:ext cx="9270" cy="241038"/>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5" name="直線矢印コネクタ 14">
            <a:extLst>
              <a:ext uri="{FF2B5EF4-FFF2-40B4-BE49-F238E27FC236}">
                <a16:creationId xmlns:a16="http://schemas.microsoft.com/office/drawing/2014/main" id="{823CF9A0-920D-AB52-374A-D3AFA6599CB5}"/>
              </a:ext>
            </a:extLst>
          </p:cNvPr>
          <p:cNvCxnSpPr>
            <a:cxnSpLocks/>
          </p:cNvCxnSpPr>
          <p:nvPr/>
        </p:nvCxnSpPr>
        <p:spPr>
          <a:xfrm>
            <a:off x="4205159" y="4526153"/>
            <a:ext cx="9270" cy="241038"/>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9ECAF21-404D-80C9-58CC-65E1EF18DC21}"/>
              </a:ext>
            </a:extLst>
          </p:cNvPr>
          <p:cNvCxnSpPr/>
          <p:nvPr/>
        </p:nvCxnSpPr>
        <p:spPr>
          <a:xfrm>
            <a:off x="2280591" y="4514829"/>
            <a:ext cx="1928305" cy="18541"/>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31DFFCC0-B11A-65E4-BAFD-7D9A19F4644C}"/>
              </a:ext>
            </a:extLst>
          </p:cNvPr>
          <p:cNvCxnSpPr/>
          <p:nvPr/>
        </p:nvCxnSpPr>
        <p:spPr>
          <a:xfrm>
            <a:off x="3235473" y="4301603"/>
            <a:ext cx="9267" cy="231767"/>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BAD78B59-09D5-B205-2DA9-179E73B17BFF}"/>
              </a:ext>
            </a:extLst>
          </p:cNvPr>
          <p:cNvCxnSpPr/>
          <p:nvPr/>
        </p:nvCxnSpPr>
        <p:spPr>
          <a:xfrm>
            <a:off x="2243509" y="5478982"/>
            <a:ext cx="9270" cy="101977"/>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17F86180-8227-1EEF-788D-A17DBBC85D78}"/>
              </a:ext>
            </a:extLst>
          </p:cNvPr>
          <p:cNvCxnSpPr>
            <a:cxnSpLocks/>
          </p:cNvCxnSpPr>
          <p:nvPr/>
        </p:nvCxnSpPr>
        <p:spPr>
          <a:xfrm>
            <a:off x="4292671" y="5468685"/>
            <a:ext cx="9270" cy="101977"/>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16DF8431-541F-6D17-9A55-786CB984B2E3}"/>
              </a:ext>
            </a:extLst>
          </p:cNvPr>
          <p:cNvCxnSpPr/>
          <p:nvPr/>
        </p:nvCxnSpPr>
        <p:spPr>
          <a:xfrm>
            <a:off x="5293568" y="6063035"/>
            <a:ext cx="185413" cy="9267"/>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a:extLst>
              <a:ext uri="{FF2B5EF4-FFF2-40B4-BE49-F238E27FC236}">
                <a16:creationId xmlns:a16="http://schemas.microsoft.com/office/drawing/2014/main" id="{2882AA2A-E0CC-9531-0D82-77C03ED97127}"/>
              </a:ext>
            </a:extLst>
          </p:cNvPr>
          <p:cNvCxnSpPr>
            <a:cxnSpLocks/>
          </p:cNvCxnSpPr>
          <p:nvPr/>
        </p:nvCxnSpPr>
        <p:spPr>
          <a:xfrm>
            <a:off x="8983105" y="4279018"/>
            <a:ext cx="9270" cy="467578"/>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8" name="Google Shape;181;p9">
            <a:extLst>
              <a:ext uri="{FF2B5EF4-FFF2-40B4-BE49-F238E27FC236}">
                <a16:creationId xmlns:a16="http://schemas.microsoft.com/office/drawing/2014/main" id="{91E55ADF-BDB7-36C8-14E7-626C53354DBF}"/>
              </a:ext>
            </a:extLst>
          </p:cNvPr>
          <p:cNvSpPr txBox="1"/>
          <p:nvPr/>
        </p:nvSpPr>
        <p:spPr>
          <a:xfrm>
            <a:off x="10031243" y="4681752"/>
            <a:ext cx="1964532" cy="957195"/>
          </a:xfrm>
          <a:prstGeom prst="rect">
            <a:avLst/>
          </a:prstGeom>
          <a:noFill/>
          <a:ln>
            <a:noFill/>
          </a:ln>
        </p:spPr>
        <p:txBody>
          <a:bodyPr spcFirstLastPara="1" wrap="square" lIns="90000" tIns="60925" rIns="121900" bIns="60925" anchor="t" anchorCtr="0">
            <a:noAutofit/>
          </a:bodyPr>
          <a:lstStyle/>
          <a:p>
            <a:pPr marL="170815" marR="0" lvl="0" indent="-170815" algn="l">
              <a:lnSpc>
                <a:spcPct val="100000"/>
              </a:lnSpc>
              <a:spcBef>
                <a:spcPts val="0"/>
              </a:spcBef>
              <a:spcAft>
                <a:spcPts val="0"/>
              </a:spcAft>
              <a:buClr>
                <a:srgbClr val="BFBFBF"/>
              </a:buClr>
              <a:buSzPts val="750"/>
              <a:buFont typeface="Noto Sans Symbols"/>
              <a:buChar char="■"/>
            </a:pPr>
            <a:r>
              <a:rPr lang="ja-JP" altLang="en-US" sz="1000">
                <a:solidFill>
                  <a:srgbClr val="7F7F7F"/>
                </a:solidFill>
                <a:latin typeface="Meiryo"/>
                <a:ea typeface="Meiryo"/>
              </a:rPr>
              <a:t>両バイヤー向け・パンチャー向けの入力シート作成/運用プロセス作成</a:t>
            </a:r>
          </a:p>
          <a:p>
            <a:pPr marL="170815" indent="-170815">
              <a:buClr>
                <a:srgbClr val="BFBFBF"/>
              </a:buClr>
              <a:buSzPts val="750"/>
              <a:buFont typeface="Noto Sans Symbols"/>
              <a:buChar char="■"/>
            </a:pPr>
            <a:r>
              <a:rPr lang="ja-JP" altLang="en-US" sz="1000">
                <a:solidFill>
                  <a:srgbClr val="7F7F7F"/>
                </a:solidFill>
                <a:latin typeface="Meiryo"/>
                <a:ea typeface="Meiryo"/>
              </a:rPr>
              <a:t>商品階層/商品マスタ項目マッピングレビュー・承認</a:t>
            </a:r>
          </a:p>
        </p:txBody>
      </p:sp>
      <p:sp>
        <p:nvSpPr>
          <p:cNvPr id="30" name="Google Shape;181;p9">
            <a:extLst>
              <a:ext uri="{FF2B5EF4-FFF2-40B4-BE49-F238E27FC236}">
                <a16:creationId xmlns:a16="http://schemas.microsoft.com/office/drawing/2014/main" id="{60A53DBC-B1DD-98D4-61C3-99964A37F16C}"/>
              </a:ext>
            </a:extLst>
          </p:cNvPr>
          <p:cNvSpPr txBox="1"/>
          <p:nvPr/>
        </p:nvSpPr>
        <p:spPr>
          <a:xfrm>
            <a:off x="5375188" y="4802052"/>
            <a:ext cx="1587141" cy="641613"/>
          </a:xfrm>
          <a:prstGeom prst="rect">
            <a:avLst/>
          </a:prstGeom>
          <a:noFill/>
          <a:ln>
            <a:noFill/>
          </a:ln>
        </p:spPr>
        <p:txBody>
          <a:bodyPr spcFirstLastPara="1" wrap="square" lIns="90000" tIns="60925" rIns="121900" bIns="60925" anchor="t" anchorCtr="0">
            <a:noAutofit/>
          </a:bodyPr>
          <a:lstStyle/>
          <a:p>
            <a:pPr marL="170815" indent="-170815">
              <a:buClr>
                <a:srgbClr val="BFBFBF"/>
              </a:buClr>
              <a:buSzPts val="750"/>
              <a:buFont typeface="Noto Sans Symbols"/>
              <a:buChar char="■"/>
            </a:pPr>
            <a:r>
              <a:rPr lang="ja-JP" altLang="en-US" sz="1000">
                <a:solidFill>
                  <a:srgbClr val="7F7F7F"/>
                </a:solidFill>
                <a:latin typeface="Meiryo"/>
                <a:ea typeface="Meiryo"/>
                <a:cs typeface="Meiryo"/>
              </a:rPr>
              <a:t>商品階層/商品マスタマッピング</a:t>
            </a:r>
          </a:p>
          <a:p>
            <a:pPr marL="170815" indent="-170815">
              <a:buClr>
                <a:srgbClr val="BFBFBF"/>
              </a:buClr>
              <a:buSzPts val="750"/>
              <a:buFont typeface="Noto Sans Symbols"/>
              <a:buChar char="■"/>
            </a:pPr>
            <a:r>
              <a:rPr lang="ja-JP" altLang="en-US" sz="1000">
                <a:solidFill>
                  <a:srgbClr val="7F7F7F"/>
                </a:solidFill>
                <a:latin typeface="Meiryo"/>
                <a:ea typeface="Meiryo"/>
                <a:cs typeface="Meiryo"/>
              </a:rPr>
              <a:t>先行データ移行計画策定・プロセス確立</a:t>
            </a:r>
          </a:p>
        </p:txBody>
      </p:sp>
      <p:graphicFrame>
        <p:nvGraphicFramePr>
          <p:cNvPr id="7" name="Google Shape;176;p9">
            <a:extLst>
              <a:ext uri="{FF2B5EF4-FFF2-40B4-BE49-F238E27FC236}">
                <a16:creationId xmlns:a16="http://schemas.microsoft.com/office/drawing/2014/main" id="{2EEEAB58-00DA-3B5B-D939-AE8C174E3774}"/>
              </a:ext>
            </a:extLst>
          </p:cNvPr>
          <p:cNvGraphicFramePr/>
          <p:nvPr>
            <p:extLst>
              <p:ext uri="{D42A27DB-BD31-4B8C-83A1-F6EECF244321}">
                <p14:modId xmlns:p14="http://schemas.microsoft.com/office/powerpoint/2010/main" val="1858065767"/>
              </p:ext>
            </p:extLst>
          </p:nvPr>
        </p:nvGraphicFramePr>
        <p:xfrm>
          <a:off x="130616" y="5594015"/>
          <a:ext cx="1325640" cy="683713"/>
        </p:xfrm>
        <a:graphic>
          <a:graphicData uri="http://schemas.openxmlformats.org/drawingml/2006/table">
            <a:tbl>
              <a:tblPr>
                <a:noFill/>
                <a:tableStyleId>{16DD54E9-F15A-4EFF-A1D8-E2CBB5DF2B52}</a:tableStyleId>
              </a:tblPr>
              <a:tblGrid>
                <a:gridCol w="1325640">
                  <a:extLst>
                    <a:ext uri="{9D8B030D-6E8A-4147-A177-3AD203B41FA5}">
                      <a16:colId xmlns:a16="http://schemas.microsoft.com/office/drawing/2014/main" val="20000"/>
                    </a:ext>
                  </a:extLst>
                </a:gridCol>
              </a:tblGrid>
              <a:tr h="244698">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開発担当</a:t>
                      </a:r>
                      <a:endParaRPr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24623">
                <a:tc>
                  <a:txBody>
                    <a:bodyPr/>
                    <a:lstStyle/>
                    <a:p>
                      <a:pPr marL="0" marR="0" lvl="0" indent="0" algn="ctr">
                        <a:lnSpc>
                          <a:spcPct val="100000"/>
                        </a:lnSpc>
                        <a:spcBef>
                          <a:spcPts val="0"/>
                        </a:spcBef>
                        <a:spcAft>
                          <a:spcPts val="0"/>
                        </a:spcAft>
                        <a:buSzPts val="800"/>
                        <a:buFont typeface="Arial"/>
                        <a:buNone/>
                      </a:pPr>
                      <a:r>
                        <a:rPr lang="en-US" sz="1100" b="1" u="sng" strike="noStrike" cap="none">
                          <a:solidFill>
                            <a:schemeClr val="dk1"/>
                          </a:solidFill>
                          <a:latin typeface="Meiryo"/>
                          <a:ea typeface="Meiryo"/>
                        </a:rPr>
                        <a:t>TRE</a:t>
                      </a:r>
                      <a:endParaRPr sz="1100" b="1" u="sng" strike="noStrike" cap="none">
                        <a:solidFill>
                          <a:schemeClr val="dk1"/>
                        </a:solidFill>
                        <a:latin typeface="Meiryo"/>
                        <a:ea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4" name="Google Shape;176;p9">
            <a:extLst>
              <a:ext uri="{FF2B5EF4-FFF2-40B4-BE49-F238E27FC236}">
                <a16:creationId xmlns:a16="http://schemas.microsoft.com/office/drawing/2014/main" id="{F275F010-59EB-4256-3C4A-A2ADB794FE48}"/>
              </a:ext>
            </a:extLst>
          </p:cNvPr>
          <p:cNvGraphicFramePr/>
          <p:nvPr>
            <p:extLst>
              <p:ext uri="{D42A27DB-BD31-4B8C-83A1-F6EECF244321}">
                <p14:modId xmlns:p14="http://schemas.microsoft.com/office/powerpoint/2010/main" val="1229502450"/>
              </p:ext>
            </p:extLst>
          </p:nvPr>
        </p:nvGraphicFramePr>
        <p:xfrm>
          <a:off x="128857" y="2758407"/>
          <a:ext cx="1351717" cy="537117"/>
        </p:xfrm>
        <a:graphic>
          <a:graphicData uri="http://schemas.openxmlformats.org/drawingml/2006/table">
            <a:tbl>
              <a:tblPr>
                <a:noFill/>
                <a:tableStyleId>{16DD54E9-F15A-4EFF-A1D8-E2CBB5DF2B52}</a:tableStyleId>
              </a:tblPr>
              <a:tblGrid>
                <a:gridCol w="1351717">
                  <a:extLst>
                    <a:ext uri="{9D8B030D-6E8A-4147-A177-3AD203B41FA5}">
                      <a16:colId xmlns:a16="http://schemas.microsoft.com/office/drawing/2014/main" val="20000"/>
                    </a:ext>
                  </a:extLst>
                </a:gridCol>
              </a:tblGrid>
              <a:tr h="243747">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生鮮マスタ支援</a:t>
                      </a:r>
                      <a:endParaRPr lang="ja-JP"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78027">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cs typeface="Meiryo"/>
                        </a:rPr>
                        <a:t>藤本</a:t>
                      </a:r>
                      <a:endParaRPr lang="ja-JP" altLang="en-US" sz="1100" b="1" u="none"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8" name="Google Shape;146;p9">
            <a:extLst>
              <a:ext uri="{FF2B5EF4-FFF2-40B4-BE49-F238E27FC236}">
                <a16:creationId xmlns:a16="http://schemas.microsoft.com/office/drawing/2014/main" id="{B1AF4A46-C132-E5AD-53F5-7CEB42E68219}"/>
              </a:ext>
            </a:extLst>
          </p:cNvPr>
          <p:cNvGraphicFramePr/>
          <p:nvPr>
            <p:extLst>
              <p:ext uri="{D42A27DB-BD31-4B8C-83A1-F6EECF244321}">
                <p14:modId xmlns:p14="http://schemas.microsoft.com/office/powerpoint/2010/main" val="280500729"/>
              </p:ext>
            </p:extLst>
          </p:nvPr>
        </p:nvGraphicFramePr>
        <p:xfrm>
          <a:off x="127744" y="3774383"/>
          <a:ext cx="1800200" cy="537385"/>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78295">
                <a:tc>
                  <a:txBody>
                    <a:bodyPr/>
                    <a:lstStyle/>
                    <a:p>
                      <a:pPr marL="0" marR="0" lvl="0" indent="0" algn="ctr" rtl="0">
                        <a:lnSpc>
                          <a:spcPct val="100000"/>
                        </a:lnSpc>
                        <a:spcBef>
                          <a:spcPts val="0"/>
                        </a:spcBef>
                        <a:spcAft>
                          <a:spcPts val="0"/>
                        </a:spcAft>
                        <a:buClr>
                          <a:srgbClr val="000000"/>
                        </a:buClr>
                        <a:buSzPts val="800"/>
                        <a:buFont typeface="Arial"/>
                        <a:buNone/>
                      </a:pPr>
                      <a:r>
                        <a:rPr lang="en-US" altLang="ja-JP" sz="1200" b="1" u="none" strike="noStrike" cap="none">
                          <a:solidFill>
                            <a:schemeClr val="lt1"/>
                          </a:solidFill>
                          <a:latin typeface="メイリオ"/>
                          <a:ea typeface="メイリオ"/>
                        </a:rPr>
                        <a:t>TR</a:t>
                      </a:r>
                      <a:r>
                        <a:rPr lang="ja-JP" altLang="en-US" sz="1200" b="1" u="none" strike="noStrike" cap="none">
                          <a:solidFill>
                            <a:schemeClr val="lt1"/>
                          </a:solidFill>
                          <a:latin typeface="メイリオ"/>
                          <a:ea typeface="メイリオ"/>
                        </a:rPr>
                        <a:t>データ関連リード</a:t>
                      </a: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cs typeface="Meiryo"/>
                        </a:rPr>
                        <a:t>榊田</a:t>
                      </a:r>
                      <a:endParaRPr lang="ja-JP" altLang="en-US"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24" name="直線矢印コネクタ 23">
            <a:extLst>
              <a:ext uri="{FF2B5EF4-FFF2-40B4-BE49-F238E27FC236}">
                <a16:creationId xmlns:a16="http://schemas.microsoft.com/office/drawing/2014/main" id="{F91FBEB1-1840-9160-27CE-B0A31C1617C1}"/>
              </a:ext>
            </a:extLst>
          </p:cNvPr>
          <p:cNvCxnSpPr>
            <a:cxnSpLocks/>
            <a:stCxn id="8" idx="3"/>
            <a:endCxn id="14" idx="1"/>
          </p:cNvCxnSpPr>
          <p:nvPr/>
        </p:nvCxnSpPr>
        <p:spPr>
          <a:xfrm flipV="1">
            <a:off x="1927944" y="4041095"/>
            <a:ext cx="443468" cy="1980"/>
          </a:xfrm>
          <a:prstGeom prst="straightConnector1">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aphicFrame>
        <p:nvGraphicFramePr>
          <p:cNvPr id="38" name="Google Shape;148;p9">
            <a:extLst>
              <a:ext uri="{FF2B5EF4-FFF2-40B4-BE49-F238E27FC236}">
                <a16:creationId xmlns:a16="http://schemas.microsoft.com/office/drawing/2014/main" id="{1A14A567-9267-E3B0-0B92-6BA61B6A6C40}"/>
              </a:ext>
            </a:extLst>
          </p:cNvPr>
          <p:cNvGraphicFramePr/>
          <p:nvPr>
            <p:extLst>
              <p:ext uri="{D42A27DB-BD31-4B8C-83A1-F6EECF244321}">
                <p14:modId xmlns:p14="http://schemas.microsoft.com/office/powerpoint/2010/main" val="3887301761"/>
              </p:ext>
            </p:extLst>
          </p:nvPr>
        </p:nvGraphicFramePr>
        <p:xfrm>
          <a:off x="7295073" y="2753492"/>
          <a:ext cx="1525077" cy="518180"/>
        </p:xfrm>
        <a:graphic>
          <a:graphicData uri="http://schemas.openxmlformats.org/drawingml/2006/table">
            <a:tbl>
              <a:tblPr>
                <a:noFill/>
                <a:tableStyleId>{16DD54E9-F15A-4EFF-A1D8-E2CBB5DF2B52}</a:tableStyleId>
              </a:tblPr>
              <a:tblGrid>
                <a:gridCol w="1525077">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PM</a:t>
                      </a:r>
                      <a:r>
                        <a:rPr lang="ja-JP" altLang="en-US" sz="1100" b="1" u="none" strike="noStrike" cap="none">
                          <a:solidFill>
                            <a:schemeClr val="lt1"/>
                          </a:solidFill>
                          <a:latin typeface="Meiryo"/>
                          <a:ea typeface="Meiryo"/>
                          <a:cs typeface="Meiryo"/>
                          <a:sym typeface="Meiryo"/>
                        </a:rPr>
                        <a:t>支援</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sym typeface="Meiryo"/>
                        </a:rPr>
                        <a:t>佐々木</a:t>
                      </a:r>
                      <a:endParaRPr altLang="en-US" sz="1100" b="1" u="none" strike="noStrike" cap="none">
                        <a:solidFill>
                          <a:schemeClr val="dk1"/>
                        </a:solidFill>
                        <a:latin typeface="Meiryo"/>
                        <a:ea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39" name="Google Shape;160;p9">
            <a:extLst>
              <a:ext uri="{FF2B5EF4-FFF2-40B4-BE49-F238E27FC236}">
                <a16:creationId xmlns:a16="http://schemas.microsoft.com/office/drawing/2014/main" id="{1E3BCAD1-69C0-C084-DA44-099F2F0D2F17}"/>
              </a:ext>
            </a:extLst>
          </p:cNvPr>
          <p:cNvCxnSpPr>
            <a:cxnSpLocks/>
            <a:stCxn id="4" idx="0"/>
            <a:endCxn id="145" idx="2"/>
          </p:cNvCxnSpPr>
          <p:nvPr/>
        </p:nvCxnSpPr>
        <p:spPr>
          <a:xfrm rot="5400000" flipH="1" flipV="1">
            <a:off x="3277767" y="-42873"/>
            <a:ext cx="328228" cy="5274333"/>
          </a:xfrm>
          <a:prstGeom prst="bentConnector3">
            <a:avLst>
              <a:gd name="adj1" fmla="val 50000"/>
            </a:avLst>
          </a:prstGeom>
          <a:noFill/>
          <a:ln w="19050" cap="flat" cmpd="sng">
            <a:solidFill>
              <a:srgbClr val="BFBFBF"/>
            </a:solidFill>
            <a:prstDash val="solid"/>
            <a:round/>
            <a:headEnd type="none" w="sm" len="sm"/>
            <a:tailEnd type="none" w="sm" len="sm"/>
          </a:ln>
        </p:spPr>
      </p:cxnSp>
      <p:cxnSp>
        <p:nvCxnSpPr>
          <p:cNvPr id="44" name="Google Shape;160;p9">
            <a:extLst>
              <a:ext uri="{FF2B5EF4-FFF2-40B4-BE49-F238E27FC236}">
                <a16:creationId xmlns:a16="http://schemas.microsoft.com/office/drawing/2014/main" id="{155D88E4-777E-61CB-DD6F-B4D96CAFBF05}"/>
              </a:ext>
            </a:extLst>
          </p:cNvPr>
          <p:cNvCxnSpPr>
            <a:cxnSpLocks/>
            <a:stCxn id="6" idx="0"/>
            <a:endCxn id="145" idx="2"/>
          </p:cNvCxnSpPr>
          <p:nvPr/>
        </p:nvCxnSpPr>
        <p:spPr>
          <a:xfrm rot="5400000" flipH="1" flipV="1">
            <a:off x="4123733" y="793357"/>
            <a:ext cx="318492" cy="3592137"/>
          </a:xfrm>
          <a:prstGeom prst="bentConnector3">
            <a:avLst>
              <a:gd name="adj1" fmla="val 50000"/>
            </a:avLst>
          </a:prstGeom>
          <a:noFill/>
          <a:ln w="19050" cap="flat" cmpd="sng">
            <a:solidFill>
              <a:srgbClr val="BFBFBF"/>
            </a:solidFill>
            <a:prstDash val="solid"/>
            <a:round/>
            <a:headEnd type="none" w="sm" len="sm"/>
            <a:tailEnd type="none" w="sm" len="sm"/>
          </a:ln>
        </p:spPr>
      </p:cxnSp>
      <p:cxnSp>
        <p:nvCxnSpPr>
          <p:cNvPr id="52" name="直線コネクタ 51">
            <a:extLst>
              <a:ext uri="{FF2B5EF4-FFF2-40B4-BE49-F238E27FC236}">
                <a16:creationId xmlns:a16="http://schemas.microsoft.com/office/drawing/2014/main" id="{168B19A3-5168-00C0-12B0-B77223A0B218}"/>
              </a:ext>
            </a:extLst>
          </p:cNvPr>
          <p:cNvCxnSpPr>
            <a:cxnSpLocks/>
            <a:stCxn id="146" idx="3"/>
            <a:endCxn id="38" idx="1"/>
          </p:cNvCxnSpPr>
          <p:nvPr/>
        </p:nvCxnSpPr>
        <p:spPr>
          <a:xfrm flipV="1">
            <a:off x="6927687" y="3012582"/>
            <a:ext cx="367386" cy="3651"/>
          </a:xfrm>
          <a:prstGeom prst="line">
            <a:avLst/>
          </a:prstGeom>
          <a:noFill/>
          <a:ln w="19050" cap="flat" cmpd="sng">
            <a:solidFill>
              <a:srgbClr val="BFBFBF"/>
            </a:solidFill>
            <a:prstDash val="solid"/>
            <a:round/>
            <a:headEnd type="none" w="sm" len="sm"/>
            <a:tailEnd type="none" w="sm" len="sm"/>
          </a:ln>
        </p:spPr>
      </p:cxnSp>
    </p:spTree>
    <p:extLst>
      <p:ext uri="{BB962C8B-B14F-4D97-AF65-F5344CB8AC3E}">
        <p14:creationId xmlns:p14="http://schemas.microsoft.com/office/powerpoint/2010/main" val="411100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a:extLst>
            <a:ext uri="{FF2B5EF4-FFF2-40B4-BE49-F238E27FC236}">
              <a16:creationId xmlns:a16="http://schemas.microsoft.com/office/drawing/2014/main" id="{8F954B5C-8AC8-C64F-1190-263DB64A0A21}"/>
            </a:ext>
          </a:extLst>
        </p:cNvPr>
        <p:cNvGrpSpPr/>
        <p:nvPr/>
      </p:nvGrpSpPr>
      <p:grpSpPr>
        <a:xfrm>
          <a:off x="0" y="0"/>
          <a:ext cx="0" cy="0"/>
          <a:chOff x="0" y="0"/>
          <a:chExt cx="0" cy="0"/>
        </a:xfrm>
      </p:grpSpPr>
      <p:sp>
        <p:nvSpPr>
          <p:cNvPr id="9" name="四角形: 角を丸くする 8">
            <a:extLst>
              <a:ext uri="{FF2B5EF4-FFF2-40B4-BE49-F238E27FC236}">
                <a16:creationId xmlns:a16="http://schemas.microsoft.com/office/drawing/2014/main" id="{4DBE429B-59D2-E77D-CA60-C0381A1D7C5E}"/>
              </a:ext>
            </a:extLst>
          </p:cNvPr>
          <p:cNvSpPr/>
          <p:nvPr/>
        </p:nvSpPr>
        <p:spPr>
          <a:xfrm>
            <a:off x="7773066" y="3754034"/>
            <a:ext cx="3962399" cy="2311399"/>
          </a:xfrm>
          <a:prstGeom prst="round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44" name="Google Shape;144;p9">
            <a:extLst>
              <a:ext uri="{FF2B5EF4-FFF2-40B4-BE49-F238E27FC236}">
                <a16:creationId xmlns:a16="http://schemas.microsoft.com/office/drawing/2014/main" id="{12050550-1A04-D6C7-82EE-A6BFD1C73D94}"/>
              </a:ext>
            </a:extLst>
          </p:cNvPr>
          <p:cNvSpPr txBox="1">
            <a:spLocks noGrp="1"/>
          </p:cNvSpPr>
          <p:nvPr>
            <p:ph type="title"/>
          </p:nvPr>
        </p:nvSpPr>
        <p:spPr>
          <a:xfrm>
            <a:off x="620929" y="622800"/>
            <a:ext cx="11568599" cy="332399"/>
          </a:xfrm>
          <a:prstGeom prst="rect">
            <a:avLst/>
          </a:prstGeom>
          <a:noFill/>
          <a:ln>
            <a:noFill/>
          </a:ln>
        </p:spPr>
        <p:txBody>
          <a:bodyPr spcFirstLastPara="1" wrap="square" lIns="0" tIns="0" rIns="0" bIns="0" anchor="t" anchorCtr="0">
            <a:spAutoFit/>
          </a:bodyPr>
          <a:lstStyle/>
          <a:p>
            <a:r>
              <a:rPr lang="ja-JP">
                <a:solidFill>
                  <a:srgbClr val="000000"/>
                </a:solidFill>
                <a:latin typeface="Meiryo"/>
                <a:ea typeface="Meiryo"/>
                <a:cs typeface="Meiryo"/>
                <a:sym typeface="Meiryo"/>
              </a:rPr>
              <a:t>6. 体制・役割</a:t>
            </a:r>
            <a:r>
              <a:rPr lang="ja-JP">
                <a:solidFill>
                  <a:srgbClr val="000000"/>
                </a:solidFill>
              </a:rPr>
              <a:t>　</a:t>
            </a:r>
            <a:r>
              <a:rPr lang="en-US" altLang="ja-JP">
                <a:solidFill>
                  <a:srgbClr val="000000"/>
                </a:solidFill>
              </a:rPr>
              <a:t>Phase2　ー商品マスタ統合プロジェクト（８月正式キックオフ）</a:t>
            </a:r>
            <a:endParaRPr lang="en-US" altLang="ja-JP">
              <a:solidFill>
                <a:srgbClr val="000000"/>
              </a:solidFill>
              <a:latin typeface="Meiryo"/>
              <a:ea typeface="Meiryo"/>
              <a:cs typeface="Meiryo"/>
            </a:endParaRPr>
          </a:p>
        </p:txBody>
      </p:sp>
      <p:graphicFrame>
        <p:nvGraphicFramePr>
          <p:cNvPr id="145" name="Google Shape;145;p9">
            <a:extLst>
              <a:ext uri="{FF2B5EF4-FFF2-40B4-BE49-F238E27FC236}">
                <a16:creationId xmlns:a16="http://schemas.microsoft.com/office/drawing/2014/main" id="{856D365C-CE82-B1A1-865F-81AE5749A200}"/>
              </a:ext>
            </a:extLst>
          </p:cNvPr>
          <p:cNvGraphicFramePr/>
          <p:nvPr/>
        </p:nvGraphicFramePr>
        <p:xfrm>
          <a:off x="5159898" y="1999072"/>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プロジェクトオーナー</a:t>
                      </a:r>
                      <a:endParaRPr sz="1100" b="1" u="none" strike="noStrike" cap="none">
                        <a:solidFill>
                          <a:schemeClr val="lt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cs typeface="Meiryo"/>
                          <a:sym typeface="Meiryo"/>
                        </a:rPr>
                        <a:t>杉崎</a:t>
                      </a:r>
                      <a:endParaRPr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48" name="Google Shape;148;p9">
            <a:extLst>
              <a:ext uri="{FF2B5EF4-FFF2-40B4-BE49-F238E27FC236}">
                <a16:creationId xmlns:a16="http://schemas.microsoft.com/office/drawing/2014/main" id="{229EDDFC-1ADC-65D4-04F4-AC1108B730CF}"/>
              </a:ext>
            </a:extLst>
          </p:cNvPr>
          <p:cNvGraphicFramePr/>
          <p:nvPr>
            <p:extLst>
              <p:ext uri="{D42A27DB-BD31-4B8C-83A1-F6EECF244321}">
                <p14:modId xmlns:p14="http://schemas.microsoft.com/office/powerpoint/2010/main" val="1931568402"/>
              </p:ext>
            </p:extLst>
          </p:nvPr>
        </p:nvGraphicFramePr>
        <p:xfrm>
          <a:off x="9328128" y="2759302"/>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PMO</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sym typeface="Meiryo"/>
                        </a:rPr>
                        <a:t>佐々木</a:t>
                      </a:r>
                      <a:endParaRPr altLang="en-US" sz="1100" b="1" u="none" strike="noStrike" cap="none">
                        <a:solidFill>
                          <a:schemeClr val="dk1"/>
                        </a:solidFill>
                        <a:latin typeface="Meiryo"/>
                        <a:ea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155" name="Google Shape;155;p9">
            <a:extLst>
              <a:ext uri="{FF2B5EF4-FFF2-40B4-BE49-F238E27FC236}">
                <a16:creationId xmlns:a16="http://schemas.microsoft.com/office/drawing/2014/main" id="{F3693713-17DF-A98E-A93A-866CC12A2A52}"/>
              </a:ext>
            </a:extLst>
          </p:cNvPr>
          <p:cNvCxnSpPr/>
          <p:nvPr/>
        </p:nvCxnSpPr>
        <p:spPr>
          <a:xfrm rot="10800000">
            <a:off x="6083999" y="2503302"/>
            <a:ext cx="0" cy="256000"/>
          </a:xfrm>
          <a:prstGeom prst="straightConnector1">
            <a:avLst/>
          </a:prstGeom>
          <a:noFill/>
          <a:ln w="19050" cap="flat" cmpd="sng">
            <a:solidFill>
              <a:srgbClr val="BFBFBF"/>
            </a:solidFill>
            <a:prstDash val="solid"/>
            <a:round/>
            <a:headEnd type="none" w="sm" len="sm"/>
            <a:tailEnd type="none" w="sm" len="sm"/>
          </a:ln>
        </p:spPr>
      </p:cxnSp>
      <p:sp>
        <p:nvSpPr>
          <p:cNvPr id="164" name="Google Shape;164;p9">
            <a:extLst>
              <a:ext uri="{FF2B5EF4-FFF2-40B4-BE49-F238E27FC236}">
                <a16:creationId xmlns:a16="http://schemas.microsoft.com/office/drawing/2014/main" id="{338DF87F-D356-DCAC-243D-2539EC1D20EC}"/>
              </a:ext>
            </a:extLst>
          </p:cNvPr>
          <p:cNvSpPr txBox="1"/>
          <p:nvPr/>
        </p:nvSpPr>
        <p:spPr>
          <a:xfrm>
            <a:off x="7032103" y="1985216"/>
            <a:ext cx="2712295" cy="518161"/>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本プロジェクトの最終責任者</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エスカレーションされた課題の解決支援</a:t>
            </a:r>
            <a:endParaRPr sz="1867" b="0" i="0" u="none" strike="noStrike" cap="none">
              <a:solidFill>
                <a:srgbClr val="000000"/>
              </a:solidFill>
              <a:latin typeface="Arial"/>
              <a:ea typeface="Arial"/>
              <a:cs typeface="Arial"/>
              <a:sym typeface="Arial"/>
            </a:endParaRPr>
          </a:p>
        </p:txBody>
      </p:sp>
      <p:sp>
        <p:nvSpPr>
          <p:cNvPr id="166" name="Google Shape;166;p9">
            <a:extLst>
              <a:ext uri="{FF2B5EF4-FFF2-40B4-BE49-F238E27FC236}">
                <a16:creationId xmlns:a16="http://schemas.microsoft.com/office/drawing/2014/main" id="{14E551DC-716B-70FD-8ABF-58B1B26B852E}"/>
              </a:ext>
            </a:extLst>
          </p:cNvPr>
          <p:cNvSpPr txBox="1"/>
          <p:nvPr/>
        </p:nvSpPr>
        <p:spPr>
          <a:xfrm>
            <a:off x="11096272" y="2676019"/>
            <a:ext cx="2183219" cy="518159"/>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プロジェクト管理の実務執行</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日々の進捗・課題／リスク・コスト等の管理</a:t>
            </a:r>
            <a:endParaRPr sz="1000" b="0" i="0" u="none" strike="noStrike" cap="none">
              <a:solidFill>
                <a:srgbClr val="7F7F7F"/>
              </a:solidFill>
              <a:latin typeface="Meiryo"/>
              <a:ea typeface="Meiryo"/>
              <a:cs typeface="Meiryo"/>
              <a:sym typeface="Meiryo"/>
            </a:endParaRPr>
          </a:p>
        </p:txBody>
      </p:sp>
      <p:sp>
        <p:nvSpPr>
          <p:cNvPr id="167" name="Google Shape;167;p9">
            <a:extLst>
              <a:ext uri="{FF2B5EF4-FFF2-40B4-BE49-F238E27FC236}">
                <a16:creationId xmlns:a16="http://schemas.microsoft.com/office/drawing/2014/main" id="{1A0F2567-A1B4-1DD0-3C1B-DCB207F54399}"/>
              </a:ext>
            </a:extLst>
          </p:cNvPr>
          <p:cNvSpPr txBox="1"/>
          <p:nvPr/>
        </p:nvSpPr>
        <p:spPr>
          <a:xfrm>
            <a:off x="980831" y="1410061"/>
            <a:ext cx="3888432" cy="1106903"/>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プロジェクト実行の責任者</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プロジェクト全体方針の立案・実行</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プロジェクト全体の進捗管理進捗・課題／リスク・コスト等のモニタリング</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ステークホルダーへのレポーティング・コミュニケーション</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チーム横断的な課題の解決支援</a:t>
            </a:r>
            <a:endParaRPr sz="1867" b="0" i="0" u="none" strike="noStrike" cap="none">
              <a:solidFill>
                <a:srgbClr val="000000"/>
              </a:solidFill>
              <a:latin typeface="Arial"/>
              <a:ea typeface="Arial"/>
              <a:cs typeface="Arial"/>
              <a:sym typeface="Arial"/>
            </a:endParaRPr>
          </a:p>
        </p:txBody>
      </p:sp>
      <p:graphicFrame>
        <p:nvGraphicFramePr>
          <p:cNvPr id="170" name="Google Shape;170;p9">
            <a:extLst>
              <a:ext uri="{FF2B5EF4-FFF2-40B4-BE49-F238E27FC236}">
                <a16:creationId xmlns:a16="http://schemas.microsoft.com/office/drawing/2014/main" id="{98CAF847-0F28-3D26-F910-9D8C7F0EFF04}"/>
              </a:ext>
            </a:extLst>
          </p:cNvPr>
          <p:cNvGraphicFramePr/>
          <p:nvPr/>
        </p:nvGraphicFramePr>
        <p:xfrm>
          <a:off x="5183899" y="1211130"/>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ステアリングコミッティ</a:t>
                      </a:r>
                      <a:endParaRPr sz="1100" b="1" u="none" strike="noStrike" cap="none">
                        <a:solidFill>
                          <a:schemeClr val="lt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latin typeface="Meiryo"/>
                          <a:ea typeface="Meiryo"/>
                          <a:cs typeface="Meiryo"/>
                          <a:sym typeface="Meiryo"/>
                        </a:rPr>
                        <a:t>春本</a:t>
                      </a:r>
                      <a:r>
                        <a:rPr lang="ja-JP" sz="1100" b="1" u="none" strike="noStrike" cap="none">
                          <a:latin typeface="Meiryo"/>
                          <a:ea typeface="Meiryo"/>
                          <a:cs typeface="Meiryo"/>
                          <a:sym typeface="Meiryo"/>
                        </a:rPr>
                        <a:t>・</a:t>
                      </a:r>
                      <a:r>
                        <a:rPr lang="ja-JP" altLang="en-US" sz="1100" b="1" u="none" strike="noStrike" cap="none">
                          <a:latin typeface="Meiryo"/>
                          <a:ea typeface="Meiryo"/>
                          <a:cs typeface="Meiryo"/>
                          <a:sym typeface="Meiryo"/>
                        </a:rPr>
                        <a:t>塩川・荒木・藤田</a:t>
                      </a:r>
                      <a:endParaRPr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71" name="Google Shape;171;p9">
            <a:extLst>
              <a:ext uri="{FF2B5EF4-FFF2-40B4-BE49-F238E27FC236}">
                <a16:creationId xmlns:a16="http://schemas.microsoft.com/office/drawing/2014/main" id="{2C808AA1-C2DD-455C-05C6-AD0A9FE793C4}"/>
              </a:ext>
            </a:extLst>
          </p:cNvPr>
          <p:cNvSpPr txBox="1"/>
          <p:nvPr/>
        </p:nvSpPr>
        <p:spPr>
          <a:xfrm>
            <a:off x="7032103" y="1211131"/>
            <a:ext cx="2712295" cy="518161"/>
          </a:xfrm>
          <a:prstGeom prst="rect">
            <a:avLst/>
          </a:prstGeom>
          <a:noFill/>
          <a:ln>
            <a:noFill/>
          </a:ln>
        </p:spPr>
        <p:txBody>
          <a:bodyPr spcFirstLastPara="1" wrap="square" lIns="90000" tIns="60925" rIns="121900" bIns="60925" anchor="ctr" anchorCtr="0">
            <a:noAutofit/>
          </a:bodyPr>
          <a:lstStyle/>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本プロジェクトの最高意思決定機関</a:t>
            </a:r>
            <a:endParaRPr sz="1000" b="0" i="0" u="none" strike="noStrike" cap="none">
              <a:solidFill>
                <a:srgbClr val="7F7F7F"/>
              </a:solidFill>
              <a:latin typeface="Meiryo"/>
              <a:ea typeface="Meiryo"/>
              <a:cs typeface="Meiryo"/>
              <a:sym typeface="Meiryo"/>
            </a:endParaRPr>
          </a:p>
          <a:p>
            <a:pPr marL="171446" marR="0" lvl="0" indent="-171446"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プロジェクト全体の承認事項対応</a:t>
            </a:r>
            <a:endParaRPr sz="1867" b="0" i="0" u="none" strike="noStrike" cap="none">
              <a:solidFill>
                <a:srgbClr val="000000"/>
              </a:solidFill>
              <a:latin typeface="Arial"/>
              <a:ea typeface="Arial"/>
              <a:cs typeface="Arial"/>
              <a:sym typeface="Arial"/>
            </a:endParaRPr>
          </a:p>
        </p:txBody>
      </p:sp>
      <p:cxnSp>
        <p:nvCxnSpPr>
          <p:cNvPr id="172" name="Google Shape;172;p9">
            <a:extLst>
              <a:ext uri="{FF2B5EF4-FFF2-40B4-BE49-F238E27FC236}">
                <a16:creationId xmlns:a16="http://schemas.microsoft.com/office/drawing/2014/main" id="{83B88774-2D55-5044-2980-91CC76B243D3}"/>
              </a:ext>
            </a:extLst>
          </p:cNvPr>
          <p:cNvCxnSpPr/>
          <p:nvPr/>
        </p:nvCxnSpPr>
        <p:spPr>
          <a:xfrm rot="10800000">
            <a:off x="6083999" y="1729216"/>
            <a:ext cx="0" cy="256000"/>
          </a:xfrm>
          <a:prstGeom prst="straightConnector1">
            <a:avLst/>
          </a:prstGeom>
          <a:noFill/>
          <a:ln w="19050" cap="flat" cmpd="sng">
            <a:solidFill>
              <a:srgbClr val="BFBFBF"/>
            </a:solidFill>
            <a:prstDash val="solid"/>
            <a:round/>
            <a:headEnd type="none" w="sm" len="sm"/>
            <a:tailEnd type="none" w="sm" len="sm"/>
          </a:ln>
        </p:spPr>
      </p:cxnSp>
      <p:sp>
        <p:nvSpPr>
          <p:cNvPr id="173" name="Google Shape;173;p9">
            <a:extLst>
              <a:ext uri="{FF2B5EF4-FFF2-40B4-BE49-F238E27FC236}">
                <a16:creationId xmlns:a16="http://schemas.microsoft.com/office/drawing/2014/main" id="{5228E5CA-3076-DF64-B1C6-55488E4ABBE3}"/>
              </a:ext>
            </a:extLst>
          </p:cNvPr>
          <p:cNvSpPr/>
          <p:nvPr/>
        </p:nvSpPr>
        <p:spPr>
          <a:xfrm>
            <a:off x="623393" y="1211415"/>
            <a:ext cx="1116124" cy="250307"/>
          </a:xfrm>
          <a:prstGeom prst="rect">
            <a:avLst/>
          </a:prstGeom>
          <a:noFill/>
          <a:ln>
            <a:noFill/>
          </a:ln>
        </p:spPr>
        <p:txBody>
          <a:bodyPr spcFirstLastPara="1" wrap="square" lIns="121900" tIns="60925" rIns="121900" bIns="60925" anchor="ctr" anchorCtr="0">
            <a:noAutofit/>
          </a:bodyPr>
          <a:lstStyle/>
          <a:p>
            <a:pPr marL="0" marR="0" lvl="0" indent="0" algn="l" rtl="0">
              <a:lnSpc>
                <a:spcPct val="100000"/>
              </a:lnSpc>
              <a:spcBef>
                <a:spcPts val="0"/>
              </a:spcBef>
              <a:spcAft>
                <a:spcPts val="0"/>
              </a:spcAft>
              <a:buNone/>
            </a:pPr>
            <a:r>
              <a:rPr lang="ja-JP" sz="1100" b="1" i="0" u="sng" strike="noStrike" cap="none">
                <a:solidFill>
                  <a:schemeClr val="dk1"/>
                </a:solidFill>
                <a:latin typeface="Meiryo"/>
                <a:ea typeface="Meiryo"/>
                <a:cs typeface="Meiryo"/>
                <a:sym typeface="Meiryo"/>
              </a:rPr>
              <a:t>下線</a:t>
            </a:r>
            <a:r>
              <a:rPr lang="ja-JP" sz="1100" b="1" i="0" u="none" strike="noStrike" cap="none">
                <a:solidFill>
                  <a:schemeClr val="dk1"/>
                </a:solidFill>
                <a:latin typeface="Meiryo"/>
                <a:ea typeface="Meiryo"/>
                <a:cs typeface="Meiryo"/>
                <a:sym typeface="Meiryo"/>
              </a:rPr>
              <a:t>はリード</a:t>
            </a:r>
            <a:endParaRPr sz="1867" b="0" i="0" u="none" strike="noStrike" cap="none">
              <a:solidFill>
                <a:srgbClr val="000000"/>
              </a:solidFill>
              <a:latin typeface="Arial"/>
              <a:ea typeface="Arial"/>
              <a:cs typeface="Arial"/>
              <a:sym typeface="Arial"/>
            </a:endParaRPr>
          </a:p>
        </p:txBody>
      </p:sp>
      <p:graphicFrame>
        <p:nvGraphicFramePr>
          <p:cNvPr id="176" name="Google Shape;176;p9">
            <a:extLst>
              <a:ext uri="{FF2B5EF4-FFF2-40B4-BE49-F238E27FC236}">
                <a16:creationId xmlns:a16="http://schemas.microsoft.com/office/drawing/2014/main" id="{9DE28D91-6EAA-1DE5-87EA-9F6893ED67D1}"/>
              </a:ext>
            </a:extLst>
          </p:cNvPr>
          <p:cNvGraphicFramePr/>
          <p:nvPr>
            <p:extLst>
              <p:ext uri="{D42A27DB-BD31-4B8C-83A1-F6EECF244321}">
                <p14:modId xmlns:p14="http://schemas.microsoft.com/office/powerpoint/2010/main" val="3914092642"/>
              </p:ext>
            </p:extLst>
          </p:nvPr>
        </p:nvGraphicFramePr>
        <p:xfrm>
          <a:off x="621943" y="5851447"/>
          <a:ext cx="1492402" cy="871286"/>
        </p:xfrm>
        <a:graphic>
          <a:graphicData uri="http://schemas.openxmlformats.org/drawingml/2006/table">
            <a:tbl>
              <a:tblPr>
                <a:noFill/>
                <a:tableStyleId>{16DD54E9-F15A-4EFF-A1D8-E2CBB5DF2B52}</a:tableStyleId>
              </a:tblPr>
              <a:tblGrid>
                <a:gridCol w="1492402">
                  <a:extLst>
                    <a:ext uri="{9D8B030D-6E8A-4147-A177-3AD203B41FA5}">
                      <a16:colId xmlns:a16="http://schemas.microsoft.com/office/drawing/2014/main" val="20000"/>
                    </a:ext>
                  </a:extLst>
                </a:gridCol>
              </a:tblGrid>
              <a:tr h="319839">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開発担当</a:t>
                      </a:r>
                      <a:endParaRPr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551447">
                <a:tc>
                  <a:txBody>
                    <a:bodyPr/>
                    <a:lstStyle/>
                    <a:p>
                      <a:pPr marL="0" marR="0" lvl="0" indent="0" algn="ctr">
                        <a:lnSpc>
                          <a:spcPct val="100000"/>
                        </a:lnSpc>
                        <a:spcBef>
                          <a:spcPts val="0"/>
                        </a:spcBef>
                        <a:spcAft>
                          <a:spcPts val="0"/>
                        </a:spcAft>
                        <a:buSzPts val="800"/>
                        <a:buFont typeface="Arial"/>
                        <a:buNone/>
                      </a:pPr>
                      <a:r>
                        <a:rPr lang="en-US" sz="1100" b="1" u="sng" strike="noStrike" cap="none">
                          <a:solidFill>
                            <a:schemeClr val="dk1"/>
                          </a:solidFill>
                          <a:latin typeface="Meiryo"/>
                          <a:ea typeface="Meiryo"/>
                        </a:rPr>
                        <a:t>TRE</a:t>
                      </a:r>
                      <a:endParaRPr sz="1100" b="1" u="sng" strike="noStrike" cap="none">
                        <a:solidFill>
                          <a:schemeClr val="dk1"/>
                        </a:solidFill>
                        <a:latin typeface="Meiryo"/>
                        <a:ea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35" name="Google Shape;176;p9">
            <a:extLst>
              <a:ext uri="{FF2B5EF4-FFF2-40B4-BE49-F238E27FC236}">
                <a16:creationId xmlns:a16="http://schemas.microsoft.com/office/drawing/2014/main" id="{0A1EC5A2-14A4-A90A-D0EB-4106FD3A8942}"/>
              </a:ext>
            </a:extLst>
          </p:cNvPr>
          <p:cNvGraphicFramePr/>
          <p:nvPr>
            <p:extLst>
              <p:ext uri="{D42A27DB-BD31-4B8C-83A1-F6EECF244321}">
                <p14:modId xmlns:p14="http://schemas.microsoft.com/office/powerpoint/2010/main" val="1542668554"/>
              </p:ext>
            </p:extLst>
          </p:nvPr>
        </p:nvGraphicFramePr>
        <p:xfrm>
          <a:off x="8379179" y="3921384"/>
          <a:ext cx="1896945" cy="581970"/>
        </p:xfrm>
        <a:graphic>
          <a:graphicData uri="http://schemas.openxmlformats.org/drawingml/2006/table">
            <a:tbl>
              <a:tblPr>
                <a:noFill/>
                <a:tableStyleId>{16DD54E9-F15A-4EFF-A1D8-E2CBB5DF2B52}</a:tableStyleId>
              </a:tblPr>
              <a:tblGrid>
                <a:gridCol w="1896945">
                  <a:extLst>
                    <a:ext uri="{9D8B030D-6E8A-4147-A177-3AD203B41FA5}">
                      <a16:colId xmlns:a16="http://schemas.microsoft.com/office/drawing/2014/main" val="20000"/>
                    </a:ext>
                  </a:extLst>
                </a:gridCol>
              </a:tblGrid>
              <a:tr h="210541">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ビジネスリード</a:t>
                      </a:r>
                      <a:endParaRPr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22880">
                <a:tc>
                  <a:txBody>
                    <a:bodyPr/>
                    <a:lstStyle/>
                    <a:p>
                      <a:pPr marL="0" marR="0" lvl="0" indent="0" algn="ctr" rtl="0">
                        <a:lnSpc>
                          <a:spcPct val="100000"/>
                        </a:lnSpc>
                        <a:spcBef>
                          <a:spcPts val="0"/>
                        </a:spcBef>
                        <a:spcAft>
                          <a:spcPts val="0"/>
                        </a:spcAft>
                        <a:buClr>
                          <a:srgbClr val="000000"/>
                        </a:buClr>
                        <a:buSzPts val="800"/>
                        <a:buFont typeface="Arial"/>
                        <a:buNone/>
                      </a:pPr>
                      <a:endParaRPr lang="en-US" altLang="ja-JP" sz="1100" b="1" u="sng" strike="noStrike" cap="none" dirty="0">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41" name="Google Shape;160;p9">
            <a:extLst>
              <a:ext uri="{FF2B5EF4-FFF2-40B4-BE49-F238E27FC236}">
                <a16:creationId xmlns:a16="http://schemas.microsoft.com/office/drawing/2014/main" id="{00DC81FF-6827-E02F-A732-9637DCA53FB0}"/>
              </a:ext>
            </a:extLst>
          </p:cNvPr>
          <p:cNvCxnSpPr>
            <a:cxnSpLocks/>
            <a:stCxn id="148" idx="0"/>
            <a:endCxn id="145" idx="2"/>
          </p:cNvCxnSpPr>
          <p:nvPr/>
        </p:nvCxnSpPr>
        <p:spPr>
          <a:xfrm rot="16200000" flipV="1">
            <a:off x="8023088" y="554162"/>
            <a:ext cx="242050" cy="4168230"/>
          </a:xfrm>
          <a:prstGeom prst="bentConnector3">
            <a:avLst>
              <a:gd name="adj1" fmla="val 50000"/>
            </a:avLst>
          </a:prstGeom>
          <a:noFill/>
          <a:ln w="19050" cap="flat" cmpd="sng">
            <a:solidFill>
              <a:srgbClr val="BFBFBF"/>
            </a:solidFill>
            <a:prstDash val="solid"/>
            <a:round/>
            <a:headEnd type="none" w="sm" len="sm"/>
            <a:tailEnd type="none" w="sm" len="sm"/>
          </a:ln>
        </p:spPr>
      </p:cxnSp>
      <p:graphicFrame>
        <p:nvGraphicFramePr>
          <p:cNvPr id="14" name="Google Shape;146;p9">
            <a:extLst>
              <a:ext uri="{FF2B5EF4-FFF2-40B4-BE49-F238E27FC236}">
                <a16:creationId xmlns:a16="http://schemas.microsoft.com/office/drawing/2014/main" id="{EBE0C082-CEC9-3AC0-7CC7-76BC01F39A60}"/>
              </a:ext>
            </a:extLst>
          </p:cNvPr>
          <p:cNvGraphicFramePr/>
          <p:nvPr>
            <p:extLst>
              <p:ext uri="{D42A27DB-BD31-4B8C-83A1-F6EECF244321}">
                <p14:modId xmlns:p14="http://schemas.microsoft.com/office/powerpoint/2010/main" val="1056599486"/>
              </p:ext>
            </p:extLst>
          </p:nvPr>
        </p:nvGraphicFramePr>
        <p:xfrm>
          <a:off x="2280494" y="3919978"/>
          <a:ext cx="1540780" cy="735994"/>
        </p:xfrm>
        <a:graphic>
          <a:graphicData uri="http://schemas.openxmlformats.org/drawingml/2006/table">
            <a:tbl>
              <a:tblPr>
                <a:noFill/>
                <a:tableStyleId>{16DD54E9-F15A-4EFF-A1D8-E2CBB5DF2B52}</a:tableStyleId>
              </a:tblPr>
              <a:tblGrid>
                <a:gridCol w="1540780">
                  <a:extLst>
                    <a:ext uri="{9D8B030D-6E8A-4147-A177-3AD203B41FA5}">
                      <a16:colId xmlns:a16="http://schemas.microsoft.com/office/drawing/2014/main" val="20000"/>
                    </a:ext>
                  </a:extLst>
                </a:gridCol>
              </a:tblGrid>
              <a:tr h="383827">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200" b="1" u="none" strike="noStrike" cap="none">
                          <a:solidFill>
                            <a:schemeClr val="lt1"/>
                          </a:solidFill>
                          <a:latin typeface="メイリオ"/>
                          <a:ea typeface="メイリオ"/>
                        </a:rPr>
                        <a:t>システムリード</a:t>
                      </a:r>
                      <a:endParaRPr sz="1200" b="1" u="none" strike="noStrike" cap="none">
                        <a:solidFill>
                          <a:schemeClr val="lt1"/>
                        </a:solidFill>
                        <a:latin typeface="メイリオ" panose="020B0604030504040204" pitchFamily="50" charset="-128"/>
                        <a:ea typeface="メイリオ" panose="020B0604030504040204" pitchFamily="50" charset="-128"/>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52167">
                <a:tc>
                  <a:txBody>
                    <a:bodyPr/>
                    <a:lstStyle/>
                    <a:p>
                      <a:pPr marL="0" marR="0" lvl="0" indent="0" algn="ctr">
                        <a:lnSpc>
                          <a:spcPct val="100000"/>
                        </a:lnSpc>
                        <a:spcBef>
                          <a:spcPts val="0"/>
                        </a:spcBef>
                        <a:spcAft>
                          <a:spcPts val="0"/>
                        </a:spcAft>
                        <a:buNone/>
                      </a:pPr>
                      <a:r>
                        <a:rPr lang="ja-JP" altLang="en-US" sz="1100" b="1" u="none" strike="noStrike" cap="none">
                          <a:solidFill>
                            <a:schemeClr val="dk1"/>
                          </a:solidFill>
                          <a:latin typeface="Meiryo"/>
                          <a:ea typeface="Meiryo"/>
                          <a:cs typeface="Meiryo"/>
                        </a:rPr>
                        <a:t>後田</a:t>
                      </a:r>
                      <a:endParaRPr lang="ja-JP" altLang="en-US"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29" name="コネクタ: カギ線 28">
            <a:extLst>
              <a:ext uri="{FF2B5EF4-FFF2-40B4-BE49-F238E27FC236}">
                <a16:creationId xmlns:a16="http://schemas.microsoft.com/office/drawing/2014/main" id="{C41AC0BA-636A-220E-72A8-6CC40AE4288A}"/>
              </a:ext>
            </a:extLst>
          </p:cNvPr>
          <p:cNvCxnSpPr>
            <a:cxnSpLocks/>
          </p:cNvCxnSpPr>
          <p:nvPr/>
        </p:nvCxnSpPr>
        <p:spPr>
          <a:xfrm rot="5400000" flipH="1" flipV="1">
            <a:off x="6160492" y="531901"/>
            <a:ext cx="14430" cy="6061508"/>
          </a:xfrm>
          <a:prstGeom prst="bentConnector2">
            <a:avLst/>
          </a:prstGeom>
          <a:noFill/>
          <a:ln w="19050" cap="flat" cmpd="sng">
            <a:solidFill>
              <a:srgbClr val="BFBFBF"/>
            </a:solidFill>
            <a:prstDash val="solid"/>
            <a:round/>
            <a:headEnd type="none" w="sm" len="sm"/>
            <a:tailEnd type="none" w="sm" len="sm"/>
          </a:ln>
        </p:spPr>
      </p:cxnSp>
      <p:cxnSp>
        <p:nvCxnSpPr>
          <p:cNvPr id="32" name="直線コネクタ 31">
            <a:extLst>
              <a:ext uri="{FF2B5EF4-FFF2-40B4-BE49-F238E27FC236}">
                <a16:creationId xmlns:a16="http://schemas.microsoft.com/office/drawing/2014/main" id="{6F04E118-7B88-FFB4-5F91-51726BF726C3}"/>
              </a:ext>
            </a:extLst>
          </p:cNvPr>
          <p:cNvCxnSpPr/>
          <p:nvPr/>
        </p:nvCxnSpPr>
        <p:spPr>
          <a:xfrm>
            <a:off x="6059998" y="3229603"/>
            <a:ext cx="0" cy="327413"/>
          </a:xfrm>
          <a:prstGeom prst="line">
            <a:avLst/>
          </a:prstGeom>
          <a:noFill/>
          <a:ln w="19050" cap="flat" cmpd="sng">
            <a:solidFill>
              <a:srgbClr val="BFBFBF"/>
            </a:solidFill>
            <a:prstDash val="solid"/>
            <a:round/>
            <a:headEnd type="none" w="sm" len="sm"/>
            <a:tailEnd type="none" w="sm" len="sm"/>
          </a:ln>
        </p:spPr>
      </p:cxnSp>
      <p:graphicFrame>
        <p:nvGraphicFramePr>
          <p:cNvPr id="146" name="Google Shape;146;p9">
            <a:extLst>
              <a:ext uri="{FF2B5EF4-FFF2-40B4-BE49-F238E27FC236}">
                <a16:creationId xmlns:a16="http://schemas.microsoft.com/office/drawing/2014/main" id="{89A39A78-2F93-B54E-8C77-4196A4088DA0}"/>
              </a:ext>
            </a:extLst>
          </p:cNvPr>
          <p:cNvGraphicFramePr/>
          <p:nvPr>
            <p:extLst>
              <p:ext uri="{D42A27DB-BD31-4B8C-83A1-F6EECF244321}">
                <p14:modId xmlns:p14="http://schemas.microsoft.com/office/powerpoint/2010/main" val="3525753299"/>
              </p:ext>
            </p:extLst>
          </p:nvPr>
        </p:nvGraphicFramePr>
        <p:xfrm>
          <a:off x="5202608" y="2757143"/>
          <a:ext cx="1800200" cy="518581"/>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491">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プロジェクトマネジャー</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dk1"/>
                          </a:solidFill>
                          <a:latin typeface="Meiryo"/>
                          <a:ea typeface="Meiryo"/>
                          <a:cs typeface="Meiryo"/>
                        </a:rPr>
                        <a:t>鈴木（BAチーム）</a:t>
                      </a:r>
                      <a:endParaRPr lang="ja-JP" altLang="en-US" sz="1100" b="1" u="none" strike="noStrike" cap="none">
                        <a:solidFill>
                          <a:schemeClr val="dk1"/>
                        </a:solidFill>
                        <a:latin typeface="Meiryo"/>
                        <a:ea typeface="Meiryo"/>
                        <a:cs typeface="Meiryo"/>
                        <a:sym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34" name="Google Shape;176;p9">
            <a:extLst>
              <a:ext uri="{FF2B5EF4-FFF2-40B4-BE49-F238E27FC236}">
                <a16:creationId xmlns:a16="http://schemas.microsoft.com/office/drawing/2014/main" id="{88C47D9E-E456-039D-BB0B-4BE149E42C44}"/>
              </a:ext>
            </a:extLst>
          </p:cNvPr>
          <p:cNvGraphicFramePr/>
          <p:nvPr>
            <p:extLst>
              <p:ext uri="{D42A27DB-BD31-4B8C-83A1-F6EECF244321}">
                <p14:modId xmlns:p14="http://schemas.microsoft.com/office/powerpoint/2010/main" val="1659927309"/>
              </p:ext>
            </p:extLst>
          </p:nvPr>
        </p:nvGraphicFramePr>
        <p:xfrm>
          <a:off x="3509418" y="4952019"/>
          <a:ext cx="1260423" cy="850904"/>
        </p:xfrm>
        <a:graphic>
          <a:graphicData uri="http://schemas.openxmlformats.org/drawingml/2006/table">
            <a:tbl>
              <a:tblPr>
                <a:noFill/>
                <a:tableStyleId>{16DD54E9-F15A-4EFF-A1D8-E2CBB5DF2B52}</a:tableStyleId>
              </a:tblPr>
              <a:tblGrid>
                <a:gridCol w="1260423">
                  <a:extLst>
                    <a:ext uri="{9D8B030D-6E8A-4147-A177-3AD203B41FA5}">
                      <a16:colId xmlns:a16="http://schemas.microsoft.com/office/drawing/2014/main" val="20000"/>
                    </a:ext>
                  </a:extLst>
                </a:gridCol>
              </a:tblGrid>
              <a:tr h="367787">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err="1">
                          <a:solidFill>
                            <a:schemeClr val="lt1"/>
                          </a:solidFill>
                          <a:latin typeface="Meiryo"/>
                          <a:ea typeface="Meiryo"/>
                          <a:cs typeface="Meiryo"/>
                        </a:rPr>
                        <a:t>内製</a:t>
                      </a:r>
                      <a:r>
                        <a:rPr lang="ja-JP" altLang="en-US" sz="1100" b="1" u="none" strike="noStrike" cap="none">
                          <a:solidFill>
                            <a:schemeClr val="lt1"/>
                          </a:solidFill>
                          <a:latin typeface="Meiryo"/>
                          <a:ea typeface="Meiryo"/>
                          <a:cs typeface="Meiryo"/>
                        </a:rPr>
                        <a:t>対応</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83117">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rPr>
                        <a:t>田村</a:t>
                      </a:r>
                    </a:p>
                    <a:p>
                      <a:pPr marL="0" marR="0" lvl="0" indent="0" algn="ctr">
                        <a:lnSpc>
                          <a:spcPct val="100000"/>
                        </a:lnSpc>
                        <a:spcBef>
                          <a:spcPts val="0"/>
                        </a:spcBef>
                        <a:spcAft>
                          <a:spcPts val="0"/>
                        </a:spcAft>
                        <a:buSzPts val="800"/>
                        <a:buFont typeface="Arial"/>
                        <a:buNone/>
                      </a:pPr>
                      <a:r>
                        <a:rPr lang="ja-JP" altLang="en-US" sz="1100" b="1" u="none" strike="noStrike" cap="none">
                          <a:solidFill>
                            <a:schemeClr val="dk1"/>
                          </a:solidFill>
                          <a:latin typeface="Meiryo"/>
                          <a:ea typeface="Meiryo"/>
                        </a:rPr>
                        <a:t>佐藤（光）・王</a:t>
                      </a: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5" name="コネクタ: カギ線 4">
            <a:extLst>
              <a:ext uri="{FF2B5EF4-FFF2-40B4-BE49-F238E27FC236}">
                <a16:creationId xmlns:a16="http://schemas.microsoft.com/office/drawing/2014/main" id="{F7CC2538-C336-B418-F38D-4C2883B2648F}"/>
              </a:ext>
            </a:extLst>
          </p:cNvPr>
          <p:cNvCxnSpPr>
            <a:cxnSpLocks/>
            <a:endCxn id="6" idx="0"/>
          </p:cNvCxnSpPr>
          <p:nvPr/>
        </p:nvCxnSpPr>
        <p:spPr>
          <a:xfrm rot="10800000" flipV="1">
            <a:off x="3184828" y="2615287"/>
            <a:ext cx="3348848" cy="133384"/>
          </a:xfrm>
          <a:prstGeom prst="bentConnector2">
            <a:avLst/>
          </a:prstGeom>
          <a:noFill/>
          <a:ln w="19050" cap="flat" cmpd="sng">
            <a:solidFill>
              <a:srgbClr val="BFBFBF"/>
            </a:solidFill>
            <a:prstDash val="solid"/>
            <a:round/>
            <a:headEnd type="none" w="sm" len="sm"/>
            <a:tailEnd type="none" w="sm" len="sm"/>
          </a:ln>
        </p:spPr>
      </p:cxnSp>
      <p:graphicFrame>
        <p:nvGraphicFramePr>
          <p:cNvPr id="6" name="Google Shape;148;p9">
            <a:extLst>
              <a:ext uri="{FF2B5EF4-FFF2-40B4-BE49-F238E27FC236}">
                <a16:creationId xmlns:a16="http://schemas.microsoft.com/office/drawing/2014/main" id="{8024062C-FC39-6462-F31A-F3C32C03D643}"/>
              </a:ext>
            </a:extLst>
          </p:cNvPr>
          <p:cNvGraphicFramePr/>
          <p:nvPr>
            <p:extLst>
              <p:ext uri="{D42A27DB-BD31-4B8C-83A1-F6EECF244321}">
                <p14:modId xmlns:p14="http://schemas.microsoft.com/office/powerpoint/2010/main" val="1599949691"/>
              </p:ext>
            </p:extLst>
          </p:nvPr>
        </p:nvGraphicFramePr>
        <p:xfrm>
          <a:off x="2284728" y="2748671"/>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rtl="0">
                        <a:lnSpc>
                          <a:spcPct val="100000"/>
                        </a:lnSpc>
                        <a:spcBef>
                          <a:spcPts val="0"/>
                        </a:spcBef>
                        <a:spcAft>
                          <a:spcPts val="0"/>
                        </a:spcAft>
                        <a:buClr>
                          <a:srgbClr val="000000"/>
                        </a:buClr>
                        <a:buSzPts val="800"/>
                        <a:buFont typeface="Arial"/>
                        <a:buNone/>
                      </a:pPr>
                      <a:r>
                        <a:rPr lang="en-US" altLang="ja-JP" sz="1100" b="1" u="none" strike="noStrike" cap="none">
                          <a:solidFill>
                            <a:schemeClr val="lt1"/>
                          </a:solidFill>
                          <a:latin typeface="Meiryo"/>
                          <a:ea typeface="Meiryo"/>
                          <a:cs typeface="Meiryo"/>
                          <a:sym typeface="Meiryo"/>
                        </a:rPr>
                        <a:t>PMI</a:t>
                      </a:r>
                      <a:endParaRPr sz="1900" b="1" u="none" strike="noStrike" cap="none">
                        <a:solidFill>
                          <a:schemeClr val="lt1"/>
                        </a:solidFill>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sym typeface="Meiryo"/>
                        </a:rPr>
                        <a:t>嵯峨根</a:t>
                      </a:r>
                      <a:endParaRPr sz="1900" u="none" strike="noStrike" cap="none"/>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8" name="Google Shape;176;p9">
            <a:extLst>
              <a:ext uri="{FF2B5EF4-FFF2-40B4-BE49-F238E27FC236}">
                <a16:creationId xmlns:a16="http://schemas.microsoft.com/office/drawing/2014/main" id="{9814749B-F8FD-876C-5611-BD1B297A3754}"/>
              </a:ext>
            </a:extLst>
          </p:cNvPr>
          <p:cNvGraphicFramePr/>
          <p:nvPr>
            <p:extLst>
              <p:ext uri="{D42A27DB-BD31-4B8C-83A1-F6EECF244321}">
                <p14:modId xmlns:p14="http://schemas.microsoft.com/office/powerpoint/2010/main" val="1053546482"/>
              </p:ext>
            </p:extLst>
          </p:nvPr>
        </p:nvGraphicFramePr>
        <p:xfrm>
          <a:off x="4626428" y="3922289"/>
          <a:ext cx="1739106" cy="760843"/>
        </p:xfrm>
        <a:graphic>
          <a:graphicData uri="http://schemas.openxmlformats.org/drawingml/2006/table">
            <a:tbl>
              <a:tblPr>
                <a:noFill/>
                <a:tableStyleId>{16DD54E9-F15A-4EFF-A1D8-E2CBB5DF2B52}</a:tableStyleId>
              </a:tblPr>
              <a:tblGrid>
                <a:gridCol w="1739106">
                  <a:extLst>
                    <a:ext uri="{9D8B030D-6E8A-4147-A177-3AD203B41FA5}">
                      <a16:colId xmlns:a16="http://schemas.microsoft.com/office/drawing/2014/main" val="20000"/>
                    </a:ext>
                  </a:extLst>
                </a:gridCol>
              </a:tblGrid>
              <a:tr h="40745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rPr>
                        <a:t>データ移行リード</a:t>
                      </a:r>
                    </a:p>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（Phase1継続）</a:t>
                      </a: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34113">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cs typeface="Meiryo"/>
                        </a:rPr>
                        <a:t>許</a:t>
                      </a:r>
                      <a:endParaRPr lang="ja-JP" altLang="en-US"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2" name="Google Shape;176;p9">
            <a:extLst>
              <a:ext uri="{FF2B5EF4-FFF2-40B4-BE49-F238E27FC236}">
                <a16:creationId xmlns:a16="http://schemas.microsoft.com/office/drawing/2014/main" id="{4B963ED9-A227-20F0-E2D8-29B2B58FAA2D}"/>
              </a:ext>
            </a:extLst>
          </p:cNvPr>
          <p:cNvGraphicFramePr/>
          <p:nvPr>
            <p:extLst>
              <p:ext uri="{D42A27DB-BD31-4B8C-83A1-F6EECF244321}">
                <p14:modId xmlns:p14="http://schemas.microsoft.com/office/powerpoint/2010/main" val="3030948576"/>
              </p:ext>
            </p:extLst>
          </p:nvPr>
        </p:nvGraphicFramePr>
        <p:xfrm>
          <a:off x="606060" y="4945976"/>
          <a:ext cx="1531514" cy="852777"/>
        </p:xfrm>
        <a:graphic>
          <a:graphicData uri="http://schemas.openxmlformats.org/drawingml/2006/table">
            <a:tbl>
              <a:tblPr>
                <a:noFill/>
                <a:tableStyleId>{16DD54E9-F15A-4EFF-A1D8-E2CBB5DF2B52}</a:tableStyleId>
              </a:tblPr>
              <a:tblGrid>
                <a:gridCol w="1531514">
                  <a:extLst>
                    <a:ext uri="{9D8B030D-6E8A-4147-A177-3AD203B41FA5}">
                      <a16:colId xmlns:a16="http://schemas.microsoft.com/office/drawing/2014/main" val="20000"/>
                    </a:ext>
                  </a:extLst>
                </a:gridCol>
              </a:tblGrid>
              <a:tr h="478387">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商談システム担当</a:t>
                      </a:r>
                      <a:endParaRPr lang="en-US" altLang="ja-JP" sz="1100" b="1"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（生鮮・非生鮮）</a:t>
                      </a:r>
                      <a:endParaRPr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74390">
                <a:tc>
                  <a:txBody>
                    <a:bodyPr/>
                    <a:lstStyle/>
                    <a:p>
                      <a:pPr marL="0" marR="0" lvl="0" indent="0" algn="ctr" rtl="0">
                        <a:lnSpc>
                          <a:spcPct val="100000"/>
                        </a:lnSpc>
                        <a:spcBef>
                          <a:spcPts val="0"/>
                        </a:spcBef>
                        <a:spcAft>
                          <a:spcPts val="0"/>
                        </a:spcAft>
                        <a:buClr>
                          <a:srgbClr val="000000"/>
                        </a:buClr>
                        <a:buSzPts val="800"/>
                        <a:buFont typeface="Arial"/>
                        <a:buNone/>
                      </a:pPr>
                      <a:r>
                        <a:rPr lang="en-US" altLang="ja-JP" sz="1100" b="1" u="sng" strike="noStrike" cap="none" err="1">
                          <a:solidFill>
                            <a:schemeClr val="dk1"/>
                          </a:solidFill>
                          <a:latin typeface="Meiryo"/>
                          <a:ea typeface="Meiryo"/>
                          <a:cs typeface="Meiryo"/>
                        </a:rPr>
                        <a:t>山村</a:t>
                      </a:r>
                      <a:endParaRPr lang="en-US" altLang="ja-JP" sz="1100" b="1" u="sng" strike="noStrike" cap="none" err="1">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4" name="Google Shape;176;p9">
            <a:extLst>
              <a:ext uri="{FF2B5EF4-FFF2-40B4-BE49-F238E27FC236}">
                <a16:creationId xmlns:a16="http://schemas.microsoft.com/office/drawing/2014/main" id="{A79E5242-2F4F-04EA-AC52-5A0F9F9ED153}"/>
              </a:ext>
            </a:extLst>
          </p:cNvPr>
          <p:cNvGraphicFramePr/>
          <p:nvPr>
            <p:extLst>
              <p:ext uri="{D42A27DB-BD31-4B8C-83A1-F6EECF244321}">
                <p14:modId xmlns:p14="http://schemas.microsoft.com/office/powerpoint/2010/main" val="63379929"/>
              </p:ext>
            </p:extLst>
          </p:nvPr>
        </p:nvGraphicFramePr>
        <p:xfrm>
          <a:off x="8033197" y="4906915"/>
          <a:ext cx="1431731" cy="758669"/>
        </p:xfrm>
        <a:graphic>
          <a:graphicData uri="http://schemas.openxmlformats.org/drawingml/2006/table">
            <a:tbl>
              <a:tblPr>
                <a:noFill/>
                <a:tableStyleId>{16DD54E9-F15A-4EFF-A1D8-E2CBB5DF2B52}</a:tableStyleId>
              </a:tblPr>
              <a:tblGrid>
                <a:gridCol w="1431731">
                  <a:extLst>
                    <a:ext uri="{9D8B030D-6E8A-4147-A177-3AD203B41FA5}">
                      <a16:colId xmlns:a16="http://schemas.microsoft.com/office/drawing/2014/main" val="20000"/>
                    </a:ext>
                  </a:extLst>
                </a:gridCol>
              </a:tblGrid>
              <a:tr h="290626">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移行計画</a:t>
                      </a:r>
                      <a:endParaRPr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68043">
                <a:tc>
                  <a:txBody>
                    <a:bodyPr/>
                    <a:lstStyle/>
                    <a:p>
                      <a:pPr marL="0" marR="0" lvl="0" indent="0" algn="ctr" rtl="0">
                        <a:lnSpc>
                          <a:spcPct val="100000"/>
                        </a:lnSpc>
                        <a:spcBef>
                          <a:spcPts val="0"/>
                        </a:spcBef>
                        <a:spcAft>
                          <a:spcPts val="0"/>
                        </a:spcAft>
                        <a:buClr>
                          <a:srgbClr val="000000"/>
                        </a:buClr>
                        <a:buSzPts val="800"/>
                        <a:buFont typeface="Arial"/>
                        <a:buNone/>
                      </a:pPr>
                      <a:r>
                        <a:rPr lang="ja-JP" sz="1100" b="1" u="sng" strike="noStrike" cap="none">
                          <a:solidFill>
                            <a:schemeClr val="dk1"/>
                          </a:solidFill>
                          <a:latin typeface="Meiryo"/>
                          <a:ea typeface="Meiryo"/>
                          <a:cs typeface="Meiryo"/>
                          <a:sym typeface="Meiryo"/>
                        </a:rPr>
                        <a:t>XXX</a:t>
                      </a:r>
                      <a:endParaRPr lang="en-US" altLang="ja-JP"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7" name="Google Shape;176;p9">
            <a:extLst>
              <a:ext uri="{FF2B5EF4-FFF2-40B4-BE49-F238E27FC236}">
                <a16:creationId xmlns:a16="http://schemas.microsoft.com/office/drawing/2014/main" id="{796F6C74-8609-1B06-9A89-62033DC6AFE2}"/>
              </a:ext>
            </a:extLst>
          </p:cNvPr>
          <p:cNvGraphicFramePr/>
          <p:nvPr>
            <p:extLst>
              <p:ext uri="{D42A27DB-BD31-4B8C-83A1-F6EECF244321}">
                <p14:modId xmlns:p14="http://schemas.microsoft.com/office/powerpoint/2010/main" val="426653708"/>
              </p:ext>
            </p:extLst>
          </p:nvPr>
        </p:nvGraphicFramePr>
        <p:xfrm>
          <a:off x="9735327" y="4896478"/>
          <a:ext cx="1431731" cy="758669"/>
        </p:xfrm>
        <a:graphic>
          <a:graphicData uri="http://schemas.openxmlformats.org/drawingml/2006/table">
            <a:tbl>
              <a:tblPr>
                <a:noFill/>
                <a:tableStyleId>{16DD54E9-F15A-4EFF-A1D8-E2CBB5DF2B52}</a:tableStyleId>
              </a:tblPr>
              <a:tblGrid>
                <a:gridCol w="1431731">
                  <a:extLst>
                    <a:ext uri="{9D8B030D-6E8A-4147-A177-3AD203B41FA5}">
                      <a16:colId xmlns:a16="http://schemas.microsoft.com/office/drawing/2014/main" val="20000"/>
                    </a:ext>
                  </a:extLst>
                </a:gridCol>
              </a:tblGrid>
              <a:tr h="290626">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lt1"/>
                          </a:solidFill>
                          <a:latin typeface="Meiryo"/>
                          <a:ea typeface="Meiryo"/>
                          <a:cs typeface="Meiryo"/>
                          <a:sym typeface="Meiryo"/>
                        </a:rPr>
                        <a:t>トレーニング</a:t>
                      </a:r>
                      <a:endParaRPr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68043">
                <a:tc>
                  <a:txBody>
                    <a:bodyPr/>
                    <a:lstStyle/>
                    <a:p>
                      <a:pPr marL="0" marR="0" lvl="0" indent="0" algn="ctr" rtl="0">
                        <a:lnSpc>
                          <a:spcPct val="100000"/>
                        </a:lnSpc>
                        <a:spcBef>
                          <a:spcPts val="0"/>
                        </a:spcBef>
                        <a:spcAft>
                          <a:spcPts val="0"/>
                        </a:spcAft>
                        <a:buClr>
                          <a:srgbClr val="000000"/>
                        </a:buClr>
                        <a:buSzPts val="800"/>
                        <a:buFont typeface="Arial"/>
                        <a:buNone/>
                      </a:pPr>
                      <a:r>
                        <a:rPr lang="ja-JP" sz="1100" b="1" u="sng" strike="noStrike" cap="none">
                          <a:solidFill>
                            <a:schemeClr val="dk1"/>
                          </a:solidFill>
                          <a:latin typeface="Meiryo"/>
                          <a:ea typeface="Meiryo"/>
                          <a:cs typeface="Meiryo"/>
                          <a:sym typeface="Meiryo"/>
                        </a:rPr>
                        <a:t>XXX</a:t>
                      </a:r>
                      <a:endParaRPr lang="en-US" altLang="ja-JP"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2" name="Google Shape;176;p9">
            <a:extLst>
              <a:ext uri="{FF2B5EF4-FFF2-40B4-BE49-F238E27FC236}">
                <a16:creationId xmlns:a16="http://schemas.microsoft.com/office/drawing/2014/main" id="{2979F62B-4E79-100B-4CED-636FFBA9EB9E}"/>
              </a:ext>
            </a:extLst>
          </p:cNvPr>
          <p:cNvGraphicFramePr/>
          <p:nvPr>
            <p:extLst>
              <p:ext uri="{D42A27DB-BD31-4B8C-83A1-F6EECF244321}">
                <p14:modId xmlns:p14="http://schemas.microsoft.com/office/powerpoint/2010/main" val="2329295582"/>
              </p:ext>
            </p:extLst>
          </p:nvPr>
        </p:nvGraphicFramePr>
        <p:xfrm>
          <a:off x="2177388" y="4941721"/>
          <a:ext cx="1275877" cy="870812"/>
        </p:xfrm>
        <a:graphic>
          <a:graphicData uri="http://schemas.openxmlformats.org/drawingml/2006/table">
            <a:tbl>
              <a:tblPr>
                <a:noFill/>
                <a:tableStyleId>{16DD54E9-F15A-4EFF-A1D8-E2CBB5DF2B52}</a:tableStyleId>
              </a:tblPr>
              <a:tblGrid>
                <a:gridCol w="1275877">
                  <a:extLst>
                    <a:ext uri="{9D8B030D-6E8A-4147-A177-3AD203B41FA5}">
                      <a16:colId xmlns:a16="http://schemas.microsoft.com/office/drawing/2014/main" val="20000"/>
                    </a:ext>
                  </a:extLst>
                </a:gridCol>
              </a:tblGrid>
              <a:tr h="431259">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ECシステム担当</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39553">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cs typeface="Meiryo"/>
                        </a:rPr>
                        <a:t>渡邊</a:t>
                      </a:r>
                      <a:endParaRPr lang="ja-JP" altLang="en-US"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3" name="Google Shape;176;p9">
            <a:extLst>
              <a:ext uri="{FF2B5EF4-FFF2-40B4-BE49-F238E27FC236}">
                <a16:creationId xmlns:a16="http://schemas.microsoft.com/office/drawing/2014/main" id="{06D9918E-D71B-351B-9156-CABEBF0167C0}"/>
              </a:ext>
            </a:extLst>
          </p:cNvPr>
          <p:cNvGraphicFramePr/>
          <p:nvPr>
            <p:extLst>
              <p:ext uri="{D42A27DB-BD31-4B8C-83A1-F6EECF244321}">
                <p14:modId xmlns:p14="http://schemas.microsoft.com/office/powerpoint/2010/main" val="1770574528"/>
              </p:ext>
            </p:extLst>
          </p:nvPr>
        </p:nvGraphicFramePr>
        <p:xfrm>
          <a:off x="4825019" y="4958638"/>
          <a:ext cx="1350020" cy="826798"/>
        </p:xfrm>
        <a:graphic>
          <a:graphicData uri="http://schemas.openxmlformats.org/drawingml/2006/table">
            <a:tbl>
              <a:tblPr>
                <a:noFill/>
                <a:tableStyleId>{16DD54E9-F15A-4EFF-A1D8-E2CBB5DF2B52}</a:tableStyleId>
              </a:tblPr>
              <a:tblGrid>
                <a:gridCol w="1350020">
                  <a:extLst>
                    <a:ext uri="{9D8B030D-6E8A-4147-A177-3AD203B41FA5}">
                      <a16:colId xmlns:a16="http://schemas.microsoft.com/office/drawing/2014/main" val="20000"/>
                    </a:ext>
                  </a:extLst>
                </a:gridCol>
              </a:tblGrid>
              <a:tr h="333632">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運用</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93166">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cs typeface="Meiryo"/>
                        </a:rPr>
                        <a:t>TBD</a:t>
                      </a:r>
                      <a:endParaRPr lang="ja-JP" altLang="en-US"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graphicFrame>
        <p:nvGraphicFramePr>
          <p:cNvPr id="16" name="Google Shape;176;p9">
            <a:extLst>
              <a:ext uri="{FF2B5EF4-FFF2-40B4-BE49-F238E27FC236}">
                <a16:creationId xmlns:a16="http://schemas.microsoft.com/office/drawing/2014/main" id="{D7522818-EDC6-0028-31EF-737AF1D0098F}"/>
              </a:ext>
            </a:extLst>
          </p:cNvPr>
          <p:cNvGraphicFramePr/>
          <p:nvPr>
            <p:extLst>
              <p:ext uri="{D42A27DB-BD31-4B8C-83A1-F6EECF244321}">
                <p14:modId xmlns:p14="http://schemas.microsoft.com/office/powerpoint/2010/main" val="4020891439"/>
              </p:ext>
            </p:extLst>
          </p:nvPr>
        </p:nvGraphicFramePr>
        <p:xfrm>
          <a:off x="6259285" y="4952999"/>
          <a:ext cx="1414859" cy="812336"/>
        </p:xfrm>
        <a:graphic>
          <a:graphicData uri="http://schemas.openxmlformats.org/drawingml/2006/table">
            <a:tbl>
              <a:tblPr>
                <a:noFill/>
                <a:tableStyleId>{16DD54E9-F15A-4EFF-A1D8-E2CBB5DF2B52}</a:tableStyleId>
              </a:tblPr>
              <a:tblGrid>
                <a:gridCol w="1414859">
                  <a:extLst>
                    <a:ext uri="{9D8B030D-6E8A-4147-A177-3AD203B41FA5}">
                      <a16:colId xmlns:a16="http://schemas.microsoft.com/office/drawing/2014/main" val="20000"/>
                    </a:ext>
                  </a:extLst>
                </a:gridCol>
              </a:tblGrid>
              <a:tr h="420661">
                <a:tc>
                  <a:txBody>
                    <a:bodyPr/>
                    <a:lstStyle/>
                    <a:p>
                      <a:pPr marL="0" marR="0" lvl="0" indent="0" algn="ctr">
                        <a:lnSpc>
                          <a:spcPct val="100000"/>
                        </a:lnSpc>
                        <a:spcBef>
                          <a:spcPts val="0"/>
                        </a:spcBef>
                        <a:spcAft>
                          <a:spcPts val="0"/>
                        </a:spcAft>
                        <a:buSzPts val="800"/>
                        <a:buFont typeface="Arial"/>
                        <a:buNone/>
                      </a:pPr>
                      <a:r>
                        <a:rPr lang="ja-JP" altLang="en-US" sz="1100" b="1" u="none" strike="noStrike" cap="none">
                          <a:solidFill>
                            <a:schemeClr val="lt1"/>
                          </a:solidFill>
                          <a:latin typeface="Meiryo"/>
                          <a:ea typeface="Meiryo"/>
                          <a:cs typeface="Meiryo"/>
                        </a:rPr>
                        <a:t>インフラ・セキュリティ</a:t>
                      </a:r>
                      <a:endParaRPr altLang="en-US" sz="1100" b="1" u="none" strike="noStrike" cap="none">
                        <a:solidFill>
                          <a:schemeClr val="lt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385606">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sng" strike="noStrike" cap="none">
                          <a:solidFill>
                            <a:schemeClr val="dk1"/>
                          </a:solidFill>
                          <a:latin typeface="Meiryo"/>
                          <a:ea typeface="Meiryo"/>
                          <a:cs typeface="Meiryo"/>
                        </a:rPr>
                        <a:t>小峰・中村・千葉</a:t>
                      </a:r>
                      <a:endParaRPr lang="ja-JP" altLang="en-US" sz="1100" b="1" u="sng" strike="noStrike" cap="none">
                        <a:solidFill>
                          <a:schemeClr val="dk1"/>
                        </a:solidFill>
                        <a:latin typeface="Meiryo"/>
                        <a:ea typeface="Meiryo"/>
                        <a:cs typeface="Meiryo"/>
                        <a:sym typeface="Meiryo"/>
                      </a:endParaRPr>
                    </a:p>
                  </a:txBody>
                  <a:tcPr marL="85300" marR="85300"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sp>
        <p:nvSpPr>
          <p:cNvPr id="17" name="吹き出し: 線 16">
            <a:extLst>
              <a:ext uri="{FF2B5EF4-FFF2-40B4-BE49-F238E27FC236}">
                <a16:creationId xmlns:a16="http://schemas.microsoft.com/office/drawing/2014/main" id="{63A63ACA-BAC5-EF73-6C17-AA49B7CBD5FA}"/>
              </a:ext>
            </a:extLst>
          </p:cNvPr>
          <p:cNvSpPr/>
          <p:nvPr/>
        </p:nvSpPr>
        <p:spPr>
          <a:xfrm>
            <a:off x="7183888" y="2761272"/>
            <a:ext cx="1204684" cy="340505"/>
          </a:xfrm>
          <a:prstGeom prst="borderCallout1">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a:solidFill>
                  <a:srgbClr val="000000"/>
                </a:solidFill>
                <a:ea typeface="ＭＳ Ｐゴシック"/>
                <a:cs typeface="Arial"/>
              </a:rPr>
              <a:t>6月入社予定</a:t>
            </a:r>
          </a:p>
        </p:txBody>
      </p:sp>
      <p:graphicFrame>
        <p:nvGraphicFramePr>
          <p:cNvPr id="18" name="Google Shape;148;p9">
            <a:extLst>
              <a:ext uri="{FF2B5EF4-FFF2-40B4-BE49-F238E27FC236}">
                <a16:creationId xmlns:a16="http://schemas.microsoft.com/office/drawing/2014/main" id="{097C72BF-E10B-08AA-A250-77BB60D1C589}"/>
              </a:ext>
            </a:extLst>
          </p:cNvPr>
          <p:cNvGraphicFramePr/>
          <p:nvPr>
            <p:extLst>
              <p:ext uri="{D42A27DB-BD31-4B8C-83A1-F6EECF244321}">
                <p14:modId xmlns:p14="http://schemas.microsoft.com/office/powerpoint/2010/main" val="2471670143"/>
              </p:ext>
            </p:extLst>
          </p:nvPr>
        </p:nvGraphicFramePr>
        <p:xfrm>
          <a:off x="279941" y="2757742"/>
          <a:ext cx="1800200" cy="518180"/>
        </p:xfrm>
        <a:graphic>
          <a:graphicData uri="http://schemas.openxmlformats.org/drawingml/2006/table">
            <a:tbl>
              <a:tblPr>
                <a:noFill/>
                <a:tableStyleId>{16DD54E9-F15A-4EFF-A1D8-E2CBB5DF2B52}</a:tableStyleId>
              </a:tblPr>
              <a:tblGrid>
                <a:gridCol w="1800200">
                  <a:extLst>
                    <a:ext uri="{9D8B030D-6E8A-4147-A177-3AD203B41FA5}">
                      <a16:colId xmlns:a16="http://schemas.microsoft.com/office/drawing/2014/main" val="20000"/>
                    </a:ext>
                  </a:extLst>
                </a:gridCol>
              </a:tblGrid>
              <a:tr h="259075">
                <a:tc>
                  <a:txBody>
                    <a:bodyPr/>
                    <a:lstStyle/>
                    <a:p>
                      <a:pPr marL="0" marR="0" lvl="0" indent="0" algn="ctr">
                        <a:lnSpc>
                          <a:spcPct val="100000"/>
                        </a:lnSpc>
                        <a:spcBef>
                          <a:spcPts val="0"/>
                        </a:spcBef>
                        <a:spcAft>
                          <a:spcPts val="0"/>
                        </a:spcAft>
                        <a:buSzPts val="800"/>
                        <a:buFont typeface="Arial"/>
                        <a:buNone/>
                      </a:pPr>
                      <a:r>
                        <a:rPr lang="en-US" altLang="ja-JP" sz="1100" b="1" u="none" strike="noStrike" cap="none" err="1">
                          <a:solidFill>
                            <a:schemeClr val="lt1"/>
                          </a:solidFill>
                          <a:latin typeface="Meiryo"/>
                          <a:ea typeface="Meiryo"/>
                        </a:rPr>
                        <a:t>生鮮マスタ支援</a:t>
                      </a: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259075">
                <a:tc>
                  <a:txBody>
                    <a:bodyPr/>
                    <a:lstStyle/>
                    <a:p>
                      <a:pPr marL="0" marR="0" lvl="0" indent="0" algn="ctr" rtl="0">
                        <a:lnSpc>
                          <a:spcPct val="100000"/>
                        </a:lnSpc>
                        <a:spcBef>
                          <a:spcPts val="0"/>
                        </a:spcBef>
                        <a:spcAft>
                          <a:spcPts val="0"/>
                        </a:spcAft>
                        <a:buClr>
                          <a:srgbClr val="000000"/>
                        </a:buClr>
                        <a:buSzPts val="800"/>
                        <a:buFont typeface="Arial"/>
                        <a:buNone/>
                      </a:pPr>
                      <a:r>
                        <a:rPr lang="ja-JP" altLang="en-US" sz="1100" b="1" u="none" strike="noStrike" cap="none">
                          <a:solidFill>
                            <a:schemeClr val="dk1"/>
                          </a:solidFill>
                          <a:latin typeface="Meiryo"/>
                          <a:ea typeface="Meiryo"/>
                        </a:rPr>
                        <a:t>藤本</a:t>
                      </a:r>
                      <a:endParaRPr altLang="en-US" sz="1100" b="1" u="none" strike="noStrike" cap="none">
                        <a:solidFill>
                          <a:schemeClr val="dk1"/>
                        </a:solidFill>
                        <a:latin typeface="Meiryo"/>
                        <a:ea typeface="Meiryo"/>
                      </a:endParaRPr>
                    </a:p>
                  </a:txBody>
                  <a:tcPr marL="91425" marR="91425" marT="45725" marB="45725">
                    <a:lnL w="12700" cap="flat" cmpd="sng">
                      <a:solidFill>
                        <a:srgbClr val="BFBFBF"/>
                      </a:solidFill>
                      <a:prstDash val="solid"/>
                      <a:round/>
                      <a:headEnd type="none" w="sm" len="sm"/>
                      <a:tailEnd type="none" w="sm" len="sm"/>
                    </a:lnL>
                    <a:lnR w="12700" cap="flat" cmpd="sng">
                      <a:solidFill>
                        <a:srgbClr val="BFBFBF"/>
                      </a:solidFill>
                      <a:prstDash val="solid"/>
                      <a:round/>
                      <a:headEnd type="none" w="sm" len="sm"/>
                      <a:tailEnd type="none" w="sm" len="sm"/>
                    </a:lnR>
                    <a:lnT w="12700" cap="flat" cmpd="sng">
                      <a:solidFill>
                        <a:srgbClr val="BFBFBF"/>
                      </a:solidFill>
                      <a:prstDash val="solid"/>
                      <a:round/>
                      <a:headEnd type="none" w="sm" len="sm"/>
                      <a:tailEnd type="none" w="sm" len="sm"/>
                    </a:lnT>
                    <a:lnB w="12700" cap="flat" cmpd="sng">
                      <a:solidFill>
                        <a:srgbClr val="BFBFBF"/>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bl>
          </a:graphicData>
        </a:graphic>
      </p:graphicFrame>
      <p:cxnSp>
        <p:nvCxnSpPr>
          <p:cNvPr id="22" name="直線矢印コネクタ 21">
            <a:extLst>
              <a:ext uri="{FF2B5EF4-FFF2-40B4-BE49-F238E27FC236}">
                <a16:creationId xmlns:a16="http://schemas.microsoft.com/office/drawing/2014/main" id="{872DC1CA-E1E8-E09E-299C-8B69C2BFEB8D}"/>
              </a:ext>
            </a:extLst>
          </p:cNvPr>
          <p:cNvCxnSpPr/>
          <p:nvPr/>
        </p:nvCxnSpPr>
        <p:spPr>
          <a:xfrm>
            <a:off x="3111521" y="3542417"/>
            <a:ext cx="12473" cy="374199"/>
          </a:xfrm>
          <a:prstGeom prst="straightConnector1">
            <a:avLst/>
          </a:prstGeom>
          <a:noFill/>
          <a:ln w="19050" cap="flat" cmpd="sng">
            <a:solidFill>
              <a:srgbClr val="BFBFBF"/>
            </a:solidFill>
            <a:prstDash val="solid"/>
            <a:round/>
            <a:headEnd type="none" w="sm" len="sm"/>
            <a:tailEnd type="none" w="sm" len="sm"/>
          </a:ln>
        </p:spPr>
      </p:cxnSp>
      <p:cxnSp>
        <p:nvCxnSpPr>
          <p:cNvPr id="23" name="直線矢印コネクタ 22">
            <a:extLst>
              <a:ext uri="{FF2B5EF4-FFF2-40B4-BE49-F238E27FC236}">
                <a16:creationId xmlns:a16="http://schemas.microsoft.com/office/drawing/2014/main" id="{06E2ACFF-EC57-931A-396E-292E5DAB8512}"/>
              </a:ext>
            </a:extLst>
          </p:cNvPr>
          <p:cNvCxnSpPr/>
          <p:nvPr/>
        </p:nvCxnSpPr>
        <p:spPr>
          <a:xfrm>
            <a:off x="3829304" y="4415548"/>
            <a:ext cx="810764" cy="12473"/>
          </a:xfrm>
          <a:prstGeom prst="straightConnector1">
            <a:avLst/>
          </a:prstGeom>
          <a:noFill/>
          <a:ln w="19050" cap="flat" cmpd="sng">
            <a:solidFill>
              <a:srgbClr val="BFBFBF"/>
            </a:solidFill>
            <a:prstDash val="solid"/>
            <a:round/>
            <a:headEnd type="none" w="sm" len="sm"/>
            <a:tailEnd type="none" w="sm" len="sm"/>
          </a:ln>
        </p:spPr>
      </p:cxnSp>
      <p:cxnSp>
        <p:nvCxnSpPr>
          <p:cNvPr id="27" name="直線矢印コネクタ 26">
            <a:extLst>
              <a:ext uri="{FF2B5EF4-FFF2-40B4-BE49-F238E27FC236}">
                <a16:creationId xmlns:a16="http://schemas.microsoft.com/office/drawing/2014/main" id="{92C27F61-3245-DD92-08F4-E2BBE50A569C}"/>
              </a:ext>
            </a:extLst>
          </p:cNvPr>
          <p:cNvCxnSpPr>
            <a:cxnSpLocks/>
          </p:cNvCxnSpPr>
          <p:nvPr/>
        </p:nvCxnSpPr>
        <p:spPr>
          <a:xfrm>
            <a:off x="5470091" y="3542416"/>
            <a:ext cx="12473" cy="374199"/>
          </a:xfrm>
          <a:prstGeom prst="straightConnector1">
            <a:avLst/>
          </a:prstGeom>
          <a:noFill/>
          <a:ln w="19050" cap="flat" cmpd="sng">
            <a:solidFill>
              <a:srgbClr val="BFBFBF"/>
            </a:solidFill>
            <a:prstDash val="solid"/>
            <a:round/>
            <a:headEnd type="none" w="sm" len="sm"/>
            <a:tailEnd type="none" w="sm" len="sm"/>
          </a:ln>
        </p:spPr>
      </p:cxnSp>
      <p:cxnSp>
        <p:nvCxnSpPr>
          <p:cNvPr id="28" name="直線矢印コネクタ 27">
            <a:extLst>
              <a:ext uri="{FF2B5EF4-FFF2-40B4-BE49-F238E27FC236}">
                <a16:creationId xmlns:a16="http://schemas.microsoft.com/office/drawing/2014/main" id="{FA79497D-0176-9526-936F-6B49345777D4}"/>
              </a:ext>
            </a:extLst>
          </p:cNvPr>
          <p:cNvCxnSpPr>
            <a:cxnSpLocks/>
          </p:cNvCxnSpPr>
          <p:nvPr/>
        </p:nvCxnSpPr>
        <p:spPr>
          <a:xfrm>
            <a:off x="9198448" y="3569629"/>
            <a:ext cx="12473" cy="374199"/>
          </a:xfrm>
          <a:prstGeom prst="straightConnector1">
            <a:avLst/>
          </a:prstGeom>
          <a:noFill/>
          <a:ln w="19050" cap="flat" cmpd="sng">
            <a:solidFill>
              <a:srgbClr val="BFBFBF"/>
            </a:solidFill>
            <a:prstDash val="solid"/>
            <a:round/>
            <a:headEnd type="none" w="sm" len="sm"/>
            <a:tailEnd type="none" w="sm" len="sm"/>
          </a:ln>
        </p:spPr>
      </p:cxnSp>
      <p:sp>
        <p:nvSpPr>
          <p:cNvPr id="33" name="テキスト ボックス 32">
            <a:extLst>
              <a:ext uri="{FF2B5EF4-FFF2-40B4-BE49-F238E27FC236}">
                <a16:creationId xmlns:a16="http://schemas.microsoft.com/office/drawing/2014/main" id="{DBE6DD01-7D87-D2EA-2D26-ED413411670D}"/>
              </a:ext>
            </a:extLst>
          </p:cNvPr>
          <p:cNvSpPr txBox="1"/>
          <p:nvPr/>
        </p:nvSpPr>
        <p:spPr>
          <a:xfrm>
            <a:off x="8287536" y="5763035"/>
            <a:ext cx="274320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b="1">
                <a:solidFill>
                  <a:srgbClr val="FF0000"/>
                </a:solidFill>
              </a:rPr>
              <a:t>ビジネスリソースは要確認</a:t>
            </a:r>
          </a:p>
        </p:txBody>
      </p:sp>
      <p:sp>
        <p:nvSpPr>
          <p:cNvPr id="36" name="正方形/長方形 35">
            <a:extLst>
              <a:ext uri="{FF2B5EF4-FFF2-40B4-BE49-F238E27FC236}">
                <a16:creationId xmlns:a16="http://schemas.microsoft.com/office/drawing/2014/main" id="{EF837CDA-19E9-9A73-C0C7-E27A0524B5DB}"/>
              </a:ext>
            </a:extLst>
          </p:cNvPr>
          <p:cNvSpPr/>
          <p:nvPr/>
        </p:nvSpPr>
        <p:spPr>
          <a:xfrm>
            <a:off x="9467936" y="993478"/>
            <a:ext cx="2679522" cy="1006867"/>
          </a:xfrm>
          <a:prstGeom prst="rect">
            <a:avLst/>
          </a:prstGeom>
          <a:solidFill>
            <a:schemeClr val="accent5">
              <a:lumMod val="20000"/>
              <a:lumOff val="80000"/>
            </a:schemeClr>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solidFill>
                  <a:srgbClr val="000000"/>
                </a:solidFill>
                <a:ea typeface="ＭＳ Ｐゴシック"/>
                <a:cs typeface="Arial"/>
              </a:rPr>
              <a:t>システムは４月より開始</a:t>
            </a:r>
          </a:p>
          <a:p>
            <a:pPr algn="ctr"/>
            <a:r>
              <a:rPr lang="ja-JP" altLang="en-US">
                <a:solidFill>
                  <a:srgbClr val="000000"/>
                </a:solidFill>
                <a:ea typeface="ＭＳ Ｐゴシック"/>
                <a:cs typeface="Arial"/>
              </a:rPr>
              <a:t>PM不在の期間は</a:t>
            </a:r>
          </a:p>
          <a:p>
            <a:pPr algn="ctr"/>
            <a:r>
              <a:rPr lang="ja-JP" altLang="en-US">
                <a:solidFill>
                  <a:srgbClr val="000000"/>
                </a:solidFill>
                <a:ea typeface="ＭＳ Ｐゴシック"/>
                <a:cs typeface="Arial"/>
              </a:rPr>
              <a:t>プロジェクトオーナーがPM代行</a:t>
            </a:r>
          </a:p>
        </p:txBody>
      </p:sp>
      <p:cxnSp>
        <p:nvCxnSpPr>
          <p:cNvPr id="3" name="コネクタ: カギ線 2">
            <a:extLst>
              <a:ext uri="{FF2B5EF4-FFF2-40B4-BE49-F238E27FC236}">
                <a16:creationId xmlns:a16="http://schemas.microsoft.com/office/drawing/2014/main" id="{F4727967-329D-96D7-CE26-6F3AFDC96DB8}"/>
              </a:ext>
            </a:extLst>
          </p:cNvPr>
          <p:cNvCxnSpPr>
            <a:cxnSpLocks/>
          </p:cNvCxnSpPr>
          <p:nvPr/>
        </p:nvCxnSpPr>
        <p:spPr>
          <a:xfrm rot="5400000" flipH="1" flipV="1">
            <a:off x="3965206" y="1738401"/>
            <a:ext cx="14430" cy="6061508"/>
          </a:xfrm>
          <a:prstGeom prst="bentConnector2">
            <a:avLst/>
          </a:prstGeom>
          <a:noFill/>
          <a:ln w="19050" cap="flat" cmpd="sng">
            <a:solidFill>
              <a:srgbClr val="BFBFBF"/>
            </a:solidFill>
            <a:prstDash val="solid"/>
            <a:round/>
            <a:headEnd type="none" w="sm" len="sm"/>
            <a:tailEnd type="none" w="sm" len="sm"/>
          </a:ln>
        </p:spPr>
      </p:cxnSp>
      <p:cxnSp>
        <p:nvCxnSpPr>
          <p:cNvPr id="10" name="直線矢印コネクタ 9">
            <a:extLst>
              <a:ext uri="{FF2B5EF4-FFF2-40B4-BE49-F238E27FC236}">
                <a16:creationId xmlns:a16="http://schemas.microsoft.com/office/drawing/2014/main" id="{8F7CCB84-6181-666D-EA10-8DA562250E1C}"/>
              </a:ext>
            </a:extLst>
          </p:cNvPr>
          <p:cNvCxnSpPr>
            <a:cxnSpLocks/>
          </p:cNvCxnSpPr>
          <p:nvPr/>
        </p:nvCxnSpPr>
        <p:spPr>
          <a:xfrm>
            <a:off x="943449" y="4767058"/>
            <a:ext cx="3402" cy="165557"/>
          </a:xfrm>
          <a:prstGeom prst="straightConnector1">
            <a:avLst/>
          </a:prstGeom>
          <a:noFill/>
          <a:ln w="19050" cap="flat" cmpd="sng">
            <a:solidFill>
              <a:srgbClr val="BFBFBF"/>
            </a:solidFill>
            <a:prstDash val="solid"/>
            <a:round/>
            <a:headEnd type="none" w="sm" len="sm"/>
            <a:tailEnd type="none" w="sm" len="sm"/>
          </a:ln>
        </p:spPr>
      </p:cxnSp>
      <p:cxnSp>
        <p:nvCxnSpPr>
          <p:cNvPr id="11" name="直線矢印コネクタ 10">
            <a:extLst>
              <a:ext uri="{FF2B5EF4-FFF2-40B4-BE49-F238E27FC236}">
                <a16:creationId xmlns:a16="http://schemas.microsoft.com/office/drawing/2014/main" id="{5D0CB921-FA6B-70A7-7790-401C6C2C013D}"/>
              </a:ext>
            </a:extLst>
          </p:cNvPr>
          <p:cNvCxnSpPr>
            <a:cxnSpLocks/>
          </p:cNvCxnSpPr>
          <p:nvPr/>
        </p:nvCxnSpPr>
        <p:spPr>
          <a:xfrm>
            <a:off x="2766806" y="4776128"/>
            <a:ext cx="12473" cy="156486"/>
          </a:xfrm>
          <a:prstGeom prst="straightConnector1">
            <a:avLst/>
          </a:prstGeom>
          <a:noFill/>
          <a:ln w="19050" cap="flat" cmpd="sng">
            <a:solidFill>
              <a:srgbClr val="BFBFBF"/>
            </a:solidFill>
            <a:prstDash val="solid"/>
            <a:round/>
            <a:headEnd type="none" w="sm" len="sm"/>
            <a:tailEnd type="none" w="sm" len="sm"/>
          </a:ln>
        </p:spPr>
      </p:cxnSp>
      <p:cxnSp>
        <p:nvCxnSpPr>
          <p:cNvPr id="15" name="直線矢印コネクタ 14">
            <a:extLst>
              <a:ext uri="{FF2B5EF4-FFF2-40B4-BE49-F238E27FC236}">
                <a16:creationId xmlns:a16="http://schemas.microsoft.com/office/drawing/2014/main" id="{EEF68D0F-3A0B-9E98-BFD5-AC2E2B0B7316}"/>
              </a:ext>
            </a:extLst>
          </p:cNvPr>
          <p:cNvCxnSpPr>
            <a:cxnSpLocks/>
          </p:cNvCxnSpPr>
          <p:nvPr/>
        </p:nvCxnSpPr>
        <p:spPr>
          <a:xfrm>
            <a:off x="4064020" y="4767057"/>
            <a:ext cx="3402" cy="165557"/>
          </a:xfrm>
          <a:prstGeom prst="straightConnector1">
            <a:avLst/>
          </a:prstGeom>
          <a:noFill/>
          <a:ln w="19050" cap="flat" cmpd="sng">
            <a:solidFill>
              <a:srgbClr val="BFBFBF"/>
            </a:solidFill>
            <a:prstDash val="solid"/>
            <a:round/>
            <a:headEnd type="none" w="sm" len="sm"/>
            <a:tailEnd type="none" w="sm" len="sm"/>
          </a:ln>
        </p:spPr>
      </p:cxnSp>
      <p:cxnSp>
        <p:nvCxnSpPr>
          <p:cNvPr id="19" name="直線矢印コネクタ 18">
            <a:extLst>
              <a:ext uri="{FF2B5EF4-FFF2-40B4-BE49-F238E27FC236}">
                <a16:creationId xmlns:a16="http://schemas.microsoft.com/office/drawing/2014/main" id="{4DCF5F89-5BF3-499D-B61B-61DF5579A8BB}"/>
              </a:ext>
            </a:extLst>
          </p:cNvPr>
          <p:cNvCxnSpPr>
            <a:cxnSpLocks/>
          </p:cNvCxnSpPr>
          <p:nvPr/>
        </p:nvCxnSpPr>
        <p:spPr>
          <a:xfrm>
            <a:off x="5488234" y="4757986"/>
            <a:ext cx="3402" cy="165557"/>
          </a:xfrm>
          <a:prstGeom prst="straightConnector1">
            <a:avLst/>
          </a:prstGeom>
          <a:noFill/>
          <a:ln w="19050" cap="flat" cmpd="sng">
            <a:solidFill>
              <a:srgbClr val="BFBFBF"/>
            </a:solidFill>
            <a:prstDash val="solid"/>
            <a:round/>
            <a:headEnd type="none" w="sm" len="sm"/>
            <a:tailEnd type="none" w="sm" len="sm"/>
          </a:ln>
        </p:spPr>
      </p:cxnSp>
      <p:cxnSp>
        <p:nvCxnSpPr>
          <p:cNvPr id="20" name="直線矢印コネクタ 19">
            <a:extLst>
              <a:ext uri="{FF2B5EF4-FFF2-40B4-BE49-F238E27FC236}">
                <a16:creationId xmlns:a16="http://schemas.microsoft.com/office/drawing/2014/main" id="{A50A52C1-2CE1-B686-4837-DD4EC70D7D08}"/>
              </a:ext>
            </a:extLst>
          </p:cNvPr>
          <p:cNvCxnSpPr>
            <a:cxnSpLocks/>
          </p:cNvCxnSpPr>
          <p:nvPr/>
        </p:nvCxnSpPr>
        <p:spPr>
          <a:xfrm>
            <a:off x="7012234" y="4767058"/>
            <a:ext cx="3402" cy="165557"/>
          </a:xfrm>
          <a:prstGeom prst="straightConnector1">
            <a:avLst/>
          </a:prstGeom>
          <a:noFill/>
          <a:ln w="19050" cap="flat" cmpd="sng">
            <a:solidFill>
              <a:srgbClr val="BFBFBF"/>
            </a:solidFill>
            <a:prstDash val="solid"/>
            <a:round/>
            <a:headEnd type="none" w="sm" len="sm"/>
            <a:tailEnd type="none" w="sm" len="sm"/>
          </a:ln>
        </p:spPr>
      </p:cxnSp>
      <p:cxnSp>
        <p:nvCxnSpPr>
          <p:cNvPr id="21" name="直線矢印コネクタ 20">
            <a:extLst>
              <a:ext uri="{FF2B5EF4-FFF2-40B4-BE49-F238E27FC236}">
                <a16:creationId xmlns:a16="http://schemas.microsoft.com/office/drawing/2014/main" id="{7E2BE296-9271-02D1-7FA4-07E15947BAF1}"/>
              </a:ext>
            </a:extLst>
          </p:cNvPr>
          <p:cNvCxnSpPr>
            <a:cxnSpLocks/>
          </p:cNvCxnSpPr>
          <p:nvPr/>
        </p:nvCxnSpPr>
        <p:spPr>
          <a:xfrm>
            <a:off x="3111521" y="4658202"/>
            <a:ext cx="30615" cy="111126"/>
          </a:xfrm>
          <a:prstGeom prst="straightConnector1">
            <a:avLst/>
          </a:prstGeom>
          <a:noFill/>
          <a:ln w="19050" cap="flat" cmpd="sng">
            <a:solidFill>
              <a:srgbClr val="BFBFBF"/>
            </a:solidFill>
            <a:prstDash val="solid"/>
            <a:round/>
            <a:headEnd type="none" w="sm" len="sm"/>
            <a:tailEnd type="none" w="sm" len="sm"/>
          </a:ln>
        </p:spPr>
      </p:cxnSp>
      <p:sp>
        <p:nvSpPr>
          <p:cNvPr id="24" name="Google Shape;166;p9">
            <a:extLst>
              <a:ext uri="{FF2B5EF4-FFF2-40B4-BE49-F238E27FC236}">
                <a16:creationId xmlns:a16="http://schemas.microsoft.com/office/drawing/2014/main" id="{EF93CAAA-9F3C-E225-BE96-0C53EE0C7817}"/>
              </a:ext>
            </a:extLst>
          </p:cNvPr>
          <p:cNvSpPr txBox="1"/>
          <p:nvPr/>
        </p:nvSpPr>
        <p:spPr>
          <a:xfrm>
            <a:off x="10297400" y="3720695"/>
            <a:ext cx="1814509" cy="1058933"/>
          </a:xfrm>
          <a:prstGeom prst="rect">
            <a:avLst/>
          </a:prstGeom>
          <a:noFill/>
          <a:ln>
            <a:noFill/>
          </a:ln>
        </p:spPr>
        <p:txBody>
          <a:bodyPr spcFirstLastPara="1" wrap="square" lIns="90000" tIns="60925" rIns="121900" bIns="60925" anchor="ctr" anchorCtr="0">
            <a:noAutofit/>
          </a:bodyPr>
          <a:lstStyle/>
          <a:p>
            <a:pPr marL="170815" marR="0" lvl="0" indent="-170815" algn="l" rtl="0">
              <a:lnSpc>
                <a:spcPct val="100000"/>
              </a:lnSpc>
              <a:spcBef>
                <a:spcPts val="0"/>
              </a:spcBef>
              <a:spcAft>
                <a:spcPts val="0"/>
              </a:spcAft>
              <a:buClr>
                <a:srgbClr val="BFBFBF"/>
              </a:buClr>
              <a:buSzPts val="750"/>
              <a:buFont typeface="Noto Sans Symbols"/>
              <a:buChar char="■"/>
            </a:pPr>
            <a:r>
              <a:rPr lang="ja-JP" sz="1000">
                <a:solidFill>
                  <a:srgbClr val="7F7F7F"/>
                </a:solidFill>
                <a:latin typeface="Meiryo"/>
                <a:ea typeface="Meiryo"/>
                <a:cs typeface="Meiryo"/>
                <a:sym typeface="Meiryo"/>
              </a:rPr>
              <a:t>ビジネス領域</a:t>
            </a:r>
            <a:r>
              <a:rPr lang="ja-JP" altLang="en-US" sz="1000">
                <a:solidFill>
                  <a:srgbClr val="7F7F7F"/>
                </a:solidFill>
                <a:latin typeface="Meiryo"/>
                <a:ea typeface="Meiryo"/>
                <a:cs typeface="Meiryo"/>
                <a:sym typeface="Meiryo"/>
              </a:rPr>
              <a:t>のプロジェクト</a:t>
            </a:r>
            <a:r>
              <a:rPr lang="ja-JP" sz="1000" b="0" i="0" u="none" strike="noStrike" cap="none">
                <a:solidFill>
                  <a:srgbClr val="7F7F7F"/>
                </a:solidFill>
                <a:latin typeface="Meiryo"/>
                <a:ea typeface="Meiryo"/>
                <a:cs typeface="Meiryo"/>
                <a:sym typeface="Meiryo"/>
              </a:rPr>
              <a:t>管理</a:t>
            </a:r>
            <a:r>
              <a:rPr lang="ja-JP" altLang="en-US" sz="1000">
                <a:solidFill>
                  <a:srgbClr val="7F7F7F"/>
                </a:solidFill>
                <a:latin typeface="Meiryo"/>
                <a:ea typeface="Meiryo"/>
                <a:cs typeface="Meiryo"/>
                <a:sym typeface="Meiryo"/>
              </a:rPr>
              <a:t>・</a:t>
            </a:r>
            <a:r>
              <a:rPr lang="ja-JP" sz="1000" b="0" i="0" u="none" strike="noStrike" cap="none">
                <a:solidFill>
                  <a:srgbClr val="7F7F7F"/>
                </a:solidFill>
                <a:latin typeface="Meiryo"/>
                <a:ea typeface="Meiryo"/>
                <a:cs typeface="Meiryo"/>
                <a:sym typeface="Meiryo"/>
              </a:rPr>
              <a:t>実務執行</a:t>
            </a:r>
            <a:endParaRPr lang="ja-JP" sz="1000" b="0" i="0" u="none" strike="noStrike" cap="none">
              <a:solidFill>
                <a:srgbClr val="7F7F7F"/>
              </a:solidFill>
              <a:latin typeface="Meiryo"/>
              <a:ea typeface="Meiryo"/>
              <a:cs typeface="Meiryo"/>
            </a:endParaRPr>
          </a:p>
          <a:p>
            <a:pPr marL="170815" marR="0" lvl="0" indent="-170815" algn="l" rtl="0">
              <a:lnSpc>
                <a:spcPct val="100000"/>
              </a:lnSpc>
              <a:spcBef>
                <a:spcPts val="0"/>
              </a:spcBef>
              <a:spcAft>
                <a:spcPts val="0"/>
              </a:spcAft>
              <a:buClr>
                <a:srgbClr val="BFBFBF"/>
              </a:buClr>
              <a:buSzPts val="750"/>
              <a:buFont typeface="Noto Sans Symbols"/>
              <a:buChar char="■"/>
            </a:pPr>
            <a:r>
              <a:rPr lang="ja-JP" sz="1000" b="0" i="0" u="none" strike="noStrike" cap="none">
                <a:solidFill>
                  <a:srgbClr val="7F7F7F"/>
                </a:solidFill>
                <a:latin typeface="Meiryo"/>
                <a:ea typeface="Meiryo"/>
                <a:cs typeface="Meiryo"/>
                <a:sym typeface="Meiryo"/>
              </a:rPr>
              <a:t>日々の進捗・課題／リスク・</a:t>
            </a:r>
            <a:r>
              <a:rPr lang="ja-JP" altLang="en-US" sz="1000">
                <a:solidFill>
                  <a:srgbClr val="7F7F7F"/>
                </a:solidFill>
                <a:latin typeface="Meiryo"/>
                <a:ea typeface="Meiryo"/>
                <a:cs typeface="Meiryo"/>
                <a:sym typeface="Meiryo"/>
              </a:rPr>
              <a:t>リソース</a:t>
            </a:r>
            <a:r>
              <a:rPr lang="ja-JP" sz="1000" b="0" i="0" u="none" strike="noStrike" cap="none">
                <a:solidFill>
                  <a:srgbClr val="7F7F7F"/>
                </a:solidFill>
                <a:latin typeface="Meiryo"/>
                <a:ea typeface="Meiryo"/>
                <a:cs typeface="Meiryo"/>
                <a:sym typeface="Meiryo"/>
              </a:rPr>
              <a:t>等の管理</a:t>
            </a:r>
            <a:endParaRPr sz="1000" b="0" i="0" u="none" strike="noStrike" cap="none">
              <a:solidFill>
                <a:srgbClr val="7F7F7F"/>
              </a:solidFill>
              <a:latin typeface="Meiryo"/>
              <a:ea typeface="Meiryo"/>
              <a:cs typeface="Meiryo"/>
            </a:endParaRPr>
          </a:p>
        </p:txBody>
      </p:sp>
      <p:sp>
        <p:nvSpPr>
          <p:cNvPr id="30" name="Google Shape;166;p9">
            <a:extLst>
              <a:ext uri="{FF2B5EF4-FFF2-40B4-BE49-F238E27FC236}">
                <a16:creationId xmlns:a16="http://schemas.microsoft.com/office/drawing/2014/main" id="{76246D19-EE9F-2EF0-0DEF-C5BFA2BC7B69}"/>
              </a:ext>
            </a:extLst>
          </p:cNvPr>
          <p:cNvSpPr txBox="1"/>
          <p:nvPr/>
        </p:nvSpPr>
        <p:spPr>
          <a:xfrm>
            <a:off x="317657" y="3892758"/>
            <a:ext cx="1863670" cy="837708"/>
          </a:xfrm>
          <a:prstGeom prst="rect">
            <a:avLst/>
          </a:prstGeom>
          <a:noFill/>
          <a:ln>
            <a:noFill/>
          </a:ln>
        </p:spPr>
        <p:txBody>
          <a:bodyPr spcFirstLastPara="1" wrap="square" lIns="90000" tIns="60925" rIns="121900" bIns="60925" anchor="ctr" anchorCtr="0">
            <a:noAutofit/>
          </a:bodyPr>
          <a:lstStyle/>
          <a:p>
            <a:pPr marL="170815" marR="0" lvl="0" indent="-170815" algn="l" rtl="0">
              <a:lnSpc>
                <a:spcPct val="100000"/>
              </a:lnSpc>
              <a:spcBef>
                <a:spcPts val="0"/>
              </a:spcBef>
              <a:spcAft>
                <a:spcPts val="0"/>
              </a:spcAft>
              <a:buClr>
                <a:srgbClr val="BFBFBF"/>
              </a:buClr>
              <a:buSzPts val="750"/>
              <a:buFont typeface="Noto Sans Symbols"/>
              <a:buChar char="■"/>
            </a:pPr>
            <a:r>
              <a:rPr lang="ja-JP" altLang="en-US" sz="1000">
                <a:solidFill>
                  <a:srgbClr val="7F7F7F"/>
                </a:solidFill>
                <a:latin typeface="Meiryo"/>
                <a:ea typeface="Meiryo"/>
                <a:cs typeface="Meiryo"/>
              </a:rPr>
              <a:t>システム導入に向けてのシステム全体をリード</a:t>
            </a:r>
          </a:p>
          <a:p>
            <a:pPr marL="170815" indent="-170815">
              <a:buClr>
                <a:srgbClr val="BFBFBF"/>
              </a:buClr>
              <a:buSzPts val="750"/>
              <a:buFont typeface="Noto Sans Symbols"/>
              <a:buChar char="■"/>
            </a:pPr>
            <a:r>
              <a:rPr lang="ja-JP" altLang="en-US" sz="1000">
                <a:solidFill>
                  <a:srgbClr val="7F7F7F"/>
                </a:solidFill>
                <a:latin typeface="Meiryo"/>
                <a:ea typeface="Meiryo"/>
                <a:cs typeface="Meiryo"/>
              </a:rPr>
              <a:t>課題・リスクの管理</a:t>
            </a:r>
          </a:p>
        </p:txBody>
      </p:sp>
    </p:spTree>
    <p:extLst>
      <p:ext uri="{BB962C8B-B14F-4D97-AF65-F5344CB8AC3E}">
        <p14:creationId xmlns:p14="http://schemas.microsoft.com/office/powerpoint/2010/main" val="3865449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graphicFrame>
        <p:nvGraphicFramePr>
          <p:cNvPr id="187" name="Google Shape;187;p10"/>
          <p:cNvGraphicFramePr/>
          <p:nvPr>
            <p:extLst>
              <p:ext uri="{D42A27DB-BD31-4B8C-83A1-F6EECF244321}">
                <p14:modId xmlns:p14="http://schemas.microsoft.com/office/powerpoint/2010/main" val="1286403573"/>
              </p:ext>
            </p:extLst>
          </p:nvPr>
        </p:nvGraphicFramePr>
        <p:xfrm>
          <a:off x="294212" y="908330"/>
          <a:ext cx="11897788" cy="5026130"/>
        </p:xfrm>
        <a:graphic>
          <a:graphicData uri="http://schemas.openxmlformats.org/drawingml/2006/table">
            <a:tbl>
              <a:tblPr>
                <a:noFill/>
              </a:tblPr>
              <a:tblGrid>
                <a:gridCol w="1400819">
                  <a:extLst>
                    <a:ext uri="{9D8B030D-6E8A-4147-A177-3AD203B41FA5}">
                      <a16:colId xmlns:a16="http://schemas.microsoft.com/office/drawing/2014/main" val="20000"/>
                    </a:ext>
                  </a:extLst>
                </a:gridCol>
                <a:gridCol w="1563219">
                  <a:extLst>
                    <a:ext uri="{9D8B030D-6E8A-4147-A177-3AD203B41FA5}">
                      <a16:colId xmlns:a16="http://schemas.microsoft.com/office/drawing/2014/main" val="20001"/>
                    </a:ext>
                  </a:extLst>
                </a:gridCol>
                <a:gridCol w="827425">
                  <a:extLst>
                    <a:ext uri="{9D8B030D-6E8A-4147-A177-3AD203B41FA5}">
                      <a16:colId xmlns:a16="http://schemas.microsoft.com/office/drawing/2014/main" val="20002"/>
                    </a:ext>
                  </a:extLst>
                </a:gridCol>
                <a:gridCol w="672000">
                  <a:extLst>
                    <a:ext uri="{9D8B030D-6E8A-4147-A177-3AD203B41FA5}">
                      <a16:colId xmlns:a16="http://schemas.microsoft.com/office/drawing/2014/main" val="20003"/>
                    </a:ext>
                  </a:extLst>
                </a:gridCol>
                <a:gridCol w="2897949">
                  <a:extLst>
                    <a:ext uri="{9D8B030D-6E8A-4147-A177-3AD203B41FA5}">
                      <a16:colId xmlns:a16="http://schemas.microsoft.com/office/drawing/2014/main" val="20004"/>
                    </a:ext>
                  </a:extLst>
                </a:gridCol>
                <a:gridCol w="379984">
                  <a:extLst>
                    <a:ext uri="{9D8B030D-6E8A-4147-A177-3AD203B41FA5}">
                      <a16:colId xmlns:a16="http://schemas.microsoft.com/office/drawing/2014/main" val="20005"/>
                    </a:ext>
                  </a:extLst>
                </a:gridCol>
                <a:gridCol w="379984">
                  <a:extLst>
                    <a:ext uri="{9D8B030D-6E8A-4147-A177-3AD203B41FA5}">
                      <a16:colId xmlns:a16="http://schemas.microsoft.com/office/drawing/2014/main" val="20006"/>
                    </a:ext>
                  </a:extLst>
                </a:gridCol>
                <a:gridCol w="379984">
                  <a:extLst>
                    <a:ext uri="{9D8B030D-6E8A-4147-A177-3AD203B41FA5}">
                      <a16:colId xmlns:a16="http://schemas.microsoft.com/office/drawing/2014/main" val="20007"/>
                    </a:ext>
                  </a:extLst>
                </a:gridCol>
                <a:gridCol w="379984">
                  <a:extLst>
                    <a:ext uri="{9D8B030D-6E8A-4147-A177-3AD203B41FA5}">
                      <a16:colId xmlns:a16="http://schemas.microsoft.com/office/drawing/2014/main" val="20008"/>
                    </a:ext>
                  </a:extLst>
                </a:gridCol>
                <a:gridCol w="379984">
                  <a:extLst>
                    <a:ext uri="{9D8B030D-6E8A-4147-A177-3AD203B41FA5}">
                      <a16:colId xmlns:a16="http://schemas.microsoft.com/office/drawing/2014/main" val="20009"/>
                    </a:ext>
                  </a:extLst>
                </a:gridCol>
                <a:gridCol w="379984">
                  <a:extLst>
                    <a:ext uri="{9D8B030D-6E8A-4147-A177-3AD203B41FA5}">
                      <a16:colId xmlns:a16="http://schemas.microsoft.com/office/drawing/2014/main" val="20010"/>
                    </a:ext>
                  </a:extLst>
                </a:gridCol>
                <a:gridCol w="379984">
                  <a:extLst>
                    <a:ext uri="{9D8B030D-6E8A-4147-A177-3AD203B41FA5}">
                      <a16:colId xmlns:a16="http://schemas.microsoft.com/office/drawing/2014/main" val="20011"/>
                    </a:ext>
                  </a:extLst>
                </a:gridCol>
                <a:gridCol w="379984">
                  <a:extLst>
                    <a:ext uri="{9D8B030D-6E8A-4147-A177-3AD203B41FA5}">
                      <a16:colId xmlns:a16="http://schemas.microsoft.com/office/drawing/2014/main" val="20012"/>
                    </a:ext>
                  </a:extLst>
                </a:gridCol>
                <a:gridCol w="379984">
                  <a:extLst>
                    <a:ext uri="{9D8B030D-6E8A-4147-A177-3AD203B41FA5}">
                      <a16:colId xmlns:a16="http://schemas.microsoft.com/office/drawing/2014/main" val="20013"/>
                    </a:ext>
                  </a:extLst>
                </a:gridCol>
                <a:gridCol w="1116520">
                  <a:extLst>
                    <a:ext uri="{9D8B030D-6E8A-4147-A177-3AD203B41FA5}">
                      <a16:colId xmlns:a16="http://schemas.microsoft.com/office/drawing/2014/main" val="20014"/>
                    </a:ext>
                  </a:extLst>
                </a:gridCol>
              </a:tblGrid>
              <a:tr h="278875">
                <a:tc rowSpan="2">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会議</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rowSpan="2">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サイ</a:t>
                      </a:r>
                      <a:endParaRPr sz="1200"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クル</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rowSpan="2">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日時</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rowSpan="2">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主催</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rowSpan="2">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目的・アジェンダ</a:t>
                      </a:r>
                      <a:endParaRPr sz="1900" u="none" strike="noStrike" cap="none"/>
                    </a:p>
                  </a:txBody>
                  <a:tcPr marL="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gridSpan="9">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参加者（L＝主催、R＝必須、O＝任意）</a:t>
                      </a:r>
                      <a:endParaRPr sz="1200" b="1" i="0" u="none" strike="noStrike" cap="none">
                        <a:solidFill>
                          <a:schemeClr val="lt1"/>
                        </a:solidFill>
                        <a:latin typeface="Meiryo"/>
                        <a:ea typeface="Meiryo"/>
                        <a:cs typeface="Meiryo"/>
                        <a:sym typeface="Meiryo"/>
                      </a:endParaRPr>
                    </a:p>
                  </a:txBody>
                  <a:tcPr marL="7200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rowSpan="2">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chemeClr val="lt1"/>
                          </a:solidFill>
                          <a:latin typeface="Meiryo"/>
                          <a:ea typeface="Meiryo"/>
                          <a:cs typeface="Meiryo"/>
                          <a:sym typeface="Meiryo"/>
                        </a:rPr>
                        <a:t>備考</a:t>
                      </a:r>
                      <a:endParaRPr sz="1200" b="1" i="0" u="none" strike="noStrike" cap="none">
                        <a:solidFill>
                          <a:schemeClr val="lt1"/>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487700">
                <a:tc vMerge="1">
                  <a:txBody>
                    <a:bodyPr/>
                    <a:lstStyle/>
                    <a:p>
                      <a:endParaRPr lang="ja-JP"/>
                    </a:p>
                  </a:txBody>
                  <a:tcPr/>
                </a:tc>
                <a:tc vMerge="1">
                  <a:txBody>
                    <a:bodyPr/>
                    <a:lstStyle/>
                    <a:p>
                      <a:endParaRPr lang="ja-JP"/>
                    </a:p>
                  </a:txBody>
                  <a:tcPr/>
                </a:tc>
                <a:tc vMerge="1">
                  <a:txBody>
                    <a:bodyPr/>
                    <a:lstStyle/>
                    <a:p>
                      <a:endParaRPr lang="ja-JP"/>
                    </a:p>
                  </a:txBody>
                  <a:tcPr/>
                </a:tc>
                <a:tc vMerge="1">
                  <a:txBody>
                    <a:bodyPr/>
                    <a:lstStyle/>
                    <a:p>
                      <a:endParaRPr lang="ja-JP"/>
                    </a:p>
                  </a:txBody>
                  <a:tcPr/>
                </a:tc>
                <a:tc v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ステコミ</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メンバー</a:t>
                      </a:r>
                      <a:endParaRPr sz="1900" u="none" strike="noStrike" cap="none"/>
                    </a:p>
                  </a:txBody>
                  <a:tcPr marL="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プロジェクト</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オーナー</a:t>
                      </a:r>
                      <a:endParaRPr sz="1900" u="none" strike="noStrike" cap="none"/>
                    </a:p>
                  </a:txBody>
                  <a:tcPr marL="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PM</a:t>
                      </a:r>
                      <a:endParaRPr sz="800" b="1" i="0" u="none" strike="noStrike" cap="none">
                        <a:solidFill>
                          <a:srgbClr val="FFFFFF"/>
                        </a:solidFill>
                        <a:latin typeface="Meiryo"/>
                        <a:ea typeface="Meiryo"/>
                        <a:cs typeface="Meiryo"/>
                        <a:sym typeface="Meiryo"/>
                      </a:endParaRPr>
                    </a:p>
                  </a:txBody>
                  <a:tcPr marL="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PMO</a:t>
                      </a:r>
                      <a:endParaRPr sz="800" b="1" i="0" u="none" strike="noStrike" cap="none">
                        <a:solidFill>
                          <a:srgbClr val="FFFFFF"/>
                        </a:solidFill>
                        <a:latin typeface="Meiryo"/>
                        <a:ea typeface="Meiryo"/>
                        <a:cs typeface="Meiryo"/>
                        <a:sym typeface="Meiryo"/>
                      </a:endParaRPr>
                    </a:p>
                  </a:txBody>
                  <a:tcPr marL="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アドバイザー</a:t>
                      </a:r>
                      <a:endParaRPr sz="1900" u="none" strike="noStrike" cap="none"/>
                    </a:p>
                  </a:txBody>
                  <a:tcPr marL="0" marR="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チーム</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リード</a:t>
                      </a:r>
                      <a:endParaRPr sz="1900" u="none" strike="noStrike" cap="none"/>
                    </a:p>
                  </a:txBody>
                  <a:tcPr marL="0" marR="0" marT="60975" marB="609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チーム</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メンバー</a:t>
                      </a:r>
                      <a:endParaRPr sz="1900" u="none" strike="noStrike" cap="none"/>
                    </a:p>
                  </a:txBody>
                  <a:tcPr marL="0" marR="0" marT="60975" marB="609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サブ</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チーム</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リード</a:t>
                      </a:r>
                      <a:endParaRPr sz="1900" u="none" strike="noStrike" cap="none"/>
                    </a:p>
                  </a:txBody>
                  <a:tcPr marL="0" marR="0" marT="60975" marB="609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サブ</a:t>
                      </a:r>
                      <a:endParaRPr sz="800" b="1" i="0" u="none" strike="noStrike" cap="none">
                        <a:solidFill>
                          <a:srgbClr val="FFFFF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600"/>
                        <a:buFont typeface="Arial"/>
                        <a:buNone/>
                      </a:pPr>
                      <a:r>
                        <a:rPr lang="ja-JP" sz="800" b="1" i="0" u="none" strike="noStrike" cap="none">
                          <a:solidFill>
                            <a:srgbClr val="FFFFFF"/>
                          </a:solidFill>
                          <a:latin typeface="Meiryo"/>
                          <a:ea typeface="Meiryo"/>
                          <a:cs typeface="Meiryo"/>
                          <a:sym typeface="Meiryo"/>
                        </a:rPr>
                        <a:t>チームメンバー</a:t>
                      </a:r>
                      <a:endParaRPr sz="1900" u="none" strike="noStrike" cap="none"/>
                    </a:p>
                  </a:txBody>
                  <a:tcPr marL="0" marR="0" marT="60975" marB="60975">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vMerge="1">
                  <a:txBody>
                    <a:bodyPr/>
                    <a:lstStyle/>
                    <a:p>
                      <a:endParaRPr lang="ja-JP"/>
                    </a:p>
                  </a:txBody>
                  <a:tcPr/>
                </a:tc>
                <a:extLst>
                  <a:ext uri="{0D108BD9-81ED-4DB2-BD59-A6C34878D82A}">
                    <a16:rowId xmlns:a16="http://schemas.microsoft.com/office/drawing/2014/main" val="10001"/>
                  </a:ext>
                </a:extLst>
              </a:tr>
              <a:tr h="644650">
                <a:tc>
                  <a:txBody>
                    <a:bodyPr/>
                    <a:lstStyle/>
                    <a:p>
                      <a:pPr marL="0" marR="0" lvl="0" indent="0" algn="l"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ステアリング</a:t>
                      </a:r>
                      <a:endParaRPr sz="12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コミッティー</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0" i="0" u="none" strike="noStrike" cap="none">
                          <a:solidFill>
                            <a:srgbClr val="000000"/>
                          </a:solidFill>
                          <a:latin typeface="Meiryo"/>
                          <a:ea typeface="Meiryo"/>
                          <a:cs typeface="Meiryo"/>
                          <a:sym typeface="Meiryo"/>
                        </a:rPr>
                        <a:t>月次</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900"/>
                        <a:buFont typeface="Noto Sans Symbols"/>
                        <a:buNone/>
                      </a:pPr>
                      <a:r>
                        <a:rPr lang="ja-JP" altLang="en-US" sz="1200" b="0" i="0" u="none" strike="noStrike" cap="none">
                          <a:solidFill>
                            <a:schemeClr val="tx1"/>
                          </a:solidFill>
                          <a:latin typeface="メイリオ"/>
                          <a:ea typeface="メイリオ"/>
                          <a:cs typeface="Arial"/>
                        </a:rPr>
                        <a:t>都度調整</a:t>
                      </a: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0" i="0" u="none" strike="noStrike" cap="none">
                          <a:solidFill>
                            <a:srgbClr val="000000"/>
                          </a:solidFill>
                          <a:latin typeface="Meiryo"/>
                          <a:ea typeface="Meiryo"/>
                          <a:cs typeface="Meiryo"/>
                          <a:sym typeface="Meiryo"/>
                        </a:rPr>
                        <a:t>PM</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a:ea typeface="メイリオ"/>
                        </a:rPr>
                        <a:t>Ph１をメインにPh2は７月まではシステム対応状況を報告</a:t>
                      </a:r>
                    </a:p>
                    <a:p>
                      <a:pPr marL="171450" marR="0" lvl="0" indent="-171450" algn="l">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a:ea typeface="メイリオ"/>
                          <a:sym typeface="Meiryo"/>
                        </a:rPr>
                        <a:t>ハイレベルでの全体進捗確認</a:t>
                      </a:r>
                      <a:endParaRPr lang="ja-JP" altLang="en-US" sz="1200" u="none" strike="noStrike" cap="none">
                        <a:latin typeface="メイリオ"/>
                        <a:ea typeface="メイリオ"/>
                      </a:endParaRP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sym typeface="Meiryo"/>
                        </a:rPr>
                        <a:t>プロジェクトレベルの課題・リスク報告</a:t>
                      </a: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sym typeface="Meiryo"/>
                        </a:rPr>
                        <a:t>プロジェクトレベルの意思決定</a:t>
                      </a:r>
                      <a:endParaRPr lang="ja-JP" altLang="en-US" sz="1200" u="none" strike="noStrike" cap="none">
                        <a:latin typeface="メイリオ" panose="020B0604030504040204" pitchFamily="50" charset="-128"/>
                        <a:ea typeface="メイリオ" panose="020B0604030504040204" pitchFamily="50" charset="-128"/>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L</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9CFD1"/>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O</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14300" algn="l" rtl="0">
                        <a:lnSpc>
                          <a:spcPct val="100000"/>
                        </a:lnSpc>
                        <a:spcBef>
                          <a:spcPts val="0"/>
                        </a:spcBef>
                        <a:spcAft>
                          <a:spcPts val="0"/>
                        </a:spcAft>
                        <a:buClr>
                          <a:srgbClr val="BFBFBF"/>
                        </a:buClr>
                        <a:buSzPts val="900"/>
                        <a:buFont typeface="Noto Sans Symbols"/>
                        <a:buNone/>
                      </a:pPr>
                      <a:endParaRPr lang="en-US" altLang="ja-JP" sz="1200" b="0"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577898">
                <a:tc>
                  <a:txBody>
                    <a:bodyPr/>
                    <a:lstStyle/>
                    <a:p>
                      <a:pPr marL="0" marR="0" lvl="0" indent="0" algn="l"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プロジェクト全体週次定例会議</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rPr>
                        <a:t>隔週</a:t>
                      </a:r>
                      <a:endParaRPr sz="1200" b="0" i="0" u="none" strike="noStrike" cap="none">
                        <a:solidFill>
                          <a:srgbClr val="000000"/>
                        </a:solidFill>
                        <a:latin typeface="Meiryo"/>
                        <a:ea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u="none" strike="noStrike" cap="none" err="1">
                          <a:solidFill>
                            <a:schemeClr val="tx1"/>
                          </a:solidFill>
                          <a:latin typeface="メイリオ"/>
                          <a:ea typeface="メイリオ"/>
                        </a:rPr>
                        <a:t>調整中</a:t>
                      </a: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sym typeface="Meiryo"/>
                        </a:rPr>
                        <a:t>チームリード</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sym typeface="Meiryo"/>
                        </a:rPr>
                        <a:t>各チーム＋プロジェクト全体進捗確認</a:t>
                      </a:r>
                      <a:endParaRPr lang="ja-JP" altLang="en-US" sz="1200" u="none" strike="noStrike" cap="none">
                        <a:latin typeface="メイリオ" panose="020B0604030504040204" pitchFamily="50" charset="-128"/>
                        <a:ea typeface="メイリオ" panose="020B0604030504040204" pitchFamily="50" charset="-128"/>
                      </a:endParaRP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sym typeface="Meiryo"/>
                        </a:rPr>
                        <a:t>チーム横断課題・リスク報告＆解決</a:t>
                      </a:r>
                      <a:endParaRPr lang="ja-JP" altLang="en-US" sz="1200" u="none" strike="noStrike" cap="none">
                        <a:latin typeface="メイリオ" panose="020B0604030504040204" pitchFamily="50" charset="-128"/>
                        <a:ea typeface="メイリオ" panose="020B0604030504040204" pitchFamily="50" charset="-128"/>
                      </a:endParaRP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cs typeface="Meiryo"/>
                          <a:sym typeface="Meiryo"/>
                        </a:rPr>
                        <a:t>全体共有・連絡事項</a:t>
                      </a: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lang="ja-JP" altLang="en-US" sz="1200" b="1" i="0" u="none" strike="noStrike" cap="none">
                        <a:solidFill>
                          <a:srgbClr val="000000"/>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200" b="1" i="0" u="none" strike="noStrike" cap="none">
                          <a:solidFill>
                            <a:srgbClr val="000000"/>
                          </a:solidFill>
                          <a:latin typeface="Meiryo"/>
                          <a:ea typeface="Meiryo"/>
                          <a:cs typeface="Meiryo"/>
                          <a:sym typeface="Meiryo"/>
                        </a:rPr>
                        <a:t>R</a:t>
                      </a:r>
                    </a:p>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200" b="1" i="0" u="none" strike="noStrike" cap="none">
                          <a:solidFill>
                            <a:srgbClr val="000000"/>
                          </a:solidFill>
                          <a:latin typeface="Meiryo"/>
                          <a:ea typeface="Meiryo"/>
                          <a:cs typeface="Meiryo"/>
                          <a:sym typeface="Meiryo"/>
                        </a:rPr>
                        <a:t>L</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9CFD1"/>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171450" marR="0" lvl="0" indent="-114300" algn="l" rtl="0">
                        <a:lnSpc>
                          <a:spcPct val="100000"/>
                        </a:lnSpc>
                        <a:spcBef>
                          <a:spcPts val="0"/>
                        </a:spcBef>
                        <a:spcAft>
                          <a:spcPts val="0"/>
                        </a:spcAft>
                        <a:buClr>
                          <a:srgbClr val="BFBFBF"/>
                        </a:buClr>
                        <a:buSzPts val="900"/>
                        <a:buFont typeface="Noto Sans Symbols"/>
                        <a:buNone/>
                      </a:pPr>
                      <a:endParaRPr sz="1200" b="0"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644650">
                <a:tc>
                  <a:txBody>
                    <a:bodyPr/>
                    <a:lstStyle/>
                    <a:p>
                      <a:pPr marL="0" marR="0" lvl="0" indent="0" algn="l"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チーム</a:t>
                      </a:r>
                      <a:endParaRPr sz="12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週次進捗会議</a:t>
                      </a: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0" i="0" u="none" strike="noStrike" cap="none">
                          <a:solidFill>
                            <a:srgbClr val="000000"/>
                          </a:solidFill>
                          <a:latin typeface="Meiryo"/>
                          <a:ea typeface="Meiryo"/>
                          <a:cs typeface="Meiryo"/>
                          <a:sym typeface="Meiryo"/>
                        </a:rPr>
                        <a:t>週次</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0" i="0" u="none" strike="noStrike" cap="none">
                          <a:solidFill>
                            <a:srgbClr val="000000"/>
                          </a:solidFill>
                          <a:latin typeface="Meiryo"/>
                          <a:ea typeface="Meiryo"/>
                          <a:cs typeface="Meiryo"/>
                          <a:sym typeface="Meiryo"/>
                        </a:rPr>
                        <a:t>毎週</a:t>
                      </a:r>
                      <a:r>
                        <a:rPr lang="ja-JP" sz="1200" b="0" i="0" u="none" strike="noStrike" cap="none">
                          <a:solidFill>
                            <a:srgbClr val="000000"/>
                          </a:solidFill>
                          <a:latin typeface="Meiryo"/>
                          <a:ea typeface="Meiryo"/>
                          <a:cs typeface="Meiryo"/>
                        </a:rPr>
                        <a:t>月</a:t>
                      </a:r>
                      <a:r>
                        <a:rPr lang="ja-JP" altLang="en-US" sz="1200" b="0" i="0" u="none" strike="noStrike" cap="none">
                          <a:solidFill>
                            <a:srgbClr val="000000"/>
                          </a:solidFill>
                          <a:latin typeface="Meiryo"/>
                          <a:ea typeface="Meiryo"/>
                          <a:cs typeface="Meiryo"/>
                          <a:sym typeface="Meiryo"/>
                        </a:rPr>
                        <a:t>曜</a:t>
                      </a:r>
                      <a:endParaRPr sz="1900" u="none" strike="noStrike" cap="none"/>
                    </a:p>
                    <a:p>
                      <a:pPr marL="0" marR="0" lvl="0" indent="0" algn="ctr" rtl="0">
                        <a:lnSpc>
                          <a:spcPct val="100000"/>
                        </a:lnSpc>
                        <a:spcBef>
                          <a:spcPts val="0"/>
                        </a:spcBef>
                        <a:spcAft>
                          <a:spcPts val="0"/>
                        </a:spcAft>
                        <a:buClr>
                          <a:srgbClr val="000000"/>
                        </a:buClr>
                        <a:buSzPts val="900"/>
                        <a:buFont typeface="Arial"/>
                        <a:buNone/>
                      </a:pPr>
                      <a:r>
                        <a:rPr lang="en-US" altLang="ja-JP" sz="1200" b="0" i="0" u="none" strike="noStrike" cap="none">
                          <a:solidFill>
                            <a:srgbClr val="000000"/>
                          </a:solidFill>
                          <a:latin typeface="Meiryo"/>
                          <a:ea typeface="Meiryo"/>
                        </a:rPr>
                        <a:t>16-17</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0" i="0" u="none" strike="noStrike" cap="none">
                          <a:solidFill>
                            <a:srgbClr val="000000"/>
                          </a:solidFill>
                          <a:latin typeface="Meiryo"/>
                          <a:ea typeface="Meiryo"/>
                          <a:cs typeface="Meiryo"/>
                          <a:sym typeface="Meiryo"/>
                        </a:rPr>
                        <a:t>チームリード</a:t>
                      </a:r>
                      <a:endParaRPr sz="1200" b="0"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a:ea typeface="メイリオ"/>
                        </a:rPr>
                        <a:t>Ph1,2のシステム要件確認</a:t>
                      </a:r>
                    </a:p>
                    <a:p>
                      <a:pPr marL="171450" marR="0" lvl="0" indent="-171450" algn="l">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a:ea typeface="メイリオ"/>
                          <a:sym typeface="Meiryo"/>
                        </a:rPr>
                        <a:t>トライアル担当者と西友のチームレベルのタスク進捗状況確認</a:t>
                      </a:r>
                      <a:endParaRPr lang="ja-JP" altLang="en-US" sz="1200" u="none" strike="noStrike" cap="none">
                        <a:latin typeface="メイリオ"/>
                        <a:ea typeface="メイリオ"/>
                      </a:endParaRP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sym typeface="Meiryo"/>
                        </a:rPr>
                        <a:t>チーム内課題・リスク報告＆解決</a:t>
                      </a:r>
                      <a:endParaRPr lang="ja-JP" altLang="en-US" sz="1200" u="none" strike="noStrike" cap="none">
                        <a:latin typeface="メイリオ" panose="020B0604030504040204" pitchFamily="50" charset="-128"/>
                        <a:ea typeface="メイリオ" panose="020B0604030504040204" pitchFamily="50" charset="-128"/>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1" i="0" u="none" strike="noStrike" kern="0" cap="none" spc="0" normalizeH="0" baseline="0" noProof="0">
                          <a:ln>
                            <a:noFill/>
                          </a:ln>
                          <a:solidFill>
                            <a:srgbClr val="000000"/>
                          </a:solidFill>
                          <a:effectLst/>
                          <a:uLnTx/>
                          <a:uFillTx/>
                          <a:latin typeface="Meiryo"/>
                          <a:ea typeface="Meiryo"/>
                          <a:cs typeface="Meiryo"/>
                          <a:sym typeface="Meiryo"/>
                        </a:rPr>
                        <a:t>O</a:t>
                      </a:r>
                      <a:endParaRPr kumimoji="0" lang="en-US" altLang="ja-JP" sz="1200" b="0" i="0" u="none" strike="noStrike" kern="0" cap="none" spc="0" normalizeH="0" baseline="0" noProof="0">
                        <a:ln>
                          <a:noFill/>
                        </a:ln>
                        <a:solidFill>
                          <a:srgbClr val="000000"/>
                        </a:solidFill>
                        <a:effectLst/>
                        <a:uLnTx/>
                        <a:uFillTx/>
                        <a:latin typeface="Arial"/>
                        <a:cs typeface="Arial"/>
                        <a:sym typeface="Arial"/>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b="1" i="0" u="none" strike="noStrike" cap="none">
                          <a:solidFill>
                            <a:srgbClr val="000000"/>
                          </a:solidFill>
                          <a:latin typeface="Meiryo"/>
                          <a:ea typeface="Meiryo"/>
                          <a:cs typeface="Meiryo"/>
                          <a:sym typeface="Meiryo"/>
                        </a:rPr>
                        <a:t>O</a:t>
                      </a:r>
                      <a:endParaRPr lang="en-US" altLang="ja-JP" sz="1200" u="none" strike="noStrike" cap="none"/>
                    </a:p>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lang="en-US" altLang="ja-JP" sz="1900" u="none" strike="noStrike" cap="none"/>
                    </a:p>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L</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9CFD1"/>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1" i="0" u="none" strike="noStrike" cap="none">
                          <a:solidFill>
                            <a:srgbClr val="000000"/>
                          </a:solidFill>
                          <a:latin typeface="Meiryo"/>
                          <a:ea typeface="Meiryo"/>
                          <a:cs typeface="Meiryo"/>
                          <a:sym typeface="Meiryo"/>
                        </a:rPr>
                        <a:t>R</a:t>
                      </a: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900" u="none" strike="noStrike" cap="none"/>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14300" algn="l" rtl="0">
                        <a:lnSpc>
                          <a:spcPct val="100000"/>
                        </a:lnSpc>
                        <a:spcBef>
                          <a:spcPts val="0"/>
                        </a:spcBef>
                        <a:spcAft>
                          <a:spcPts val="0"/>
                        </a:spcAft>
                        <a:buClr>
                          <a:srgbClr val="BFBFBF"/>
                        </a:buClr>
                        <a:buSzPts val="900"/>
                        <a:buFont typeface="Noto Sans Symbols"/>
                        <a:buNone/>
                      </a:pPr>
                      <a:endParaRPr sz="1200" b="0"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644650">
                <a:tc>
                  <a:txBody>
                    <a:bodyPr/>
                    <a:lstStyle/>
                    <a:p>
                      <a:pPr marL="0" marR="0" lvl="0" indent="0" algn="l" rtl="0">
                        <a:lnSpc>
                          <a:spcPct val="100000"/>
                        </a:lnSpc>
                        <a:spcBef>
                          <a:spcPts val="0"/>
                        </a:spcBef>
                        <a:spcAft>
                          <a:spcPts val="0"/>
                        </a:spcAft>
                        <a:buClr>
                          <a:srgbClr val="000000"/>
                        </a:buClr>
                        <a:buSzPts val="900"/>
                        <a:buFont typeface="Arial"/>
                        <a:buNone/>
                      </a:pPr>
                      <a:r>
                        <a:rPr lang="ja-JP" altLang="en-US" sz="1200" b="1" i="0" u="none" strike="noStrike" cap="none">
                          <a:solidFill>
                            <a:srgbClr val="000000"/>
                          </a:solidFill>
                          <a:latin typeface="Meiryo"/>
                          <a:ea typeface="Meiryo"/>
                        </a:rPr>
                        <a:t>性能改善　定例</a:t>
                      </a: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err="1">
                          <a:solidFill>
                            <a:srgbClr val="000000"/>
                          </a:solidFill>
                          <a:latin typeface="Meiryo"/>
                          <a:ea typeface="Meiryo"/>
                        </a:rPr>
                        <a:t>隔週</a:t>
                      </a:r>
                      <a:endParaRPr sz="1200" b="0" i="0" u="none" strike="noStrike" cap="none" err="1">
                        <a:solidFill>
                          <a:srgbClr val="000000"/>
                        </a:solidFill>
                        <a:latin typeface="Meiryo"/>
                        <a:ea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b="0" i="0" u="none" strike="noStrike" cap="none">
                          <a:solidFill>
                            <a:srgbClr val="000000"/>
                          </a:solidFill>
                          <a:latin typeface="Meiryo"/>
                          <a:ea typeface="Meiryo"/>
                          <a:cs typeface="Meiryo"/>
                        </a:rPr>
                        <a:t>隔週水</a:t>
                      </a:r>
                      <a:r>
                        <a:rPr lang="ja-JP" altLang="en-US" sz="1200" b="0" i="0" u="none" strike="noStrike" cap="none">
                          <a:solidFill>
                            <a:srgbClr val="000000"/>
                          </a:solidFill>
                          <a:latin typeface="Meiryo"/>
                          <a:ea typeface="Meiryo"/>
                          <a:cs typeface="Meiryo"/>
                          <a:sym typeface="Meiryo"/>
                        </a:rPr>
                        <a:t>曜</a:t>
                      </a:r>
                      <a:endParaRPr sz="1900" u="none" strike="noStrike" cap="none"/>
                    </a:p>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sym typeface="Arial"/>
                        </a:rPr>
                        <a:t>16:30-17:00</a:t>
                      </a: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cs typeface="Meiryo"/>
                          <a:sym typeface="Meiryo"/>
                        </a:rPr>
                        <a:t>チームリード</a:t>
                      </a:r>
                      <a:endParaRPr sz="1200" b="0"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a:ea typeface="メイリオ"/>
                          <a:sym typeface="Meiryo"/>
                        </a:rPr>
                        <a:t>トライアル担当者と</a:t>
                      </a:r>
                      <a:r>
                        <a:rPr lang="ja-JP" altLang="en-US" sz="1200" b="0" i="0" u="none" strike="noStrike" cap="none">
                          <a:solidFill>
                            <a:srgbClr val="000000"/>
                          </a:solidFill>
                          <a:latin typeface="メイリオ"/>
                          <a:ea typeface="メイリオ"/>
                        </a:rPr>
                        <a:t>性能改善に関わるタスクの確認</a:t>
                      </a: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sym typeface="Meiryo"/>
                        </a:rPr>
                        <a:t>チーム内課題・リスク報告＆解決</a:t>
                      </a:r>
                      <a:endParaRPr lang="ja-JP" altLang="en-US" sz="1200" u="none" strike="noStrike" cap="none">
                        <a:latin typeface="メイリオ" panose="020B0604030504040204" pitchFamily="50" charset="-128"/>
                        <a:ea typeface="メイリオ" panose="020B0604030504040204" pitchFamily="50" charset="-128"/>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altLang="ja-JP" sz="1200" b="1" i="0" u="none" strike="noStrike" kern="0" cap="none" spc="0" normalizeH="0" baseline="0" noProof="0">
                          <a:ln>
                            <a:noFill/>
                          </a:ln>
                          <a:solidFill>
                            <a:srgbClr val="000000"/>
                          </a:solidFill>
                          <a:effectLst/>
                          <a:uLnTx/>
                          <a:uFillTx/>
                          <a:latin typeface="Meiryo"/>
                          <a:ea typeface="Meiryo"/>
                          <a:cs typeface="Meiryo"/>
                          <a:sym typeface="Meiryo"/>
                        </a:rPr>
                        <a:t>O</a:t>
                      </a:r>
                      <a:endParaRPr kumimoji="0" lang="en-US" altLang="ja-JP" sz="1200" b="0" i="0" u="none" strike="noStrike" kern="0" cap="none" spc="0" normalizeH="0" baseline="0" noProof="0">
                        <a:ln>
                          <a:noFill/>
                        </a:ln>
                        <a:solidFill>
                          <a:srgbClr val="000000"/>
                        </a:solidFill>
                        <a:effectLst/>
                        <a:uLnTx/>
                        <a:uFillTx/>
                        <a:latin typeface="Arial"/>
                        <a:cs typeface="Arial"/>
                        <a:sym typeface="Arial"/>
                      </a:endParaRPr>
                    </a:p>
                  </a:txBody>
                  <a:tcPr marL="72000" marR="72000" marT="48000" marB="48000">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b="1" i="0" u="none" strike="noStrike" cap="none">
                          <a:solidFill>
                            <a:srgbClr val="000000"/>
                          </a:solidFill>
                          <a:latin typeface="Meiryo"/>
                          <a:ea typeface="Meiryo"/>
                          <a:cs typeface="Meiryo"/>
                          <a:sym typeface="Meiryo"/>
                        </a:rPr>
                        <a:t>O</a:t>
                      </a:r>
                      <a:endParaRPr lang="en-US" altLang="ja-JP" sz="1200" b="1" i="0" u="none" strike="noStrike" cap="none">
                        <a:solidFill>
                          <a:srgbClr val="000000"/>
                        </a:solidFill>
                        <a:latin typeface="Meiryo"/>
                        <a:ea typeface="Meiryo"/>
                        <a:sym typeface="Arial"/>
                      </a:endParaRPr>
                    </a:p>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endParaRPr lang="en-US" altLang="ja-JP" sz="1200" b="1" i="0" u="none" strike="noStrike" cap="none">
                        <a:solidFill>
                          <a:srgbClr val="000000"/>
                        </a:solidFill>
                        <a:latin typeface="Meiryo"/>
                        <a:ea typeface="Meiryo"/>
                        <a:sym typeface="Arial"/>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b="1" i="0" u="none" strike="noStrike" cap="none">
                          <a:solidFill>
                            <a:srgbClr val="000000"/>
                          </a:solidFill>
                          <a:latin typeface="Meiryo"/>
                          <a:ea typeface="Meiryo"/>
                          <a:cs typeface="Meiryo"/>
                          <a:sym typeface="Meiryo"/>
                        </a:rPr>
                        <a:t>L</a:t>
                      </a:r>
                      <a:endParaRPr sz="1200" b="1" i="0" u="none" strike="noStrike" cap="none">
                        <a:solidFill>
                          <a:srgbClr val="000000"/>
                        </a:solidFill>
                        <a:latin typeface="Meiryo"/>
                        <a:ea typeface="Meiryo"/>
                        <a:sym typeface="Arial"/>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9CFD1"/>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sym typeface="Arial"/>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1450" marR="0" lvl="0" indent="-114300" algn="l" rtl="0">
                        <a:lnSpc>
                          <a:spcPct val="100000"/>
                        </a:lnSpc>
                        <a:spcBef>
                          <a:spcPts val="0"/>
                        </a:spcBef>
                        <a:spcAft>
                          <a:spcPts val="0"/>
                        </a:spcAft>
                        <a:buClr>
                          <a:srgbClr val="BFBFBF"/>
                        </a:buClr>
                        <a:buSzPts val="900"/>
                        <a:buFont typeface="Noto Sans Symbols"/>
                        <a:buNone/>
                      </a:pPr>
                      <a:endParaRPr sz="1200" b="0"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r h="644650">
                <a:tc>
                  <a:txBody>
                    <a:bodyPr/>
                    <a:lstStyle/>
                    <a:p>
                      <a:pPr marL="0" marR="0" lvl="0" indent="0" algn="l" rtl="0">
                        <a:lnSpc>
                          <a:spcPct val="100000"/>
                        </a:lnSpc>
                        <a:spcBef>
                          <a:spcPts val="0"/>
                        </a:spcBef>
                        <a:spcAft>
                          <a:spcPts val="0"/>
                        </a:spcAft>
                        <a:buClr>
                          <a:srgbClr val="000000"/>
                        </a:buClr>
                        <a:buSzPts val="900"/>
                        <a:buFont typeface="Arial"/>
                        <a:buNone/>
                      </a:pPr>
                      <a:r>
                        <a:rPr lang="ja-JP" altLang="en-US" sz="1200" b="1" i="0" u="none" strike="noStrike" cap="none">
                          <a:solidFill>
                            <a:srgbClr val="000000"/>
                          </a:solidFill>
                          <a:latin typeface="Meiryo"/>
                          <a:ea typeface="Meiryo"/>
                          <a:cs typeface="Meiryo"/>
                          <a:sym typeface="Meiryo"/>
                        </a:rPr>
                        <a:t>ビジネス定例</a:t>
                      </a:r>
                      <a:endParaRPr lang="en-US" altLang="ja-JP" sz="12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900"/>
                        <a:buFont typeface="Arial"/>
                        <a:buNone/>
                      </a:pPr>
                      <a:endParaRPr lang="ja-JP" altLang="en-US" sz="1200" b="1" i="0" u="none" strike="noStrike" cap="none">
                        <a:solidFill>
                          <a:srgbClr val="000000"/>
                        </a:solidFill>
                        <a:latin typeface="Meiryo"/>
                        <a:ea typeface="Meiryo"/>
                        <a:cs typeface="Meiryo"/>
                        <a:sym typeface="Meiryo"/>
                      </a:endParaRPr>
                    </a:p>
                  </a:txBody>
                  <a:tcPr marL="72000" marR="72000" marT="48000" marB="48000">
                    <a:lnL w="12700" cap="flat" cmpd="sng">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rPr>
                        <a:t>適宜</a:t>
                      </a:r>
                      <a:endParaRPr sz="1900" u="none" strike="noStrike" cap="none"/>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cs typeface="Meiryo"/>
                        </a:rPr>
                        <a:t>随時</a:t>
                      </a:r>
                      <a:endParaRPr lang="ja-JP" altLang="en-US" sz="1200" b="0"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b="0" i="0" u="none" strike="noStrike" cap="none">
                          <a:solidFill>
                            <a:srgbClr val="000000"/>
                          </a:solidFill>
                          <a:latin typeface="Meiryo"/>
                          <a:ea typeface="Meiryo"/>
                          <a:cs typeface="Meiryo"/>
                        </a:rPr>
                        <a:t>チームリード</a:t>
                      </a:r>
                      <a:endParaRPr sz="1200" b="0"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メイリオ" panose="020B0604030504040204" pitchFamily="50" charset="-128"/>
                          <a:ea typeface="メイリオ" panose="020B0604030504040204" pitchFamily="50" charset="-128"/>
                          <a:cs typeface="Arial"/>
                          <a:sym typeface="Arial"/>
                        </a:rPr>
                        <a:t>チームリードとビジネスのタスク進捗状況確認</a:t>
                      </a:r>
                      <a:endParaRPr sz="1200" b="0" i="0" u="none" strike="noStrike" cap="none">
                        <a:solidFill>
                          <a:srgbClr val="000000"/>
                        </a:solidFill>
                        <a:latin typeface="メイリオ" panose="020B0604030504040204" pitchFamily="50" charset="-128"/>
                        <a:ea typeface="メイリオ" panose="020B0604030504040204" pitchFamily="50" charset="-128"/>
                        <a:cs typeface="Arial"/>
                        <a:sym typeface="Arial"/>
                      </a:endParaRPr>
                    </a:p>
                    <a:p>
                      <a:pPr marL="171450" marR="0" lvl="0" indent="-17145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000000"/>
                          </a:solidFill>
                          <a:latin typeface="Meiryo"/>
                          <a:ea typeface="Meiryo"/>
                          <a:sym typeface="Meiryo"/>
                        </a:rPr>
                        <a:t>課題・リスク報告</a:t>
                      </a:r>
                      <a:r>
                        <a:rPr lang="en-US" altLang="ja-JP" sz="1200" b="0" i="0" u="none" strike="noStrike" cap="none">
                          <a:solidFill>
                            <a:srgbClr val="000000"/>
                          </a:solidFill>
                          <a:latin typeface="Meiryo"/>
                          <a:ea typeface="Meiryo"/>
                          <a:sym typeface="Meiryo"/>
                        </a:rPr>
                        <a:t>&amp;</a:t>
                      </a:r>
                      <a:r>
                        <a:rPr lang="ja-JP" altLang="en-US" sz="1200" b="0" i="0" u="none" strike="noStrike" cap="none">
                          <a:solidFill>
                            <a:srgbClr val="000000"/>
                          </a:solidFill>
                          <a:latin typeface="Meiryo"/>
                          <a:ea typeface="Meiryo"/>
                          <a:sym typeface="Meiryo"/>
                        </a:rPr>
                        <a:t>解決</a:t>
                      </a:r>
                      <a:endParaRPr sz="1900" u="none" strike="noStrike" cap="none"/>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200" b="1" i="0" u="none" strike="noStrike" cap="none">
                          <a:solidFill>
                            <a:srgbClr val="000000"/>
                          </a:solidFill>
                          <a:latin typeface="Meiryo"/>
                          <a:ea typeface="Meiryo"/>
                          <a:cs typeface="Meiryo"/>
                          <a:sym typeface="Meiryo"/>
                        </a:rPr>
                        <a:t>L</a:t>
                      </a: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9CFD1"/>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200" b="1" i="0" u="none" strike="noStrike" cap="none">
                          <a:solidFill>
                            <a:srgbClr val="000000"/>
                          </a:solidFill>
                          <a:latin typeface="Meiryo"/>
                          <a:ea typeface="Meiryo"/>
                          <a:cs typeface="Meiryo"/>
                          <a:sym typeface="Meiryo"/>
                        </a:rPr>
                        <a:t>R</a:t>
                      </a: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CADFEE"/>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lgn="ctr">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tc>
                  <a:txBody>
                    <a:bodyPr/>
                    <a:lstStyle/>
                    <a:p>
                      <a:pPr marL="171450" marR="0" lvl="0" indent="-114300" algn="l" rtl="0">
                        <a:lnSpc>
                          <a:spcPct val="100000"/>
                        </a:lnSpc>
                        <a:spcBef>
                          <a:spcPts val="0"/>
                        </a:spcBef>
                        <a:spcAft>
                          <a:spcPts val="0"/>
                        </a:spcAft>
                        <a:buClr>
                          <a:srgbClr val="BFBFBF"/>
                        </a:buClr>
                        <a:buSzPts val="900"/>
                        <a:buFont typeface="Noto Sans Symbols"/>
                        <a:buNone/>
                      </a:pPr>
                      <a:endParaRPr altLang="en-US" sz="1200" b="0" i="0" u="none" strike="noStrike" cap="none">
                        <a:solidFill>
                          <a:srgbClr val="000000"/>
                        </a:solidFill>
                        <a:latin typeface="Meiryo"/>
                        <a:ea typeface="Meiryo"/>
                        <a:cs typeface="Meiryo"/>
                        <a:sym typeface="Meiryo"/>
                      </a:endParaRPr>
                    </a:p>
                  </a:txBody>
                  <a:tcPr marL="72000" marR="72000" marT="48000" marB="48000">
                    <a:lnL w="12700" cap="flat" cmpd="sng" algn="ctr">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lgn="ctr">
                      <a:solidFill>
                        <a:schemeClr val="lt1"/>
                      </a:solidFill>
                      <a:prstDash val="solid"/>
                      <a:round/>
                      <a:headEnd type="none" w="sm" len="sm"/>
                      <a:tailEnd type="none" w="sm" len="sm"/>
                    </a:lnT>
                    <a:lnB w="12700" cap="flat" cmpd="sng" algn="ctr">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bl>
          </a:graphicData>
        </a:graphic>
      </p:graphicFrame>
      <p:sp>
        <p:nvSpPr>
          <p:cNvPr id="5" name="Google Shape;186;p10">
            <a:extLst>
              <a:ext uri="{FF2B5EF4-FFF2-40B4-BE49-F238E27FC236}">
                <a16:creationId xmlns:a16="http://schemas.microsoft.com/office/drawing/2014/main" id="{E29447C5-8216-9763-EDF2-A94E9C46D5A4}"/>
              </a:ext>
            </a:extLst>
          </p:cNvPr>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r>
              <a:rPr lang="ja-JP"/>
              <a:t>7. 会議体</a:t>
            </a:r>
            <a:endParaRPr/>
          </a:p>
        </p:txBody>
      </p:sp>
    </p:spTree>
    <p:extLst>
      <p:ext uri="{BB962C8B-B14F-4D97-AF65-F5344CB8AC3E}">
        <p14:creationId xmlns:p14="http://schemas.microsoft.com/office/powerpoint/2010/main" val="366763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11"/>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8. 課題・リスク</a:t>
            </a:r>
            <a:endParaRPr/>
          </a:p>
        </p:txBody>
      </p:sp>
      <p:graphicFrame>
        <p:nvGraphicFramePr>
          <p:cNvPr id="193" name="Google Shape;193;p11"/>
          <p:cNvGraphicFramePr/>
          <p:nvPr>
            <p:extLst>
              <p:ext uri="{D42A27DB-BD31-4B8C-83A1-F6EECF244321}">
                <p14:modId xmlns:p14="http://schemas.microsoft.com/office/powerpoint/2010/main" val="3191175543"/>
              </p:ext>
            </p:extLst>
          </p:nvPr>
        </p:nvGraphicFramePr>
        <p:xfrm>
          <a:off x="630000" y="1195522"/>
          <a:ext cx="10944000" cy="4138560"/>
        </p:xfrm>
        <a:graphic>
          <a:graphicData uri="http://schemas.openxmlformats.org/drawingml/2006/table">
            <a:tbl>
              <a:tblPr>
                <a:noFill/>
                <a:tableStyleId>{16DD54E9-F15A-4EFF-A1D8-E2CBB5DF2B52}</a:tableStyleId>
              </a:tblPr>
              <a:tblGrid>
                <a:gridCol w="384000">
                  <a:extLst>
                    <a:ext uri="{9D8B030D-6E8A-4147-A177-3AD203B41FA5}">
                      <a16:colId xmlns:a16="http://schemas.microsoft.com/office/drawing/2014/main" val="20000"/>
                    </a:ext>
                  </a:extLst>
                </a:gridCol>
                <a:gridCol w="624000">
                  <a:extLst>
                    <a:ext uri="{9D8B030D-6E8A-4147-A177-3AD203B41FA5}">
                      <a16:colId xmlns:a16="http://schemas.microsoft.com/office/drawing/2014/main" val="20001"/>
                    </a:ext>
                  </a:extLst>
                </a:gridCol>
                <a:gridCol w="1440000">
                  <a:extLst>
                    <a:ext uri="{9D8B030D-6E8A-4147-A177-3AD203B41FA5}">
                      <a16:colId xmlns:a16="http://schemas.microsoft.com/office/drawing/2014/main" val="20002"/>
                    </a:ext>
                  </a:extLst>
                </a:gridCol>
                <a:gridCol w="2784000">
                  <a:extLst>
                    <a:ext uri="{9D8B030D-6E8A-4147-A177-3AD203B41FA5}">
                      <a16:colId xmlns:a16="http://schemas.microsoft.com/office/drawing/2014/main" val="20003"/>
                    </a:ext>
                  </a:extLst>
                </a:gridCol>
                <a:gridCol w="672000">
                  <a:extLst>
                    <a:ext uri="{9D8B030D-6E8A-4147-A177-3AD203B41FA5}">
                      <a16:colId xmlns:a16="http://schemas.microsoft.com/office/drawing/2014/main" val="20004"/>
                    </a:ext>
                  </a:extLst>
                </a:gridCol>
                <a:gridCol w="672000">
                  <a:extLst>
                    <a:ext uri="{9D8B030D-6E8A-4147-A177-3AD203B41FA5}">
                      <a16:colId xmlns:a16="http://schemas.microsoft.com/office/drawing/2014/main" val="20005"/>
                    </a:ext>
                  </a:extLst>
                </a:gridCol>
                <a:gridCol w="672000">
                  <a:extLst>
                    <a:ext uri="{9D8B030D-6E8A-4147-A177-3AD203B41FA5}">
                      <a16:colId xmlns:a16="http://schemas.microsoft.com/office/drawing/2014/main" val="20006"/>
                    </a:ext>
                  </a:extLst>
                </a:gridCol>
                <a:gridCol w="768000">
                  <a:extLst>
                    <a:ext uri="{9D8B030D-6E8A-4147-A177-3AD203B41FA5}">
                      <a16:colId xmlns:a16="http://schemas.microsoft.com/office/drawing/2014/main" val="20007"/>
                    </a:ext>
                  </a:extLst>
                </a:gridCol>
                <a:gridCol w="2928000">
                  <a:extLst>
                    <a:ext uri="{9D8B030D-6E8A-4147-A177-3AD203B41FA5}">
                      <a16:colId xmlns:a16="http://schemas.microsoft.com/office/drawing/2014/main" val="20008"/>
                    </a:ext>
                  </a:extLst>
                </a:gridCol>
              </a:tblGrid>
              <a:tr h="459350">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a:t>
                      </a:r>
                      <a:endParaRPr sz="1900" u="none" strike="noStrike" cap="none"/>
                    </a:p>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区分</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タイトル</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内容</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優先度</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状況</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担当</a:t>
                      </a:r>
                      <a:endParaRPr sz="1900" u="none" strike="noStrike" cap="none"/>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期限</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chemeClr val="lt1"/>
                          </a:solidFill>
                          <a:latin typeface="Meiryo"/>
                          <a:ea typeface="Meiryo"/>
                          <a:cs typeface="Meiryo"/>
                          <a:sym typeface="Meiryo"/>
                        </a:rPr>
                        <a:t>対応方針・進捗・次のステップ</a:t>
                      </a:r>
                      <a:endParaRPr sz="120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600074">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1</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en-US" altLang="ja-JP" sz="1200" b="1" u="none" strike="noStrike" cap="none">
                          <a:solidFill>
                            <a:srgbClr val="2B2B2B"/>
                          </a:solidFill>
                          <a:latin typeface="Meiryo"/>
                          <a:ea typeface="Meiryo"/>
                          <a:cs typeface="Meiryo"/>
                        </a:rPr>
                        <a:t>Ph2</a:t>
                      </a:r>
                      <a:endParaRPr lang="ja-JP" altLang="en-US" sz="1200" b="1" u="none" strike="noStrike" cap="none">
                        <a:solidFill>
                          <a:srgbClr val="2B2B2B"/>
                        </a:solidFill>
                        <a:latin typeface="Meiryo"/>
                        <a:ea typeface="Meiryo"/>
                        <a:cs typeface="Meiryo"/>
                      </a:endParaRPr>
                    </a:p>
                    <a:p>
                      <a:pPr marL="0" marR="0" lvl="0" indent="0" algn="l">
                        <a:lnSpc>
                          <a:spcPct val="100000"/>
                        </a:lnSpc>
                        <a:spcBef>
                          <a:spcPts val="0"/>
                        </a:spcBef>
                        <a:spcAft>
                          <a:spcPts val="0"/>
                        </a:spcAft>
                        <a:buSzPts val="900"/>
                        <a:buFont typeface="Arial"/>
                        <a:buNone/>
                      </a:pPr>
                      <a:r>
                        <a:rPr lang="ja-JP" sz="1200" b="1" u="none" strike="noStrike" cap="none">
                          <a:solidFill>
                            <a:srgbClr val="2B2B2B"/>
                          </a:solidFill>
                          <a:latin typeface="Meiryo"/>
                          <a:ea typeface="Meiryo"/>
                          <a:cs typeface="Meiryo"/>
                          <a:sym typeface="Meiryo"/>
                        </a:rPr>
                        <a:t>課題</a:t>
                      </a: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B2B2B"/>
                        </a:buClr>
                        <a:buSzPts val="900"/>
                        <a:buFont typeface="Arial"/>
                        <a:buNone/>
                      </a:pPr>
                      <a:r>
                        <a:rPr lang="ja-JP" altLang="en-US" sz="1200" b="1" u="none" strike="noStrike" cap="none">
                          <a:solidFill>
                            <a:srgbClr val="2B2B2B"/>
                          </a:solidFill>
                          <a:latin typeface="Meiryo"/>
                          <a:ea typeface="Meiryo"/>
                        </a:rPr>
                        <a:t>商談システム機能改善</a:t>
                      </a:r>
                      <a:endParaRPr sz="1900" u="none" strike="noStrike" cap="none"/>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ja-JP" altLang="en-US" sz="1200" b="0" u="none" strike="noStrike" cap="none">
                          <a:solidFill>
                            <a:srgbClr val="2B2B2B"/>
                          </a:solidFill>
                          <a:latin typeface="Meiryo"/>
                          <a:ea typeface="Meiryo"/>
                        </a:rPr>
                        <a:t>現行の商談システムにて統合した場合のシステム機能面での課題がある</a:t>
                      </a:r>
                    </a:p>
                    <a:p>
                      <a:pPr marL="0" marR="0" lvl="0" indent="0" algn="l">
                        <a:lnSpc>
                          <a:spcPct val="100000"/>
                        </a:lnSpc>
                        <a:spcBef>
                          <a:spcPts val="0"/>
                        </a:spcBef>
                        <a:spcAft>
                          <a:spcPts val="0"/>
                        </a:spcAft>
                        <a:buSzPts val="900"/>
                        <a:buFont typeface="Arial"/>
                        <a:buNone/>
                      </a:pPr>
                      <a:r>
                        <a:rPr lang="ja-JP" altLang="en-US" sz="1200" b="0" u="none" strike="noStrike" cap="none">
                          <a:solidFill>
                            <a:srgbClr val="2B2B2B"/>
                          </a:solidFill>
                          <a:latin typeface="Meiryo"/>
                          <a:ea typeface="Meiryo"/>
                        </a:rPr>
                        <a:t>性能面以外での課題を把握し、対応策・対応時期を決める必要がある</a:t>
                      </a: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chemeClr val="lt1"/>
                        </a:buClr>
                        <a:buSzPts val="900"/>
                        <a:buFont typeface="Arial"/>
                        <a:buNone/>
                      </a:pPr>
                      <a:r>
                        <a:rPr lang="ja-JP" sz="1200" b="1" i="0" u="none" strike="noStrike" cap="none">
                          <a:solidFill>
                            <a:schemeClr val="lt1"/>
                          </a:solidFill>
                          <a:latin typeface="Meiryo"/>
                          <a:ea typeface="Meiryo"/>
                          <a:cs typeface="Meiryo"/>
                          <a:sym typeface="Meiryo"/>
                        </a:rPr>
                        <a:t>H</a:t>
                      </a:r>
                      <a:endParaRPr sz="1200" b="1" i="0" u="none" strike="noStrike" cap="none">
                        <a:solidFill>
                          <a:schemeClr val="lt1"/>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50012"/>
                    </a:solidFill>
                  </a:tcPr>
                </a:tc>
                <a:tc>
                  <a:txBody>
                    <a:bodyPr/>
                    <a:lstStyle/>
                    <a:p>
                      <a:pPr marL="0" marR="0" lvl="0" indent="0" algn="ctr" rtl="0">
                        <a:lnSpc>
                          <a:spcPct val="100000"/>
                        </a:lnSpc>
                        <a:spcBef>
                          <a:spcPts val="0"/>
                        </a:spcBef>
                        <a:spcAft>
                          <a:spcPts val="0"/>
                        </a:spcAft>
                        <a:buClr>
                          <a:srgbClr val="2B2B2B"/>
                        </a:buClr>
                        <a:buSzPts val="900"/>
                        <a:buFont typeface="Arial"/>
                        <a:buNone/>
                      </a:pPr>
                      <a:r>
                        <a:rPr lang="ja-JP" altLang="en-US" sz="1200" b="0" i="0" u="none" strike="noStrike" cap="none">
                          <a:solidFill>
                            <a:srgbClr val="2B2B2B"/>
                          </a:solidFill>
                          <a:latin typeface="Meiryo"/>
                          <a:ea typeface="Meiryo"/>
                          <a:cs typeface="Meiryo"/>
                        </a:rPr>
                        <a:t>未着手</a:t>
                      </a: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altLang="en-US" sz="1200" u="none" strike="noStrike" cap="none">
                          <a:solidFill>
                            <a:srgbClr val="2B2B2B"/>
                          </a:solidFill>
                          <a:latin typeface="Meiryo"/>
                          <a:ea typeface="Meiryo"/>
                          <a:cs typeface="Meiryo"/>
                        </a:rPr>
                        <a:t>杉崎</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altLang="ja-JP" sz="1200" u="none" strike="noStrike" cap="none">
                          <a:solidFill>
                            <a:srgbClr val="2B2B2B"/>
                          </a:solidFill>
                          <a:latin typeface="Meiryo"/>
                          <a:ea typeface="Meiryo"/>
                          <a:cs typeface="Meiryo"/>
                        </a:rPr>
                        <a:t>26/4</a:t>
                      </a:r>
                      <a:endParaRPr lang="en-US" altLang="ja-JP"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7780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2B2B2B"/>
                          </a:solidFill>
                          <a:latin typeface="Meiryo"/>
                          <a:ea typeface="Meiryo"/>
                        </a:rPr>
                        <a:t>早期にビジネスへのヒヤリング実施</a:t>
                      </a:r>
                      <a:endParaRPr lang="ja-JP" sz="1200" b="0" i="0" u="none" strike="noStrike" cap="none">
                        <a:solidFill>
                          <a:srgbClr val="2B2B2B"/>
                        </a:solidFill>
                        <a:latin typeface="Meiryo"/>
                        <a:ea typeface="Meiryo"/>
                      </a:endParaRPr>
                    </a:p>
                    <a:p>
                      <a:pPr marL="177800" marR="0" lvl="0" indent="-177800" algn="l" rtl="0">
                        <a:lnSpc>
                          <a:spcPct val="100000"/>
                        </a:lnSpc>
                        <a:spcBef>
                          <a:spcPts val="0"/>
                        </a:spcBef>
                        <a:spcAft>
                          <a:spcPts val="0"/>
                        </a:spcAft>
                        <a:buClr>
                          <a:srgbClr val="BFBFBF"/>
                        </a:buClr>
                        <a:buSzPts val="900"/>
                        <a:buFont typeface="Noto Sans Symbols"/>
                        <a:buChar char="■"/>
                      </a:pPr>
                      <a:r>
                        <a:rPr lang="ja-JP" altLang="en-US" sz="1200" b="0" i="0" u="none" strike="noStrike" cap="none">
                          <a:solidFill>
                            <a:srgbClr val="2B2B2B"/>
                          </a:solidFill>
                          <a:latin typeface="Meiryo"/>
                          <a:ea typeface="Meiryo"/>
                        </a:rPr>
                        <a:t>課題内容を把握し、対応時期を検討する（PMI期間は必要最低限の改善にとどめる）</a:t>
                      </a: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459350">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2</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B2B2B"/>
                        </a:buClr>
                        <a:buSzPts val="900"/>
                        <a:buFont typeface="Arial"/>
                        <a:buNone/>
                      </a:pPr>
                      <a:r>
                        <a:rPr lang="ja-JP" sz="1200" b="1" u="none" strike="noStrike" cap="none">
                          <a:solidFill>
                            <a:srgbClr val="2B2B2B"/>
                          </a:solidFill>
                          <a:latin typeface="Meiryo"/>
                          <a:ea typeface="Meiryo"/>
                          <a:cs typeface="Meiryo"/>
                          <a:sym typeface="Meiryo"/>
                        </a:rPr>
                        <a:t>リスク</a:t>
                      </a: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B2B2B"/>
                        </a:buClr>
                        <a:buSzPts val="900"/>
                        <a:buFont typeface="Arial"/>
                        <a:buNone/>
                      </a:pPr>
                      <a:r>
                        <a:rPr lang="ja-JP" sz="1200" b="1" u="none" strike="noStrike" cap="none">
                          <a:solidFill>
                            <a:srgbClr val="2B2B2B"/>
                          </a:solidFill>
                          <a:latin typeface="Meiryo"/>
                          <a:ea typeface="Meiryo"/>
                          <a:cs typeface="Meiryo"/>
                          <a:sym typeface="Meiryo"/>
                        </a:rPr>
                        <a:t>XXX</a:t>
                      </a:r>
                      <a:endParaRPr sz="1900" u="none" strike="noStrike" cap="none"/>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ja-JP" sz="1200" b="0" u="none" strike="noStrike" cap="none">
                          <a:solidFill>
                            <a:srgbClr val="2B2B2B"/>
                          </a:solidFill>
                          <a:latin typeface="Meiryo"/>
                          <a:ea typeface="Meiryo"/>
                          <a:cs typeface="Meiryo"/>
                          <a:sym typeface="Meiryo"/>
                        </a:rPr>
                        <a:t>XXXXX</a:t>
                      </a:r>
                      <a:endParaRPr sz="1900" u="none" strike="noStrike" cap="none"/>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B2B2B"/>
                        </a:buClr>
                        <a:buSzPts val="900"/>
                        <a:buFont typeface="Arial"/>
                        <a:buNone/>
                      </a:pPr>
                      <a:r>
                        <a:rPr lang="ja-JP" sz="1200" b="1" i="0" u="none" strike="noStrike" cap="none">
                          <a:solidFill>
                            <a:srgbClr val="2B2B2B"/>
                          </a:solidFill>
                          <a:latin typeface="Meiryo"/>
                          <a:ea typeface="Meiryo"/>
                          <a:cs typeface="Meiryo"/>
                          <a:sym typeface="Meiryo"/>
                        </a:rPr>
                        <a:t>M</a:t>
                      </a: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EE7479"/>
                    </a:solidFill>
                  </a:tcPr>
                </a:tc>
                <a:tc>
                  <a:txBody>
                    <a:bodyPr/>
                    <a:lstStyle/>
                    <a:p>
                      <a:pPr marL="0" marR="0" lvl="0" indent="0" algn="ctr" rtl="0">
                        <a:lnSpc>
                          <a:spcPct val="100000"/>
                        </a:lnSpc>
                        <a:spcBef>
                          <a:spcPts val="0"/>
                        </a:spcBef>
                        <a:spcAft>
                          <a:spcPts val="0"/>
                        </a:spcAft>
                        <a:buClr>
                          <a:srgbClr val="2B2B2B"/>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XXX</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MM/DD</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77800"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77800" marR="0" lvl="0" indent="-177800"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459350">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3</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B2B2B"/>
                        </a:buClr>
                        <a:buSzPts val="900"/>
                        <a:buFont typeface="Arial"/>
                        <a:buNone/>
                      </a:pPr>
                      <a:r>
                        <a:rPr lang="ja-JP" sz="1200" b="1" u="none" strike="noStrike" cap="none">
                          <a:solidFill>
                            <a:srgbClr val="2B2B2B"/>
                          </a:solidFill>
                          <a:latin typeface="Meiryo"/>
                          <a:ea typeface="Meiryo"/>
                          <a:cs typeface="Meiryo"/>
                          <a:sym typeface="Meiryo"/>
                        </a:rPr>
                        <a:t>リスク</a:t>
                      </a: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2B2B2B"/>
                        </a:buClr>
                        <a:buSzPts val="900"/>
                        <a:buFont typeface="Arial"/>
                        <a:buNone/>
                      </a:pPr>
                      <a:r>
                        <a:rPr lang="ja-JP" sz="1200" b="1" u="none" strike="noStrike" cap="none">
                          <a:solidFill>
                            <a:srgbClr val="2B2B2B"/>
                          </a:solidFill>
                          <a:latin typeface="Meiryo"/>
                          <a:ea typeface="Meiryo"/>
                          <a:cs typeface="Meiryo"/>
                          <a:sym typeface="Meiryo"/>
                        </a:rPr>
                        <a:t>XXX</a:t>
                      </a: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r>
                        <a:rPr lang="ja-JP" sz="1200" b="0" u="none" strike="noStrike" cap="none">
                          <a:solidFill>
                            <a:srgbClr val="2B2B2B"/>
                          </a:solidFill>
                          <a:latin typeface="Meiryo"/>
                          <a:ea typeface="Meiryo"/>
                          <a:cs typeface="Meiryo"/>
                          <a:sym typeface="Meiryo"/>
                        </a:rPr>
                        <a:t>XXXXX</a:t>
                      </a: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2B2B2B"/>
                        </a:buClr>
                        <a:buSzPts val="900"/>
                        <a:buFont typeface="Arial"/>
                        <a:buNone/>
                      </a:pPr>
                      <a:r>
                        <a:rPr lang="ja-JP" sz="1200" b="1" i="0" u="none" strike="noStrike" cap="none">
                          <a:solidFill>
                            <a:srgbClr val="2B2B2B"/>
                          </a:solidFill>
                          <a:latin typeface="Meiryo"/>
                          <a:ea typeface="Meiryo"/>
                          <a:cs typeface="Meiryo"/>
                          <a:sym typeface="Meiryo"/>
                        </a:rPr>
                        <a:t>L</a:t>
                      </a: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9D1D2"/>
                    </a:solidFill>
                  </a:tcPr>
                </a:tc>
                <a:tc>
                  <a:txBody>
                    <a:bodyPr/>
                    <a:lstStyle/>
                    <a:p>
                      <a:pPr marL="0" marR="0" lvl="0" indent="0" algn="ctr" rtl="0">
                        <a:lnSpc>
                          <a:spcPct val="100000"/>
                        </a:lnSpc>
                        <a:spcBef>
                          <a:spcPts val="0"/>
                        </a:spcBef>
                        <a:spcAft>
                          <a:spcPts val="0"/>
                        </a:spcAft>
                        <a:buClr>
                          <a:srgbClr val="2B2B2B"/>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XXX</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MM/DD</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77800"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77800" marR="0" lvl="0" indent="-177800"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4</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5</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6</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6"/>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7</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7"/>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8</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8"/>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9</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9"/>
                  </a:ext>
                </a:extLst>
              </a:tr>
              <a:tr h="276475">
                <a:tc>
                  <a:txBody>
                    <a:bodyPr/>
                    <a:lstStyle/>
                    <a:p>
                      <a:pPr marL="0" marR="0" lvl="0" indent="0" algn="ctr" rtl="0">
                        <a:lnSpc>
                          <a:spcPct val="100000"/>
                        </a:lnSpc>
                        <a:spcBef>
                          <a:spcPts val="0"/>
                        </a:spcBef>
                        <a:spcAft>
                          <a:spcPts val="0"/>
                        </a:spcAft>
                        <a:buClr>
                          <a:srgbClr val="000000"/>
                        </a:buClr>
                        <a:buSzPts val="900"/>
                        <a:buFont typeface="Arial"/>
                        <a:buNone/>
                      </a:pPr>
                      <a:r>
                        <a:rPr lang="ja-JP" sz="1200" u="none" strike="noStrike" cap="none">
                          <a:solidFill>
                            <a:srgbClr val="2B2B2B"/>
                          </a:solidFill>
                          <a:latin typeface="Meiryo"/>
                          <a:ea typeface="Meiryo"/>
                          <a:cs typeface="Meiryo"/>
                          <a:sym typeface="Meiryo"/>
                        </a:rPr>
                        <a:t>10</a:t>
                      </a: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1"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900"/>
                        <a:buFont typeface="Arial"/>
                        <a:buNone/>
                      </a:pPr>
                      <a:endParaRPr sz="1200" b="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1"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000000"/>
                        </a:buClr>
                        <a:buSzPts val="900"/>
                        <a:buFont typeface="Arial"/>
                        <a:buNone/>
                      </a:pPr>
                      <a:endParaRPr sz="120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tc>
                  <a:txBody>
                    <a:bodyPr/>
                    <a:lstStyle/>
                    <a:p>
                      <a:pPr marL="177800" marR="0" lvl="0" indent="-120650" algn="l" rtl="0">
                        <a:lnSpc>
                          <a:spcPct val="100000"/>
                        </a:lnSpc>
                        <a:spcBef>
                          <a:spcPts val="0"/>
                        </a:spcBef>
                        <a:spcAft>
                          <a:spcPts val="0"/>
                        </a:spcAft>
                        <a:buClr>
                          <a:srgbClr val="BFBFBF"/>
                        </a:buClr>
                        <a:buSzPts val="900"/>
                        <a:buFont typeface="Noto Sans Symbols"/>
                        <a:buNone/>
                      </a:pPr>
                      <a:endParaRPr sz="1200" b="0" i="0" u="none" strike="noStrike" cap="none">
                        <a:solidFill>
                          <a:srgbClr val="2B2B2B"/>
                        </a:solidFill>
                        <a:latin typeface="Meiryo"/>
                        <a:ea typeface="Meiryo"/>
                        <a:cs typeface="Meiryo"/>
                        <a:sym typeface="Meiryo"/>
                      </a:endParaRPr>
                    </a:p>
                  </a:txBody>
                  <a:tcPr marL="72000" marR="72000" marT="46800" marB="46800">
                    <a:lnL w="12700" cap="flat" cmpd="sng">
                      <a:solidFill>
                        <a:schemeClr val="lt1"/>
                      </a:solidFill>
                      <a:prstDash val="solid"/>
                      <a:round/>
                      <a:headEnd type="none" w="sm" len="sm"/>
                      <a:tailEnd type="none" w="sm" len="sm"/>
                    </a:lnL>
                    <a:lnR w="12700" cap="flat" cmpd="sng">
                      <a:solidFill>
                        <a:schemeClr val="lt1"/>
                      </a:solidFill>
                      <a:prstDash val="solid"/>
                      <a:round/>
                      <a:headEnd type="none" w="sm" len="sm"/>
                      <a:tailEnd type="none" w="sm" len="sm"/>
                    </a:lnR>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3"/>
          <p:cNvSpPr txBox="1">
            <a:spLocks noGrp="1"/>
          </p:cNvSpPr>
          <p:nvPr>
            <p:ph type="title"/>
          </p:nvPr>
        </p:nvSpPr>
        <p:spPr>
          <a:xfrm>
            <a:off x="630883" y="2852936"/>
            <a:ext cx="4932548" cy="517001"/>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dk1"/>
              </a:buClr>
              <a:buSzPts val="2800"/>
              <a:buFont typeface="Arial"/>
              <a:buNone/>
            </a:pPr>
            <a:r>
              <a:rPr lang="ja-JP" sz="3733">
                <a:latin typeface="Meiryo"/>
                <a:ea typeface="Meiryo"/>
                <a:cs typeface="Meiryo"/>
                <a:sym typeface="Meiryo"/>
              </a:rPr>
              <a:t>参考資料</a:t>
            </a:r>
            <a:endParaRPr>
              <a:latin typeface="Meiryo"/>
              <a:ea typeface="Meiryo"/>
              <a:cs typeface="Meiryo"/>
              <a:sym typeface="Meiry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7BCC5-4635-613C-44D8-D174C95BB88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A4D38B-15E1-9993-BB16-BC24A2F0F858}"/>
              </a:ext>
            </a:extLst>
          </p:cNvPr>
          <p:cNvSpPr>
            <a:spLocks noGrp="1"/>
          </p:cNvSpPr>
          <p:nvPr>
            <p:ph type="title"/>
          </p:nvPr>
        </p:nvSpPr>
        <p:spPr/>
        <p:txBody>
          <a:bodyPr/>
          <a:lstStyle/>
          <a:p>
            <a:r>
              <a:rPr kumimoji="1" lang="en-US" altLang="ja-JP"/>
              <a:t>2.</a:t>
            </a:r>
            <a:r>
              <a:rPr kumimoji="1" lang="ja-JP" altLang="en-US"/>
              <a:t> 概要・アプローチ（</a:t>
            </a:r>
            <a:r>
              <a:rPr kumimoji="1" lang="en-US" altLang="ja-JP"/>
              <a:t>1/2)</a:t>
            </a:r>
            <a:r>
              <a:rPr kumimoji="1" lang="ja-JP" altLang="en-US"/>
              <a:t>　システム</a:t>
            </a:r>
            <a:r>
              <a:rPr kumimoji="1" lang="en-US" altLang="ja-JP"/>
              <a:t>/TRIAL</a:t>
            </a:r>
            <a:endParaRPr kumimoji="1" lang="ja-JP" altLang="en-US"/>
          </a:p>
        </p:txBody>
      </p:sp>
      <p:graphicFrame>
        <p:nvGraphicFramePr>
          <p:cNvPr id="3" name="表 2">
            <a:extLst>
              <a:ext uri="{FF2B5EF4-FFF2-40B4-BE49-F238E27FC236}">
                <a16:creationId xmlns:a16="http://schemas.microsoft.com/office/drawing/2014/main" id="{FD789911-23BB-9BFF-9EEC-12C353C0AE3A}"/>
              </a:ext>
            </a:extLst>
          </p:cNvPr>
          <p:cNvGraphicFramePr>
            <a:graphicFrameLocks noGrp="1"/>
          </p:cNvGraphicFramePr>
          <p:nvPr>
            <p:extLst>
              <p:ext uri="{D42A27DB-BD31-4B8C-83A1-F6EECF244321}">
                <p14:modId xmlns:p14="http://schemas.microsoft.com/office/powerpoint/2010/main" val="709619028"/>
              </p:ext>
            </p:extLst>
          </p:nvPr>
        </p:nvGraphicFramePr>
        <p:xfrm>
          <a:off x="83128" y="802125"/>
          <a:ext cx="12001499" cy="4800600"/>
        </p:xfrm>
        <a:graphic>
          <a:graphicData uri="http://schemas.openxmlformats.org/drawingml/2006/table">
            <a:tbl>
              <a:tblPr firstRow="1" bandRow="1">
                <a:tableStyleId>{5C22544A-7EE6-4342-B048-85BDC9FD1C3A}</a:tableStyleId>
              </a:tblPr>
              <a:tblGrid>
                <a:gridCol w="2576704">
                  <a:extLst>
                    <a:ext uri="{9D8B030D-6E8A-4147-A177-3AD203B41FA5}">
                      <a16:colId xmlns:a16="http://schemas.microsoft.com/office/drawing/2014/main" val="458873179"/>
                    </a:ext>
                  </a:extLst>
                </a:gridCol>
                <a:gridCol w="2223897">
                  <a:extLst>
                    <a:ext uri="{9D8B030D-6E8A-4147-A177-3AD203B41FA5}">
                      <a16:colId xmlns:a16="http://schemas.microsoft.com/office/drawing/2014/main" val="3265664372"/>
                    </a:ext>
                  </a:extLst>
                </a:gridCol>
                <a:gridCol w="1347022">
                  <a:extLst>
                    <a:ext uri="{9D8B030D-6E8A-4147-A177-3AD203B41FA5}">
                      <a16:colId xmlns:a16="http://schemas.microsoft.com/office/drawing/2014/main" val="2492261142"/>
                    </a:ext>
                  </a:extLst>
                </a:gridCol>
                <a:gridCol w="3822207">
                  <a:extLst>
                    <a:ext uri="{9D8B030D-6E8A-4147-A177-3AD203B41FA5}">
                      <a16:colId xmlns:a16="http://schemas.microsoft.com/office/drawing/2014/main" val="551586481"/>
                    </a:ext>
                  </a:extLst>
                </a:gridCol>
                <a:gridCol w="2031669">
                  <a:extLst>
                    <a:ext uri="{9D8B030D-6E8A-4147-A177-3AD203B41FA5}">
                      <a16:colId xmlns:a16="http://schemas.microsoft.com/office/drawing/2014/main" val="2833920643"/>
                    </a:ext>
                  </a:extLst>
                </a:gridCol>
              </a:tblGrid>
              <a:tr h="194007">
                <a:tc>
                  <a:txBody>
                    <a:bodyPr/>
                    <a:lstStyle/>
                    <a:p>
                      <a:r>
                        <a:rPr kumimoji="1" lang="en-US" altLang="ja-JP">
                          <a:latin typeface="メイリオ" panose="020B0604030504040204" pitchFamily="50" charset="-128"/>
                          <a:ea typeface="メイリオ" panose="020B0604030504040204" pitchFamily="50" charset="-128"/>
                        </a:rPr>
                        <a:t>STEP</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sz="1600">
                          <a:latin typeface="メイリオ" panose="020B0604030504040204" pitchFamily="50" charset="-128"/>
                          <a:ea typeface="メイリオ" panose="020B0604030504040204" pitchFamily="50" charset="-128"/>
                        </a:rPr>
                        <a:t>概要</a:t>
                      </a:r>
                    </a:p>
                  </a:txBody>
                  <a:tcPr/>
                </a:tc>
                <a:tc>
                  <a:txBody>
                    <a:bodyPr/>
                    <a:lstStyle/>
                    <a:p>
                      <a:r>
                        <a:rPr kumimoji="1" lang="ja-JP" altLang="en-US" sz="1600">
                          <a:latin typeface="メイリオ" panose="020B0604030504040204" pitchFamily="50" charset="-128"/>
                          <a:ea typeface="メイリオ" panose="020B0604030504040204" pitchFamily="50" charset="-128"/>
                        </a:rPr>
                        <a:t>対象者</a:t>
                      </a:r>
                    </a:p>
                  </a:txBody>
                  <a:tcPr/>
                </a:tc>
                <a:tc>
                  <a:txBody>
                    <a:bodyPr/>
                    <a:lstStyle/>
                    <a:p>
                      <a:r>
                        <a:rPr kumimoji="1" lang="ja-JP" altLang="en-US" sz="1600">
                          <a:latin typeface="メイリオ" panose="020B0604030504040204" pitchFamily="50" charset="-128"/>
                          <a:ea typeface="メイリオ" panose="020B0604030504040204" pitchFamily="50" charset="-128"/>
                        </a:rPr>
                        <a:t>期待値</a:t>
                      </a:r>
                    </a:p>
                  </a:txBody>
                  <a:tcPr/>
                </a:tc>
                <a:tc>
                  <a:txBody>
                    <a:bodyPr/>
                    <a:lstStyle/>
                    <a:p>
                      <a:r>
                        <a:rPr kumimoji="1" lang="ja-JP" altLang="en-US" sz="1600">
                          <a:latin typeface="メイリオ" panose="020B0604030504040204" pitchFamily="50" charset="-128"/>
                          <a:ea typeface="メイリオ" panose="020B0604030504040204" pitchFamily="50" charset="-128"/>
                        </a:rPr>
                        <a:t>期間</a:t>
                      </a:r>
                    </a:p>
                  </a:txBody>
                  <a:tcPr/>
                </a:tc>
                <a:extLst>
                  <a:ext uri="{0D108BD9-81ED-4DB2-BD59-A6C34878D82A}">
                    <a16:rowId xmlns:a16="http://schemas.microsoft.com/office/drawing/2014/main" val="3759396504"/>
                  </a:ext>
                </a:extLst>
              </a:tr>
              <a:tr h="1012557">
                <a:tc rowSpan="7">
                  <a:txBody>
                    <a:bodyPr/>
                    <a:lstStyle/>
                    <a:p>
                      <a:pPr marL="0" marR="0" lvl="0" indent="0" algn="l" rtl="0">
                        <a:lnSpc>
                          <a:spcPct val="100000"/>
                        </a:lnSpc>
                        <a:spcBef>
                          <a:spcPts val="0"/>
                        </a:spcBef>
                        <a:spcAft>
                          <a:spcPts val="0"/>
                        </a:spcAft>
                        <a:buClr>
                          <a:srgbClr val="000000"/>
                        </a:buClr>
                        <a:buSzPts val="1100"/>
                        <a:buFont typeface="Arial"/>
                        <a:buNone/>
                      </a:pPr>
                      <a:r>
                        <a:rPr lang="ja-JP" altLang="en-US">
                          <a:latin typeface="メイリオ" panose="020B0604030504040204" pitchFamily="50" charset="-128"/>
                          <a:ea typeface="メイリオ" panose="020B0604030504040204" pitchFamily="50" charset="-128"/>
                        </a:rPr>
                        <a:t>3</a:t>
                      </a:r>
                      <a:r>
                        <a:rPr kumimoji="1" lang="ja-JP" altLang="en-US">
                          <a:latin typeface="メイリオ" panose="020B0604030504040204" pitchFamily="50" charset="-128"/>
                          <a:ea typeface="メイリオ" panose="020B0604030504040204" pitchFamily="50" charset="-128"/>
                        </a:rPr>
                        <a:t>．</a:t>
                      </a:r>
                      <a:endParaRPr kumimoji="1" lang="en-US" altLang="ja-JP">
                        <a:latin typeface="メイリオ" panose="020B0604030504040204" pitchFamily="50" charset="-128"/>
                        <a:ea typeface="メイリオ" panose="020B0604030504040204" pitchFamily="50" charset="-128"/>
                      </a:endParaRPr>
                    </a:p>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マスタ統合</a:t>
                      </a:r>
                      <a:r>
                        <a:rPr lang="en-US" altLang="ja-JP"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a:t>
                      </a:r>
                    </a:p>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共通</a:t>
                      </a: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rPr>
                        <a:t>マスタ登録システム</a:t>
                      </a: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構築</a:t>
                      </a:r>
                      <a:endParaRPr lang="ja-JP" altLang="ja-JP" sz="2000">
                        <a:latin typeface="メイリオ" panose="020B0604030504040204" pitchFamily="50" charset="-128"/>
                        <a:ea typeface="メイリオ" panose="020B0604030504040204" pitchFamily="50" charset="-128"/>
                        <a:sym typeface="Arial"/>
                      </a:endParaRPr>
                    </a:p>
                  </a:txBody>
                  <a:tcPr/>
                </a:tc>
                <a:tc>
                  <a:txBody>
                    <a:bodyPr/>
                    <a:lstStyle/>
                    <a:p>
                      <a:r>
                        <a:rPr kumimoji="1" lang="ja-JP" altLang="en-US" sz="1400" b="0">
                          <a:solidFill>
                            <a:schemeClr val="tx1"/>
                          </a:solidFill>
                          <a:latin typeface="メイリオ" panose="020B0604030504040204" pitchFamily="50" charset="-128"/>
                          <a:ea typeface="メイリオ" panose="020B0604030504040204" pitchFamily="50" charset="-128"/>
                        </a:rPr>
                        <a:t>要件整理</a:t>
                      </a:r>
                      <a:endParaRPr kumimoji="1" lang="en-US" altLang="ja-JP" sz="1400" b="0">
                        <a:solidFill>
                          <a:schemeClr val="tx1"/>
                        </a:solidFill>
                        <a:latin typeface="メイリオ" panose="020B0604030504040204" pitchFamily="50" charset="-128"/>
                        <a:ea typeface="メイリオ" panose="020B0604030504040204" pitchFamily="50" charset="-128"/>
                      </a:endParaRPr>
                    </a:p>
                  </a:txBody>
                  <a:tcPr/>
                </a:tc>
                <a:tc>
                  <a:txBody>
                    <a:bodyPr/>
                    <a:lstStyle/>
                    <a:p>
                      <a:r>
                        <a:rPr kumimoji="1" lang="en-US" altLang="ja-JP" sz="1400">
                          <a:latin typeface="メイリオ" panose="020B0604030504040204" pitchFamily="50" charset="-128"/>
                          <a:ea typeface="メイリオ" panose="020B0604030504040204" pitchFamily="50" charset="-128"/>
                        </a:rPr>
                        <a:t>TRXXX</a:t>
                      </a:r>
                    </a:p>
                    <a:p>
                      <a:r>
                        <a:rPr kumimoji="1" lang="en-US" altLang="ja-JP" sz="1400">
                          <a:latin typeface="メイリオ" panose="020B0604030504040204" pitchFamily="50" charset="-128"/>
                          <a:ea typeface="メイリオ" panose="020B0604030504040204" pitchFamily="50" charset="-128"/>
                        </a:rPr>
                        <a:t>TREXXX</a:t>
                      </a:r>
                    </a:p>
                    <a:p>
                      <a:r>
                        <a:rPr kumimoji="1" lang="ja-JP" altLang="en-US" sz="1400">
                          <a:latin typeface="メイリオ" panose="020B0604030504040204" pitchFamily="50" charset="-128"/>
                          <a:ea typeface="メイリオ" panose="020B0604030504040204" pitchFamily="50" charset="-128"/>
                        </a:rPr>
                        <a:t>西友</a:t>
                      </a:r>
                      <a:r>
                        <a:rPr kumimoji="1" lang="en-US" altLang="ja-JP" sz="1400">
                          <a:latin typeface="メイリオ" panose="020B0604030504040204" pitchFamily="50" charset="-128"/>
                          <a:ea typeface="メイリオ" panose="020B0604030504040204" pitchFamily="50" charset="-128"/>
                        </a:rPr>
                        <a:t>XXX</a:t>
                      </a:r>
                    </a:p>
                    <a:p>
                      <a:endParaRPr kumimoji="1" lang="en-US" altLang="ja-JP" sz="1400">
                        <a:latin typeface="メイリオ" panose="020B0604030504040204" pitchFamily="50" charset="-128"/>
                        <a:ea typeface="メイリオ" panose="020B0604030504040204" pitchFamily="50" charset="-128"/>
                      </a:endParaRPr>
                    </a:p>
                  </a:txBody>
                  <a:tcPr/>
                </a:tc>
                <a:tc>
                  <a:txBody>
                    <a:bodyPr/>
                    <a:lstStyle/>
                    <a:p>
                      <a:r>
                        <a:rPr kumimoji="1" lang="ja-JP" altLang="en-US" sz="1100">
                          <a:solidFill>
                            <a:schemeClr val="tx1"/>
                          </a:solidFill>
                          <a:latin typeface="メイリオ"/>
                          <a:ea typeface="メイリオ"/>
                        </a:rPr>
                        <a:t>共通商品登録システムを商談システムベースに検討を行うが、トライアル・西友で使用する際には、現行の課題を洗い出し、要件整理ができるリソース。</a:t>
                      </a:r>
                      <a:br>
                        <a:rPr kumimoji="1" lang="en-US" altLang="ja-JP" sz="1100">
                          <a:latin typeface="メイリオ"/>
                          <a:ea typeface="メイリオ"/>
                        </a:rPr>
                      </a:br>
                      <a:endParaRPr kumimoji="1" lang="en-US" altLang="ja-JP" sz="1100">
                        <a:latin typeface="メイリオ"/>
                        <a:ea typeface="メイリオ"/>
                      </a:endParaRPr>
                    </a:p>
                    <a:p>
                      <a:r>
                        <a:rPr kumimoji="1" lang="ja-JP" altLang="en-US" sz="1100">
                          <a:latin typeface="メイリオ" panose="020B0604030504040204" pitchFamily="50" charset="-128"/>
                          <a:ea typeface="メイリオ" panose="020B0604030504040204" pitchFamily="50" charset="-128"/>
                        </a:rPr>
                        <a:t>①現行の商談システムの課題・プロセスより「あるべき姿」を検討・整理</a:t>
                      </a:r>
                      <a:endParaRPr kumimoji="1" lang="en-US" altLang="ja-JP" sz="1100">
                        <a:latin typeface="メイリオ" panose="020B0604030504040204" pitchFamily="50" charset="-128"/>
                        <a:ea typeface="メイリオ" panose="020B0604030504040204" pitchFamily="50" charset="-128"/>
                      </a:endParaRPr>
                    </a:p>
                    <a:p>
                      <a:r>
                        <a:rPr kumimoji="1" lang="ja-JP" altLang="en-US" sz="1100">
                          <a:latin typeface="メイリオ" panose="020B0604030504040204" pitchFamily="50" charset="-128"/>
                          <a:ea typeface="メイリオ" panose="020B0604030504040204" pitchFamily="50" charset="-128"/>
                        </a:rPr>
                        <a:t>②</a:t>
                      </a:r>
                      <a:r>
                        <a:rPr kumimoji="1" lang="en-US" altLang="ja-JP" sz="1100">
                          <a:latin typeface="メイリオ" panose="020B0604030504040204" pitchFamily="50" charset="-128"/>
                          <a:ea typeface="メイリオ" panose="020B0604030504040204" pitchFamily="50" charset="-128"/>
                        </a:rPr>
                        <a:t>TR/SY</a:t>
                      </a:r>
                      <a:r>
                        <a:rPr kumimoji="1" lang="ja-JP" altLang="en-US" sz="1100">
                          <a:latin typeface="メイリオ" panose="020B0604030504040204" pitchFamily="50" charset="-128"/>
                          <a:ea typeface="メイリオ" panose="020B0604030504040204" pitchFamily="50" charset="-128"/>
                        </a:rPr>
                        <a:t>のマスタ項目の突合せ</a:t>
                      </a:r>
                      <a:endParaRPr kumimoji="1" lang="en-US" altLang="ja-JP" sz="1100">
                        <a:latin typeface="メイリオ" panose="020B0604030504040204" pitchFamily="50" charset="-128"/>
                        <a:ea typeface="メイリオ" panose="020B0604030504040204" pitchFamily="50" charset="-128"/>
                      </a:endParaRPr>
                    </a:p>
                    <a:p>
                      <a:r>
                        <a:rPr kumimoji="1" lang="ja-JP" altLang="en-US" sz="1100">
                          <a:latin typeface="メイリオ" panose="020B0604030504040204" pitchFamily="50" charset="-128"/>
                          <a:ea typeface="メイリオ" panose="020B0604030504040204" pitchFamily="50" charset="-128"/>
                        </a:rPr>
                        <a:t>③共通項目の精査・推奨の提示　→</a:t>
                      </a:r>
                      <a:r>
                        <a:rPr kumimoji="1" lang="en-US" altLang="ja-JP" sz="1100">
                          <a:latin typeface="メイリオ" panose="020B0604030504040204" pitchFamily="50" charset="-128"/>
                          <a:ea typeface="メイリオ" panose="020B0604030504040204" pitchFamily="50" charset="-128"/>
                        </a:rPr>
                        <a:t>Biz</a:t>
                      </a:r>
                      <a:r>
                        <a:rPr kumimoji="1" lang="ja-JP" altLang="en-US" sz="1100">
                          <a:latin typeface="メイリオ" panose="020B0604030504040204" pitchFamily="50" charset="-128"/>
                          <a:ea typeface="メイリオ" panose="020B0604030504040204" pitchFamily="50" charset="-128"/>
                        </a:rPr>
                        <a:t>レビュー</a:t>
                      </a:r>
                      <a:endParaRPr kumimoji="1" lang="en-US" altLang="ja-JP" sz="1100">
                        <a:latin typeface="メイリオ" panose="020B0604030504040204" pitchFamily="50" charset="-128"/>
                        <a:ea typeface="メイリオ" panose="020B0604030504040204" pitchFamily="50" charset="-128"/>
                      </a:endParaRPr>
                    </a:p>
                    <a:p>
                      <a:r>
                        <a:rPr kumimoji="1" lang="ja-JP" altLang="en-US" sz="1100">
                          <a:latin typeface="メイリオ"/>
                          <a:ea typeface="メイリオ"/>
                        </a:rPr>
                        <a:t>④システムフロー</a:t>
                      </a:r>
                      <a:r>
                        <a:rPr kumimoji="1" lang="en-US" altLang="ja-JP" sz="1100">
                          <a:latin typeface="メイリオ"/>
                          <a:ea typeface="メイリオ"/>
                        </a:rPr>
                        <a:t>/</a:t>
                      </a:r>
                      <a:r>
                        <a:rPr kumimoji="1" lang="ja-JP" altLang="en-US" sz="1100">
                          <a:latin typeface="メイリオ"/>
                          <a:ea typeface="メイリオ"/>
                        </a:rPr>
                        <a:t>業務プロセスのタタキ作成→</a:t>
                      </a:r>
                      <a:r>
                        <a:rPr kumimoji="1" lang="en-US" altLang="ja-JP" sz="1100">
                          <a:latin typeface="メイリオ"/>
                          <a:ea typeface="メイリオ"/>
                        </a:rPr>
                        <a:t>Biz</a:t>
                      </a:r>
                      <a:r>
                        <a:rPr kumimoji="1" lang="ja-JP" altLang="en-US" sz="1100">
                          <a:latin typeface="メイリオ"/>
                          <a:ea typeface="メイリオ"/>
                        </a:rPr>
                        <a:t>レビュー</a:t>
                      </a:r>
                      <a:br>
                        <a:rPr kumimoji="1" lang="en-US" altLang="ja-JP" sz="1100">
                          <a:latin typeface="メイリオ"/>
                          <a:ea typeface="メイリオ"/>
                        </a:rPr>
                      </a:br>
                      <a:r>
                        <a:rPr kumimoji="1" lang="ja-JP" altLang="en-US" sz="1100">
                          <a:latin typeface="メイリオ"/>
                          <a:ea typeface="メイリオ"/>
                        </a:rPr>
                        <a:t>⑤</a:t>
                      </a:r>
                      <a:r>
                        <a:rPr kumimoji="1" lang="en-US" altLang="ja-JP" sz="1100">
                          <a:latin typeface="メイリオ"/>
                          <a:ea typeface="メイリオ"/>
                        </a:rPr>
                        <a:t>Shinise</a:t>
                      </a:r>
                      <a:r>
                        <a:rPr kumimoji="1" lang="ja-JP" altLang="en-US" sz="1100">
                          <a:latin typeface="メイリオ"/>
                          <a:ea typeface="メイリオ"/>
                        </a:rPr>
                        <a:t>への連携項目の整理（現行との差異の有無）</a:t>
                      </a:r>
                      <a:endParaRPr kumimoji="1" lang="en-US" altLang="ja-JP" sz="1100">
                        <a:latin typeface="メイリオ"/>
                        <a:ea typeface="メイリオ"/>
                      </a:endParaRPr>
                    </a:p>
                    <a:p>
                      <a:r>
                        <a:rPr kumimoji="1" lang="ja-JP" altLang="en-US" sz="1100">
                          <a:latin typeface="メイリオ" panose="020B0604030504040204" pitchFamily="50" charset="-128"/>
                          <a:ea typeface="メイリオ" panose="020B0604030504040204" pitchFamily="50" charset="-128"/>
                        </a:rPr>
                        <a:t>⑥システムフロー</a:t>
                      </a:r>
                      <a:r>
                        <a:rPr kumimoji="1" lang="en-US" altLang="ja-JP" sz="1100">
                          <a:latin typeface="メイリオ" panose="020B0604030504040204" pitchFamily="50" charset="-128"/>
                          <a:ea typeface="メイリオ" panose="020B0604030504040204" pitchFamily="50" charset="-128"/>
                        </a:rPr>
                        <a:t>/</a:t>
                      </a:r>
                      <a:r>
                        <a:rPr kumimoji="1" lang="ja-JP" altLang="en-US" sz="1100">
                          <a:latin typeface="メイリオ" panose="020B0604030504040204" pitchFamily="50" charset="-128"/>
                          <a:ea typeface="メイリオ" panose="020B0604030504040204" pitchFamily="50" charset="-128"/>
                        </a:rPr>
                        <a:t>業務プロセス最終化→</a:t>
                      </a:r>
                      <a:r>
                        <a:rPr kumimoji="1" lang="en-US" altLang="ja-JP" sz="1100">
                          <a:latin typeface="メイリオ" panose="020B0604030504040204" pitchFamily="50" charset="-128"/>
                          <a:ea typeface="メイリオ" panose="020B0604030504040204" pitchFamily="50" charset="-128"/>
                        </a:rPr>
                        <a:t>Biz</a:t>
                      </a:r>
                      <a:r>
                        <a:rPr kumimoji="1" lang="ja-JP" altLang="en-US" sz="1100">
                          <a:latin typeface="メイリオ" panose="020B0604030504040204" pitchFamily="50" charset="-128"/>
                          <a:ea typeface="メイリオ" panose="020B0604030504040204" pitchFamily="50" charset="-128"/>
                        </a:rPr>
                        <a:t>レビュー</a:t>
                      </a:r>
                      <a:endParaRPr kumimoji="1"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solidFill>
                            <a:schemeClr val="tx1"/>
                          </a:solidFill>
                          <a:latin typeface="メイリオ" panose="020B0604030504040204" pitchFamily="50" charset="-128"/>
                          <a:ea typeface="メイリオ" panose="020B0604030504040204" pitchFamily="50" charset="-128"/>
                        </a:rPr>
                        <a:t>2026/2-2026/7</a:t>
                      </a:r>
                      <a:endParaRPr kumimoji="1" lang="ja-JP" altLang="en-US" sz="1600">
                        <a:solidFill>
                          <a:schemeClr val="tx1"/>
                        </a:solidFill>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083787422"/>
                  </a:ext>
                </a:extLst>
              </a:tr>
              <a:tr h="310943">
                <a:tc vMerge="1">
                  <a:txBody>
                    <a:bodyPr/>
                    <a:lstStyle/>
                    <a:p>
                      <a:endParaRPr kumimoji="1" lang="ja-JP" altLang="en-US"/>
                    </a:p>
                  </a:txBody>
                  <a:tcPr/>
                </a:tc>
                <a:tc>
                  <a:txBody>
                    <a:bodyPr/>
                    <a:lstStyle/>
                    <a:p>
                      <a:r>
                        <a:rPr kumimoji="1" lang="ja-JP" altLang="en-US" sz="1400">
                          <a:latin typeface="メイリオ" panose="020B0604030504040204" pitchFamily="50" charset="-128"/>
                          <a:ea typeface="メイリオ" panose="020B0604030504040204" pitchFamily="50" charset="-128"/>
                        </a:rPr>
                        <a:t>要件定義</a:t>
                      </a:r>
                    </a:p>
                  </a:txBody>
                  <a:tcPr/>
                </a:tc>
                <a:tc>
                  <a:txBody>
                    <a:bodyPr/>
                    <a:lstStyle/>
                    <a:p>
                      <a:endParaRPr kumimoji="1" lang="ja-JP" altLang="en-US" sz="1400">
                        <a:latin typeface="メイリオ" panose="020B0604030504040204" pitchFamily="50" charset="-128"/>
                        <a:ea typeface="メイリオ" panose="020B0604030504040204" pitchFamily="50" charset="-128"/>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panose="020B0604030504040204" pitchFamily="50" charset="-128"/>
                          <a:ea typeface="メイリオ" panose="020B0604030504040204" pitchFamily="50" charset="-128"/>
                        </a:rPr>
                        <a:t>上記と並行してシステム開発に向けたドキュメント作成</a:t>
                      </a:r>
                      <a:endParaRPr kumimoji="1" lang="en-US" altLang="ja-JP" sz="1100">
                        <a:latin typeface="メイリオ" panose="020B0604030504040204" pitchFamily="50" charset="-128"/>
                        <a:ea typeface="メイリオ" panose="020B0604030504040204" pitchFamily="50" charset="-128"/>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panose="020B0604030504040204" pitchFamily="50" charset="-128"/>
                          <a:ea typeface="メイリオ" panose="020B0604030504040204" pitchFamily="50" charset="-128"/>
                        </a:rPr>
                        <a:t>・システム要件定義書作成</a:t>
                      </a:r>
                      <a:endParaRPr kumimoji="1" lang="en-US" altLang="ja-JP" sz="1100">
                        <a:latin typeface="メイリオ" panose="020B0604030504040204" pitchFamily="50" charset="-128"/>
                        <a:ea typeface="メイリオ" panose="020B0604030504040204" pitchFamily="50" charset="-128"/>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panose="020B0604030504040204" pitchFamily="50" charset="-128"/>
                          <a:ea typeface="メイリオ" panose="020B0604030504040204" pitchFamily="50" charset="-128"/>
                        </a:rPr>
                        <a:t>・全体スケジュール作成</a:t>
                      </a:r>
                    </a:p>
                  </a:txBody>
                  <a:tcPr/>
                </a:tc>
                <a:tc>
                  <a:txBody>
                    <a:bodyPr/>
                    <a:lstStyle/>
                    <a:p>
                      <a:r>
                        <a:rPr kumimoji="1" lang="en-US" altLang="ja-JP" sz="1600">
                          <a:latin typeface="メイリオ" panose="020B0604030504040204" pitchFamily="50" charset="-128"/>
                          <a:ea typeface="メイリオ" panose="020B0604030504040204" pitchFamily="50" charset="-128"/>
                        </a:rPr>
                        <a:t>2026/3-2026/5</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838560997"/>
                  </a:ext>
                </a:extLst>
              </a:tr>
              <a:tr h="256653">
                <a:tc vMerge="1">
                  <a:txBody>
                    <a:bodyPr/>
                    <a:lstStyle/>
                    <a:p>
                      <a:endParaRPr kumimoji="1" lang="ja-JP" altLang="en-US"/>
                    </a:p>
                  </a:txBody>
                  <a:tcPr/>
                </a:tc>
                <a:tc>
                  <a:txBody>
                    <a:bodyPr/>
                    <a:lstStyle/>
                    <a:p>
                      <a:r>
                        <a:rPr kumimoji="1" lang="ja-JP" altLang="en-US" sz="1400">
                          <a:latin typeface="メイリオ" panose="020B0604030504040204" pitchFamily="50" charset="-128"/>
                          <a:ea typeface="メイリオ" panose="020B0604030504040204" pitchFamily="50" charset="-128"/>
                        </a:rPr>
                        <a:t>設計・開発・単体テスト</a:t>
                      </a:r>
                    </a:p>
                  </a:txBody>
                  <a:tcPr/>
                </a:tc>
                <a:tc>
                  <a:txBody>
                    <a:bodyPr/>
                    <a:lstStyle/>
                    <a:p>
                      <a:endParaRPr kumimoji="1" lang="ja-JP" altLang="en-US" sz="1400">
                        <a:latin typeface="メイリオ" panose="020B0604030504040204" pitchFamily="50" charset="-128"/>
                        <a:ea typeface="メイリオ" panose="020B0604030504040204" pitchFamily="50" charset="-128"/>
                      </a:endParaRPr>
                    </a:p>
                  </a:txBody>
                  <a:tcPr/>
                </a:tc>
                <a:tc>
                  <a:txBody>
                    <a:bodyPr/>
                    <a:lstStyle/>
                    <a:p>
                      <a:r>
                        <a:rPr lang="ja-JP" altLang="en-US" sz="1100">
                          <a:latin typeface="メイリオ" panose="020B0604030504040204" pitchFamily="50" charset="-128"/>
                          <a:ea typeface="メイリオ" panose="020B0604030504040204" pitchFamily="50" charset="-128"/>
                        </a:rPr>
                        <a:t>設計～単体テスト実施</a:t>
                      </a:r>
                      <a:endParaRPr lang="en-US" altLang="ja-JP" sz="1100">
                        <a:latin typeface="メイリオ" panose="020B0604030504040204" pitchFamily="50" charset="-128"/>
                        <a:ea typeface="メイリオ" panose="020B0604030504040204" pitchFamily="50" charset="-128"/>
                      </a:endParaRPr>
                    </a:p>
                    <a:p>
                      <a:r>
                        <a:rPr lang="ja-JP" altLang="en-US" sz="1100">
                          <a:latin typeface="メイリオ" panose="020B0604030504040204" pitchFamily="50" charset="-128"/>
                          <a:ea typeface="メイリオ" panose="020B0604030504040204" pitchFamily="50" charset="-128"/>
                        </a:rPr>
                        <a:t>・設計書作成・テスト計画・テスト結果</a:t>
                      </a:r>
                      <a:r>
                        <a:rPr lang="en-US" altLang="ja-JP" sz="1100">
                          <a:latin typeface="メイリオ" panose="020B0604030504040204" pitchFamily="50" charset="-128"/>
                          <a:ea typeface="メイリオ" panose="020B0604030504040204" pitchFamily="50" charset="-128"/>
                        </a:rPr>
                        <a:t>/</a:t>
                      </a:r>
                      <a:r>
                        <a:rPr lang="ja-JP" altLang="en-US" sz="1100">
                          <a:latin typeface="メイリオ" panose="020B0604030504040204" pitchFamily="50" charset="-128"/>
                          <a:ea typeface="メイリオ" panose="020B0604030504040204" pitchFamily="50" charset="-128"/>
                        </a:rPr>
                        <a:t>評価</a:t>
                      </a:r>
                      <a:endParaRPr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2026/6-2026/11</a:t>
                      </a:r>
                    </a:p>
                  </a:txBody>
                  <a:tcPr/>
                </a:tc>
                <a:extLst>
                  <a:ext uri="{0D108BD9-81ED-4DB2-BD59-A6C34878D82A}">
                    <a16:rowId xmlns:a16="http://schemas.microsoft.com/office/drawing/2014/main" val="2639271058"/>
                  </a:ext>
                </a:extLst>
              </a:tr>
              <a:tr h="233987">
                <a:tc vMerge="1">
                  <a:txBody>
                    <a:bodyPr/>
                    <a:lstStyle/>
                    <a:p>
                      <a:endParaRPr kumimoji="1" lang="ja-JP" altLang="en-US"/>
                    </a:p>
                  </a:txBody>
                  <a:tcPr/>
                </a:tc>
                <a:tc>
                  <a:txBody>
                    <a:bodyPr/>
                    <a:lstStyle/>
                    <a:p>
                      <a:r>
                        <a:rPr kumimoji="1" lang="en-US" altLang="ja-JP" sz="1400">
                          <a:latin typeface="メイリオ" panose="020B0604030504040204" pitchFamily="50" charset="-128"/>
                          <a:ea typeface="メイリオ" panose="020B0604030504040204" pitchFamily="50" charset="-128"/>
                        </a:rPr>
                        <a:t>E2E</a:t>
                      </a:r>
                      <a:endParaRPr kumimoji="1" lang="ja-JP" altLang="en-US" sz="1400">
                        <a:latin typeface="メイリオ" panose="020B0604030504040204" pitchFamily="50" charset="-128"/>
                        <a:ea typeface="メイリオ" panose="020B0604030504040204" pitchFamily="50" charset="-128"/>
                      </a:endParaRPr>
                    </a:p>
                  </a:txBody>
                  <a:tcPr/>
                </a:tc>
                <a:tc>
                  <a:txBody>
                    <a:bodyPr/>
                    <a:lstStyle/>
                    <a:p>
                      <a:endParaRPr kumimoji="1" lang="ja-JP" altLang="en-US" sz="1400">
                        <a:latin typeface="メイリオ" panose="020B0604030504040204" pitchFamily="50" charset="-128"/>
                        <a:ea typeface="メイリオ" panose="020B0604030504040204" pitchFamily="50" charset="-128"/>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ja-JP" sz="1100">
                          <a:latin typeface="メイリオ" panose="020B0604030504040204" pitchFamily="50" charset="-128"/>
                          <a:ea typeface="メイリオ" panose="020B0604030504040204" pitchFamily="50" charset="-128"/>
                        </a:rPr>
                        <a:t>Shinise</a:t>
                      </a:r>
                      <a:r>
                        <a:rPr lang="ja-JP" altLang="en-US" sz="1100">
                          <a:latin typeface="メイリオ" panose="020B0604030504040204" pitchFamily="50" charset="-128"/>
                          <a:ea typeface="メイリオ" panose="020B0604030504040204" pitchFamily="50" charset="-128"/>
                        </a:rPr>
                        <a:t>との連携テスト実施</a:t>
                      </a:r>
                      <a:endParaRPr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2027/3</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82053312"/>
                  </a:ext>
                </a:extLst>
              </a:tr>
              <a:tr h="175404">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ja-JP" altLang="en-US" sz="1400">
                          <a:latin typeface="メイリオ" panose="020B0604030504040204" pitchFamily="50" charset="-128"/>
                          <a:ea typeface="メイリオ" panose="020B0604030504040204" pitchFamily="50" charset="-128"/>
                        </a:rPr>
                        <a:t>データ移行計画</a:t>
                      </a:r>
                      <a:r>
                        <a:rPr kumimoji="1" lang="en-US" altLang="ja-JP" sz="1400">
                          <a:latin typeface="メイリオ" panose="020B0604030504040204" pitchFamily="50" charset="-128"/>
                          <a:ea typeface="メイリオ" panose="020B0604030504040204" pitchFamily="50" charset="-128"/>
                        </a:rPr>
                        <a:t>/</a:t>
                      </a:r>
                      <a:r>
                        <a:rPr kumimoji="1" lang="ja-JP" altLang="en-US" sz="1400">
                          <a:latin typeface="メイリオ" panose="020B0604030504040204" pitchFamily="50" charset="-128"/>
                          <a:ea typeface="メイリオ" panose="020B0604030504040204" pitchFamily="50" charset="-128"/>
                        </a:rPr>
                        <a:t>実装</a:t>
                      </a:r>
                    </a:p>
                  </a:txBody>
                  <a:tcPr/>
                </a:tc>
                <a:tc>
                  <a:txBody>
                    <a:bodyPr/>
                    <a:lstStyle/>
                    <a:p>
                      <a:endParaRPr kumimoji="1" lang="ja-JP" altLang="en-US" sz="1400">
                        <a:latin typeface="メイリオ" panose="020B0604030504040204" pitchFamily="50" charset="-128"/>
                        <a:ea typeface="メイリオ" panose="020B0604030504040204" pitchFamily="50" charset="-128"/>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ja-JP" altLang="en-US" sz="1100">
                          <a:latin typeface="メイリオ" panose="020B0604030504040204" pitchFamily="50" charset="-128"/>
                          <a:ea typeface="メイリオ" panose="020B0604030504040204" pitchFamily="50" charset="-128"/>
                        </a:rPr>
                        <a:t>既存システムのデータ移行方法の検討・策定・実装</a:t>
                      </a:r>
                      <a:endParaRPr lang="en-US" altLang="ja-JP" sz="1100">
                        <a:latin typeface="メイリオ" panose="020B0604030504040204" pitchFamily="50" charset="-128"/>
                        <a:ea typeface="メイリオ" panose="020B0604030504040204" pitchFamily="50" charset="-128"/>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ja-JP" sz="1600">
                          <a:latin typeface="メイリオ" panose="020B0604030504040204" pitchFamily="50" charset="-128"/>
                          <a:ea typeface="メイリオ" panose="020B0604030504040204" pitchFamily="50" charset="-128"/>
                        </a:rPr>
                        <a:t>2026/12-2027/5</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38745357"/>
                  </a:ext>
                </a:extLst>
              </a:tr>
              <a:tr h="194007">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en-US" altLang="ja-JP" sz="1400">
                          <a:latin typeface="メイリオ" panose="020B0604030504040204" pitchFamily="50" charset="-128"/>
                          <a:ea typeface="メイリオ" panose="020B0604030504040204" pitchFamily="50" charset="-128"/>
                        </a:rPr>
                        <a:t>UAT</a:t>
                      </a:r>
                      <a:r>
                        <a:rPr kumimoji="1" lang="ja-JP" altLang="en-US" sz="1400">
                          <a:latin typeface="メイリオ" panose="020B0604030504040204" pitchFamily="50" charset="-128"/>
                          <a:ea typeface="メイリオ" panose="020B0604030504040204" pitchFamily="50" charset="-128"/>
                        </a:rPr>
                        <a:t>サポート</a:t>
                      </a:r>
                    </a:p>
                  </a:txBody>
                  <a:tcPr/>
                </a:tc>
                <a:tc>
                  <a:txBody>
                    <a:bodyPr/>
                    <a:lstStyle/>
                    <a:p>
                      <a:endParaRPr kumimoji="1" lang="ja-JP" altLang="en-US" sz="1400">
                        <a:latin typeface="メイリオ" panose="020B0604030504040204" pitchFamily="50" charset="-128"/>
                        <a:ea typeface="メイリオ" panose="020B0604030504040204" pitchFamily="50" charset="-128"/>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ja-JP" altLang="en-US" sz="1100">
                          <a:latin typeface="メイリオ" panose="020B0604030504040204" pitchFamily="50" charset="-128"/>
                          <a:ea typeface="メイリオ" panose="020B0604030504040204" pitchFamily="50" charset="-128"/>
                        </a:rPr>
                        <a:t>ビジネス側の</a:t>
                      </a:r>
                      <a:r>
                        <a:rPr lang="en-US" altLang="ja-JP" sz="1100">
                          <a:latin typeface="メイリオ" panose="020B0604030504040204" pitchFamily="50" charset="-128"/>
                          <a:ea typeface="メイリオ" panose="020B0604030504040204" pitchFamily="50" charset="-128"/>
                        </a:rPr>
                        <a:t>UAT</a:t>
                      </a:r>
                      <a:r>
                        <a:rPr lang="ja-JP" altLang="en-US" sz="1100">
                          <a:latin typeface="メイリオ" panose="020B0604030504040204" pitchFamily="50" charset="-128"/>
                          <a:ea typeface="メイリオ" panose="020B0604030504040204" pitchFamily="50" charset="-128"/>
                        </a:rPr>
                        <a:t>に向けたデータ準備</a:t>
                      </a:r>
                      <a:endParaRPr lang="en-US" altLang="ja-JP" sz="1100">
                        <a:latin typeface="メイリオ" panose="020B0604030504040204" pitchFamily="50" charset="-128"/>
                        <a:ea typeface="メイリオ" panose="020B0604030504040204" pitchFamily="50" charset="-128"/>
                      </a:endParaRP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en-US" altLang="ja-JP" sz="1600">
                          <a:latin typeface="メイリオ" panose="020B0604030504040204" pitchFamily="50" charset="-128"/>
                          <a:ea typeface="メイリオ" panose="020B0604030504040204" pitchFamily="50" charset="-128"/>
                        </a:rPr>
                        <a:t>2026/9-2027/3</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60563911"/>
                  </a:ext>
                </a:extLst>
              </a:tr>
              <a:tr h="194007">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ja-JP" altLang="en-US" sz="1400">
                          <a:latin typeface="メイリオ" panose="020B0604030504040204" pitchFamily="50" charset="-128"/>
                          <a:ea typeface="メイリオ" panose="020B0604030504040204" pitchFamily="50" charset="-128"/>
                        </a:rPr>
                        <a:t>本番リリース</a:t>
                      </a:r>
                    </a:p>
                  </a:txBody>
                  <a:tcPr/>
                </a:tc>
                <a:tc>
                  <a:txBody>
                    <a:bodyPr/>
                    <a:lstStyle/>
                    <a:p>
                      <a:endParaRPr kumimoji="1" lang="ja-JP" altLang="en-US" sz="1400">
                        <a:latin typeface="メイリオ" panose="020B0604030504040204" pitchFamily="50" charset="-128"/>
                        <a:ea typeface="メイリオ" panose="020B0604030504040204" pitchFamily="50" charset="-128"/>
                      </a:endParaRPr>
                    </a:p>
                  </a:txBody>
                  <a:tcPr/>
                </a:tc>
                <a:tc>
                  <a:txBody>
                    <a:bodyPr/>
                    <a:lstStyle/>
                    <a:p>
                      <a:r>
                        <a:rPr kumimoji="1" lang="ja-JP" altLang="en-US" sz="1100">
                          <a:latin typeface="メイリオ" panose="020B0604030504040204" pitchFamily="50" charset="-128"/>
                          <a:ea typeface="メイリオ" panose="020B0604030504040204" pitchFamily="50" charset="-128"/>
                        </a:rPr>
                        <a:t>本番環境への切替・システム支援</a:t>
                      </a:r>
                      <a:endParaRPr kumimoji="1"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2027/4</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84798184"/>
                  </a:ext>
                </a:extLst>
              </a:tr>
            </a:tbl>
          </a:graphicData>
        </a:graphic>
      </p:graphicFrame>
    </p:spTree>
    <p:extLst>
      <p:ext uri="{BB962C8B-B14F-4D97-AF65-F5344CB8AC3E}">
        <p14:creationId xmlns:p14="http://schemas.microsoft.com/office/powerpoint/2010/main" val="18115431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08AB009-F826-3308-295B-8A208C69F63D}"/>
              </a:ext>
            </a:extLst>
          </p:cNvPr>
          <p:cNvSpPr>
            <a:spLocks noGrp="1"/>
          </p:cNvSpPr>
          <p:nvPr>
            <p:ph type="title"/>
          </p:nvPr>
        </p:nvSpPr>
        <p:spPr/>
        <p:txBody>
          <a:bodyPr/>
          <a:lstStyle/>
          <a:p>
            <a:r>
              <a:rPr kumimoji="1" lang="en-US" altLang="ja-JP"/>
              <a:t>2.</a:t>
            </a:r>
            <a:r>
              <a:rPr kumimoji="1" lang="ja-JP" altLang="en-US"/>
              <a:t> 概要・アプローチ</a:t>
            </a:r>
            <a:r>
              <a:rPr kumimoji="1" lang="en-US" altLang="ja-JP"/>
              <a:t>(2/2)</a:t>
            </a:r>
            <a:r>
              <a:rPr kumimoji="1" lang="ja-JP" altLang="en-US"/>
              <a:t>　ビジネス　</a:t>
            </a:r>
            <a:r>
              <a:rPr kumimoji="1" lang="en-US" altLang="ja-JP"/>
              <a:t>TRIAL/</a:t>
            </a:r>
            <a:r>
              <a:rPr kumimoji="1" lang="ja-JP" altLang="en-US"/>
              <a:t>西友</a:t>
            </a:r>
          </a:p>
        </p:txBody>
      </p:sp>
      <p:graphicFrame>
        <p:nvGraphicFramePr>
          <p:cNvPr id="3" name="表 2">
            <a:extLst>
              <a:ext uri="{FF2B5EF4-FFF2-40B4-BE49-F238E27FC236}">
                <a16:creationId xmlns:a16="http://schemas.microsoft.com/office/drawing/2014/main" id="{D7DE4890-0359-E1E4-4009-870A2AF9F81A}"/>
              </a:ext>
            </a:extLst>
          </p:cNvPr>
          <p:cNvGraphicFramePr>
            <a:graphicFrameLocks noGrp="1"/>
          </p:cNvGraphicFramePr>
          <p:nvPr>
            <p:extLst>
              <p:ext uri="{D42A27DB-BD31-4B8C-83A1-F6EECF244321}">
                <p14:modId xmlns:p14="http://schemas.microsoft.com/office/powerpoint/2010/main" val="334490873"/>
              </p:ext>
            </p:extLst>
          </p:nvPr>
        </p:nvGraphicFramePr>
        <p:xfrm>
          <a:off x="145474" y="864470"/>
          <a:ext cx="11918371" cy="4717452"/>
        </p:xfrm>
        <a:graphic>
          <a:graphicData uri="http://schemas.openxmlformats.org/drawingml/2006/table">
            <a:tbl>
              <a:tblPr firstRow="1" bandRow="1">
                <a:tableStyleId>{5C22544A-7EE6-4342-B048-85BDC9FD1C3A}</a:tableStyleId>
              </a:tblPr>
              <a:tblGrid>
                <a:gridCol w="2882367">
                  <a:extLst>
                    <a:ext uri="{9D8B030D-6E8A-4147-A177-3AD203B41FA5}">
                      <a16:colId xmlns:a16="http://schemas.microsoft.com/office/drawing/2014/main" val="458873179"/>
                    </a:ext>
                  </a:extLst>
                </a:gridCol>
                <a:gridCol w="2487708">
                  <a:extLst>
                    <a:ext uri="{9D8B030D-6E8A-4147-A177-3AD203B41FA5}">
                      <a16:colId xmlns:a16="http://schemas.microsoft.com/office/drawing/2014/main" val="3265664372"/>
                    </a:ext>
                  </a:extLst>
                </a:gridCol>
                <a:gridCol w="4421910">
                  <a:extLst>
                    <a:ext uri="{9D8B030D-6E8A-4147-A177-3AD203B41FA5}">
                      <a16:colId xmlns:a16="http://schemas.microsoft.com/office/drawing/2014/main" val="551586481"/>
                    </a:ext>
                  </a:extLst>
                </a:gridCol>
                <a:gridCol w="2126386">
                  <a:extLst>
                    <a:ext uri="{9D8B030D-6E8A-4147-A177-3AD203B41FA5}">
                      <a16:colId xmlns:a16="http://schemas.microsoft.com/office/drawing/2014/main" val="2833920643"/>
                    </a:ext>
                  </a:extLst>
                </a:gridCol>
              </a:tblGrid>
              <a:tr h="370840">
                <a:tc>
                  <a:txBody>
                    <a:bodyPr/>
                    <a:lstStyle/>
                    <a:p>
                      <a:r>
                        <a:rPr kumimoji="1" lang="en-US" altLang="ja-JP">
                          <a:latin typeface="メイリオ" panose="020B0604030504040204" pitchFamily="50" charset="-128"/>
                          <a:ea typeface="メイリオ" panose="020B0604030504040204" pitchFamily="50" charset="-128"/>
                        </a:rPr>
                        <a:t>STEP</a:t>
                      </a:r>
                      <a:endParaRPr kumimoji="1" lang="ja-JP" altLang="en-US">
                        <a:latin typeface="メイリオ" panose="020B0604030504040204" pitchFamily="50" charset="-128"/>
                        <a:ea typeface="メイリオ" panose="020B0604030504040204" pitchFamily="50" charset="-128"/>
                      </a:endParaRPr>
                    </a:p>
                  </a:txBody>
                  <a:tcPr/>
                </a:tc>
                <a:tc>
                  <a:txBody>
                    <a:bodyPr/>
                    <a:lstStyle/>
                    <a:p>
                      <a:r>
                        <a:rPr kumimoji="1" lang="ja-JP" altLang="en-US" sz="1600">
                          <a:latin typeface="メイリオ" panose="020B0604030504040204" pitchFamily="50" charset="-128"/>
                          <a:ea typeface="メイリオ" panose="020B0604030504040204" pitchFamily="50" charset="-128"/>
                        </a:rPr>
                        <a:t>概要</a:t>
                      </a:r>
                    </a:p>
                  </a:txBody>
                  <a:tcPr/>
                </a:tc>
                <a:tc>
                  <a:txBody>
                    <a:bodyPr/>
                    <a:lstStyle/>
                    <a:p>
                      <a:r>
                        <a:rPr kumimoji="1" lang="ja-JP" altLang="en-US" sz="1600">
                          <a:latin typeface="メイリオ" panose="020B0604030504040204" pitchFamily="50" charset="-128"/>
                          <a:ea typeface="メイリオ" panose="020B0604030504040204" pitchFamily="50" charset="-128"/>
                        </a:rPr>
                        <a:t>期待値</a:t>
                      </a:r>
                    </a:p>
                  </a:txBody>
                  <a:tcPr/>
                </a:tc>
                <a:tc>
                  <a:txBody>
                    <a:bodyPr/>
                    <a:lstStyle/>
                    <a:p>
                      <a:r>
                        <a:rPr kumimoji="1" lang="ja-JP" altLang="en-US" sz="1600">
                          <a:latin typeface="メイリオ" panose="020B0604030504040204" pitchFamily="50" charset="-128"/>
                          <a:ea typeface="メイリオ" panose="020B0604030504040204" pitchFamily="50" charset="-128"/>
                        </a:rPr>
                        <a:t>期間</a:t>
                      </a:r>
                    </a:p>
                  </a:txBody>
                  <a:tcPr/>
                </a:tc>
                <a:extLst>
                  <a:ext uri="{0D108BD9-81ED-4DB2-BD59-A6C34878D82A}">
                    <a16:rowId xmlns:a16="http://schemas.microsoft.com/office/drawing/2014/main" val="3759396504"/>
                  </a:ext>
                </a:extLst>
              </a:tr>
              <a:tr h="632911">
                <a:tc rowSpan="9">
                  <a:txBody>
                    <a:bodyPr/>
                    <a:lstStyle/>
                    <a:p>
                      <a:pPr marL="0" marR="0" lvl="0" indent="0" algn="l" rtl="0">
                        <a:lnSpc>
                          <a:spcPct val="100000"/>
                        </a:lnSpc>
                        <a:spcBef>
                          <a:spcPts val="0"/>
                        </a:spcBef>
                        <a:spcAft>
                          <a:spcPts val="0"/>
                        </a:spcAft>
                        <a:buClr>
                          <a:srgbClr val="000000"/>
                        </a:buClr>
                        <a:buSzPts val="1100"/>
                        <a:buFont typeface="Arial"/>
                        <a:buNone/>
                      </a:pPr>
                      <a:r>
                        <a:rPr lang="ja-JP" altLang="en-US">
                          <a:latin typeface="メイリオ" panose="020B0604030504040204" pitchFamily="50" charset="-128"/>
                          <a:ea typeface="メイリオ" panose="020B0604030504040204" pitchFamily="50" charset="-128"/>
                        </a:rPr>
                        <a:t>3</a:t>
                      </a:r>
                      <a:r>
                        <a:rPr kumimoji="1" lang="ja-JP" altLang="en-US">
                          <a:latin typeface="メイリオ" panose="020B0604030504040204" pitchFamily="50" charset="-128"/>
                          <a:ea typeface="メイリオ" panose="020B0604030504040204" pitchFamily="50" charset="-128"/>
                        </a:rPr>
                        <a:t>．</a:t>
                      </a:r>
                      <a:endParaRPr kumimoji="1" lang="en-US" altLang="ja-JP">
                        <a:latin typeface="メイリオ" panose="020B0604030504040204" pitchFamily="50" charset="-128"/>
                        <a:ea typeface="メイリオ" panose="020B0604030504040204" pitchFamily="50" charset="-128"/>
                      </a:endParaRPr>
                    </a:p>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マスタ統合</a:t>
                      </a:r>
                      <a:r>
                        <a:rPr lang="en-US" altLang="ja-JP"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a:t>
                      </a:r>
                    </a:p>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共通</a:t>
                      </a: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rPr>
                        <a:t>マスタ登録システム</a:t>
                      </a:r>
                      <a:r>
                        <a:rPr lang="ja-JP" altLang="en-US" sz="1600" b="1" i="0" u="none" strike="noStrike" cap="none">
                          <a:solidFill>
                            <a:schemeClr val="tx1"/>
                          </a:solidFill>
                          <a:latin typeface="メイリオ" panose="020B0604030504040204" pitchFamily="50" charset="-128"/>
                          <a:ea typeface="メイリオ" panose="020B0604030504040204" pitchFamily="50" charset="-128"/>
                          <a:cs typeface="Arial"/>
                          <a:sym typeface="Arial"/>
                        </a:rPr>
                        <a:t>構築</a:t>
                      </a:r>
                      <a:endParaRPr lang="ja-JP" altLang="ja-JP" sz="2000">
                        <a:latin typeface="メイリオ" panose="020B0604030504040204" pitchFamily="50" charset="-128"/>
                        <a:ea typeface="メイリオ" panose="020B0604030504040204" pitchFamily="50" charset="-128"/>
                        <a:sym typeface="Arial"/>
                      </a:endParaRPr>
                    </a:p>
                  </a:txBody>
                  <a:tcPr/>
                </a:tc>
                <a:tc>
                  <a:txBody>
                    <a:bodyPr/>
                    <a:lstStyle/>
                    <a:p>
                      <a:r>
                        <a:rPr lang="ja-JP" altLang="en-US" sz="1400" b="0" i="0" u="none" strike="noStrike" noProof="0">
                          <a:solidFill>
                            <a:srgbClr val="000000"/>
                          </a:solidFill>
                          <a:latin typeface="メイリオ" panose="020B0604030504040204" pitchFamily="50" charset="-128"/>
                          <a:ea typeface="メイリオ" panose="020B0604030504040204" pitchFamily="50" charset="-128"/>
                        </a:rPr>
                        <a:t>既存アイテム</a:t>
                      </a:r>
                      <a:r>
                        <a:rPr lang="ja-JP" altLang="ja-JP" sz="1400" b="0" i="0" u="none" strike="noStrike" noProof="0">
                          <a:solidFill>
                            <a:srgbClr val="000000"/>
                          </a:solidFill>
                          <a:latin typeface="メイリオ" panose="020B0604030504040204" pitchFamily="50" charset="-128"/>
                          <a:ea typeface="メイリオ" panose="020B0604030504040204" pitchFamily="50" charset="-128"/>
                        </a:rPr>
                        <a:t>データ</a:t>
                      </a:r>
                      <a:endParaRPr lang="en-US" altLang="ja-JP" sz="1400" b="0" i="0" u="none" strike="noStrike" noProof="0">
                        <a:solidFill>
                          <a:srgbClr val="000000"/>
                        </a:solidFill>
                        <a:latin typeface="メイリオ" panose="020B0604030504040204" pitchFamily="50" charset="-128"/>
                        <a:ea typeface="メイリオ" panose="020B0604030504040204" pitchFamily="50" charset="-128"/>
                      </a:endParaRPr>
                    </a:p>
                    <a:p>
                      <a:r>
                        <a:rPr lang="ja-JP" altLang="ja-JP" sz="1400" b="0" i="0" u="none" strike="noStrike" noProof="0">
                          <a:solidFill>
                            <a:srgbClr val="000000"/>
                          </a:solidFill>
                          <a:latin typeface="メイリオ" panose="020B0604030504040204" pitchFamily="50" charset="-128"/>
                          <a:ea typeface="メイリオ" panose="020B0604030504040204" pitchFamily="50" charset="-128"/>
                        </a:rPr>
                        <a:t>クレンジング</a:t>
                      </a:r>
                      <a:endParaRPr kumimoji="1" lang="ja-JP" altLang="en-US" sz="1400">
                        <a:latin typeface="メイリオ" panose="020B0604030504040204" pitchFamily="50" charset="-128"/>
                        <a:ea typeface="メイリオ" panose="020B0604030504040204" pitchFamily="50" charset="-128"/>
                      </a:endParaRPr>
                    </a:p>
                  </a:txBody>
                  <a:tcPr/>
                </a:tc>
                <a:tc>
                  <a:txBody>
                    <a:bodyPr/>
                    <a:lstStyle/>
                    <a:p>
                      <a:r>
                        <a:rPr kumimoji="1" lang="ja-JP" altLang="en-US" sz="1100">
                          <a:latin typeface="メイリオ" panose="020B0604030504040204" pitchFamily="50" charset="-128"/>
                          <a:ea typeface="メイリオ" panose="020B0604030504040204" pitchFamily="50" charset="-128"/>
                        </a:rPr>
                        <a:t>移行対象データの削減推進</a:t>
                      </a:r>
                      <a:endParaRPr kumimoji="1" lang="en-US" altLang="ja-JP" sz="1100">
                        <a:latin typeface="メイリオ" panose="020B0604030504040204" pitchFamily="50" charset="-128"/>
                        <a:ea typeface="メイリオ" panose="020B0604030504040204" pitchFamily="50" charset="-128"/>
                      </a:endParaRPr>
                    </a:p>
                    <a:p>
                      <a:r>
                        <a:rPr kumimoji="1" lang="ja-JP" altLang="en-US" sz="1100">
                          <a:latin typeface="メイリオ"/>
                          <a:ea typeface="メイリオ"/>
                        </a:rPr>
                        <a:t>・不要な商品データを定義して削除</a:t>
                      </a:r>
                      <a:br>
                        <a:rPr kumimoji="1" lang="en-US" altLang="ja-JP" sz="1100">
                          <a:latin typeface="メイリオ"/>
                          <a:ea typeface="メイリオ"/>
                        </a:rPr>
                      </a:br>
                      <a:r>
                        <a:rPr kumimoji="1" lang="ja-JP" altLang="en-US" sz="1100">
                          <a:latin typeface="メイリオ"/>
                          <a:ea typeface="メイリオ"/>
                        </a:rPr>
                        <a:t>・不動向商品（店舗のバックヤード）の売り尽くし処分促進</a:t>
                      </a:r>
                    </a:p>
                  </a:txBody>
                  <a:tcPr/>
                </a:tc>
                <a:tc>
                  <a:txBody>
                    <a:bodyPr/>
                    <a:lstStyle/>
                    <a:p>
                      <a:r>
                        <a:rPr kumimoji="1" lang="en-US" altLang="ja-JP" sz="1600">
                          <a:latin typeface="メイリオ" panose="020B0604030504040204" pitchFamily="50" charset="-128"/>
                          <a:ea typeface="メイリオ" panose="020B0604030504040204" pitchFamily="50" charset="-128"/>
                        </a:rPr>
                        <a:t>2026/Q1-2026/Q4</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083787422"/>
                  </a:ext>
                </a:extLst>
              </a:tr>
              <a:tr h="490587">
                <a:tc vMerge="1">
                  <a:txBody>
                    <a:bodyPr/>
                    <a:lstStyle/>
                    <a:p>
                      <a:endParaRPr kumimoji="1" lang="ja-JP" altLang="en-US"/>
                    </a:p>
                  </a:txBody>
                  <a:tcPr/>
                </a:tc>
                <a:tc>
                  <a:txBody>
                    <a:bodyPr/>
                    <a:lstStyle/>
                    <a:p>
                      <a:r>
                        <a:rPr kumimoji="1" lang="ja-JP" altLang="en-US" sz="1400">
                          <a:latin typeface="メイリオ" panose="020B0604030504040204" pitchFamily="50" charset="-128"/>
                          <a:ea typeface="メイリオ" panose="020B0604030504040204" pitchFamily="50" charset="-128"/>
                        </a:rPr>
                        <a:t>要件レビュー</a:t>
                      </a:r>
                      <a:endParaRPr kumimoji="1" lang="en-US" altLang="ja-JP" sz="1400">
                        <a:latin typeface="メイリオ" panose="020B0604030504040204" pitchFamily="50" charset="-128"/>
                        <a:ea typeface="メイリオ" panose="020B0604030504040204" pitchFamily="50" charset="-128"/>
                      </a:endParaRPr>
                    </a:p>
                    <a:p>
                      <a:r>
                        <a:rPr kumimoji="1" lang="en-US" altLang="ja-JP" sz="1400">
                          <a:latin typeface="メイリオ" panose="020B0604030504040204" pitchFamily="50" charset="-128"/>
                          <a:ea typeface="メイリオ" panose="020B0604030504040204" pitchFamily="50" charset="-128"/>
                        </a:rPr>
                        <a:t>*</a:t>
                      </a:r>
                      <a:r>
                        <a:rPr kumimoji="1" lang="ja-JP" altLang="en-US" sz="1400">
                          <a:latin typeface="メイリオ" panose="020B0604030504040204" pitchFamily="50" charset="-128"/>
                          <a:ea typeface="メイリオ" panose="020B0604030504040204" pitchFamily="50" charset="-128"/>
                        </a:rPr>
                        <a:t>複数回</a:t>
                      </a:r>
                      <a:r>
                        <a:rPr kumimoji="1" lang="en-US" altLang="ja-JP" sz="1400">
                          <a:latin typeface="メイリオ" panose="020B0604030504040204" pitchFamily="50" charset="-128"/>
                          <a:ea typeface="メイリオ" panose="020B0604030504040204" pitchFamily="50" charset="-128"/>
                        </a:rPr>
                        <a:t>MTG</a:t>
                      </a:r>
                      <a:r>
                        <a:rPr kumimoji="1" lang="ja-JP" altLang="en-US" sz="1400">
                          <a:latin typeface="メイリオ" panose="020B0604030504040204" pitchFamily="50" charset="-128"/>
                          <a:ea typeface="メイリオ" panose="020B0604030504040204" pitchFamily="50" charset="-128"/>
                        </a:rPr>
                        <a:t>参加</a:t>
                      </a:r>
                    </a:p>
                  </a:txBody>
                  <a:tcPr/>
                </a:tc>
                <a:tc>
                  <a:txBody>
                    <a:bodyPr/>
                    <a:lstStyle/>
                    <a:p>
                      <a:r>
                        <a:rPr kumimoji="1" lang="ja-JP" altLang="en-US" sz="1100">
                          <a:latin typeface="メイリオ" panose="020B0604030504040204" pitchFamily="50" charset="-128"/>
                          <a:ea typeface="メイリオ" panose="020B0604030504040204" pitchFamily="50" charset="-128"/>
                        </a:rPr>
                        <a:t>システムで検討した「共通商品登録システム」の要件内容を確認し、懸念点などを確認・コメント</a:t>
                      </a:r>
                      <a:endParaRPr kumimoji="1" lang="en-US" altLang="ja-JP" sz="1100">
                        <a:latin typeface="メイリオ" panose="020B0604030504040204" pitchFamily="50" charset="-128"/>
                        <a:ea typeface="メイリオ" panose="020B0604030504040204" pitchFamily="50" charset="-128"/>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ja-JP" altLang="en-US" sz="1100">
                          <a:latin typeface="メイリオ" panose="020B0604030504040204" pitchFamily="50" charset="-128"/>
                          <a:ea typeface="メイリオ" panose="020B0604030504040204" pitchFamily="50" charset="-128"/>
                        </a:rPr>
                        <a:t>共通マスタ項目、西友独自属性の必要性有無判断</a:t>
                      </a:r>
                      <a:endParaRPr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2026/2-2026/5</a:t>
                      </a:r>
                    </a:p>
                  </a:txBody>
                  <a:tcPr/>
                </a:tc>
                <a:extLst>
                  <a:ext uri="{0D108BD9-81ED-4DB2-BD59-A6C34878D82A}">
                    <a16:rowId xmlns:a16="http://schemas.microsoft.com/office/drawing/2014/main" val="2729473931"/>
                  </a:ext>
                </a:extLst>
              </a:tr>
              <a:tr h="490587">
                <a:tc vMerge="1">
                  <a:txBody>
                    <a:bodyPr/>
                    <a:lstStyle/>
                    <a:p>
                      <a:endParaRPr kumimoji="1" lang="ja-JP" altLang="en-US"/>
                    </a:p>
                  </a:txBody>
                  <a:tcPr/>
                </a:tc>
                <a:tc>
                  <a:txBody>
                    <a:bodyPr/>
                    <a:lstStyle/>
                    <a:p>
                      <a:r>
                        <a:rPr kumimoji="1" lang="ja-JP" altLang="en-US" sz="1400">
                          <a:latin typeface="メイリオ" panose="020B0604030504040204" pitchFamily="50" charset="-128"/>
                          <a:ea typeface="メイリオ" panose="020B0604030504040204" pitchFamily="50" charset="-128"/>
                        </a:rPr>
                        <a:t>運用整理</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panose="020B0604030504040204" pitchFamily="50" charset="-128"/>
                          <a:ea typeface="メイリオ" panose="020B0604030504040204" pitchFamily="50" charset="-128"/>
                        </a:rPr>
                        <a:t>トライアル・西友ビジネス間の運用理解</a:t>
                      </a:r>
                      <a:r>
                        <a:rPr kumimoji="1" lang="en-US" altLang="ja-JP" sz="1100">
                          <a:latin typeface="メイリオ" panose="020B0604030504040204" pitchFamily="50" charset="-128"/>
                          <a:ea typeface="メイリオ" panose="020B0604030504040204" pitchFamily="50" charset="-128"/>
                        </a:rPr>
                        <a:t>/</a:t>
                      </a:r>
                      <a:r>
                        <a:rPr kumimoji="1" lang="ja-JP" altLang="en-US" sz="1100">
                          <a:latin typeface="メイリオ" panose="020B0604030504040204" pitchFamily="50" charset="-128"/>
                          <a:ea typeface="メイリオ" panose="020B0604030504040204" pitchFamily="50" charset="-128"/>
                        </a:rPr>
                        <a:t>共通システムの理解</a:t>
                      </a:r>
                      <a:endParaRPr kumimoji="1" lang="en-US" altLang="ja-JP" sz="1100">
                        <a:latin typeface="メイリオ" panose="020B0604030504040204" pitchFamily="50" charset="-128"/>
                        <a:ea typeface="メイリオ" panose="020B0604030504040204" pitchFamily="50" charset="-128"/>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panose="020B0604030504040204" pitchFamily="50" charset="-128"/>
                          <a:ea typeface="メイリオ" panose="020B0604030504040204" pitchFamily="50" charset="-128"/>
                        </a:rPr>
                        <a:t>業務フロー作成</a:t>
                      </a:r>
                      <a:endParaRPr kumimoji="1" lang="en-US" altLang="ja-JP" sz="1100">
                        <a:latin typeface="メイリオ" panose="020B0604030504040204" pitchFamily="50" charset="-128"/>
                        <a:ea typeface="メイリオ" panose="020B0604030504040204" pitchFamily="50" charset="-128"/>
                      </a:endParaRPr>
                    </a:p>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panose="020B0604030504040204" pitchFamily="50" charset="-128"/>
                          <a:ea typeface="メイリオ" panose="020B0604030504040204" pitchFamily="50" charset="-128"/>
                        </a:rPr>
                        <a:t>運用マニュアル作成</a:t>
                      </a:r>
                    </a:p>
                  </a:txBody>
                  <a:tcPr/>
                </a:tc>
                <a:tc>
                  <a:txBody>
                    <a:bodyPr/>
                    <a:lstStyle/>
                    <a:p>
                      <a:r>
                        <a:rPr kumimoji="1" lang="en-US" altLang="ja-JP" sz="1600">
                          <a:latin typeface="メイリオ" panose="020B0604030504040204" pitchFamily="50" charset="-128"/>
                          <a:ea typeface="メイリオ" panose="020B0604030504040204" pitchFamily="50" charset="-128"/>
                        </a:rPr>
                        <a:t>2026/Q1-2027/Q2</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838560997"/>
                  </a:ext>
                </a:extLst>
              </a:tr>
              <a:tr h="447261">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ja-JP" altLang="en-US" sz="1400">
                          <a:latin typeface="メイリオ" panose="020B0604030504040204" pitchFamily="50" charset="-128"/>
                          <a:ea typeface="メイリオ" panose="020B0604030504040204" pitchFamily="50" charset="-128"/>
                        </a:rPr>
                        <a:t>マスタ移行計画</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ja-JP" altLang="en-US" sz="1100">
                          <a:latin typeface="メイリオ" panose="020B0604030504040204" pitchFamily="50" charset="-128"/>
                          <a:ea typeface="メイリオ" panose="020B0604030504040204" pitchFamily="50" charset="-128"/>
                        </a:rPr>
                        <a:t>マスタ移行方法策定（タイミング、切替順等）</a:t>
                      </a:r>
                      <a:endParaRPr lang="en-US" altLang="ja-JP" sz="1100">
                        <a:latin typeface="メイリオ" panose="020B0604030504040204" pitchFamily="50" charset="-128"/>
                        <a:ea typeface="メイリオ" panose="020B0604030504040204" pitchFamily="50" charset="-128"/>
                      </a:endParaRPr>
                    </a:p>
                    <a:p>
                      <a:pPr marL="0" marR="0" lvl="0" indent="0" algn="l" defTabSz="914377" rtl="0" eaLnBrk="1" fontAlgn="auto" latinLnBrk="0" hangingPunct="1">
                        <a:lnSpc>
                          <a:spcPct val="100000"/>
                        </a:lnSpc>
                        <a:spcBef>
                          <a:spcPts val="0"/>
                        </a:spcBef>
                        <a:spcAft>
                          <a:spcPts val="0"/>
                        </a:spcAft>
                        <a:buClrTx/>
                        <a:buSzTx/>
                        <a:buFontTx/>
                        <a:buNone/>
                        <a:tabLst/>
                        <a:defRPr/>
                      </a:pPr>
                      <a:r>
                        <a:rPr lang="ja-JP" altLang="en-US" sz="1100">
                          <a:latin typeface="メイリオ" panose="020B0604030504040204" pitchFamily="50" charset="-128"/>
                          <a:ea typeface="メイリオ" panose="020B0604030504040204" pitchFamily="50" charset="-128"/>
                        </a:rPr>
                        <a:t>洗い替えルール策定</a:t>
                      </a:r>
                      <a:endParaRPr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2026/8-2026/10</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2738745357"/>
                  </a:ext>
                </a:extLst>
              </a:tr>
              <a:tr h="370840">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ja-JP" altLang="en-US" sz="1400">
                          <a:latin typeface="メイリオ" panose="020B0604030504040204" pitchFamily="50" charset="-128"/>
                          <a:ea typeface="メイリオ" panose="020B0604030504040204" pitchFamily="50" charset="-128"/>
                        </a:rPr>
                        <a:t>データ洗い替え</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1" lang="ja-JP" altLang="en-US" sz="1100">
                          <a:latin typeface="メイリオ"/>
                          <a:ea typeface="メイリオ"/>
                        </a:rPr>
                        <a:t>移行対象データの記載内容の見直し・洗い替え</a:t>
                      </a:r>
                      <a:br>
                        <a:rPr kumimoji="1" lang="en-US" altLang="ja-JP" sz="1100">
                          <a:latin typeface="メイリオ"/>
                          <a:ea typeface="メイリオ"/>
                        </a:rPr>
                      </a:br>
                      <a:r>
                        <a:rPr lang="ja-JP" altLang="en-US" sz="1100">
                          <a:latin typeface="メイリオ"/>
                          <a:ea typeface="メイリオ"/>
                        </a:rPr>
                        <a:t>共通マスタ情報のデータ洗い替え作業（現行のTCのマスタを修正していく）</a:t>
                      </a:r>
                      <a:endParaRPr lang="en-US" altLang="ja-JP" sz="1100">
                        <a:latin typeface="メイリオ"/>
                        <a:ea typeface="メイリオ"/>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2026/11-2027/2</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960563911"/>
                  </a:ext>
                </a:extLst>
              </a:tr>
              <a:tr h="370840">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en-US" altLang="ja-JP" sz="1400">
                          <a:latin typeface="メイリオ" panose="020B0604030504040204" pitchFamily="50" charset="-128"/>
                          <a:ea typeface="メイリオ" panose="020B0604030504040204" pitchFamily="50" charset="-128"/>
                        </a:rPr>
                        <a:t>UAT</a:t>
                      </a:r>
                      <a:endParaRPr kumimoji="1" lang="ja-JP" altLang="en-US" sz="1400">
                        <a:latin typeface="メイリオ" panose="020B0604030504040204" pitchFamily="50" charset="-128"/>
                        <a:ea typeface="メイリオ" panose="020B0604030504040204" pitchFamily="50" charset="-128"/>
                      </a:endParaRPr>
                    </a:p>
                  </a:txBody>
                  <a:tcPr/>
                </a:tc>
                <a:tc>
                  <a:txBody>
                    <a:bodyPr/>
                    <a:lstStyle/>
                    <a:p>
                      <a:r>
                        <a:rPr kumimoji="1" lang="ja-JP" altLang="en-US" sz="1100">
                          <a:latin typeface="メイリオ" panose="020B0604030504040204" pitchFamily="50" charset="-128"/>
                          <a:ea typeface="メイリオ" panose="020B0604030504040204" pitchFamily="50" charset="-128"/>
                        </a:rPr>
                        <a:t>テストシナリオ作成・ユーザーテスト</a:t>
                      </a:r>
                      <a:endParaRPr kumimoji="1"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2026/Q4-2027/Q1</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1584798184"/>
                  </a:ext>
                </a:extLst>
              </a:tr>
              <a:tr h="370840">
                <a:tc vMerge="1">
                  <a:txBody>
                    <a:bodyPr/>
                    <a:lstStyle/>
                    <a:p>
                      <a:endParaRPr kumimoji="1" lang="ja-JP" altLang="en-US"/>
                    </a:p>
                  </a:txBody>
                  <a:tcPr/>
                </a:tc>
                <a:tc>
                  <a:txBody>
                    <a:bodyPr/>
                    <a:lstStyle/>
                    <a:p>
                      <a:r>
                        <a:rPr kumimoji="1" lang="ja-JP" altLang="en-US" sz="1400">
                          <a:latin typeface="メイリオ" panose="020B0604030504040204" pitchFamily="50" charset="-128"/>
                          <a:ea typeface="メイリオ" panose="020B0604030504040204" pitchFamily="50" charset="-128"/>
                        </a:rPr>
                        <a:t>取引先説明</a:t>
                      </a:r>
                    </a:p>
                  </a:txBody>
                  <a:tcPr/>
                </a:tc>
                <a:tc>
                  <a:txBody>
                    <a:bodyPr/>
                    <a:lstStyle/>
                    <a:p>
                      <a:r>
                        <a:rPr kumimoji="1" lang="ja-JP" altLang="en-US" sz="1100">
                          <a:latin typeface="メイリオ" panose="020B0604030504040204" pitchFamily="50" charset="-128"/>
                          <a:ea typeface="メイリオ" panose="020B0604030504040204" pitchFamily="50" charset="-128"/>
                        </a:rPr>
                        <a:t>取引先説明準備・実施</a:t>
                      </a:r>
                      <a:endParaRPr kumimoji="1"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2027/1-2027/3</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4001719628"/>
                  </a:ext>
                </a:extLst>
              </a:tr>
              <a:tr h="370840">
                <a:tc vMerge="1">
                  <a:txBody>
                    <a:bodyPr/>
                    <a:lstStyle/>
                    <a:p>
                      <a:endParaRPr kumimoji="1" lang="ja-JP" altLang="en-US"/>
                    </a:p>
                  </a:txBody>
                  <a:tcPr/>
                </a:tc>
                <a:tc>
                  <a:txBody>
                    <a:bodyPr/>
                    <a:lstStyle/>
                    <a:p>
                      <a:r>
                        <a:rPr kumimoji="1" lang="ja-JP" altLang="en-US" sz="1400">
                          <a:latin typeface="メイリオ" panose="020B0604030504040204" pitchFamily="50" charset="-128"/>
                          <a:ea typeface="メイリオ" panose="020B0604030504040204" pitchFamily="50" charset="-128"/>
                        </a:rPr>
                        <a:t>マスタ移行</a:t>
                      </a:r>
                    </a:p>
                  </a:txBody>
                  <a:tcPr/>
                </a:tc>
                <a:tc>
                  <a:txBody>
                    <a:bodyPr/>
                    <a:lstStyle/>
                    <a:p>
                      <a:r>
                        <a:rPr kumimoji="1" lang="ja-JP" altLang="en-US" sz="1100">
                          <a:latin typeface="メイリオ" panose="020B0604030504040204" pitchFamily="50" charset="-128"/>
                          <a:ea typeface="メイリオ" panose="020B0604030504040204" pitchFamily="50" charset="-128"/>
                        </a:rPr>
                        <a:t>既存データ移行対応事前準備・移行検証</a:t>
                      </a:r>
                      <a:endParaRPr kumimoji="1" lang="en-US" altLang="ja-JP" sz="1100">
                        <a:latin typeface="メイリオ" panose="020B0604030504040204" pitchFamily="50" charset="-128"/>
                        <a:ea typeface="メイリオ" panose="020B0604030504040204" pitchFamily="50" charset="-128"/>
                      </a:endParaRPr>
                    </a:p>
                  </a:txBody>
                  <a:tcPr/>
                </a:tc>
                <a:tc>
                  <a:txBody>
                    <a:bodyPr/>
                    <a:lstStyle/>
                    <a:p>
                      <a:r>
                        <a:rPr kumimoji="1" lang="en-US" altLang="ja-JP" sz="1600">
                          <a:latin typeface="メイリオ" panose="020B0604030504040204" pitchFamily="50" charset="-128"/>
                          <a:ea typeface="メイリオ" panose="020B0604030504040204" pitchFamily="50" charset="-128"/>
                        </a:rPr>
                        <a:t>2027/3-2027/5</a:t>
                      </a:r>
                      <a:endParaRPr kumimoji="1" lang="ja-JP" altLang="en-US" sz="1600">
                        <a:latin typeface="メイリオ" panose="020B0604030504040204" pitchFamily="50" charset="-128"/>
                        <a:ea typeface="メイリオ" panose="020B0604030504040204" pitchFamily="50" charset="-128"/>
                      </a:endParaRPr>
                    </a:p>
                  </a:txBody>
                  <a:tcPr/>
                </a:tc>
                <a:extLst>
                  <a:ext uri="{0D108BD9-81ED-4DB2-BD59-A6C34878D82A}">
                    <a16:rowId xmlns:a16="http://schemas.microsoft.com/office/drawing/2014/main" val="3462773891"/>
                  </a:ext>
                </a:extLst>
              </a:tr>
              <a:tr h="370840">
                <a:tc vMerge="1">
                  <a:txBody>
                    <a:bodyPr/>
                    <a:lstStyle/>
                    <a:p>
                      <a:pPr marL="0" marR="0" lvl="0" indent="0" algn="l" rtl="0">
                        <a:lnSpc>
                          <a:spcPct val="100000"/>
                        </a:lnSpc>
                        <a:spcBef>
                          <a:spcPts val="0"/>
                        </a:spcBef>
                        <a:spcAft>
                          <a:spcPts val="0"/>
                        </a:spcAft>
                        <a:buClr>
                          <a:srgbClr val="000000"/>
                        </a:buClr>
                        <a:buSzPts val="1100"/>
                        <a:buFont typeface="Arial"/>
                        <a:buNone/>
                      </a:pPr>
                      <a:endParaRPr lang="ja-JP" altLang="ja-JP" sz="2400">
                        <a:sym typeface="Arial"/>
                      </a:endParaRPr>
                    </a:p>
                  </a:txBody>
                  <a:tcPr/>
                </a:tc>
                <a:tc>
                  <a:txBody>
                    <a:bodyPr/>
                    <a:lstStyle/>
                    <a:p>
                      <a:r>
                        <a:rPr kumimoji="1" lang="ja-JP" altLang="en-US" sz="1400">
                          <a:latin typeface="メイリオ" panose="020B0604030504040204" pitchFamily="50" charset="-128"/>
                          <a:ea typeface="メイリオ" panose="020B0604030504040204" pitchFamily="50" charset="-128"/>
                        </a:rPr>
                        <a:t>本番リリース</a:t>
                      </a:r>
                    </a:p>
                  </a:txBody>
                  <a:tcPr/>
                </a:tc>
                <a:tc>
                  <a:txBody>
                    <a:bodyPr/>
                    <a:lstStyle/>
                    <a:p>
                      <a:r>
                        <a:rPr kumimoji="1" lang="ja-JP" altLang="en-US" sz="1100">
                          <a:latin typeface="メイリオ" panose="020B0604030504040204" pitchFamily="50" charset="-128"/>
                          <a:ea typeface="メイリオ" panose="020B0604030504040204" pitchFamily="50" charset="-128"/>
                        </a:rPr>
                        <a:t>問い合わせ対応（運用面）</a:t>
                      </a:r>
                    </a:p>
                  </a:txBody>
                  <a:tcPr/>
                </a:tc>
                <a:tc>
                  <a:txBody>
                    <a:bodyPr/>
                    <a:lstStyle/>
                    <a:p>
                      <a:r>
                        <a:rPr kumimoji="1" lang="en-US" altLang="ja-JP" sz="1600">
                          <a:latin typeface="メイリオ" panose="020B0604030504040204" pitchFamily="50" charset="-128"/>
                          <a:ea typeface="メイリオ" panose="020B0604030504040204" pitchFamily="50" charset="-128"/>
                        </a:rPr>
                        <a:t>2027/4</a:t>
                      </a:r>
                      <a:r>
                        <a:rPr kumimoji="1" lang="ja-JP" altLang="en-US" sz="1600">
                          <a:latin typeface="メイリオ" panose="020B0604030504040204" pitchFamily="50" charset="-128"/>
                          <a:ea typeface="メイリオ" panose="020B0604030504040204" pitchFamily="50" charset="-128"/>
                        </a:rPr>
                        <a:t>～</a:t>
                      </a:r>
                    </a:p>
                  </a:txBody>
                  <a:tcPr/>
                </a:tc>
                <a:extLst>
                  <a:ext uri="{0D108BD9-81ED-4DB2-BD59-A6C34878D82A}">
                    <a16:rowId xmlns:a16="http://schemas.microsoft.com/office/drawing/2014/main" val="1660385091"/>
                  </a:ext>
                </a:extLst>
              </a:tr>
            </a:tbl>
          </a:graphicData>
        </a:graphic>
      </p:graphicFrame>
    </p:spTree>
    <p:extLst>
      <p:ext uri="{BB962C8B-B14F-4D97-AF65-F5344CB8AC3E}">
        <p14:creationId xmlns:p14="http://schemas.microsoft.com/office/powerpoint/2010/main" val="3480210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E4BA-0799-3704-048C-3B2A33F5C94D}"/>
            </a:ext>
          </a:extLst>
        </p:cNvPr>
        <p:cNvGrpSpPr/>
        <p:nvPr/>
      </p:nvGrpSpPr>
      <p:grpSpPr>
        <a:xfrm>
          <a:off x="0" y="0"/>
          <a:ext cx="0" cy="0"/>
          <a:chOff x="0" y="0"/>
          <a:chExt cx="0" cy="0"/>
        </a:xfrm>
      </p:grpSpPr>
      <p:graphicFrame>
        <p:nvGraphicFramePr>
          <p:cNvPr id="9" name="Google Shape;147;p1">
            <a:extLst>
              <a:ext uri="{FF2B5EF4-FFF2-40B4-BE49-F238E27FC236}">
                <a16:creationId xmlns:a16="http://schemas.microsoft.com/office/drawing/2014/main" id="{0EA20C42-375D-A41F-3A53-01A637723F59}"/>
              </a:ext>
            </a:extLst>
          </p:cNvPr>
          <p:cNvGraphicFramePr/>
          <p:nvPr/>
        </p:nvGraphicFramePr>
        <p:xfrm>
          <a:off x="515937" y="1088740"/>
          <a:ext cx="11160000" cy="5202480"/>
        </p:xfrm>
        <a:graphic>
          <a:graphicData uri="http://schemas.openxmlformats.org/drawingml/2006/table">
            <a:tbl>
              <a:tblPr firstRow="1" bandRow="1">
                <a:noFill/>
              </a:tblPr>
              <a:tblGrid>
                <a:gridCol w="756000">
                  <a:extLst>
                    <a:ext uri="{9D8B030D-6E8A-4147-A177-3AD203B41FA5}">
                      <a16:colId xmlns:a16="http://schemas.microsoft.com/office/drawing/2014/main" val="20000"/>
                    </a:ext>
                  </a:extLst>
                </a:gridCol>
                <a:gridCol w="1764000">
                  <a:extLst>
                    <a:ext uri="{9D8B030D-6E8A-4147-A177-3AD203B41FA5}">
                      <a16:colId xmlns:a16="http://schemas.microsoft.com/office/drawing/2014/main" val="20001"/>
                    </a:ext>
                  </a:extLst>
                </a:gridCol>
                <a:gridCol w="288000">
                  <a:extLst>
                    <a:ext uri="{9D8B030D-6E8A-4147-A177-3AD203B41FA5}">
                      <a16:colId xmlns:a16="http://schemas.microsoft.com/office/drawing/2014/main" val="20005"/>
                    </a:ext>
                  </a:extLst>
                </a:gridCol>
                <a:gridCol w="288000">
                  <a:extLst>
                    <a:ext uri="{9D8B030D-6E8A-4147-A177-3AD203B41FA5}">
                      <a16:colId xmlns:a16="http://schemas.microsoft.com/office/drawing/2014/main" val="20006"/>
                    </a:ext>
                  </a:extLst>
                </a:gridCol>
                <a:gridCol w="288000">
                  <a:extLst>
                    <a:ext uri="{9D8B030D-6E8A-4147-A177-3AD203B41FA5}">
                      <a16:colId xmlns:a16="http://schemas.microsoft.com/office/drawing/2014/main" val="20007"/>
                    </a:ext>
                  </a:extLst>
                </a:gridCol>
                <a:gridCol w="288000">
                  <a:extLst>
                    <a:ext uri="{9D8B030D-6E8A-4147-A177-3AD203B41FA5}">
                      <a16:colId xmlns:a16="http://schemas.microsoft.com/office/drawing/2014/main" val="20008"/>
                    </a:ext>
                  </a:extLst>
                </a:gridCol>
                <a:gridCol w="288000">
                  <a:extLst>
                    <a:ext uri="{9D8B030D-6E8A-4147-A177-3AD203B41FA5}">
                      <a16:colId xmlns:a16="http://schemas.microsoft.com/office/drawing/2014/main" val="20009"/>
                    </a:ext>
                  </a:extLst>
                </a:gridCol>
                <a:gridCol w="288000">
                  <a:extLst>
                    <a:ext uri="{9D8B030D-6E8A-4147-A177-3AD203B41FA5}">
                      <a16:colId xmlns:a16="http://schemas.microsoft.com/office/drawing/2014/main" val="20010"/>
                    </a:ext>
                  </a:extLst>
                </a:gridCol>
                <a:gridCol w="288000">
                  <a:extLst>
                    <a:ext uri="{9D8B030D-6E8A-4147-A177-3AD203B41FA5}">
                      <a16:colId xmlns:a16="http://schemas.microsoft.com/office/drawing/2014/main" val="20011"/>
                    </a:ext>
                  </a:extLst>
                </a:gridCol>
                <a:gridCol w="215971">
                  <a:extLst>
                    <a:ext uri="{9D8B030D-6E8A-4147-A177-3AD203B41FA5}">
                      <a16:colId xmlns:a16="http://schemas.microsoft.com/office/drawing/2014/main" val="20012"/>
                    </a:ext>
                  </a:extLst>
                </a:gridCol>
                <a:gridCol w="360029">
                  <a:extLst>
                    <a:ext uri="{9D8B030D-6E8A-4147-A177-3AD203B41FA5}">
                      <a16:colId xmlns:a16="http://schemas.microsoft.com/office/drawing/2014/main" val="20013"/>
                    </a:ext>
                  </a:extLst>
                </a:gridCol>
                <a:gridCol w="288000">
                  <a:extLst>
                    <a:ext uri="{9D8B030D-6E8A-4147-A177-3AD203B41FA5}">
                      <a16:colId xmlns:a16="http://schemas.microsoft.com/office/drawing/2014/main" val="20014"/>
                    </a:ext>
                  </a:extLst>
                </a:gridCol>
                <a:gridCol w="288000">
                  <a:extLst>
                    <a:ext uri="{9D8B030D-6E8A-4147-A177-3AD203B41FA5}">
                      <a16:colId xmlns:a16="http://schemas.microsoft.com/office/drawing/2014/main" val="20015"/>
                    </a:ext>
                  </a:extLst>
                </a:gridCol>
                <a:gridCol w="288000">
                  <a:extLst>
                    <a:ext uri="{9D8B030D-6E8A-4147-A177-3AD203B41FA5}">
                      <a16:colId xmlns:a16="http://schemas.microsoft.com/office/drawing/2014/main" val="20016"/>
                    </a:ext>
                  </a:extLst>
                </a:gridCol>
                <a:gridCol w="288000">
                  <a:extLst>
                    <a:ext uri="{9D8B030D-6E8A-4147-A177-3AD203B41FA5}">
                      <a16:colId xmlns:a16="http://schemas.microsoft.com/office/drawing/2014/main" val="20017"/>
                    </a:ext>
                  </a:extLst>
                </a:gridCol>
                <a:gridCol w="288000">
                  <a:extLst>
                    <a:ext uri="{9D8B030D-6E8A-4147-A177-3AD203B41FA5}">
                      <a16:colId xmlns:a16="http://schemas.microsoft.com/office/drawing/2014/main" val="20018"/>
                    </a:ext>
                  </a:extLst>
                </a:gridCol>
                <a:gridCol w="288000">
                  <a:extLst>
                    <a:ext uri="{9D8B030D-6E8A-4147-A177-3AD203B41FA5}">
                      <a16:colId xmlns:a16="http://schemas.microsoft.com/office/drawing/2014/main" val="20019"/>
                    </a:ext>
                  </a:extLst>
                </a:gridCol>
                <a:gridCol w="288000">
                  <a:extLst>
                    <a:ext uri="{9D8B030D-6E8A-4147-A177-3AD203B41FA5}">
                      <a16:colId xmlns:a16="http://schemas.microsoft.com/office/drawing/2014/main" val="3408758122"/>
                    </a:ext>
                  </a:extLst>
                </a:gridCol>
                <a:gridCol w="288000">
                  <a:extLst>
                    <a:ext uri="{9D8B030D-6E8A-4147-A177-3AD203B41FA5}">
                      <a16:colId xmlns:a16="http://schemas.microsoft.com/office/drawing/2014/main" val="1967163736"/>
                    </a:ext>
                  </a:extLst>
                </a:gridCol>
                <a:gridCol w="288000">
                  <a:extLst>
                    <a:ext uri="{9D8B030D-6E8A-4147-A177-3AD203B41FA5}">
                      <a16:colId xmlns:a16="http://schemas.microsoft.com/office/drawing/2014/main" val="4137116622"/>
                    </a:ext>
                  </a:extLst>
                </a:gridCol>
                <a:gridCol w="288000">
                  <a:extLst>
                    <a:ext uri="{9D8B030D-6E8A-4147-A177-3AD203B41FA5}">
                      <a16:colId xmlns:a16="http://schemas.microsoft.com/office/drawing/2014/main" val="1583594224"/>
                    </a:ext>
                  </a:extLst>
                </a:gridCol>
                <a:gridCol w="288000">
                  <a:extLst>
                    <a:ext uri="{9D8B030D-6E8A-4147-A177-3AD203B41FA5}">
                      <a16:colId xmlns:a16="http://schemas.microsoft.com/office/drawing/2014/main" val="2359424389"/>
                    </a:ext>
                  </a:extLst>
                </a:gridCol>
                <a:gridCol w="288000">
                  <a:extLst>
                    <a:ext uri="{9D8B030D-6E8A-4147-A177-3AD203B41FA5}">
                      <a16:colId xmlns:a16="http://schemas.microsoft.com/office/drawing/2014/main" val="4287212319"/>
                    </a:ext>
                  </a:extLst>
                </a:gridCol>
                <a:gridCol w="288000">
                  <a:extLst>
                    <a:ext uri="{9D8B030D-6E8A-4147-A177-3AD203B41FA5}">
                      <a16:colId xmlns:a16="http://schemas.microsoft.com/office/drawing/2014/main" val="3068024847"/>
                    </a:ext>
                  </a:extLst>
                </a:gridCol>
                <a:gridCol w="288000">
                  <a:extLst>
                    <a:ext uri="{9D8B030D-6E8A-4147-A177-3AD203B41FA5}">
                      <a16:colId xmlns:a16="http://schemas.microsoft.com/office/drawing/2014/main" val="2725089243"/>
                    </a:ext>
                  </a:extLst>
                </a:gridCol>
                <a:gridCol w="288000">
                  <a:extLst>
                    <a:ext uri="{9D8B030D-6E8A-4147-A177-3AD203B41FA5}">
                      <a16:colId xmlns:a16="http://schemas.microsoft.com/office/drawing/2014/main" val="943934696"/>
                    </a:ext>
                  </a:extLst>
                </a:gridCol>
                <a:gridCol w="288000">
                  <a:extLst>
                    <a:ext uri="{9D8B030D-6E8A-4147-A177-3AD203B41FA5}">
                      <a16:colId xmlns:a16="http://schemas.microsoft.com/office/drawing/2014/main" val="1653362742"/>
                    </a:ext>
                  </a:extLst>
                </a:gridCol>
                <a:gridCol w="288000">
                  <a:extLst>
                    <a:ext uri="{9D8B030D-6E8A-4147-A177-3AD203B41FA5}">
                      <a16:colId xmlns:a16="http://schemas.microsoft.com/office/drawing/2014/main" val="2425998291"/>
                    </a:ext>
                  </a:extLst>
                </a:gridCol>
                <a:gridCol w="288000">
                  <a:extLst>
                    <a:ext uri="{9D8B030D-6E8A-4147-A177-3AD203B41FA5}">
                      <a16:colId xmlns:a16="http://schemas.microsoft.com/office/drawing/2014/main" val="2670269525"/>
                    </a:ext>
                  </a:extLst>
                </a:gridCol>
                <a:gridCol w="288000">
                  <a:extLst>
                    <a:ext uri="{9D8B030D-6E8A-4147-A177-3AD203B41FA5}">
                      <a16:colId xmlns:a16="http://schemas.microsoft.com/office/drawing/2014/main" val="1516208101"/>
                    </a:ext>
                  </a:extLst>
                </a:gridCol>
                <a:gridCol w="288000">
                  <a:extLst>
                    <a:ext uri="{9D8B030D-6E8A-4147-A177-3AD203B41FA5}">
                      <a16:colId xmlns:a16="http://schemas.microsoft.com/office/drawing/2014/main" val="3528581714"/>
                    </a:ext>
                  </a:extLst>
                </a:gridCol>
                <a:gridCol w="288000">
                  <a:extLst>
                    <a:ext uri="{9D8B030D-6E8A-4147-A177-3AD203B41FA5}">
                      <a16:colId xmlns:a16="http://schemas.microsoft.com/office/drawing/2014/main" val="750660328"/>
                    </a:ext>
                  </a:extLst>
                </a:gridCol>
              </a:tblGrid>
              <a:tr h="0">
                <a:tc rowSpan="2" gridSpan="2">
                  <a:txBody>
                    <a:bodyPr/>
                    <a:lstStyle/>
                    <a:p>
                      <a:pPr marL="0" marR="0" lvl="0" indent="0" algn="l" defTabSz="914377" rtl="0" eaLnBrk="1" fontAlgn="auto" latinLnBrk="0" hangingPunct="1">
                        <a:lnSpc>
                          <a:spcPct val="100000"/>
                        </a:lnSpc>
                        <a:spcBef>
                          <a:spcPts val="0"/>
                        </a:spcBef>
                        <a:spcAft>
                          <a:spcPts val="0"/>
                        </a:spcAft>
                        <a:buClr>
                          <a:srgbClr val="000000"/>
                        </a:buClr>
                        <a:buSzPts val="800"/>
                        <a:buFont typeface="Arial"/>
                        <a:buNone/>
                        <a:tabLst/>
                        <a:defRPr/>
                      </a:pPr>
                      <a:r>
                        <a:rPr lang="ja-JP" altLang="en-US" sz="1400" b="1">
                          <a:solidFill>
                            <a:schemeClr val="accent5"/>
                          </a:solidFill>
                          <a:latin typeface="メイリオ" panose="020B0604030504040204" pitchFamily="50" charset="-128"/>
                          <a:ea typeface="メイリオ" panose="020B0604030504040204" pitchFamily="50" charset="-128"/>
                        </a:rPr>
                        <a:t>Step2マスタ刷新プロジェクトは継続決定</a:t>
                      </a: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lt1"/>
                    </a:solidFill>
                  </a:tcPr>
                </a:tc>
                <a:tc rowSpan="2"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lang="ja-JP" sz="1100" b="1" u="none" strike="noStrike" cap="none">
                          <a:solidFill>
                            <a:schemeClr val="bg1"/>
                          </a:solidFill>
                          <a:latin typeface="メイリオ"/>
                          <a:ea typeface="メイリオ"/>
                          <a:cs typeface="Meiryo"/>
                          <a:sym typeface="Meiryo"/>
                        </a:rPr>
                        <a:t>2026</a:t>
                      </a:r>
                      <a:endParaRPr sz="1100" b="1" u="none" strike="noStrike" cap="none">
                        <a:solidFill>
                          <a:schemeClr val="bg1"/>
                        </a:solidFill>
                        <a:latin typeface="メイリオ"/>
                        <a:ea typeface="メイリオ"/>
                        <a:cs typeface="Meiryo"/>
                        <a:sym typeface="Meiryo"/>
                      </a:endParaRPr>
                    </a:p>
                  </a:txBody>
                  <a:tcPr marL="36000" marR="36000" marT="46800" marB="468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lang="ja-JP" sz="1100" b="1" u="none" strike="noStrike" cap="none">
                          <a:solidFill>
                            <a:schemeClr val="bg1"/>
                          </a:solidFill>
                          <a:latin typeface="メイリオ"/>
                          <a:ea typeface="メイリオ"/>
                          <a:cs typeface="Meiryo"/>
                          <a:sym typeface="Meiryo"/>
                        </a:rPr>
                        <a:t>2027</a:t>
                      </a:r>
                      <a:endParaRPr sz="1100" b="1" u="none" strike="noStrike" cap="none">
                        <a:solidFill>
                          <a:schemeClr val="bg1"/>
                        </a:solidFill>
                        <a:latin typeface="メイリオ"/>
                        <a:ea typeface="メイリオ"/>
                        <a:cs typeface="Meiryo"/>
                        <a:sym typeface="Meiryo"/>
                      </a:endParaRPr>
                    </a:p>
                  </a:txBody>
                  <a:tcPr marL="36000" marR="36000" marT="46800" marB="468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lang="ja-JP"/>
                    </a:p>
                  </a:txBody>
                  <a:tcPr/>
                </a:tc>
                <a:tc hMerge="1">
                  <a:txBody>
                    <a:bodyPr/>
                    <a:lstStyle/>
                    <a:p>
                      <a:endParaRPr lang="ja-JP"/>
                    </a:p>
                  </a:txBody>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6">
                  <a:txBody>
                    <a:bodyPr/>
                    <a:lstStyle/>
                    <a:p>
                      <a:pPr marL="0" marR="0" lvl="0" indent="0" algn="l" rtl="0">
                        <a:lnSpc>
                          <a:spcPct val="100000"/>
                        </a:lnSpc>
                        <a:spcBef>
                          <a:spcPts val="0"/>
                        </a:spcBef>
                        <a:spcAft>
                          <a:spcPts val="0"/>
                        </a:spcAft>
                        <a:buClr>
                          <a:srgbClr val="000000"/>
                        </a:buClr>
                        <a:buSzPts val="900"/>
                        <a:buFont typeface="Arial"/>
                        <a:buNone/>
                      </a:pPr>
                      <a:r>
                        <a:rPr lang="en-US" sz="1100" b="1" u="none" strike="noStrike" cap="none">
                          <a:solidFill>
                            <a:schemeClr val="bg1"/>
                          </a:solidFill>
                          <a:latin typeface="メイリオ"/>
                          <a:ea typeface="メイリオ"/>
                          <a:cs typeface="Meiryo"/>
                          <a:sym typeface="Meiryo"/>
                        </a:rPr>
                        <a:t>2028</a:t>
                      </a:r>
                      <a:endParaRPr sz="1100" b="1" u="none" strike="noStrike" cap="none">
                        <a:solidFill>
                          <a:schemeClr val="bg1"/>
                        </a:solidFill>
                        <a:latin typeface="メイリオ"/>
                        <a:ea typeface="メイリオ"/>
                        <a:cs typeface="Meiryo"/>
                        <a:sym typeface="Meiryo"/>
                      </a:endParaRPr>
                    </a:p>
                  </a:txBody>
                  <a:tcPr marL="36000" marR="36000" marT="46800" marB="468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extLst>
                  <a:ext uri="{0D108BD9-81ED-4DB2-BD59-A6C34878D82A}">
                    <a16:rowId xmlns:a16="http://schemas.microsoft.com/office/drawing/2014/main" val="10000"/>
                  </a:ext>
                </a:extLst>
              </a:tr>
              <a:tr h="0">
                <a:tc gridSpan="2" vMerge="1">
                  <a:txBody>
                    <a:bodyPr/>
                    <a:lstStyle/>
                    <a:p>
                      <a:endParaRPr lang="ja-JP"/>
                    </a:p>
                  </a:txBody>
                  <a:tcPr/>
                </a:tc>
                <a:tc hMerge="1" v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a:t>
                      </a:r>
                      <a:endParaRPr sz="1100" b="1" u="none" strike="noStrike" cap="none">
                        <a:latin typeface="メイリオ"/>
                        <a:ea typeface="メイリオ"/>
                      </a:endParaRPr>
                    </a:p>
                  </a:txBody>
                  <a:tcPr marL="0" marR="0"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2</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3</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4</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5</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6</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7</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8</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9</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10</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11</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panose="020B0604030504040204" pitchFamily="50" charset="-128"/>
                          <a:ea typeface="メイリオ" panose="020B0604030504040204" pitchFamily="50" charset="-128"/>
                          <a:cs typeface="Meiryo"/>
                          <a:sym typeface="Meiryo"/>
                        </a:rPr>
                        <a:t>１</a:t>
                      </a:r>
                      <a:endParaRPr sz="1100" b="1" u="none" strike="noStrike" cap="none">
                        <a:latin typeface="メイリオ" panose="020B0604030504040204" pitchFamily="50" charset="-128"/>
                        <a:ea typeface="メイリオ" panose="020B0604030504040204" pitchFamily="50" charset="-128"/>
                        <a:cs typeface="Meiryo"/>
                        <a:sym typeface="Meiryo"/>
                      </a:endParaRPr>
                    </a:p>
                  </a:txBody>
                  <a:tcPr marL="0" marR="0"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3</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4</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5</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6</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7</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8</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9</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10</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11</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a:t>
                      </a:r>
                      <a:endParaRPr sz="1100" b="1" u="none" strike="noStrike" cap="none">
                        <a:latin typeface="メイリオ"/>
                        <a:ea typeface="メイリオ"/>
                        <a:cs typeface="Meiryo"/>
                        <a:sym typeface="Meiryo"/>
                      </a:endParaRPr>
                    </a:p>
                  </a:txBody>
                  <a:tcPr marL="0" marR="0"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3</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4</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5</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6</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756000">
                <a:tc gridSpan="2">
                  <a:txBody>
                    <a:bodyPr/>
                    <a:lstStyle/>
                    <a:p>
                      <a:pPr marL="0" marR="0" lvl="0" indent="0" algn="l" rtl="0">
                        <a:lnSpc>
                          <a:spcPct val="100000"/>
                        </a:lnSpc>
                        <a:spcBef>
                          <a:spcPts val="0"/>
                        </a:spcBef>
                        <a:spcAft>
                          <a:spcPts val="0"/>
                        </a:spcAft>
                        <a:buClr>
                          <a:srgbClr val="000000"/>
                        </a:buClr>
                        <a:buSzPts val="1100"/>
                        <a:buFont typeface="Arial"/>
                        <a:buNone/>
                      </a:pPr>
                      <a:r>
                        <a:rPr lang="ja-JP" sz="1400" b="1" u="none" strike="noStrike" cap="none">
                          <a:solidFill>
                            <a:schemeClr val="lt1"/>
                          </a:solidFill>
                          <a:latin typeface="メイリオ" panose="020B0604030504040204" pitchFamily="50" charset="-128"/>
                          <a:ea typeface="メイリオ" panose="020B0604030504040204" pitchFamily="50" charset="-128"/>
                          <a:cs typeface="Meiryo"/>
                          <a:sym typeface="Meiryo"/>
                        </a:rPr>
                        <a:t>イベント・</a:t>
                      </a:r>
                      <a:endParaRPr lang="en-US" altLang="ja-JP" sz="1400" b="1" u="none" strike="noStrike" cap="none">
                        <a:solidFill>
                          <a:schemeClr val="lt1"/>
                        </a:solidFill>
                        <a:latin typeface="メイリオ" panose="020B0604030504040204" pitchFamily="50" charset="-128"/>
                        <a:ea typeface="メイリオ" panose="020B0604030504040204" pitchFamily="50" charset="-128"/>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1400" b="1" u="none" strike="noStrike" cap="none">
                          <a:solidFill>
                            <a:schemeClr val="lt1"/>
                          </a:solidFill>
                          <a:latin typeface="メイリオ" panose="020B0604030504040204" pitchFamily="50" charset="-128"/>
                          <a:ea typeface="メイリオ" panose="020B0604030504040204" pitchFamily="50" charset="-128"/>
                          <a:cs typeface="Meiryo"/>
                          <a:sym typeface="Meiryo"/>
                        </a:rPr>
                        <a:t>マイルストーン</a:t>
                      </a:r>
                      <a:endParaRPr sz="1400" b="1" u="none" strike="noStrike" cap="none">
                        <a:solidFill>
                          <a:schemeClr val="lt1"/>
                        </a:solidFill>
                        <a:latin typeface="メイリオ" panose="020B0604030504040204" pitchFamily="50" charset="-128"/>
                        <a:ea typeface="メイリオ" panose="020B0604030504040204" pitchFamily="50" charset="-128"/>
                        <a:cs typeface="Meiryo"/>
                        <a:sym typeface="Meiryo"/>
                      </a:endParaRPr>
                    </a:p>
                  </a:txBody>
                  <a:tcPr marL="68575" marR="68575" marT="46800" marB="46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2B2B2B"/>
                    </a:solidFill>
                  </a:tcPr>
                </a:tc>
                <a:tc hMerge="1">
                  <a:txBody>
                    <a:bodyPr/>
                    <a:lstStyle/>
                    <a:p>
                      <a:endParaRPr lang="ja-JP"/>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756000">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100" b="1" u="none" strike="noStrike" cap="none">
                          <a:solidFill>
                            <a:schemeClr val="lt1"/>
                          </a:solidFill>
                          <a:latin typeface="メイリオ"/>
                          <a:ea typeface="メイリオ"/>
                          <a:cs typeface="Meiryo"/>
                          <a:sym typeface="Meiryo"/>
                        </a:rPr>
                        <a:t>Step</a:t>
                      </a:r>
                      <a:r>
                        <a:rPr lang="en-US" altLang="ja-JP" sz="1200" b="1" u="none" strike="noStrike" cap="none">
                          <a:solidFill>
                            <a:schemeClr val="lt1"/>
                          </a:solidFill>
                          <a:latin typeface="メイリオ"/>
                          <a:ea typeface="メイリオ"/>
                          <a:cs typeface="Meiryo"/>
                          <a:sym typeface="Meiryo"/>
                        </a:rPr>
                        <a:t> </a:t>
                      </a:r>
                      <a:r>
                        <a:rPr lang="en-US" altLang="ja-JP" sz="2000" b="1" u="none" strike="noStrike" cap="none">
                          <a:solidFill>
                            <a:schemeClr val="lt1"/>
                          </a:solidFill>
                          <a:latin typeface="メイリオ"/>
                          <a:ea typeface="メイリオ"/>
                          <a:cs typeface="Meiryo"/>
                          <a:sym typeface="Meiryo"/>
                        </a:rPr>
                        <a:t>1</a:t>
                      </a:r>
                    </a:p>
                  </a:txBody>
                  <a:tcPr marL="68575" marR="68575" marT="46800" marB="468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5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600" b="1" u="none" strike="noStrike" cap="none">
                          <a:solidFill>
                            <a:schemeClr val="tx1"/>
                          </a:solidFill>
                          <a:latin typeface="メイリオ" panose="020B0604030504040204" pitchFamily="50" charset="-128"/>
                          <a:ea typeface="メイリオ" panose="020B0604030504040204" pitchFamily="50" charset="-128"/>
                          <a:cs typeface="Meiryo"/>
                          <a:sym typeface="Meiryo"/>
                        </a:rPr>
                        <a:t>両社への商品マスタデータ連携</a:t>
                      </a:r>
                    </a:p>
                  </a:txBody>
                  <a:tcPr marL="68575" marR="68575" marT="46800" marB="4680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756000">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100" b="1" u="none" strike="noStrike" cap="none">
                          <a:solidFill>
                            <a:schemeClr val="lt1"/>
                          </a:solidFill>
                          <a:latin typeface="メイリオ"/>
                          <a:ea typeface="メイリオ"/>
                          <a:cs typeface="Meiryo"/>
                          <a:sym typeface="Meiryo"/>
                        </a:rPr>
                        <a:t>Step</a:t>
                      </a:r>
                      <a:r>
                        <a:rPr lang="en-US" altLang="ja-JP" sz="1200" b="1" u="none" strike="noStrike" cap="none">
                          <a:solidFill>
                            <a:schemeClr val="lt1"/>
                          </a:solidFill>
                          <a:latin typeface="メイリオ"/>
                          <a:ea typeface="メイリオ"/>
                          <a:cs typeface="Meiryo"/>
                          <a:sym typeface="Meiryo"/>
                        </a:rPr>
                        <a:t> </a:t>
                      </a:r>
                      <a:r>
                        <a:rPr lang="en-US" altLang="ja-JP" sz="2000" b="1" u="none" strike="noStrike" cap="none">
                          <a:solidFill>
                            <a:schemeClr val="lt1"/>
                          </a:solidFill>
                          <a:latin typeface="メイリオ"/>
                          <a:ea typeface="メイリオ"/>
                          <a:cs typeface="Meiryo"/>
                          <a:sym typeface="Meiryo"/>
                        </a:rPr>
                        <a:t>2</a:t>
                      </a:r>
                    </a:p>
                  </a:txBody>
                  <a:tcPr marL="68575" marR="68575" marT="46800" marB="468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5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600" b="1" u="none" strike="noStrike" cap="none" err="1">
                          <a:solidFill>
                            <a:schemeClr val="tx1"/>
                          </a:solidFill>
                          <a:latin typeface="メイリオ"/>
                          <a:ea typeface="メイリオ"/>
                          <a:cs typeface="Meiryo"/>
                          <a:sym typeface="Meiryo"/>
                        </a:rPr>
                        <a:t>eB</a:t>
                      </a:r>
                      <a:r>
                        <a:rPr lang="en-US" altLang="ja-JP" sz="1600" b="1" u="none" strike="noStrike" cap="none">
                          <a:solidFill>
                            <a:schemeClr val="tx1"/>
                          </a:solidFill>
                          <a:latin typeface="メイリオ"/>
                          <a:ea typeface="メイリオ"/>
                          <a:cs typeface="Meiryo"/>
                          <a:sym typeface="Meiryo"/>
                        </a:rPr>
                        <a:t>-MDM</a:t>
                      </a:r>
                      <a:r>
                        <a:rPr lang="ja-JP" altLang="en-US" sz="1600" b="1" u="none" strike="noStrike" cap="none">
                          <a:solidFill>
                            <a:schemeClr val="tx1"/>
                          </a:solidFill>
                          <a:latin typeface="メイリオ"/>
                          <a:ea typeface="メイリオ"/>
                          <a:cs typeface="Meiryo"/>
                          <a:sym typeface="Meiryo"/>
                        </a:rPr>
                        <a:t>導入</a:t>
                      </a:r>
                      <a:br>
                        <a:rPr lang="ja-JP" altLang="en-US" sz="1600" b="1" u="none" strike="noStrike" cap="none">
                          <a:solidFill>
                            <a:srgbClr val="000000"/>
                          </a:solidFill>
                          <a:latin typeface="メイリオ"/>
                          <a:ea typeface="メイリオ"/>
                          <a:cs typeface="Meiryo"/>
                          <a:sym typeface="Meiryo"/>
                        </a:rPr>
                      </a:br>
                      <a:r>
                        <a:rPr lang="en-US" altLang="ja-JP" sz="1600" b="1" u="none" strike="noStrike" cap="none">
                          <a:solidFill>
                            <a:schemeClr val="tx1"/>
                          </a:solidFill>
                          <a:latin typeface="メイリオ"/>
                          <a:ea typeface="メイリオ"/>
                          <a:cs typeface="Meiryo"/>
                          <a:sym typeface="Meiryo"/>
                        </a:rPr>
                        <a:t>(</a:t>
                      </a:r>
                      <a:r>
                        <a:rPr lang="en-US" altLang="ja-JP" sz="1600" b="1" u="none" strike="noStrike" cap="none" err="1">
                          <a:solidFill>
                            <a:schemeClr val="tx1"/>
                          </a:solidFill>
                          <a:latin typeface="メイリオ"/>
                          <a:ea typeface="メイリオ"/>
                          <a:cs typeface="Meiryo"/>
                          <a:sym typeface="Meiryo"/>
                        </a:rPr>
                        <a:t>i</a:t>
                      </a:r>
                      <a:r>
                        <a:rPr lang="en-US" altLang="ja-JP" sz="1600" b="1" u="none" strike="noStrike" cap="none">
                          <a:solidFill>
                            <a:schemeClr val="tx1"/>
                          </a:solidFill>
                          <a:latin typeface="メイリオ"/>
                          <a:ea typeface="メイリオ"/>
                          <a:cs typeface="Meiryo"/>
                          <a:sym typeface="Meiryo"/>
                        </a:rPr>
                        <a:t>-Master</a:t>
                      </a:r>
                      <a:r>
                        <a:rPr lang="ja-JP" altLang="en-US" sz="1600" b="1" u="none" strike="noStrike" cap="none">
                          <a:solidFill>
                            <a:schemeClr val="tx1"/>
                          </a:solidFill>
                          <a:latin typeface="メイリオ"/>
                          <a:ea typeface="メイリオ"/>
                          <a:cs typeface="Meiryo"/>
                          <a:sym typeface="Meiryo"/>
                        </a:rPr>
                        <a:t>廃止）</a:t>
                      </a:r>
                    </a:p>
                  </a:txBody>
                  <a:tcPr marL="68575" marR="68575" marT="46800" marB="4680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612037698"/>
                  </a:ext>
                </a:extLst>
              </a:tr>
              <a:tr h="2412000">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100" b="1" u="none" strike="noStrike" cap="none">
                          <a:solidFill>
                            <a:schemeClr val="lt1"/>
                          </a:solidFill>
                          <a:latin typeface="メイリオ"/>
                          <a:ea typeface="メイリオ"/>
                          <a:cs typeface="Meiryo"/>
                          <a:sym typeface="Meiryo"/>
                        </a:rPr>
                        <a:t>Step</a:t>
                      </a:r>
                      <a:r>
                        <a:rPr lang="en-US" altLang="ja-JP" sz="1200" b="1" u="none" strike="noStrike" cap="none">
                          <a:solidFill>
                            <a:schemeClr val="lt1"/>
                          </a:solidFill>
                          <a:latin typeface="メイリオ"/>
                          <a:ea typeface="メイリオ"/>
                          <a:cs typeface="Meiryo"/>
                          <a:sym typeface="Meiryo"/>
                        </a:rPr>
                        <a:t> </a:t>
                      </a:r>
                      <a:r>
                        <a:rPr lang="en-US" altLang="ja-JP" sz="2000" b="1" u="none" strike="noStrike" cap="none">
                          <a:solidFill>
                            <a:schemeClr val="lt1"/>
                          </a:solidFill>
                          <a:latin typeface="メイリオ"/>
                          <a:ea typeface="メイリオ"/>
                          <a:cs typeface="Meiryo"/>
                          <a:sym typeface="Meiryo"/>
                        </a:rPr>
                        <a:t>3</a:t>
                      </a:r>
                      <a:endParaRPr lang="ja-JP" altLang="en-US" sz="1000" b="0" u="none" strike="noStrike" cap="none">
                        <a:solidFill>
                          <a:schemeClr val="lt1"/>
                        </a:solidFill>
                        <a:latin typeface="メイリオ"/>
                        <a:ea typeface="メイリオ"/>
                        <a:cs typeface="Meiryo"/>
                        <a:sym typeface="Meiryo"/>
                      </a:endParaRPr>
                    </a:p>
                  </a:txBody>
                  <a:tcPr marL="68575" marR="68575" marT="46800" marB="468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5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a:ea typeface="メイリオ"/>
                          <a:cs typeface="Arial"/>
                          <a:sym typeface="Arial"/>
                        </a:rPr>
                        <a:t>マスタ統合</a:t>
                      </a:r>
                      <a:r>
                        <a:rPr lang="en-US" altLang="ja-JP" sz="1600" b="1" i="0" u="none" strike="noStrike" cap="none">
                          <a:solidFill>
                            <a:schemeClr val="tx1"/>
                          </a:solidFill>
                          <a:latin typeface="メイリオ"/>
                          <a:ea typeface="メイリオ"/>
                          <a:cs typeface="Arial"/>
                          <a:sym typeface="Arial"/>
                        </a:rPr>
                        <a:t>/</a:t>
                      </a:r>
                    </a:p>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a:ea typeface="メイリオ"/>
                          <a:cs typeface="Arial"/>
                          <a:sym typeface="Arial"/>
                        </a:rPr>
                        <a:t>共通</a:t>
                      </a:r>
                      <a:r>
                        <a:rPr lang="ja-JP" altLang="en-US" sz="1600" b="1" i="0" u="none" strike="noStrike" cap="none">
                          <a:solidFill>
                            <a:schemeClr val="tx1"/>
                          </a:solidFill>
                          <a:latin typeface="メイリオ"/>
                          <a:ea typeface="メイリオ"/>
                          <a:cs typeface="Arial"/>
                        </a:rPr>
                        <a:t>マスタ登録システム</a:t>
                      </a:r>
                      <a:r>
                        <a:rPr lang="ja-JP" altLang="en-US" sz="1600" b="1" i="0" u="none" strike="noStrike" cap="none">
                          <a:solidFill>
                            <a:schemeClr val="tx1"/>
                          </a:solidFill>
                          <a:latin typeface="メイリオ"/>
                          <a:ea typeface="メイリオ"/>
                          <a:cs typeface="Arial"/>
                          <a:sym typeface="Arial"/>
                        </a:rPr>
                        <a:t>構築</a:t>
                      </a:r>
                      <a:endParaRPr lang="ja-JP" sz="2000">
                        <a:sym typeface="Arial"/>
                      </a:endParaRPr>
                    </a:p>
                  </a:txBody>
                  <a:tcPr marL="68575" marR="68575" marT="46800" marB="4680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bl>
          </a:graphicData>
        </a:graphic>
      </p:graphicFrame>
      <p:sp>
        <p:nvSpPr>
          <p:cNvPr id="17" name="Google Shape;153;p1">
            <a:extLst>
              <a:ext uri="{FF2B5EF4-FFF2-40B4-BE49-F238E27FC236}">
                <a16:creationId xmlns:a16="http://schemas.microsoft.com/office/drawing/2014/main" id="{BC669D04-1E87-8DB2-3020-A162F9A7A624}"/>
              </a:ext>
            </a:extLst>
          </p:cNvPr>
          <p:cNvSpPr/>
          <p:nvPr/>
        </p:nvSpPr>
        <p:spPr>
          <a:xfrm>
            <a:off x="3044952" y="2502293"/>
            <a:ext cx="891879" cy="504000"/>
          </a:xfrm>
          <a:prstGeom prst="rect">
            <a:avLst/>
          </a:prstGeom>
          <a:solidFill>
            <a:schemeClr val="tx2">
              <a:lumMod val="20000"/>
              <a:lumOff val="80000"/>
            </a:schemeClr>
          </a:solidFill>
          <a:ln w="19050" cap="flat" cmpd="sng">
            <a:solidFill>
              <a:srgbClr val="FF0000"/>
            </a:solidFill>
            <a:prstDash val="solid"/>
            <a:round/>
            <a:headEnd type="none" w="sm" len="sm"/>
            <a:tailEnd type="none" w="sm" len="sm"/>
          </a:ln>
        </p:spPr>
        <p:txBody>
          <a:bodyPr spcFirstLastPara="1" wrap="none" lIns="91425" tIns="45700" rIns="91425" bIns="45700" anchor="ctr" anchorCtr="0">
            <a:noAutofit/>
          </a:bodyPr>
          <a:lstStyle/>
          <a:p>
            <a:pPr marL="0" marR="0" lvl="0" indent="0" algn="ctr"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進行中</a:t>
            </a:r>
          </a:p>
        </p:txBody>
      </p:sp>
      <p:sp>
        <p:nvSpPr>
          <p:cNvPr id="18" name="Google Shape;153;p1">
            <a:extLst>
              <a:ext uri="{FF2B5EF4-FFF2-40B4-BE49-F238E27FC236}">
                <a16:creationId xmlns:a16="http://schemas.microsoft.com/office/drawing/2014/main" id="{FFB6BB46-CFA1-459E-0A69-E05B31CADA9F}"/>
              </a:ext>
            </a:extLst>
          </p:cNvPr>
          <p:cNvSpPr/>
          <p:nvPr/>
        </p:nvSpPr>
        <p:spPr>
          <a:xfrm>
            <a:off x="3035660" y="3248696"/>
            <a:ext cx="2016000"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endParaRPr lang="ja-JP" altLang="en-US" sz="1200" b="1" i="0" u="none" strike="noStrike" cap="none">
              <a:solidFill>
                <a:schemeClr val="dk1"/>
              </a:solidFill>
              <a:latin typeface="Meiryo"/>
              <a:ea typeface="Meiryo"/>
              <a:cs typeface="Meiryo"/>
              <a:sym typeface="Meiryo"/>
            </a:endParaRPr>
          </a:p>
        </p:txBody>
      </p:sp>
      <p:sp>
        <p:nvSpPr>
          <p:cNvPr id="19" name="Google Shape;153;p1">
            <a:extLst>
              <a:ext uri="{FF2B5EF4-FFF2-40B4-BE49-F238E27FC236}">
                <a16:creationId xmlns:a16="http://schemas.microsoft.com/office/drawing/2014/main" id="{66CD5658-82EA-0D61-C208-2A9815331A88}"/>
              </a:ext>
            </a:extLst>
          </p:cNvPr>
          <p:cNvSpPr/>
          <p:nvPr/>
        </p:nvSpPr>
        <p:spPr>
          <a:xfrm>
            <a:off x="5063089" y="4557561"/>
            <a:ext cx="871854" cy="504000"/>
          </a:xfrm>
          <a:prstGeom prst="rect">
            <a:avLst/>
          </a:prstGeom>
          <a:solidFill>
            <a:schemeClr val="accent5">
              <a:lumMod val="20000"/>
              <a:lumOff val="80000"/>
            </a:schemeClr>
          </a:solidFill>
          <a:ln w="57150" cap="flat" cmpd="sng">
            <a:solidFill>
              <a:srgbClr val="4472C4"/>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rPr>
              <a:t>マスタ</a:t>
            </a:r>
          </a:p>
          <a:p>
            <a:pPr>
              <a:buSzPts val="900"/>
            </a:pPr>
            <a:r>
              <a:rPr lang="ja-JP" altLang="en-US" sz="1200" b="1">
                <a:solidFill>
                  <a:schemeClr val="dk1"/>
                </a:solidFill>
                <a:latin typeface="Meiryo"/>
                <a:ea typeface="Meiryo"/>
                <a:cs typeface="Meiryo"/>
              </a:rPr>
              <a:t>移行計画</a:t>
            </a:r>
          </a:p>
        </p:txBody>
      </p:sp>
      <p:sp>
        <p:nvSpPr>
          <p:cNvPr id="26" name="Google Shape;153;p1">
            <a:extLst>
              <a:ext uri="{FF2B5EF4-FFF2-40B4-BE49-F238E27FC236}">
                <a16:creationId xmlns:a16="http://schemas.microsoft.com/office/drawing/2014/main" id="{53A15C3E-AF5C-686E-C9A4-A48E19D42C20}"/>
              </a:ext>
            </a:extLst>
          </p:cNvPr>
          <p:cNvSpPr/>
          <p:nvPr/>
        </p:nvSpPr>
        <p:spPr>
          <a:xfrm>
            <a:off x="3770782" y="5657232"/>
            <a:ext cx="737822" cy="504000"/>
          </a:xfrm>
          <a:prstGeom prst="rect">
            <a:avLst/>
          </a:prstGeom>
          <a:solidFill>
            <a:schemeClr val="tx2">
              <a:lumMod val="20000"/>
              <a:lumOff val="80000"/>
            </a:schemeClr>
          </a:solidFill>
          <a:ln w="19050" cap="flat" cmpd="sng">
            <a:solidFill>
              <a:srgbClr val="FF0000"/>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要件定義</a:t>
            </a:r>
          </a:p>
        </p:txBody>
      </p:sp>
      <p:sp>
        <p:nvSpPr>
          <p:cNvPr id="28" name="Google Shape;153;p1">
            <a:extLst>
              <a:ext uri="{FF2B5EF4-FFF2-40B4-BE49-F238E27FC236}">
                <a16:creationId xmlns:a16="http://schemas.microsoft.com/office/drawing/2014/main" id="{F7D941FD-DAEA-D79E-0BB9-7F07DB71C466}"/>
              </a:ext>
            </a:extLst>
          </p:cNvPr>
          <p:cNvSpPr/>
          <p:nvPr/>
        </p:nvSpPr>
        <p:spPr>
          <a:xfrm>
            <a:off x="6486936" y="4007725"/>
            <a:ext cx="732900"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取引先説明会</a:t>
            </a:r>
          </a:p>
          <a:p>
            <a:pPr>
              <a:buSzPts val="900"/>
            </a:pPr>
            <a:r>
              <a:rPr lang="ja-JP" altLang="en-US" sz="1200" b="1">
                <a:solidFill>
                  <a:schemeClr val="dk1"/>
                </a:solidFill>
                <a:latin typeface="Meiryo"/>
                <a:ea typeface="Meiryo"/>
                <a:cs typeface="Meiryo"/>
              </a:rPr>
              <a:t>準備・開催</a:t>
            </a:r>
          </a:p>
        </p:txBody>
      </p:sp>
      <p:sp>
        <p:nvSpPr>
          <p:cNvPr id="29" name="Google Shape;153;p1">
            <a:extLst>
              <a:ext uri="{FF2B5EF4-FFF2-40B4-BE49-F238E27FC236}">
                <a16:creationId xmlns:a16="http://schemas.microsoft.com/office/drawing/2014/main" id="{2030E029-738C-5A40-A2C9-B292D73B0142}"/>
              </a:ext>
            </a:extLst>
          </p:cNvPr>
          <p:cNvSpPr/>
          <p:nvPr/>
        </p:nvSpPr>
        <p:spPr>
          <a:xfrm>
            <a:off x="3338218" y="4007725"/>
            <a:ext cx="1724647" cy="504000"/>
          </a:xfrm>
          <a:prstGeom prst="rect">
            <a:avLst/>
          </a:prstGeom>
          <a:solidFill>
            <a:srgbClr val="00B0F0"/>
          </a:solidFill>
          <a:ln w="57150" cap="flat" cmpd="sng">
            <a:solidFill>
              <a:srgbClr val="FF0000"/>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統合商談・統合マスタ</a:t>
            </a:r>
            <a:endParaRPr lang="en-US" altLang="ja-JP" sz="1200" b="1" i="0" u="none" strike="noStrike" cap="none">
              <a:solidFill>
                <a:schemeClr val="dk1"/>
              </a:solidFill>
              <a:latin typeface="Meiryo"/>
              <a:ea typeface="Meiryo"/>
              <a:cs typeface="Meiryo"/>
              <a:sym typeface="Meiryo"/>
            </a:endParaRPr>
          </a:p>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sym typeface="Meiryo"/>
              </a:rPr>
              <a:t>プロセス検討</a:t>
            </a:r>
            <a:endParaRPr lang="ja-JP" altLang="en-US" sz="1200" b="1" i="0" u="none" strike="noStrike" cap="none">
              <a:solidFill>
                <a:schemeClr val="dk1"/>
              </a:solidFill>
              <a:latin typeface="Meiryo"/>
              <a:ea typeface="Meiryo"/>
              <a:cs typeface="Meiryo"/>
              <a:sym typeface="Meiryo"/>
            </a:endParaRPr>
          </a:p>
        </p:txBody>
      </p:sp>
      <p:sp>
        <p:nvSpPr>
          <p:cNvPr id="30" name="Google Shape;153;p1">
            <a:extLst>
              <a:ext uri="{FF2B5EF4-FFF2-40B4-BE49-F238E27FC236}">
                <a16:creationId xmlns:a16="http://schemas.microsoft.com/office/drawing/2014/main" id="{1611FAD2-9096-EFEE-0C7A-BD183D46F116}"/>
              </a:ext>
            </a:extLst>
          </p:cNvPr>
          <p:cNvSpPr/>
          <p:nvPr/>
        </p:nvSpPr>
        <p:spPr>
          <a:xfrm>
            <a:off x="5933048" y="5107397"/>
            <a:ext cx="1102695"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a:buClr>
                <a:srgbClr val="000000"/>
              </a:buClr>
              <a:buSzPts val="900"/>
            </a:pPr>
            <a:r>
              <a:rPr lang="ja-JP" altLang="en-US" sz="1200" b="1">
                <a:solidFill>
                  <a:schemeClr val="dk1"/>
                </a:solidFill>
                <a:latin typeface="Meiryo"/>
                <a:ea typeface="Meiryo"/>
                <a:cs typeface="Meiryo"/>
              </a:rPr>
              <a:t>データ洗い替え</a:t>
            </a:r>
            <a:endParaRPr lang="ja-JP">
              <a:solidFill>
                <a:schemeClr val="dk1"/>
              </a:solidFill>
            </a:endParaRPr>
          </a:p>
        </p:txBody>
      </p:sp>
      <p:sp>
        <p:nvSpPr>
          <p:cNvPr id="31" name="Google Shape;153;p1">
            <a:extLst>
              <a:ext uri="{FF2B5EF4-FFF2-40B4-BE49-F238E27FC236}">
                <a16:creationId xmlns:a16="http://schemas.microsoft.com/office/drawing/2014/main" id="{D6A103C6-402F-1591-C9D3-41CAE61AE7E1}"/>
              </a:ext>
            </a:extLst>
          </p:cNvPr>
          <p:cNvSpPr/>
          <p:nvPr/>
        </p:nvSpPr>
        <p:spPr>
          <a:xfrm>
            <a:off x="6214172" y="5657232"/>
            <a:ext cx="1140135"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en-US" altLang="ja-JP" sz="1200" b="1" i="0" u="none" strike="noStrike" cap="none">
                <a:solidFill>
                  <a:schemeClr val="dk1"/>
                </a:solidFill>
                <a:latin typeface="Meiryo"/>
                <a:ea typeface="Meiryo"/>
                <a:cs typeface="Meiryo"/>
                <a:sym typeface="Meiryo"/>
              </a:rPr>
              <a:t>UAT</a:t>
            </a:r>
            <a:endParaRPr lang="ja-JP" altLang="en-US" sz="1200" b="1" i="0" u="none" strike="noStrike" cap="none">
              <a:solidFill>
                <a:schemeClr val="dk1"/>
              </a:solidFill>
              <a:latin typeface="Meiryo"/>
              <a:ea typeface="Meiryo"/>
              <a:cs typeface="Meiryo"/>
              <a:sym typeface="Meiryo"/>
            </a:endParaRPr>
          </a:p>
        </p:txBody>
      </p:sp>
      <p:grpSp>
        <p:nvGrpSpPr>
          <p:cNvPr id="39" name="Group 38">
            <a:extLst>
              <a:ext uri="{FF2B5EF4-FFF2-40B4-BE49-F238E27FC236}">
                <a16:creationId xmlns:a16="http://schemas.microsoft.com/office/drawing/2014/main" id="{E0FFA872-840D-5840-4B90-0A0583E3D187}"/>
              </a:ext>
            </a:extLst>
          </p:cNvPr>
          <p:cNvGrpSpPr/>
          <p:nvPr/>
        </p:nvGrpSpPr>
        <p:grpSpPr>
          <a:xfrm>
            <a:off x="7457429" y="2119900"/>
            <a:ext cx="1323171" cy="252000"/>
            <a:chOff x="10081840" y="2008125"/>
            <a:chExt cx="1323171" cy="252000"/>
          </a:xfrm>
        </p:grpSpPr>
        <p:sp>
          <p:nvSpPr>
            <p:cNvPr id="35" name="Google Shape;151;p1">
              <a:extLst>
                <a:ext uri="{FF2B5EF4-FFF2-40B4-BE49-F238E27FC236}">
                  <a16:creationId xmlns:a16="http://schemas.microsoft.com/office/drawing/2014/main" id="{D1605AE2-E781-DA1A-ED2B-42C353356955}"/>
                </a:ext>
              </a:extLst>
            </p:cNvPr>
            <p:cNvSpPr>
              <a:spLocks noChangeAspect="1"/>
            </p:cNvSpPr>
            <p:nvPr/>
          </p:nvSpPr>
          <p:spPr>
            <a:xfrm>
              <a:off x="10081840" y="2008125"/>
              <a:ext cx="252000" cy="252000"/>
            </a:xfrm>
            <a:prstGeom prst="diamond">
              <a:avLst/>
            </a:prstGeom>
            <a:solidFill>
              <a:schemeClr val="accent5"/>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36" name="Rectangle 35">
              <a:extLst>
                <a:ext uri="{FF2B5EF4-FFF2-40B4-BE49-F238E27FC236}">
                  <a16:creationId xmlns:a16="http://schemas.microsoft.com/office/drawing/2014/main" id="{F861DEC0-44C7-8648-91E1-F51C43EF6B3E}"/>
                </a:ext>
              </a:extLst>
            </p:cNvPr>
            <p:cNvSpPr/>
            <p:nvPr/>
          </p:nvSpPr>
          <p:spPr>
            <a:xfrm>
              <a:off x="10289011" y="2008125"/>
              <a:ext cx="1116000"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lvl="0">
                <a:buSzPts val="825"/>
              </a:pPr>
              <a:r>
                <a:rPr lang="ja-JP" altLang="en-US" sz="1200" b="1">
                  <a:solidFill>
                    <a:schemeClr val="dk1"/>
                  </a:solidFill>
                  <a:latin typeface="Meiryo"/>
                  <a:ea typeface="Meiryo"/>
                  <a:cs typeface="Meiryo"/>
                  <a:sym typeface="Meiryo"/>
                </a:rPr>
                <a:t>リリース</a:t>
              </a:r>
            </a:p>
          </p:txBody>
        </p:sp>
      </p:grpSp>
      <p:sp>
        <p:nvSpPr>
          <p:cNvPr id="46" name="Google Shape;151;p1">
            <a:extLst>
              <a:ext uri="{FF2B5EF4-FFF2-40B4-BE49-F238E27FC236}">
                <a16:creationId xmlns:a16="http://schemas.microsoft.com/office/drawing/2014/main" id="{27A83D5D-B14F-6D3A-475A-F4AE0460C6B7}"/>
              </a:ext>
            </a:extLst>
          </p:cNvPr>
          <p:cNvSpPr>
            <a:spLocks noChangeAspect="1"/>
          </p:cNvSpPr>
          <p:nvPr/>
        </p:nvSpPr>
        <p:spPr>
          <a:xfrm>
            <a:off x="8107608" y="1634866"/>
            <a:ext cx="252000" cy="252000"/>
          </a:xfrm>
          <a:prstGeom prst="diamond">
            <a:avLst/>
          </a:prstGeom>
          <a:solidFill>
            <a:schemeClr val="bg1">
              <a:lumMod val="5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47" name="Google Shape;151;p1">
            <a:extLst>
              <a:ext uri="{FF2B5EF4-FFF2-40B4-BE49-F238E27FC236}">
                <a16:creationId xmlns:a16="http://schemas.microsoft.com/office/drawing/2014/main" id="{0E7836A5-CB0A-C698-20FE-4F390056B946}"/>
              </a:ext>
            </a:extLst>
          </p:cNvPr>
          <p:cNvSpPr>
            <a:spLocks noChangeAspect="1"/>
          </p:cNvSpPr>
          <p:nvPr/>
        </p:nvSpPr>
        <p:spPr>
          <a:xfrm>
            <a:off x="9804440" y="1634866"/>
            <a:ext cx="252000" cy="252000"/>
          </a:xfrm>
          <a:prstGeom prst="diamond">
            <a:avLst/>
          </a:prstGeom>
          <a:solidFill>
            <a:schemeClr val="bg1">
              <a:lumMod val="5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cxnSp>
        <p:nvCxnSpPr>
          <p:cNvPr id="49" name="Straight Connector 48">
            <a:extLst>
              <a:ext uri="{FF2B5EF4-FFF2-40B4-BE49-F238E27FC236}">
                <a16:creationId xmlns:a16="http://schemas.microsoft.com/office/drawing/2014/main" id="{8A3C24C0-93A0-F113-48A2-E4A6A1EB3DF8}"/>
              </a:ext>
            </a:extLst>
          </p:cNvPr>
          <p:cNvCxnSpPr>
            <a:cxnSpLocks/>
          </p:cNvCxnSpPr>
          <p:nvPr/>
        </p:nvCxnSpPr>
        <p:spPr>
          <a:xfrm>
            <a:off x="8359608" y="1760866"/>
            <a:ext cx="144483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1" name="Freeform: Shape 50">
            <a:extLst>
              <a:ext uri="{FF2B5EF4-FFF2-40B4-BE49-F238E27FC236}">
                <a16:creationId xmlns:a16="http://schemas.microsoft.com/office/drawing/2014/main" id="{445A9A55-0C83-D850-E87E-0B8733400C24}"/>
              </a:ext>
            </a:extLst>
          </p:cNvPr>
          <p:cNvSpPr/>
          <p:nvPr/>
        </p:nvSpPr>
        <p:spPr>
          <a:xfrm>
            <a:off x="5062367" y="3520676"/>
            <a:ext cx="205541" cy="1012181"/>
          </a:xfrm>
          <a:custGeom>
            <a:avLst/>
            <a:gdLst>
              <a:gd name="connsiteX0" fmla="*/ 0 w 314325"/>
              <a:gd name="connsiteY0" fmla="*/ 0 h 514350"/>
              <a:gd name="connsiteX1" fmla="*/ 314325 w 314325"/>
              <a:gd name="connsiteY1" fmla="*/ 0 h 514350"/>
              <a:gd name="connsiteX2" fmla="*/ 314325 w 314325"/>
              <a:gd name="connsiteY2" fmla="*/ 514350 h 514350"/>
            </a:gdLst>
            <a:ahLst/>
            <a:cxnLst>
              <a:cxn ang="0">
                <a:pos x="connsiteX0" y="connsiteY0"/>
              </a:cxn>
              <a:cxn ang="0">
                <a:pos x="connsiteX1" y="connsiteY1"/>
              </a:cxn>
              <a:cxn ang="0">
                <a:pos x="connsiteX2" y="connsiteY2"/>
              </a:cxn>
            </a:cxnLst>
            <a:rect l="l" t="t" r="r" b="b"/>
            <a:pathLst>
              <a:path w="314325" h="514350">
                <a:moveTo>
                  <a:pt x="0" y="0"/>
                </a:moveTo>
                <a:lnTo>
                  <a:pt x="314325" y="0"/>
                </a:lnTo>
                <a:lnTo>
                  <a:pt x="314325" y="514350"/>
                </a:lnTo>
              </a:path>
            </a:pathLst>
          </a:cu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Freeform: Shape 51">
            <a:extLst>
              <a:ext uri="{FF2B5EF4-FFF2-40B4-BE49-F238E27FC236}">
                <a16:creationId xmlns:a16="http://schemas.microsoft.com/office/drawing/2014/main" id="{04DCF39F-2751-62F4-4F0A-27DE87CB7711}"/>
              </a:ext>
            </a:extLst>
          </p:cNvPr>
          <p:cNvSpPr/>
          <p:nvPr/>
        </p:nvSpPr>
        <p:spPr>
          <a:xfrm>
            <a:off x="3899661" y="2780644"/>
            <a:ext cx="1368248" cy="1752213"/>
          </a:xfrm>
          <a:custGeom>
            <a:avLst/>
            <a:gdLst>
              <a:gd name="connsiteX0" fmla="*/ 0 w 314325"/>
              <a:gd name="connsiteY0" fmla="*/ 0 h 514350"/>
              <a:gd name="connsiteX1" fmla="*/ 314325 w 314325"/>
              <a:gd name="connsiteY1" fmla="*/ 0 h 514350"/>
              <a:gd name="connsiteX2" fmla="*/ 314325 w 314325"/>
              <a:gd name="connsiteY2" fmla="*/ 514350 h 514350"/>
            </a:gdLst>
            <a:ahLst/>
            <a:cxnLst>
              <a:cxn ang="0">
                <a:pos x="connsiteX0" y="connsiteY0"/>
              </a:cxn>
              <a:cxn ang="0">
                <a:pos x="connsiteX1" y="connsiteY1"/>
              </a:cxn>
              <a:cxn ang="0">
                <a:pos x="connsiteX2" y="connsiteY2"/>
              </a:cxn>
            </a:cxnLst>
            <a:rect l="l" t="t" r="r" b="b"/>
            <a:pathLst>
              <a:path w="314325" h="514350">
                <a:moveTo>
                  <a:pt x="0" y="0"/>
                </a:moveTo>
                <a:lnTo>
                  <a:pt x="314325" y="0"/>
                </a:lnTo>
                <a:lnTo>
                  <a:pt x="314325" y="514350"/>
                </a:lnTo>
              </a:path>
            </a:pathLst>
          </a:cu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4" name="Connector: Elbow 53">
            <a:extLst>
              <a:ext uri="{FF2B5EF4-FFF2-40B4-BE49-F238E27FC236}">
                <a16:creationId xmlns:a16="http://schemas.microsoft.com/office/drawing/2014/main" id="{8E3F9F17-5B22-18E6-FEB4-1EFF87265EE3}"/>
              </a:ext>
            </a:extLst>
          </p:cNvPr>
          <p:cNvCxnSpPr>
            <a:cxnSpLocks/>
          </p:cNvCxnSpPr>
          <p:nvPr/>
        </p:nvCxnSpPr>
        <p:spPr>
          <a:xfrm flipV="1">
            <a:off x="7354307" y="2371900"/>
            <a:ext cx="229122" cy="3537332"/>
          </a:xfrm>
          <a:prstGeom prst="bentConnector2">
            <a:avLst/>
          </a:pr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cxnSp>
      <p:cxnSp>
        <p:nvCxnSpPr>
          <p:cNvPr id="56" name="Connector: Elbow 55">
            <a:extLst>
              <a:ext uri="{FF2B5EF4-FFF2-40B4-BE49-F238E27FC236}">
                <a16:creationId xmlns:a16="http://schemas.microsoft.com/office/drawing/2014/main" id="{F3C0A9DC-25E4-26BB-F470-6EF3B403433D}"/>
              </a:ext>
            </a:extLst>
          </p:cNvPr>
          <p:cNvCxnSpPr>
            <a:cxnSpLocks/>
          </p:cNvCxnSpPr>
          <p:nvPr/>
        </p:nvCxnSpPr>
        <p:spPr>
          <a:xfrm flipV="1">
            <a:off x="7219836" y="2371900"/>
            <a:ext cx="363593" cy="1887825"/>
          </a:xfrm>
          <a:prstGeom prst="bentConnector2">
            <a:avLst/>
          </a:pr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cxnSp>
      <p:sp>
        <p:nvSpPr>
          <p:cNvPr id="59" name="Freeform: Shape 58">
            <a:extLst>
              <a:ext uri="{FF2B5EF4-FFF2-40B4-BE49-F238E27FC236}">
                <a16:creationId xmlns:a16="http://schemas.microsoft.com/office/drawing/2014/main" id="{21535761-7AA2-B06B-6563-3FC434A3A02B}"/>
              </a:ext>
            </a:extLst>
          </p:cNvPr>
          <p:cNvSpPr/>
          <p:nvPr/>
        </p:nvSpPr>
        <p:spPr>
          <a:xfrm>
            <a:off x="5062367" y="4220804"/>
            <a:ext cx="205541" cy="312053"/>
          </a:xfrm>
          <a:custGeom>
            <a:avLst/>
            <a:gdLst>
              <a:gd name="connsiteX0" fmla="*/ 0 w 314325"/>
              <a:gd name="connsiteY0" fmla="*/ 0 h 514350"/>
              <a:gd name="connsiteX1" fmla="*/ 314325 w 314325"/>
              <a:gd name="connsiteY1" fmla="*/ 0 h 514350"/>
              <a:gd name="connsiteX2" fmla="*/ 314325 w 314325"/>
              <a:gd name="connsiteY2" fmla="*/ 514350 h 514350"/>
            </a:gdLst>
            <a:ahLst/>
            <a:cxnLst>
              <a:cxn ang="0">
                <a:pos x="connsiteX0" y="connsiteY0"/>
              </a:cxn>
              <a:cxn ang="0">
                <a:pos x="connsiteX1" y="connsiteY1"/>
              </a:cxn>
              <a:cxn ang="0">
                <a:pos x="connsiteX2" y="connsiteY2"/>
              </a:cxn>
            </a:cxnLst>
            <a:rect l="l" t="t" r="r" b="b"/>
            <a:pathLst>
              <a:path w="314325" h="514350">
                <a:moveTo>
                  <a:pt x="0" y="0"/>
                </a:moveTo>
                <a:lnTo>
                  <a:pt x="314325" y="0"/>
                </a:lnTo>
                <a:lnTo>
                  <a:pt x="314325" y="514350"/>
                </a:lnTo>
              </a:path>
            </a:pathLst>
          </a:cu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Google Shape;151;p1">
            <a:extLst>
              <a:ext uri="{FF2B5EF4-FFF2-40B4-BE49-F238E27FC236}">
                <a16:creationId xmlns:a16="http://schemas.microsoft.com/office/drawing/2014/main" id="{4C9014F3-D6C9-58A7-034D-8E0B651BF692}"/>
              </a:ext>
            </a:extLst>
          </p:cNvPr>
          <p:cNvSpPr>
            <a:spLocks noChangeAspect="1"/>
          </p:cNvSpPr>
          <p:nvPr/>
        </p:nvSpPr>
        <p:spPr>
          <a:xfrm>
            <a:off x="3468134" y="4556046"/>
            <a:ext cx="252000" cy="252000"/>
          </a:xfrm>
          <a:prstGeom prst="diamond">
            <a:avLst/>
          </a:prstGeom>
          <a:solidFill>
            <a:schemeClr val="accent5">
              <a:lumMod val="60000"/>
              <a:lumOff val="4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5" name="Rectangle 35">
            <a:extLst>
              <a:ext uri="{FF2B5EF4-FFF2-40B4-BE49-F238E27FC236}">
                <a16:creationId xmlns:a16="http://schemas.microsoft.com/office/drawing/2014/main" id="{F6EFC99B-24FC-E71D-C1EB-77F6F55FDCD9}"/>
              </a:ext>
            </a:extLst>
          </p:cNvPr>
          <p:cNvSpPr/>
          <p:nvPr/>
        </p:nvSpPr>
        <p:spPr>
          <a:xfrm>
            <a:off x="3323692" y="4832872"/>
            <a:ext cx="1228058" cy="2744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lvl="0" algn="r">
              <a:buSzPts val="825"/>
            </a:pPr>
            <a:r>
              <a:rPr lang="ja-JP" altLang="en-US" sz="1200" b="1">
                <a:solidFill>
                  <a:schemeClr val="dk1"/>
                </a:solidFill>
                <a:latin typeface="Meiryo"/>
                <a:ea typeface="Meiryo"/>
                <a:cs typeface="Meiryo"/>
                <a:sym typeface="Meiryo"/>
              </a:rPr>
              <a:t>Bizレビュー  </a:t>
            </a:r>
          </a:p>
        </p:txBody>
      </p:sp>
      <p:sp>
        <p:nvSpPr>
          <p:cNvPr id="13" name="Google Shape;153;p1">
            <a:extLst>
              <a:ext uri="{FF2B5EF4-FFF2-40B4-BE49-F238E27FC236}">
                <a16:creationId xmlns:a16="http://schemas.microsoft.com/office/drawing/2014/main" id="{A9AB51D8-8714-80BD-1849-57F58480EAFA}"/>
              </a:ext>
            </a:extLst>
          </p:cNvPr>
          <p:cNvSpPr/>
          <p:nvPr/>
        </p:nvSpPr>
        <p:spPr>
          <a:xfrm>
            <a:off x="3035660" y="5107397"/>
            <a:ext cx="2899282"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rPr>
              <a:t>データクレンジング（データパージ）</a:t>
            </a:r>
          </a:p>
        </p:txBody>
      </p:sp>
      <p:sp>
        <p:nvSpPr>
          <p:cNvPr id="14" name="Google Shape;151;p1">
            <a:extLst>
              <a:ext uri="{FF2B5EF4-FFF2-40B4-BE49-F238E27FC236}">
                <a16:creationId xmlns:a16="http://schemas.microsoft.com/office/drawing/2014/main" id="{FA91EF80-BB28-EE98-2703-8D1F29825F50}"/>
              </a:ext>
            </a:extLst>
          </p:cNvPr>
          <p:cNvSpPr>
            <a:spLocks noChangeAspect="1"/>
          </p:cNvSpPr>
          <p:nvPr/>
        </p:nvSpPr>
        <p:spPr>
          <a:xfrm>
            <a:off x="7901661" y="1891176"/>
            <a:ext cx="252000" cy="252000"/>
          </a:xfrm>
          <a:prstGeom prst="diamond">
            <a:avLst/>
          </a:prstGeom>
          <a:solidFill>
            <a:schemeClr val="accent5"/>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15" name="Rectangle 49">
            <a:extLst>
              <a:ext uri="{FF2B5EF4-FFF2-40B4-BE49-F238E27FC236}">
                <a16:creationId xmlns:a16="http://schemas.microsoft.com/office/drawing/2014/main" id="{FDA8DE5C-E468-7D52-AAA9-F52EF658BE63}"/>
              </a:ext>
            </a:extLst>
          </p:cNvPr>
          <p:cNvSpPr/>
          <p:nvPr/>
        </p:nvSpPr>
        <p:spPr>
          <a:xfrm>
            <a:off x="4551260" y="1891176"/>
            <a:ext cx="3494564"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algn="r">
              <a:buSzPts val="825"/>
            </a:pPr>
            <a:r>
              <a:rPr lang="ja-JP" altLang="en-US" sz="1200" b="1">
                <a:solidFill>
                  <a:schemeClr val="dk1"/>
                </a:solidFill>
                <a:latin typeface="Meiryo"/>
                <a:ea typeface="Meiryo"/>
                <a:cs typeface="Meiryo"/>
              </a:rPr>
              <a:t>棚割・自動発注・WMS　発注データI/F連携開始  </a:t>
            </a:r>
          </a:p>
        </p:txBody>
      </p:sp>
      <p:sp>
        <p:nvSpPr>
          <p:cNvPr id="16" name="Google Shape;108;p11">
            <a:extLst>
              <a:ext uri="{FF2B5EF4-FFF2-40B4-BE49-F238E27FC236}">
                <a16:creationId xmlns:a16="http://schemas.microsoft.com/office/drawing/2014/main" id="{FA6A28E5-B7F8-8B8F-06B1-2145BB8951BD}"/>
              </a:ext>
            </a:extLst>
          </p:cNvPr>
          <p:cNvSpPr txBox="1">
            <a:spLocks/>
          </p:cNvSpPr>
          <p:nvPr/>
        </p:nvSpPr>
        <p:spPr>
          <a:xfrm>
            <a:off x="527760" y="272842"/>
            <a:ext cx="10933600" cy="738664"/>
          </a:xfrm>
          <a:prstGeom prst="rect">
            <a:avLst/>
          </a:prstGeom>
          <a:noFill/>
          <a:ln>
            <a:noFill/>
          </a:ln>
        </p:spPr>
        <p:txBody>
          <a:bodyPr spcFirstLastPara="1" wrap="square" lIns="0" tIns="0" rIns="0" bIns="0" anchor="t" anchorCtr="0">
            <a:spAutoFit/>
          </a:bodyPr>
          <a:lstStyle>
            <a:lvl1pPr marR="0" lvl="0" algn="l" defTabSz="914377" rtl="0" eaLnBrk="1" latinLnBrk="0" hangingPunct="1">
              <a:lnSpc>
                <a:spcPct val="90000"/>
              </a:lnSpc>
              <a:spcBef>
                <a:spcPts val="0"/>
              </a:spcBef>
              <a:spcAft>
                <a:spcPts val="0"/>
              </a:spcAft>
              <a:buClr>
                <a:srgbClr val="012916"/>
              </a:buClr>
              <a:buSzPts val="1800"/>
              <a:buFont typeface="MS PGothic"/>
              <a:buNone/>
              <a:defRPr kumimoji="1" sz="2400" b="1" i="0" u="none" strike="noStrike" kern="1200" cap="none" baseline="0">
                <a:solidFill>
                  <a:srgbClr val="000000"/>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pPr>
              <a:lnSpc>
                <a:spcPct val="100000"/>
              </a:lnSpc>
            </a:pPr>
            <a:r>
              <a:rPr lang="en-US" altLang="ja-JP">
                <a:solidFill>
                  <a:schemeClr val="bg1">
                    <a:lumMod val="65000"/>
                  </a:schemeClr>
                </a:solidFill>
                <a:latin typeface="メイリオ" panose="020B0604030504040204" pitchFamily="50" charset="-128"/>
                <a:ea typeface="メイリオ" panose="020B0604030504040204" pitchFamily="50" charset="-128"/>
              </a:rPr>
              <a:t>4. </a:t>
            </a:r>
            <a:r>
              <a:rPr lang="ja-JP" altLang="en-US">
                <a:solidFill>
                  <a:schemeClr val="bg1">
                    <a:lumMod val="65000"/>
                  </a:schemeClr>
                </a:solidFill>
                <a:latin typeface="メイリオ" panose="020B0604030504040204" pitchFamily="50" charset="-128"/>
                <a:ea typeface="メイリオ" panose="020B0604030504040204" pitchFamily="50" charset="-128"/>
              </a:rPr>
              <a:t>スケジュール</a:t>
            </a:r>
            <a:endParaRPr lang="en-US" altLang="ja-JP">
              <a:solidFill>
                <a:schemeClr val="accent5"/>
              </a:solidFill>
              <a:latin typeface="メイリオ" panose="020B0604030504040204" pitchFamily="50" charset="-128"/>
              <a:ea typeface="メイリオ" panose="020B0604030504040204" pitchFamily="50" charset="-128"/>
            </a:endParaRPr>
          </a:p>
          <a:p>
            <a:pPr>
              <a:lnSpc>
                <a:spcPct val="100000"/>
              </a:lnSpc>
            </a:pPr>
            <a:r>
              <a:rPr lang="ja-JP" altLang="en-US">
                <a:latin typeface="メイリオ" panose="020B0604030504040204" pitchFamily="50" charset="-128"/>
                <a:ea typeface="メイリオ" panose="020B0604030504040204" pitchFamily="50" charset="-128"/>
              </a:rPr>
              <a:t>マスタ関連システム刷新スケジュール</a:t>
            </a:r>
            <a:endParaRPr lang="ja-JP" altLang="en-US"/>
          </a:p>
        </p:txBody>
      </p:sp>
      <p:sp>
        <p:nvSpPr>
          <p:cNvPr id="2" name="Google Shape;153;p1">
            <a:extLst>
              <a:ext uri="{FF2B5EF4-FFF2-40B4-BE49-F238E27FC236}">
                <a16:creationId xmlns:a16="http://schemas.microsoft.com/office/drawing/2014/main" id="{64B633CA-3FFB-485B-2CD5-B5D090B4F743}"/>
              </a:ext>
            </a:extLst>
          </p:cNvPr>
          <p:cNvSpPr/>
          <p:nvPr/>
        </p:nvSpPr>
        <p:spPr>
          <a:xfrm>
            <a:off x="7035707" y="4557561"/>
            <a:ext cx="860647"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a:buClr>
                <a:srgbClr val="000000"/>
              </a:buClr>
              <a:buSzPts val="900"/>
            </a:pPr>
            <a:r>
              <a:rPr lang="ja-JP" altLang="en-US" sz="1200" b="1">
                <a:solidFill>
                  <a:schemeClr val="dk1"/>
                </a:solidFill>
                <a:latin typeface="Meiryo"/>
                <a:ea typeface="Meiryo"/>
              </a:rPr>
              <a:t>マスタ</a:t>
            </a:r>
            <a:endParaRPr lang="en-US" altLang="ja-JP" sz="1200" b="1">
              <a:solidFill>
                <a:schemeClr val="dk1"/>
              </a:solidFill>
              <a:latin typeface="Meiryo"/>
              <a:ea typeface="Meiryo"/>
            </a:endParaRPr>
          </a:p>
          <a:p>
            <a:pPr>
              <a:buClr>
                <a:srgbClr val="000000"/>
              </a:buClr>
              <a:buSzPts val="900"/>
            </a:pPr>
            <a:r>
              <a:rPr lang="ja-JP" altLang="en-US" sz="1200" b="1">
                <a:solidFill>
                  <a:schemeClr val="dk1"/>
                </a:solidFill>
                <a:latin typeface="Meiryo"/>
                <a:ea typeface="Meiryo"/>
              </a:rPr>
              <a:t>移行</a:t>
            </a:r>
          </a:p>
        </p:txBody>
      </p:sp>
      <p:sp>
        <p:nvSpPr>
          <p:cNvPr id="33" name="Google Shape;151;p1">
            <a:extLst>
              <a:ext uri="{FF2B5EF4-FFF2-40B4-BE49-F238E27FC236}">
                <a16:creationId xmlns:a16="http://schemas.microsoft.com/office/drawing/2014/main" id="{89ED3B7E-0B50-EED7-70B1-C1B6F14C46B6}"/>
              </a:ext>
            </a:extLst>
          </p:cNvPr>
          <p:cNvSpPr>
            <a:spLocks noChangeAspect="1"/>
          </p:cNvSpPr>
          <p:nvPr/>
        </p:nvSpPr>
        <p:spPr>
          <a:xfrm>
            <a:off x="3899756" y="4556046"/>
            <a:ext cx="252000" cy="252000"/>
          </a:xfrm>
          <a:prstGeom prst="diamond">
            <a:avLst/>
          </a:prstGeom>
          <a:solidFill>
            <a:schemeClr val="accent5">
              <a:lumMod val="60000"/>
              <a:lumOff val="4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34" name="Google Shape;151;p1">
            <a:extLst>
              <a:ext uri="{FF2B5EF4-FFF2-40B4-BE49-F238E27FC236}">
                <a16:creationId xmlns:a16="http://schemas.microsoft.com/office/drawing/2014/main" id="{9D0338C4-34B2-B7E4-65C4-618874276B43}"/>
              </a:ext>
            </a:extLst>
          </p:cNvPr>
          <p:cNvSpPr>
            <a:spLocks noChangeAspect="1"/>
          </p:cNvSpPr>
          <p:nvPr/>
        </p:nvSpPr>
        <p:spPr>
          <a:xfrm>
            <a:off x="4187788" y="4556046"/>
            <a:ext cx="252000" cy="252000"/>
          </a:xfrm>
          <a:prstGeom prst="diamond">
            <a:avLst/>
          </a:prstGeom>
          <a:solidFill>
            <a:schemeClr val="accent5">
              <a:lumMod val="60000"/>
              <a:lumOff val="4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cxnSp>
        <p:nvCxnSpPr>
          <p:cNvPr id="38" name="Straight Connector 37">
            <a:extLst>
              <a:ext uri="{FF2B5EF4-FFF2-40B4-BE49-F238E27FC236}">
                <a16:creationId xmlns:a16="http://schemas.microsoft.com/office/drawing/2014/main" id="{C6CB41D5-BBC0-DFEC-A143-E440319B4FEC}"/>
              </a:ext>
            </a:extLst>
          </p:cNvPr>
          <p:cNvCxnSpPr>
            <a:cxnSpLocks/>
          </p:cNvCxnSpPr>
          <p:nvPr/>
        </p:nvCxnSpPr>
        <p:spPr>
          <a:xfrm>
            <a:off x="3720134" y="4682046"/>
            <a:ext cx="179622"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F19A8E0-BA81-D9A9-CF5D-14228B23D52B}"/>
              </a:ext>
            </a:extLst>
          </p:cNvPr>
          <p:cNvCxnSpPr>
            <a:cxnSpLocks/>
          </p:cNvCxnSpPr>
          <p:nvPr/>
        </p:nvCxnSpPr>
        <p:spPr>
          <a:xfrm>
            <a:off x="4151756" y="4682046"/>
            <a:ext cx="36032"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Google Shape;151;p1">
            <a:extLst>
              <a:ext uri="{FF2B5EF4-FFF2-40B4-BE49-F238E27FC236}">
                <a16:creationId xmlns:a16="http://schemas.microsoft.com/office/drawing/2014/main" id="{A38AB02A-A1F0-A826-71FE-7D0CF4BF1130}"/>
              </a:ext>
            </a:extLst>
          </p:cNvPr>
          <p:cNvSpPr>
            <a:spLocks noChangeAspect="1"/>
          </p:cNvSpPr>
          <p:nvPr/>
        </p:nvSpPr>
        <p:spPr>
          <a:xfrm>
            <a:off x="6962125" y="2119900"/>
            <a:ext cx="252000" cy="252000"/>
          </a:xfrm>
          <a:prstGeom prst="diamond">
            <a:avLst/>
          </a:prstGeom>
          <a:solidFill>
            <a:schemeClr val="accent5"/>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7" name="Rectangle 49">
            <a:extLst>
              <a:ext uri="{FF2B5EF4-FFF2-40B4-BE49-F238E27FC236}">
                <a16:creationId xmlns:a16="http://schemas.microsoft.com/office/drawing/2014/main" id="{05D92647-CE5C-A523-1953-807CABA5ADF1}"/>
              </a:ext>
            </a:extLst>
          </p:cNvPr>
          <p:cNvSpPr/>
          <p:nvPr/>
        </p:nvSpPr>
        <p:spPr>
          <a:xfrm>
            <a:off x="5724306" y="2119900"/>
            <a:ext cx="1298320"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lvl="0" algn="r">
              <a:buSzPts val="825"/>
            </a:pPr>
            <a:r>
              <a:rPr lang="ja-JP" altLang="en-US" sz="1200" b="1">
                <a:solidFill>
                  <a:schemeClr val="dk1"/>
                </a:solidFill>
                <a:latin typeface="Meiryo"/>
                <a:ea typeface="Meiryo"/>
                <a:cs typeface="Meiryo"/>
              </a:rPr>
              <a:t>マスタ移行開始</a:t>
            </a:r>
          </a:p>
        </p:txBody>
      </p:sp>
      <p:sp>
        <p:nvSpPr>
          <p:cNvPr id="10" name="Google Shape;153;p1">
            <a:extLst>
              <a:ext uri="{FF2B5EF4-FFF2-40B4-BE49-F238E27FC236}">
                <a16:creationId xmlns:a16="http://schemas.microsoft.com/office/drawing/2014/main" id="{E2B84ACC-9067-91CE-81FB-56D134F59C1D}"/>
              </a:ext>
            </a:extLst>
          </p:cNvPr>
          <p:cNvSpPr/>
          <p:nvPr/>
        </p:nvSpPr>
        <p:spPr>
          <a:xfrm>
            <a:off x="9800732" y="3654585"/>
            <a:ext cx="1542366" cy="485415"/>
          </a:xfrm>
          <a:prstGeom prst="rect">
            <a:avLst/>
          </a:prstGeom>
          <a:solidFill>
            <a:schemeClr val="tx2">
              <a:lumMod val="20000"/>
              <a:lumOff val="80000"/>
            </a:schemeClr>
          </a:solidFill>
          <a:ln w="19050" cap="flat" cmpd="sng">
            <a:solidFill>
              <a:srgbClr val="FF0000"/>
            </a:solidFill>
            <a:prstDash val="solid"/>
            <a:round/>
            <a:headEnd type="none" w="sm" len="sm"/>
            <a:tailEnd type="none" w="sm" len="sm"/>
          </a:ln>
        </p:spPr>
        <p:txBody>
          <a:bodyPr spcFirstLastPara="1" wrap="none" lIns="91425" tIns="45700" rIns="91425" bIns="45700" anchor="ctr" anchorCtr="0">
            <a:noAutofit/>
          </a:bodyPr>
          <a:lstStyle/>
          <a:p>
            <a:pPr marL="0" marR="0" lvl="0" indent="0">
              <a:lnSpc>
                <a:spcPct val="100000"/>
              </a:lnSpc>
              <a:spcBef>
                <a:spcPts val="0"/>
              </a:spcBef>
              <a:spcAft>
                <a:spcPts val="0"/>
              </a:spcAft>
              <a:buSzPts val="900"/>
              <a:buFont typeface="Arial"/>
              <a:buNone/>
            </a:pPr>
            <a:r>
              <a:rPr lang="ja-JP" altLang="en-US" sz="1200" b="1">
                <a:solidFill>
                  <a:schemeClr val="dk1"/>
                </a:solidFill>
                <a:latin typeface="Meiryo"/>
                <a:ea typeface="Meiryo"/>
                <a:cs typeface="Meiryo"/>
              </a:rPr>
              <a:t>TRE工数提示済み</a:t>
            </a:r>
          </a:p>
        </p:txBody>
      </p:sp>
      <p:sp>
        <p:nvSpPr>
          <p:cNvPr id="12" name="Google Shape;153;p1">
            <a:extLst>
              <a:ext uri="{FF2B5EF4-FFF2-40B4-BE49-F238E27FC236}">
                <a16:creationId xmlns:a16="http://schemas.microsoft.com/office/drawing/2014/main" id="{0AA36984-F5D2-A336-AF46-F47B57702BCF}"/>
              </a:ext>
            </a:extLst>
          </p:cNvPr>
          <p:cNvSpPr/>
          <p:nvPr/>
        </p:nvSpPr>
        <p:spPr>
          <a:xfrm>
            <a:off x="9796632" y="4360846"/>
            <a:ext cx="1538794" cy="476122"/>
          </a:xfrm>
          <a:prstGeom prst="rect">
            <a:avLst/>
          </a:prstGeom>
          <a:solidFill>
            <a:srgbClr val="00B0F0"/>
          </a:solidFill>
          <a:ln w="57150" cap="flat" cmpd="sng">
            <a:solidFill>
              <a:srgbClr val="FF0000"/>
            </a:solidFill>
            <a:prstDash val="solid"/>
            <a:round/>
            <a:headEnd type="none" w="sm" len="sm"/>
            <a:tailEnd type="none" w="sm" len="sm"/>
          </a:ln>
        </p:spPr>
        <p:txBody>
          <a:bodyPr spcFirstLastPara="1" wrap="none" lIns="91425" tIns="45700" rIns="91425" bIns="45700" anchor="ctr" anchorCtr="0">
            <a:noAutofit/>
          </a:bodyPr>
          <a:lstStyle/>
          <a:p>
            <a:pPr marL="0" marR="0" lvl="0" indent="0">
              <a:lnSpc>
                <a:spcPct val="100000"/>
              </a:lnSpc>
              <a:spcBef>
                <a:spcPts val="0"/>
              </a:spcBef>
              <a:spcAft>
                <a:spcPts val="0"/>
              </a:spcAft>
              <a:buSzPts val="900"/>
              <a:buFont typeface="Arial"/>
              <a:buNone/>
            </a:pPr>
            <a:r>
              <a:rPr lang="ja-JP" altLang="en-US" sz="1200" b="1">
                <a:solidFill>
                  <a:schemeClr val="dk1"/>
                </a:solidFill>
                <a:latin typeface="Meiryo"/>
                <a:ea typeface="Meiryo"/>
                <a:cs typeface="Meiryo"/>
                <a:sym typeface="Meiryo"/>
              </a:rPr>
              <a:t>TRメンバー工数必要</a:t>
            </a:r>
            <a:endParaRPr lang="ja-JP" altLang="en-US" sz="1200" b="1" i="0" u="none" strike="noStrike" cap="none">
              <a:solidFill>
                <a:schemeClr val="dk1"/>
              </a:solidFill>
              <a:latin typeface="Meiryo"/>
              <a:ea typeface="Meiryo"/>
              <a:cs typeface="Meiryo"/>
            </a:endParaRPr>
          </a:p>
        </p:txBody>
      </p:sp>
      <p:sp>
        <p:nvSpPr>
          <p:cNvPr id="20" name="Google Shape;153;p1">
            <a:extLst>
              <a:ext uri="{FF2B5EF4-FFF2-40B4-BE49-F238E27FC236}">
                <a16:creationId xmlns:a16="http://schemas.microsoft.com/office/drawing/2014/main" id="{49A3FF3A-000F-A5CE-6C3A-3E1AF9DBD71D}"/>
              </a:ext>
            </a:extLst>
          </p:cNvPr>
          <p:cNvSpPr/>
          <p:nvPr/>
        </p:nvSpPr>
        <p:spPr>
          <a:xfrm>
            <a:off x="9802357" y="5105353"/>
            <a:ext cx="1531633" cy="485415"/>
          </a:xfrm>
          <a:prstGeom prst="rect">
            <a:avLst/>
          </a:prstGeom>
          <a:solidFill>
            <a:schemeClr val="accent5">
              <a:lumMod val="20000"/>
              <a:lumOff val="80000"/>
            </a:schemeClr>
          </a:solidFill>
          <a:ln w="57150" cap="flat" cmpd="sng">
            <a:solidFill>
              <a:srgbClr val="4472C4"/>
            </a:solidFill>
            <a:prstDash val="solid"/>
            <a:round/>
            <a:headEnd type="none" w="sm" len="sm"/>
            <a:tailEnd type="none" w="sm" len="sm"/>
          </a:ln>
        </p:spPr>
        <p:txBody>
          <a:bodyPr spcFirstLastPara="1" wrap="none" lIns="91425" tIns="45700" rIns="91425" bIns="45700" anchor="ctr" anchorCtr="0">
            <a:noAutofit/>
          </a:bodyPr>
          <a:lstStyle/>
          <a:p>
            <a:pPr>
              <a:buSzPts val="900"/>
            </a:pPr>
            <a:r>
              <a:rPr lang="ja-JP" altLang="en-US" sz="1200" b="1">
                <a:solidFill>
                  <a:schemeClr val="dk1"/>
                </a:solidFill>
                <a:latin typeface="Meiryo"/>
                <a:ea typeface="Meiryo"/>
                <a:cs typeface="Meiryo"/>
              </a:rPr>
              <a:t>Biz　PJ参画開始</a:t>
            </a:r>
          </a:p>
        </p:txBody>
      </p:sp>
      <p:sp>
        <p:nvSpPr>
          <p:cNvPr id="27" name="Google Shape;153;p1">
            <a:extLst>
              <a:ext uri="{FF2B5EF4-FFF2-40B4-BE49-F238E27FC236}">
                <a16:creationId xmlns:a16="http://schemas.microsoft.com/office/drawing/2014/main" id="{03CBED42-47CB-840C-3AB3-B000574DBB46}"/>
              </a:ext>
            </a:extLst>
          </p:cNvPr>
          <p:cNvSpPr/>
          <p:nvPr/>
        </p:nvSpPr>
        <p:spPr>
          <a:xfrm>
            <a:off x="4508604" y="5657232"/>
            <a:ext cx="1705568" cy="504000"/>
          </a:xfrm>
          <a:prstGeom prst="rect">
            <a:avLst/>
          </a:prstGeom>
          <a:solidFill>
            <a:schemeClr val="tx2">
              <a:lumMod val="20000"/>
              <a:lumOff val="80000"/>
            </a:schemeClr>
          </a:solidFill>
          <a:ln w="19050" cap="flat" cmpd="sng">
            <a:solidFill>
              <a:srgbClr val="FF0000"/>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sym typeface="Meiryo"/>
              </a:rPr>
              <a:t>設計・開発・テスト</a:t>
            </a:r>
            <a:endParaRPr lang="ja-JP" altLang="en-US" sz="1200" b="1" i="0" u="none" strike="noStrike" cap="none">
              <a:solidFill>
                <a:schemeClr val="dk1"/>
              </a:solidFill>
              <a:latin typeface="Meiryo"/>
              <a:ea typeface="Meiryo"/>
              <a:cs typeface="Meiryo"/>
              <a:sym typeface="Meiryo"/>
            </a:endParaRPr>
          </a:p>
        </p:txBody>
      </p:sp>
      <p:sp>
        <p:nvSpPr>
          <p:cNvPr id="3" name="テキスト ボックス 2">
            <a:extLst>
              <a:ext uri="{FF2B5EF4-FFF2-40B4-BE49-F238E27FC236}">
                <a16:creationId xmlns:a16="http://schemas.microsoft.com/office/drawing/2014/main" id="{80121079-FEA2-1A6F-B674-B8EFE8A4EDA2}"/>
              </a:ext>
            </a:extLst>
          </p:cNvPr>
          <p:cNvSpPr txBox="1"/>
          <p:nvPr/>
        </p:nvSpPr>
        <p:spPr>
          <a:xfrm>
            <a:off x="8768460" y="1738437"/>
            <a:ext cx="1156060" cy="276999"/>
          </a:xfrm>
          <a:prstGeom prst="rect">
            <a:avLst/>
          </a:prstGeom>
          <a:noFill/>
        </p:spPr>
        <p:txBody>
          <a:bodyPr wrap="square" rtlCol="0">
            <a:spAutoFit/>
          </a:bodyPr>
          <a:lstStyle/>
          <a:p>
            <a:r>
              <a:rPr kumimoji="1" lang="ja-JP" altLang="en-US" sz="1200" b="1">
                <a:latin typeface="メイリオ" panose="020B0604030504040204" pitchFamily="50" charset="-128"/>
                <a:ea typeface="メイリオ" panose="020B0604030504040204" pitchFamily="50" charset="-128"/>
              </a:rPr>
              <a:t>店舗</a:t>
            </a:r>
            <a:r>
              <a:rPr kumimoji="1" lang="en-US" altLang="ja-JP" sz="1200" b="1">
                <a:latin typeface="メイリオ" panose="020B0604030504040204" pitchFamily="50" charset="-128"/>
                <a:ea typeface="メイリオ" panose="020B0604030504040204" pitchFamily="50" charset="-128"/>
              </a:rPr>
              <a:t>CV</a:t>
            </a:r>
            <a:endParaRPr kumimoji="1" lang="ja-JP" altLang="en-US" sz="1200" b="1">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EE4DEA3D-5422-E418-B035-34F30C56F74B}"/>
              </a:ext>
            </a:extLst>
          </p:cNvPr>
          <p:cNvSpPr/>
          <p:nvPr/>
        </p:nvSpPr>
        <p:spPr>
          <a:xfrm>
            <a:off x="8955464" y="272842"/>
            <a:ext cx="1517715" cy="5950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a:t>参考</a:t>
            </a:r>
          </a:p>
        </p:txBody>
      </p:sp>
    </p:spTree>
    <p:extLst>
      <p:ext uri="{BB962C8B-B14F-4D97-AF65-F5344CB8AC3E}">
        <p14:creationId xmlns:p14="http://schemas.microsoft.com/office/powerpoint/2010/main" val="1473064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graphicFrame>
        <p:nvGraphicFramePr>
          <p:cNvPr id="210" name="Google Shape;210;p14"/>
          <p:cNvGraphicFramePr/>
          <p:nvPr/>
        </p:nvGraphicFramePr>
        <p:xfrm>
          <a:off x="624416" y="2307835"/>
          <a:ext cx="10944000" cy="3733880"/>
        </p:xfrm>
        <a:graphic>
          <a:graphicData uri="http://schemas.openxmlformats.org/drawingml/2006/table">
            <a:tbl>
              <a:tblPr>
                <a:noFill/>
                <a:tableStyleId>{16DD54E9-F15A-4EFF-A1D8-E2CBB5DF2B52}</a:tableStyleId>
              </a:tblPr>
              <a:tblGrid>
                <a:gridCol w="576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768000">
                  <a:extLst>
                    <a:ext uri="{9D8B030D-6E8A-4147-A177-3AD203B41FA5}">
                      <a16:colId xmlns:a16="http://schemas.microsoft.com/office/drawing/2014/main" val="20002"/>
                    </a:ext>
                  </a:extLst>
                </a:gridCol>
                <a:gridCol w="7200000">
                  <a:extLst>
                    <a:ext uri="{9D8B030D-6E8A-4147-A177-3AD203B41FA5}">
                      <a16:colId xmlns:a16="http://schemas.microsoft.com/office/drawing/2014/main" val="20003"/>
                    </a:ext>
                  </a:extLst>
                </a:gridCol>
              </a:tblGrid>
              <a:tr h="179925">
                <a:tc gridSpan="2">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7F7F7F"/>
                          </a:solidFill>
                          <a:latin typeface="Meiryo"/>
                          <a:ea typeface="Meiryo"/>
                          <a:cs typeface="Meiryo"/>
                          <a:sym typeface="Meiryo"/>
                        </a:rPr>
                        <a:t>プロジェクト</a:t>
                      </a:r>
                      <a:endParaRPr sz="1900" b="1" u="none" strike="noStrike" cap="none"/>
                    </a:p>
                  </a:txBody>
                  <a:tcPr marL="91425" marR="91425" marT="45725" marB="45725">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chemeClr val="lt1"/>
                    </a:solidFill>
                  </a:tcPr>
                </a:tc>
                <a:tc h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7F7F7F"/>
                          </a:solidFill>
                          <a:latin typeface="Meiryo"/>
                          <a:ea typeface="Meiryo"/>
                          <a:cs typeface="Meiryo"/>
                          <a:sym typeface="Meiryo"/>
                        </a:rPr>
                        <a:t>RAG</a:t>
                      </a:r>
                      <a:endParaRPr sz="1500" b="1" u="none" strike="noStrike" cap="none">
                        <a:solidFill>
                          <a:srgbClr val="7F7F7F"/>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7F7F7F"/>
                          </a:solidFill>
                          <a:latin typeface="Meiryo"/>
                          <a:ea typeface="Meiryo"/>
                          <a:cs typeface="Meiryo"/>
                          <a:sym typeface="Meiryo"/>
                        </a:rPr>
                        <a:t>概況・課題等コメント</a:t>
                      </a:r>
                      <a:endParaRPr sz="1900" u="none" strike="noStrike" cap="none"/>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G</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A</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FC000"/>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R</a:t>
                      </a:r>
                      <a:endParaRPr sz="21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E50012"/>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G</a:t>
                      </a:r>
                      <a:endParaRPr sz="21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A</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FC000"/>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G</a:t>
                      </a:r>
                      <a:endParaRPr sz="21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12700" cap="flat" cmpd="sng">
                      <a:solidFill>
                        <a:srgbClr val="A5A5A5"/>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279875">
                <a:tc>
                  <a:txBody>
                    <a:bodyPr/>
                    <a:lstStyle/>
                    <a:p>
                      <a:pPr marL="0" marR="0" lvl="0" indent="0" algn="ctr"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a:t>
                      </a:r>
                      <a:endParaRPr sz="15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sz="1500" b="1" u="none" strike="noStrike" cap="none">
                          <a:solidFill>
                            <a:srgbClr val="2B2B2B"/>
                          </a:solidFill>
                          <a:latin typeface="Meiryo"/>
                          <a:ea typeface="Meiryo"/>
                          <a:cs typeface="Meiryo"/>
                          <a:sym typeface="Meiryo"/>
                        </a:rPr>
                        <a:t>XXX</a:t>
                      </a:r>
                      <a:endParaRPr sz="15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0" marR="0" lvl="0" indent="0" algn="ctr" rtl="0">
                        <a:lnSpc>
                          <a:spcPct val="100000"/>
                        </a:lnSpc>
                        <a:spcBef>
                          <a:spcPts val="0"/>
                        </a:spcBef>
                        <a:spcAft>
                          <a:spcPts val="0"/>
                        </a:spcAft>
                        <a:buClr>
                          <a:srgbClr val="BFBFBF"/>
                        </a:buClr>
                        <a:buSzPts val="1600"/>
                        <a:buFont typeface="Arial"/>
                        <a:buNone/>
                      </a:pPr>
                      <a:r>
                        <a:rPr lang="ja-JP" sz="2100" b="1" i="0" u="none" strike="noStrike" cap="none">
                          <a:solidFill>
                            <a:schemeClr val="lt1"/>
                          </a:solidFill>
                          <a:latin typeface="Meiryo"/>
                          <a:ea typeface="Meiryo"/>
                          <a:cs typeface="Meiryo"/>
                          <a:sym typeface="Meiryo"/>
                        </a:rPr>
                        <a:t>G</a:t>
                      </a:r>
                      <a:endParaRPr sz="21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2700" cap="flat" cmpd="sng">
                      <a:solidFill>
                        <a:srgbClr val="A5A5A5"/>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extLst>
                  <a:ext uri="{0D108BD9-81ED-4DB2-BD59-A6C34878D82A}">
                    <a16:rowId xmlns:a16="http://schemas.microsoft.com/office/drawing/2014/main" val="10007"/>
                  </a:ext>
                </a:extLst>
              </a:tr>
            </a:tbl>
          </a:graphicData>
        </a:graphic>
      </p:graphicFrame>
      <p:sp>
        <p:nvSpPr>
          <p:cNvPr id="211" name="Google Shape;211;p14"/>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プロジェクトダッシュボード【</a:t>
            </a:r>
            <a:r>
              <a:rPr lang="ja-JP">
                <a:solidFill>
                  <a:srgbClr val="E50012"/>
                </a:solidFill>
              </a:rPr>
              <a:t>XX</a:t>
            </a:r>
            <a:r>
              <a:rPr lang="ja-JP"/>
              <a:t>チーム】</a:t>
            </a:r>
            <a:endParaRPr/>
          </a:p>
        </p:txBody>
      </p:sp>
      <p:graphicFrame>
        <p:nvGraphicFramePr>
          <p:cNvPr id="212" name="Google Shape;212;p14"/>
          <p:cNvGraphicFramePr/>
          <p:nvPr/>
        </p:nvGraphicFramePr>
        <p:xfrm>
          <a:off x="622064" y="1202067"/>
          <a:ext cx="10941300" cy="956800"/>
        </p:xfrm>
        <a:graphic>
          <a:graphicData uri="http://schemas.openxmlformats.org/drawingml/2006/table">
            <a:tbl>
              <a:tblPr>
                <a:noFill/>
                <a:tableStyleId>{16DD54E9-F15A-4EFF-A1D8-E2CBB5DF2B52}</a:tableStyleId>
              </a:tblPr>
              <a:tblGrid>
                <a:gridCol w="1441500">
                  <a:extLst>
                    <a:ext uri="{9D8B030D-6E8A-4147-A177-3AD203B41FA5}">
                      <a16:colId xmlns:a16="http://schemas.microsoft.com/office/drawing/2014/main" val="20000"/>
                    </a:ext>
                  </a:extLst>
                </a:gridCol>
                <a:gridCol w="9499800">
                  <a:extLst>
                    <a:ext uri="{9D8B030D-6E8A-4147-A177-3AD203B41FA5}">
                      <a16:colId xmlns:a16="http://schemas.microsoft.com/office/drawing/2014/main" val="20001"/>
                    </a:ext>
                  </a:extLst>
                </a:gridCol>
              </a:tblGrid>
              <a:tr h="956800">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概況</a:t>
                      </a:r>
                      <a:endParaRPr sz="1600" b="1" u="none" strike="noStrike" cap="none">
                        <a:solidFill>
                          <a:schemeClr val="lt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ハイライト</a:t>
                      </a:r>
                      <a:endParaRPr sz="1900" u="none" strike="noStrike" cap="none"/>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2B2B2B"/>
                    </a:solidFill>
                  </a:tcPr>
                </a:tc>
                <a:tc>
                  <a:txBody>
                    <a:bodyPr/>
                    <a:lstStyle/>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1000"/>
                        <a:buFont typeface="Noto Sans Symbols"/>
                        <a:buChar char="■"/>
                      </a:pPr>
                      <a:r>
                        <a:rPr lang="ja-JP" sz="1300" b="0" i="0" u="none" strike="noStrike" cap="none">
                          <a:solidFill>
                            <a:srgbClr val="2B2B2B"/>
                          </a:solidFill>
                          <a:latin typeface="Meiryo"/>
                          <a:ea typeface="Meiryo"/>
                          <a:cs typeface="Meiryo"/>
                          <a:sym typeface="Meiryo"/>
                        </a:rPr>
                        <a:t>XXX</a:t>
                      </a:r>
                      <a:endParaRPr sz="1300" b="0" u="none" strike="noStrike" cap="none">
                        <a:solidFill>
                          <a:srgbClr val="2B2B2B"/>
                        </a:solidFill>
                        <a:latin typeface="Meiryo"/>
                        <a:ea typeface="Meiryo"/>
                        <a:cs typeface="Meiryo"/>
                        <a:sym typeface="Meiryo"/>
                      </a:endParaRPr>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bl>
          </a:graphicData>
        </a:graphic>
      </p:graphicFrame>
      <p:sp>
        <p:nvSpPr>
          <p:cNvPr id="213" name="Google Shape;213;p14"/>
          <p:cNvSpPr/>
          <p:nvPr/>
        </p:nvSpPr>
        <p:spPr>
          <a:xfrm>
            <a:off x="7584165" y="308654"/>
            <a:ext cx="3168352" cy="645964"/>
          </a:xfrm>
          <a:prstGeom prst="rect">
            <a:avLst/>
          </a:prstGeom>
          <a:solidFill>
            <a:schemeClr val="lt1"/>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1467" b="0" i="0" u="none" strike="noStrike" cap="none">
                <a:solidFill>
                  <a:srgbClr val="2B2B2B"/>
                </a:solidFill>
                <a:latin typeface="Meiryo"/>
                <a:ea typeface="Meiryo"/>
                <a:cs typeface="Meiryo"/>
                <a:sym typeface="Meiryo"/>
              </a:rPr>
              <a:t>前週からの変更点は</a:t>
            </a:r>
            <a:r>
              <a:rPr lang="ja-JP" sz="1467" b="0" i="0" u="none" strike="noStrike" cap="none">
                <a:solidFill>
                  <a:srgbClr val="E50012"/>
                </a:solidFill>
                <a:latin typeface="Meiryo"/>
                <a:ea typeface="Meiryo"/>
                <a:cs typeface="Meiryo"/>
                <a:sym typeface="Meiryo"/>
              </a:rPr>
              <a:t>赤字</a:t>
            </a:r>
            <a:r>
              <a:rPr lang="ja-JP" sz="1467" b="0" i="0" u="none" strike="noStrike" cap="none">
                <a:solidFill>
                  <a:srgbClr val="2B2B2B"/>
                </a:solidFill>
                <a:latin typeface="Meiryo"/>
                <a:ea typeface="Meiryo"/>
                <a:cs typeface="Meiryo"/>
                <a:sym typeface="Meiryo"/>
              </a:rPr>
              <a:t>で記載</a:t>
            </a:r>
            <a:endParaRPr sz="1867" b="0" i="0" u="none" strike="noStrike" cap="non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graphicFrame>
        <p:nvGraphicFramePr>
          <p:cNvPr id="219" name="Google Shape;219;p15"/>
          <p:cNvGraphicFramePr/>
          <p:nvPr/>
        </p:nvGraphicFramePr>
        <p:xfrm>
          <a:off x="624416" y="1211694"/>
          <a:ext cx="10943700" cy="5024000"/>
        </p:xfrm>
        <a:graphic>
          <a:graphicData uri="http://schemas.openxmlformats.org/drawingml/2006/table">
            <a:tbl>
              <a:tblPr>
                <a:noFill/>
                <a:tableStyleId>{16DD54E9-F15A-4EFF-A1D8-E2CBB5DF2B52}</a:tableStyleId>
              </a:tblPr>
              <a:tblGrid>
                <a:gridCol w="384000">
                  <a:extLst>
                    <a:ext uri="{9D8B030D-6E8A-4147-A177-3AD203B41FA5}">
                      <a16:colId xmlns:a16="http://schemas.microsoft.com/office/drawing/2014/main" val="20000"/>
                    </a:ext>
                  </a:extLst>
                </a:gridCol>
                <a:gridCol w="1487950">
                  <a:extLst>
                    <a:ext uri="{9D8B030D-6E8A-4147-A177-3AD203B41FA5}">
                      <a16:colId xmlns:a16="http://schemas.microsoft.com/office/drawing/2014/main" val="20001"/>
                    </a:ext>
                  </a:extLst>
                </a:gridCol>
                <a:gridCol w="575975">
                  <a:extLst>
                    <a:ext uri="{9D8B030D-6E8A-4147-A177-3AD203B41FA5}">
                      <a16:colId xmlns:a16="http://schemas.microsoft.com/office/drawing/2014/main" val="20002"/>
                    </a:ext>
                  </a:extLst>
                </a:gridCol>
                <a:gridCol w="2831925">
                  <a:extLst>
                    <a:ext uri="{9D8B030D-6E8A-4147-A177-3AD203B41FA5}">
                      <a16:colId xmlns:a16="http://schemas.microsoft.com/office/drawing/2014/main" val="20003"/>
                    </a:ext>
                  </a:extLst>
                </a:gridCol>
                <a:gridCol w="2831925">
                  <a:extLst>
                    <a:ext uri="{9D8B030D-6E8A-4147-A177-3AD203B41FA5}">
                      <a16:colId xmlns:a16="http://schemas.microsoft.com/office/drawing/2014/main" val="20004"/>
                    </a:ext>
                  </a:extLst>
                </a:gridCol>
                <a:gridCol w="2831925">
                  <a:extLst>
                    <a:ext uri="{9D8B030D-6E8A-4147-A177-3AD203B41FA5}">
                      <a16:colId xmlns:a16="http://schemas.microsoft.com/office/drawing/2014/main" val="20005"/>
                    </a:ext>
                  </a:extLst>
                </a:gridCol>
              </a:tblGrid>
              <a:tr h="296250">
                <a:tc gridSpan="2">
                  <a:txBody>
                    <a:bodyPr/>
                    <a:lstStyle/>
                    <a:p>
                      <a:pPr marL="0" marR="0" lvl="0" indent="0" algn="ctr" rtl="0">
                        <a:lnSpc>
                          <a:spcPct val="100000"/>
                        </a:lnSpc>
                        <a:spcBef>
                          <a:spcPts val="0"/>
                        </a:spcBef>
                        <a:spcAft>
                          <a:spcPts val="0"/>
                        </a:spcAft>
                        <a:buClr>
                          <a:srgbClr val="000000"/>
                        </a:buClr>
                        <a:buSzPts val="1000"/>
                        <a:buFont typeface="Arial"/>
                        <a:buNone/>
                      </a:pPr>
                      <a:r>
                        <a:rPr lang="ja-JP" sz="1300" b="1" u="none" strike="noStrike" cap="none">
                          <a:solidFill>
                            <a:schemeClr val="lt1"/>
                          </a:solidFill>
                          <a:latin typeface="Meiryo"/>
                          <a:ea typeface="Meiryo"/>
                          <a:cs typeface="Meiryo"/>
                          <a:sym typeface="Meiryo"/>
                        </a:rPr>
                        <a:t>チーム</a:t>
                      </a:r>
                      <a:endParaRPr sz="1900" b="1" u="none" strike="noStrike" cap="none">
                        <a:solidFill>
                          <a:schemeClr val="lt1"/>
                        </a:solidFill>
                      </a:endParaRPr>
                    </a:p>
                  </a:txBody>
                  <a:tcPr marL="91425" marR="91425" marT="45725" marB="45725">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1000"/>
                        <a:buFont typeface="Arial"/>
                        <a:buNone/>
                      </a:pPr>
                      <a:r>
                        <a:rPr lang="ja-JP" sz="1300" b="1" u="none" strike="noStrike" cap="none">
                          <a:solidFill>
                            <a:schemeClr val="lt1"/>
                          </a:solidFill>
                          <a:latin typeface="Meiryo"/>
                          <a:ea typeface="Meiryo"/>
                          <a:cs typeface="Meiryo"/>
                          <a:sym typeface="Meiryo"/>
                        </a:rPr>
                        <a:t>状況</a:t>
                      </a:r>
                      <a:endParaRPr sz="1900" b="1" u="none" strike="noStrike" cap="none">
                        <a:solidFill>
                          <a:schemeClr val="lt1"/>
                        </a:solidFill>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JP" sz="1300" b="1" u="none" strike="noStrike" cap="none">
                          <a:solidFill>
                            <a:schemeClr val="lt1"/>
                          </a:solidFill>
                          <a:latin typeface="Meiryo"/>
                          <a:ea typeface="Meiryo"/>
                          <a:cs typeface="Meiryo"/>
                          <a:sym typeface="Meiryo"/>
                        </a:rPr>
                        <a:t>先週の進捗・達成事項</a:t>
                      </a:r>
                      <a:endParaRPr sz="1900" b="1" u="none" strike="noStrike" cap="none">
                        <a:solidFill>
                          <a:schemeClr val="lt1"/>
                        </a:solidFill>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JP" sz="1300" b="1" u="none" strike="noStrike" cap="none">
                          <a:solidFill>
                            <a:schemeClr val="lt1"/>
                          </a:solidFill>
                          <a:latin typeface="Meiryo"/>
                          <a:ea typeface="Meiryo"/>
                          <a:cs typeface="Meiryo"/>
                          <a:sym typeface="Meiryo"/>
                        </a:rPr>
                        <a:t>今週の予定</a:t>
                      </a:r>
                      <a:endParaRPr sz="1900" b="1" u="none" strike="noStrike" cap="none">
                        <a:solidFill>
                          <a:schemeClr val="lt1"/>
                        </a:solidFill>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a:txBody>
                    <a:bodyPr/>
                    <a:lstStyle/>
                    <a:p>
                      <a:pPr marL="0" marR="0" lvl="0" indent="0" algn="ctr" rtl="0">
                        <a:lnSpc>
                          <a:spcPct val="100000"/>
                        </a:lnSpc>
                        <a:spcBef>
                          <a:spcPts val="0"/>
                        </a:spcBef>
                        <a:spcAft>
                          <a:spcPts val="0"/>
                        </a:spcAft>
                        <a:buClr>
                          <a:srgbClr val="000000"/>
                        </a:buClr>
                        <a:buSzPts val="1000"/>
                        <a:buFont typeface="Arial"/>
                        <a:buNone/>
                      </a:pPr>
                      <a:r>
                        <a:rPr lang="ja-JP" sz="1300" b="1" u="none" strike="noStrike" cap="none">
                          <a:solidFill>
                            <a:schemeClr val="lt1"/>
                          </a:solidFill>
                          <a:latin typeface="Meiryo"/>
                          <a:ea typeface="Meiryo"/>
                          <a:cs typeface="Meiryo"/>
                          <a:sym typeface="Meiryo"/>
                        </a:rPr>
                        <a:t>課題等</a:t>
                      </a:r>
                      <a:endParaRPr sz="1900" b="1" u="none" strike="noStrike" cap="none">
                        <a:solidFill>
                          <a:schemeClr val="lt1"/>
                        </a:solidFill>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extLst>
                  <a:ext uri="{0D108BD9-81ED-4DB2-BD59-A6C34878D82A}">
                    <a16:rowId xmlns:a16="http://schemas.microsoft.com/office/drawing/2014/main" val="10000"/>
                  </a:ext>
                </a:extLst>
              </a:tr>
              <a:tr h="945550">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A</a:t>
                      </a:r>
                      <a:endParaRPr sz="16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XXX</a:t>
                      </a:r>
                      <a:endParaRPr sz="16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BFBFBF"/>
                        </a:buClr>
                        <a:buSzPts val="1200"/>
                        <a:buFont typeface="Arial"/>
                        <a:buNone/>
                      </a:pPr>
                      <a:r>
                        <a:rPr lang="ja-JP" sz="1600" b="1" i="0" u="none" strike="noStrike" cap="none">
                          <a:solidFill>
                            <a:schemeClr val="lt1"/>
                          </a:solidFill>
                          <a:latin typeface="Meiryo"/>
                          <a:ea typeface="Meiryo"/>
                          <a:cs typeface="Meiryo"/>
                          <a:sym typeface="Meiryo"/>
                        </a:rPr>
                        <a:t>G</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945550">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B</a:t>
                      </a:r>
                      <a:endParaRPr sz="16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XXX</a:t>
                      </a:r>
                      <a:endParaRPr sz="16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BFBFBF"/>
                        </a:buClr>
                        <a:buSzPts val="1200"/>
                        <a:buFont typeface="Arial"/>
                        <a:buNone/>
                      </a:pPr>
                      <a:r>
                        <a:rPr lang="ja-JP" sz="1600" b="1" i="0" u="none" strike="noStrike" cap="none">
                          <a:solidFill>
                            <a:schemeClr val="lt1"/>
                          </a:solidFill>
                          <a:latin typeface="Meiryo"/>
                          <a:ea typeface="Meiryo"/>
                          <a:cs typeface="Meiryo"/>
                          <a:sym typeface="Meiryo"/>
                        </a:rPr>
                        <a:t>A</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FC000"/>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945550">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C</a:t>
                      </a:r>
                      <a:endParaRPr sz="1900" u="none" strike="noStrike" cap="none"/>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XXX</a:t>
                      </a:r>
                      <a:endParaRPr sz="16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BFBFBF"/>
                        </a:buClr>
                        <a:buSzPts val="1200"/>
                        <a:buFont typeface="Arial"/>
                        <a:buNone/>
                      </a:pPr>
                      <a:r>
                        <a:rPr lang="ja-JP" sz="1600" b="1" i="0" u="none" strike="noStrike" cap="none">
                          <a:solidFill>
                            <a:schemeClr val="lt1"/>
                          </a:solidFill>
                          <a:latin typeface="Meiryo"/>
                          <a:ea typeface="Meiryo"/>
                          <a:cs typeface="Meiryo"/>
                          <a:sym typeface="Meiryo"/>
                        </a:rPr>
                        <a:t>R</a:t>
                      </a:r>
                      <a:endParaRPr sz="16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E5001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r h="945550">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D</a:t>
                      </a:r>
                      <a:endParaRPr sz="16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XXX</a:t>
                      </a:r>
                      <a:endParaRPr sz="16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BFBFBF"/>
                        </a:buClr>
                        <a:buSzPts val="1200"/>
                        <a:buFont typeface="Arial"/>
                        <a:buNone/>
                      </a:pPr>
                      <a:r>
                        <a:rPr lang="ja-JP" sz="1600" b="1" i="0" u="none" strike="noStrike" cap="none">
                          <a:solidFill>
                            <a:schemeClr val="lt1"/>
                          </a:solidFill>
                          <a:latin typeface="Meiryo"/>
                          <a:ea typeface="Meiryo"/>
                          <a:cs typeface="Meiryo"/>
                          <a:sym typeface="Meiryo"/>
                        </a:rPr>
                        <a:t>G</a:t>
                      </a:r>
                      <a:endParaRPr sz="16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r h="945550">
                <a:tc>
                  <a:txBody>
                    <a:bodyPr/>
                    <a:lstStyle/>
                    <a:p>
                      <a:pPr marL="0" marR="0" lvl="0" indent="0" algn="ctr"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E</a:t>
                      </a:r>
                      <a:endParaRPr sz="1600" b="1" u="none" strike="noStrike" cap="none">
                        <a:solidFill>
                          <a:srgbClr val="2B2B2B"/>
                        </a:solidFill>
                        <a:latin typeface="Meiryo"/>
                        <a:ea typeface="Meiryo"/>
                        <a:cs typeface="Meiryo"/>
                        <a:sym typeface="Meiryo"/>
                      </a:endParaRPr>
                    </a:p>
                  </a:txBody>
                  <a:tcPr marL="91425" marR="91425" marT="45725" marB="45725" anchor="ctr">
                    <a:lnL w="9525" cap="flat" cmpd="sng">
                      <a:solidFill>
                        <a:srgbClr val="000000">
                          <a:alpha val="0"/>
                        </a:srgbClr>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rgbClr val="2B2B2B"/>
                          </a:solidFill>
                          <a:latin typeface="Meiryo"/>
                          <a:ea typeface="Meiryo"/>
                          <a:cs typeface="Meiryo"/>
                          <a:sym typeface="Meiryo"/>
                        </a:rPr>
                        <a:t>XXX</a:t>
                      </a:r>
                      <a:endParaRPr sz="1600" b="1"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BFBFBF"/>
                        </a:buClr>
                        <a:buSzPts val="1200"/>
                        <a:buFont typeface="Arial"/>
                        <a:buNone/>
                      </a:pPr>
                      <a:r>
                        <a:rPr lang="ja-JP" sz="1600" b="1" i="0" u="none" strike="noStrike" cap="none">
                          <a:solidFill>
                            <a:schemeClr val="lt1"/>
                          </a:solidFill>
                          <a:latin typeface="Meiryo"/>
                          <a:ea typeface="Meiryo"/>
                          <a:cs typeface="Meiryo"/>
                          <a:sym typeface="Meiryo"/>
                        </a:rPr>
                        <a:t>G</a:t>
                      </a:r>
                      <a:endParaRPr sz="1600" b="1" i="0" u="none" strike="noStrike" cap="none">
                        <a:solidFill>
                          <a:schemeClr val="lt1"/>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4"/>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i="0" u="none" strike="noStrike" cap="none">
                        <a:solidFill>
                          <a:srgbClr val="2B2B2B"/>
                        </a:solidFill>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5"/>
                  </a:ext>
                </a:extLst>
              </a:tr>
            </a:tbl>
          </a:graphicData>
        </a:graphic>
      </p:graphicFrame>
      <p:sp>
        <p:nvSpPr>
          <p:cNvPr id="220" name="Google Shape;220;p15"/>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週次報告フォーマットサンプル</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graphicFrame>
        <p:nvGraphicFramePr>
          <p:cNvPr id="226" name="Google Shape;226;p16"/>
          <p:cNvGraphicFramePr/>
          <p:nvPr/>
        </p:nvGraphicFramePr>
        <p:xfrm>
          <a:off x="626297" y="3314287"/>
          <a:ext cx="10941300" cy="2927100"/>
        </p:xfrm>
        <a:graphic>
          <a:graphicData uri="http://schemas.openxmlformats.org/drawingml/2006/table">
            <a:tbl>
              <a:tblPr>
                <a:noFill/>
                <a:tableStyleId>{16DD54E9-F15A-4EFF-A1D8-E2CBB5DF2B52}</a:tableStyleId>
              </a:tblPr>
              <a:tblGrid>
                <a:gridCol w="1553625">
                  <a:extLst>
                    <a:ext uri="{9D8B030D-6E8A-4147-A177-3AD203B41FA5}">
                      <a16:colId xmlns:a16="http://schemas.microsoft.com/office/drawing/2014/main" val="20000"/>
                    </a:ext>
                  </a:extLst>
                </a:gridCol>
                <a:gridCol w="9387675">
                  <a:extLst>
                    <a:ext uri="{9D8B030D-6E8A-4147-A177-3AD203B41FA5}">
                      <a16:colId xmlns:a16="http://schemas.microsoft.com/office/drawing/2014/main" val="20001"/>
                    </a:ext>
                  </a:extLst>
                </a:gridCol>
              </a:tblGrid>
              <a:tr h="731775">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全体概況</a:t>
                      </a:r>
                      <a:endParaRPr sz="1900" u="none" strike="noStrike" cap="none"/>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2B2B2B"/>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u="none" strike="noStrike" cap="none">
                        <a:solidFill>
                          <a:srgbClr val="2B2B2B"/>
                        </a:solidFill>
                        <a:latin typeface="Meiryo"/>
                        <a:ea typeface="Meiryo"/>
                        <a:cs typeface="Meiryo"/>
                        <a:sym typeface="Meiryo"/>
                      </a:endParaRPr>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731775">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コスト</a:t>
                      </a:r>
                      <a:endParaRPr sz="1900" u="none" strike="noStrike" cap="none"/>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u="none" strike="noStrike" cap="none">
                        <a:solidFill>
                          <a:srgbClr val="2B2B2B"/>
                        </a:solidFill>
                        <a:latin typeface="Meiryo"/>
                        <a:ea typeface="Meiryo"/>
                        <a:cs typeface="Meiryo"/>
                        <a:sym typeface="Meiryo"/>
                      </a:endParaRPr>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1"/>
                  </a:ext>
                </a:extLst>
              </a:tr>
              <a:tr h="731775">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スケジュール</a:t>
                      </a:r>
                      <a:endParaRPr sz="1900" u="none" strike="noStrike" cap="none"/>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u="none" strike="noStrike" cap="none">
                        <a:solidFill>
                          <a:srgbClr val="2B2B2B"/>
                        </a:solidFill>
                        <a:latin typeface="Meiryo"/>
                        <a:ea typeface="Meiryo"/>
                        <a:cs typeface="Meiryo"/>
                        <a:sym typeface="Meiryo"/>
                      </a:endParaRPr>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731775">
                <a:tc>
                  <a:txBody>
                    <a:bodyPr/>
                    <a:lstStyle/>
                    <a:p>
                      <a:pPr marL="0" marR="0" lvl="0" indent="0" algn="l" rtl="0">
                        <a:lnSpc>
                          <a:spcPct val="100000"/>
                        </a:lnSpc>
                        <a:spcBef>
                          <a:spcPts val="0"/>
                        </a:spcBef>
                        <a:spcAft>
                          <a:spcPts val="0"/>
                        </a:spcAft>
                        <a:buClr>
                          <a:srgbClr val="000000"/>
                        </a:buClr>
                        <a:buSzPts val="1200"/>
                        <a:buFont typeface="Arial"/>
                        <a:buNone/>
                      </a:pPr>
                      <a:r>
                        <a:rPr lang="ja-JP" sz="1600" b="1" u="none" strike="noStrike" cap="none">
                          <a:solidFill>
                            <a:schemeClr val="lt1"/>
                          </a:solidFill>
                          <a:latin typeface="Meiryo"/>
                          <a:ea typeface="Meiryo"/>
                          <a:cs typeface="Meiryo"/>
                          <a:sym typeface="Meiryo"/>
                        </a:rPr>
                        <a:t>課題・リスク</a:t>
                      </a:r>
                      <a:endParaRPr sz="1900" u="none" strike="noStrike" cap="none"/>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a:txBody>
                    <a:bodyPr/>
                    <a:lstStyle/>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900" u="none" strike="noStrike" cap="none"/>
                    </a:p>
                    <a:p>
                      <a:pPr marL="182563" marR="0" lvl="0" indent="-182563" algn="l" rtl="0">
                        <a:lnSpc>
                          <a:spcPct val="100000"/>
                        </a:lnSpc>
                        <a:spcBef>
                          <a:spcPts val="0"/>
                        </a:spcBef>
                        <a:spcAft>
                          <a:spcPts val="0"/>
                        </a:spcAft>
                        <a:buClr>
                          <a:srgbClr val="BFBFBF"/>
                        </a:buClr>
                        <a:buSzPts val="900"/>
                        <a:buFont typeface="Noto Sans Symbols"/>
                        <a:buChar char="■"/>
                      </a:pPr>
                      <a:r>
                        <a:rPr lang="ja-JP" sz="1200" b="0" i="0" u="none" strike="noStrike" cap="none">
                          <a:solidFill>
                            <a:srgbClr val="2B2B2B"/>
                          </a:solidFill>
                          <a:latin typeface="Meiryo"/>
                          <a:ea typeface="Meiryo"/>
                          <a:cs typeface="Meiryo"/>
                          <a:sym typeface="Meiryo"/>
                        </a:rPr>
                        <a:t>XXX</a:t>
                      </a:r>
                      <a:endParaRPr sz="1200" b="0" u="none" strike="noStrike" cap="none">
                        <a:solidFill>
                          <a:srgbClr val="2B2B2B"/>
                        </a:solidFill>
                        <a:latin typeface="Meiryo"/>
                        <a:ea typeface="Meiryo"/>
                        <a:cs typeface="Meiryo"/>
                        <a:sym typeface="Meiryo"/>
                      </a:endParaRPr>
                    </a:p>
                  </a:txBody>
                  <a:tcPr marL="90000" marR="90000" marT="72000" marB="72000"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3"/>
                  </a:ext>
                </a:extLst>
              </a:tr>
            </a:tbl>
          </a:graphicData>
        </a:graphic>
      </p:graphicFrame>
      <p:graphicFrame>
        <p:nvGraphicFramePr>
          <p:cNvPr id="227" name="Google Shape;227;p16"/>
          <p:cNvGraphicFramePr/>
          <p:nvPr>
            <p:extLst>
              <p:ext uri="{D42A27DB-BD31-4B8C-83A1-F6EECF244321}">
                <p14:modId xmlns:p14="http://schemas.microsoft.com/office/powerpoint/2010/main" val="991946621"/>
              </p:ext>
            </p:extLst>
          </p:nvPr>
        </p:nvGraphicFramePr>
        <p:xfrm>
          <a:off x="1592929" y="1201506"/>
          <a:ext cx="9974400" cy="1997180"/>
        </p:xfrm>
        <a:graphic>
          <a:graphicData uri="http://schemas.openxmlformats.org/drawingml/2006/table">
            <a:tbl>
              <a:tblPr>
                <a:noFill/>
                <a:tableStyleId>{16DD54E9-F15A-4EFF-A1D8-E2CBB5DF2B52}</a:tableStyleId>
              </a:tblPr>
              <a:tblGrid>
                <a:gridCol w="415600">
                  <a:extLst>
                    <a:ext uri="{9D8B030D-6E8A-4147-A177-3AD203B41FA5}">
                      <a16:colId xmlns:a16="http://schemas.microsoft.com/office/drawing/2014/main" val="20000"/>
                    </a:ext>
                  </a:extLst>
                </a:gridCol>
                <a:gridCol w="415600">
                  <a:extLst>
                    <a:ext uri="{9D8B030D-6E8A-4147-A177-3AD203B41FA5}">
                      <a16:colId xmlns:a16="http://schemas.microsoft.com/office/drawing/2014/main" val="20001"/>
                    </a:ext>
                  </a:extLst>
                </a:gridCol>
                <a:gridCol w="415600">
                  <a:extLst>
                    <a:ext uri="{9D8B030D-6E8A-4147-A177-3AD203B41FA5}">
                      <a16:colId xmlns:a16="http://schemas.microsoft.com/office/drawing/2014/main" val="20002"/>
                    </a:ext>
                  </a:extLst>
                </a:gridCol>
                <a:gridCol w="415600">
                  <a:extLst>
                    <a:ext uri="{9D8B030D-6E8A-4147-A177-3AD203B41FA5}">
                      <a16:colId xmlns:a16="http://schemas.microsoft.com/office/drawing/2014/main" val="20003"/>
                    </a:ext>
                  </a:extLst>
                </a:gridCol>
                <a:gridCol w="415600">
                  <a:extLst>
                    <a:ext uri="{9D8B030D-6E8A-4147-A177-3AD203B41FA5}">
                      <a16:colId xmlns:a16="http://schemas.microsoft.com/office/drawing/2014/main" val="20004"/>
                    </a:ext>
                  </a:extLst>
                </a:gridCol>
                <a:gridCol w="415600">
                  <a:extLst>
                    <a:ext uri="{9D8B030D-6E8A-4147-A177-3AD203B41FA5}">
                      <a16:colId xmlns:a16="http://schemas.microsoft.com/office/drawing/2014/main" val="20005"/>
                    </a:ext>
                  </a:extLst>
                </a:gridCol>
                <a:gridCol w="415600">
                  <a:extLst>
                    <a:ext uri="{9D8B030D-6E8A-4147-A177-3AD203B41FA5}">
                      <a16:colId xmlns:a16="http://schemas.microsoft.com/office/drawing/2014/main" val="20006"/>
                    </a:ext>
                  </a:extLst>
                </a:gridCol>
                <a:gridCol w="415600">
                  <a:extLst>
                    <a:ext uri="{9D8B030D-6E8A-4147-A177-3AD203B41FA5}">
                      <a16:colId xmlns:a16="http://schemas.microsoft.com/office/drawing/2014/main" val="20007"/>
                    </a:ext>
                  </a:extLst>
                </a:gridCol>
                <a:gridCol w="415600">
                  <a:extLst>
                    <a:ext uri="{9D8B030D-6E8A-4147-A177-3AD203B41FA5}">
                      <a16:colId xmlns:a16="http://schemas.microsoft.com/office/drawing/2014/main" val="20008"/>
                    </a:ext>
                  </a:extLst>
                </a:gridCol>
                <a:gridCol w="415600">
                  <a:extLst>
                    <a:ext uri="{9D8B030D-6E8A-4147-A177-3AD203B41FA5}">
                      <a16:colId xmlns:a16="http://schemas.microsoft.com/office/drawing/2014/main" val="20009"/>
                    </a:ext>
                  </a:extLst>
                </a:gridCol>
                <a:gridCol w="415600">
                  <a:extLst>
                    <a:ext uri="{9D8B030D-6E8A-4147-A177-3AD203B41FA5}">
                      <a16:colId xmlns:a16="http://schemas.microsoft.com/office/drawing/2014/main" val="20010"/>
                    </a:ext>
                  </a:extLst>
                </a:gridCol>
                <a:gridCol w="415600">
                  <a:extLst>
                    <a:ext uri="{9D8B030D-6E8A-4147-A177-3AD203B41FA5}">
                      <a16:colId xmlns:a16="http://schemas.microsoft.com/office/drawing/2014/main" val="20011"/>
                    </a:ext>
                  </a:extLst>
                </a:gridCol>
                <a:gridCol w="415600">
                  <a:extLst>
                    <a:ext uri="{9D8B030D-6E8A-4147-A177-3AD203B41FA5}">
                      <a16:colId xmlns:a16="http://schemas.microsoft.com/office/drawing/2014/main" val="20012"/>
                    </a:ext>
                  </a:extLst>
                </a:gridCol>
                <a:gridCol w="415600">
                  <a:extLst>
                    <a:ext uri="{9D8B030D-6E8A-4147-A177-3AD203B41FA5}">
                      <a16:colId xmlns:a16="http://schemas.microsoft.com/office/drawing/2014/main" val="20013"/>
                    </a:ext>
                  </a:extLst>
                </a:gridCol>
                <a:gridCol w="415600">
                  <a:extLst>
                    <a:ext uri="{9D8B030D-6E8A-4147-A177-3AD203B41FA5}">
                      <a16:colId xmlns:a16="http://schemas.microsoft.com/office/drawing/2014/main" val="20014"/>
                    </a:ext>
                  </a:extLst>
                </a:gridCol>
                <a:gridCol w="415600">
                  <a:extLst>
                    <a:ext uri="{9D8B030D-6E8A-4147-A177-3AD203B41FA5}">
                      <a16:colId xmlns:a16="http://schemas.microsoft.com/office/drawing/2014/main" val="20015"/>
                    </a:ext>
                  </a:extLst>
                </a:gridCol>
                <a:gridCol w="415600">
                  <a:extLst>
                    <a:ext uri="{9D8B030D-6E8A-4147-A177-3AD203B41FA5}">
                      <a16:colId xmlns:a16="http://schemas.microsoft.com/office/drawing/2014/main" val="20016"/>
                    </a:ext>
                  </a:extLst>
                </a:gridCol>
                <a:gridCol w="415600">
                  <a:extLst>
                    <a:ext uri="{9D8B030D-6E8A-4147-A177-3AD203B41FA5}">
                      <a16:colId xmlns:a16="http://schemas.microsoft.com/office/drawing/2014/main" val="20017"/>
                    </a:ext>
                  </a:extLst>
                </a:gridCol>
                <a:gridCol w="415600">
                  <a:extLst>
                    <a:ext uri="{9D8B030D-6E8A-4147-A177-3AD203B41FA5}">
                      <a16:colId xmlns:a16="http://schemas.microsoft.com/office/drawing/2014/main" val="20018"/>
                    </a:ext>
                  </a:extLst>
                </a:gridCol>
                <a:gridCol w="415600">
                  <a:extLst>
                    <a:ext uri="{9D8B030D-6E8A-4147-A177-3AD203B41FA5}">
                      <a16:colId xmlns:a16="http://schemas.microsoft.com/office/drawing/2014/main" val="20019"/>
                    </a:ext>
                  </a:extLst>
                </a:gridCol>
                <a:gridCol w="415600">
                  <a:extLst>
                    <a:ext uri="{9D8B030D-6E8A-4147-A177-3AD203B41FA5}">
                      <a16:colId xmlns:a16="http://schemas.microsoft.com/office/drawing/2014/main" val="20020"/>
                    </a:ext>
                  </a:extLst>
                </a:gridCol>
                <a:gridCol w="415600">
                  <a:extLst>
                    <a:ext uri="{9D8B030D-6E8A-4147-A177-3AD203B41FA5}">
                      <a16:colId xmlns:a16="http://schemas.microsoft.com/office/drawing/2014/main" val="20021"/>
                    </a:ext>
                  </a:extLst>
                </a:gridCol>
                <a:gridCol w="415600">
                  <a:extLst>
                    <a:ext uri="{9D8B030D-6E8A-4147-A177-3AD203B41FA5}">
                      <a16:colId xmlns:a16="http://schemas.microsoft.com/office/drawing/2014/main" val="20022"/>
                    </a:ext>
                  </a:extLst>
                </a:gridCol>
                <a:gridCol w="415600">
                  <a:extLst>
                    <a:ext uri="{9D8B030D-6E8A-4147-A177-3AD203B41FA5}">
                      <a16:colId xmlns:a16="http://schemas.microsoft.com/office/drawing/2014/main" val="20023"/>
                    </a:ext>
                  </a:extLst>
                </a:gridCol>
              </a:tblGrid>
              <a:tr h="254025">
                <a:tc gridSpan="12">
                  <a:txBody>
                    <a:bodyPr/>
                    <a:lstStyle/>
                    <a:p>
                      <a:pPr marL="0" marR="0" lvl="0" indent="0" algn="ctr" rtl="0">
                        <a:lnSpc>
                          <a:spcPct val="100000"/>
                        </a:lnSpc>
                        <a:spcBef>
                          <a:spcPts val="0"/>
                        </a:spcBef>
                        <a:spcAft>
                          <a:spcPts val="0"/>
                        </a:spcAft>
                        <a:buClr>
                          <a:srgbClr val="000000"/>
                        </a:buClr>
                        <a:buSzPts val="800"/>
                        <a:buFont typeface="Arial"/>
                        <a:buNone/>
                      </a:pPr>
                      <a:r>
                        <a:rPr lang="en-US" altLang="ja-JP" sz="1100" b="1" u="none" strike="noStrike" cap="none">
                          <a:solidFill>
                            <a:schemeClr val="lt1"/>
                          </a:solidFill>
                          <a:latin typeface="Meiryo"/>
                          <a:ea typeface="Meiryo"/>
                          <a:cs typeface="Meiryo"/>
                          <a:sym typeface="Meiryo"/>
                        </a:rPr>
                        <a:t>2026</a:t>
                      </a:r>
                      <a:endParaRPr sz="1100" b="1" u="none" strike="noStrike" cap="none">
                        <a:solidFill>
                          <a:schemeClr val="lt1"/>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12">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chemeClr val="lt1"/>
                          </a:solidFill>
                          <a:latin typeface="Meiryo"/>
                          <a:ea typeface="Meiryo"/>
                          <a:cs typeface="Meiryo"/>
                          <a:sym typeface="Meiryo"/>
                        </a:rPr>
                        <a:t>20</a:t>
                      </a:r>
                      <a:r>
                        <a:rPr lang="en-US" altLang="ja-JP" sz="1100" b="1" u="none" strike="noStrike" cap="none">
                          <a:solidFill>
                            <a:schemeClr val="lt1"/>
                          </a:solidFill>
                          <a:latin typeface="Meiryo"/>
                          <a:ea typeface="Meiryo"/>
                          <a:cs typeface="Meiryo"/>
                          <a:sym typeface="Meiryo"/>
                        </a:rPr>
                        <a:t>27</a:t>
                      </a:r>
                      <a:endParaRPr sz="1100" b="1" u="none" strike="noStrike" cap="none">
                        <a:solidFill>
                          <a:schemeClr val="lt1"/>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extLst>
                  <a:ext uri="{0D108BD9-81ED-4DB2-BD59-A6C34878D82A}">
                    <a16:rowId xmlns:a16="http://schemas.microsoft.com/office/drawing/2014/main" val="10000"/>
                  </a:ext>
                </a:extLst>
              </a:tr>
              <a:tr h="254025">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2</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3</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4</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5</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6</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7</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8</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9</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10</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11</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12</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2</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3</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4</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5</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6</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7</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8</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9</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10</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11</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ja-JP" sz="1100" b="1" u="none" strike="noStrike" cap="none">
                          <a:solidFill>
                            <a:srgbClr val="2B2B2B"/>
                          </a:solidFill>
                          <a:latin typeface="Meiryo"/>
                          <a:ea typeface="Meiryo"/>
                          <a:cs typeface="Meiryo"/>
                          <a:sym typeface="Meiryo"/>
                        </a:rPr>
                        <a:t>12</a:t>
                      </a:r>
                      <a:endParaRPr sz="1100" b="1" u="none" strike="noStrike" cap="none">
                        <a:solidFill>
                          <a:srgbClr val="2B2B2B"/>
                        </a:solidFill>
                        <a:latin typeface="Meiryo"/>
                        <a:ea typeface="Meiryo"/>
                        <a:cs typeface="Meiryo"/>
                        <a:sym typeface="Meiryo"/>
                      </a:endParaRPr>
                    </a:p>
                  </a:txBody>
                  <a:tcPr marL="91425" marR="91425" marT="45725" marB="45725">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D8D8D8"/>
                    </a:solidFill>
                  </a:tcPr>
                </a:tc>
                <a:extLst>
                  <a:ext uri="{0D108BD9-81ED-4DB2-BD59-A6C34878D82A}">
                    <a16:rowId xmlns:a16="http://schemas.microsoft.com/office/drawing/2014/main" val="10001"/>
                  </a:ext>
                </a:extLst>
              </a:tr>
              <a:tr h="1479000">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tc>
                  <a:txBody>
                    <a:bodyPr/>
                    <a:lstStyle/>
                    <a:p>
                      <a:pPr marL="0" marR="0" lvl="0" indent="0" algn="l" rtl="0">
                        <a:lnSpc>
                          <a:spcPct val="100000"/>
                        </a:lnSpc>
                        <a:spcBef>
                          <a:spcPts val="0"/>
                        </a:spcBef>
                        <a:spcAft>
                          <a:spcPts val="0"/>
                        </a:spcAft>
                        <a:buClr>
                          <a:srgbClr val="000000"/>
                        </a:buClr>
                        <a:buSzPts val="1000"/>
                        <a:buFont typeface="Arial"/>
                        <a:buNone/>
                      </a:pPr>
                      <a:endParaRPr sz="1300" u="none" strike="noStrike" cap="none">
                        <a:latin typeface="Meiryo"/>
                        <a:ea typeface="Meiryo"/>
                        <a:cs typeface="Meiryo"/>
                        <a:sym typeface="Meiryo"/>
                      </a:endParaRPr>
                    </a:p>
                  </a:txBody>
                  <a:tcPr marL="91425" marR="91425" marT="45725" marB="45725" anchor="ctr">
                    <a:lnL w="19050" cap="flat" cmpd="sng">
                      <a:solidFill>
                        <a:schemeClr val="lt1"/>
                      </a:solidFill>
                      <a:prstDash val="solid"/>
                      <a:round/>
                      <a:headEnd type="none" w="sm" len="sm"/>
                      <a:tailEnd type="none" w="sm" len="sm"/>
                    </a:lnL>
                    <a:lnR w="19050" cap="flat" cmpd="sng">
                      <a:solidFill>
                        <a:schemeClr val="lt1"/>
                      </a:solidFill>
                      <a:prstDash val="solid"/>
                      <a:round/>
                      <a:headEnd type="none" w="sm" len="sm"/>
                      <a:tailEnd type="none" w="sm" len="sm"/>
                    </a:lnR>
                    <a:lnT w="19050" cap="flat" cmpd="sng">
                      <a:solidFill>
                        <a:schemeClr val="lt1"/>
                      </a:solidFill>
                      <a:prstDash val="solid"/>
                      <a:round/>
                      <a:headEnd type="none" w="sm" len="sm"/>
                      <a:tailEnd type="none" w="sm" len="sm"/>
                    </a:lnT>
                    <a:lnB w="19050" cap="flat" cmpd="sng">
                      <a:solidFill>
                        <a:schemeClr val="lt1"/>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bl>
          </a:graphicData>
        </a:graphic>
      </p:graphicFrame>
      <p:sp>
        <p:nvSpPr>
          <p:cNvPr id="228" name="Google Shape;228;p16"/>
          <p:cNvSpPr/>
          <p:nvPr/>
        </p:nvSpPr>
        <p:spPr>
          <a:xfrm>
            <a:off x="1612693" y="1749372"/>
            <a:ext cx="2408106" cy="216000"/>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i="0" u="none" strike="noStrike" cap="none">
                <a:solidFill>
                  <a:schemeClr val="dk1"/>
                </a:solidFill>
                <a:latin typeface="Meiryo"/>
                <a:ea typeface="Meiryo"/>
                <a:cs typeface="Meiryo"/>
                <a:sym typeface="Meiryo"/>
              </a:rPr>
              <a:t>相互マスタデータ連携</a:t>
            </a:r>
            <a:endParaRPr sz="1067" b="1" i="0" u="none" strike="noStrike" cap="none">
              <a:solidFill>
                <a:schemeClr val="dk1"/>
              </a:solidFill>
              <a:latin typeface="Meiryo"/>
              <a:ea typeface="Meiryo"/>
              <a:cs typeface="Meiryo"/>
              <a:sym typeface="Meiryo"/>
            </a:endParaRPr>
          </a:p>
        </p:txBody>
      </p:sp>
      <p:sp>
        <p:nvSpPr>
          <p:cNvPr id="229" name="Google Shape;229;p16"/>
          <p:cNvSpPr/>
          <p:nvPr/>
        </p:nvSpPr>
        <p:spPr>
          <a:xfrm>
            <a:off x="623392" y="1201505"/>
            <a:ext cx="626212" cy="1980000"/>
          </a:xfrm>
          <a:prstGeom prst="rect">
            <a:avLst/>
          </a:prstGeom>
          <a:solidFill>
            <a:schemeClr val="accent4"/>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4400" b="1" i="0" u="none" strike="noStrike" cap="none">
                <a:solidFill>
                  <a:schemeClr val="lt1"/>
                </a:solidFill>
                <a:latin typeface="Meiryo"/>
                <a:ea typeface="Meiryo"/>
                <a:cs typeface="Meiryo"/>
                <a:sym typeface="Meiryo"/>
              </a:rPr>
              <a:t>G</a:t>
            </a:r>
            <a:endParaRPr sz="4400" b="1" i="0" u="none" strike="noStrike" cap="none">
              <a:solidFill>
                <a:schemeClr val="lt1"/>
              </a:solidFill>
              <a:latin typeface="Meiryo"/>
              <a:ea typeface="Meiryo"/>
              <a:cs typeface="Meiryo"/>
              <a:sym typeface="Meiryo"/>
            </a:endParaRPr>
          </a:p>
        </p:txBody>
      </p:sp>
      <p:sp>
        <p:nvSpPr>
          <p:cNvPr id="230" name="Google Shape;230;p16"/>
          <p:cNvSpPr/>
          <p:nvPr/>
        </p:nvSpPr>
        <p:spPr>
          <a:xfrm>
            <a:off x="2730998" y="2260173"/>
            <a:ext cx="914400" cy="216000"/>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a:solidFill>
                  <a:schemeClr val="dk1"/>
                </a:solidFill>
                <a:latin typeface="Meiryo"/>
                <a:ea typeface="Meiryo"/>
                <a:sym typeface="Meiryo"/>
              </a:rPr>
              <a:t>要件定義</a:t>
            </a:r>
            <a:endParaRPr sz="1867" b="0" i="0" u="none" strike="noStrike" cap="none">
              <a:solidFill>
                <a:srgbClr val="000000"/>
              </a:solidFill>
              <a:latin typeface="Arial"/>
              <a:ea typeface="Arial"/>
              <a:cs typeface="Arial"/>
              <a:sym typeface="Arial"/>
            </a:endParaRPr>
          </a:p>
        </p:txBody>
      </p:sp>
      <p:sp>
        <p:nvSpPr>
          <p:cNvPr id="232" name="Google Shape;232;p16"/>
          <p:cNvSpPr/>
          <p:nvPr/>
        </p:nvSpPr>
        <p:spPr>
          <a:xfrm>
            <a:off x="2001489" y="2023172"/>
            <a:ext cx="914400" cy="216000"/>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a:solidFill>
                  <a:schemeClr val="dk1"/>
                </a:solidFill>
                <a:latin typeface="Meiryo"/>
                <a:ea typeface="Meiryo"/>
                <a:cs typeface="Meiryo"/>
                <a:sym typeface="Meiryo"/>
              </a:rPr>
              <a:t>要件整理</a:t>
            </a:r>
            <a:endParaRPr sz="1067" b="1" i="0" u="none" strike="noStrike" cap="none">
              <a:solidFill>
                <a:schemeClr val="dk1"/>
              </a:solidFill>
              <a:latin typeface="Meiryo"/>
              <a:ea typeface="Meiryo"/>
              <a:cs typeface="Meiryo"/>
              <a:sym typeface="Meiryo"/>
            </a:endParaRPr>
          </a:p>
        </p:txBody>
      </p:sp>
      <p:sp>
        <p:nvSpPr>
          <p:cNvPr id="239" name="Google Shape;239;p16"/>
          <p:cNvSpPr/>
          <p:nvPr/>
        </p:nvSpPr>
        <p:spPr>
          <a:xfrm>
            <a:off x="3645398" y="7024686"/>
            <a:ext cx="6470379" cy="216000"/>
          </a:xfrm>
          <a:prstGeom prst="homePlate">
            <a:avLst>
              <a:gd name="adj" fmla="val 21842"/>
            </a:avLst>
          </a:prstGeom>
          <a:solidFill>
            <a:schemeClr val="lt1"/>
          </a:solidFill>
          <a:ln w="9525" cap="flat" cmpd="sng">
            <a:solidFill>
              <a:srgbClr val="7F7F7F"/>
            </a:solidFill>
            <a:prstDash val="dash"/>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1067" b="1" i="0" u="none" strike="noStrike" cap="none">
                <a:solidFill>
                  <a:srgbClr val="7F7F7F"/>
                </a:solidFill>
                <a:latin typeface="Meiryo"/>
                <a:ea typeface="Meiryo"/>
                <a:cs typeface="Meiryo"/>
                <a:sym typeface="Meiryo"/>
              </a:rPr>
              <a:t>XXX</a:t>
            </a:r>
            <a:endParaRPr sz="1867" b="0" i="0" u="none" strike="noStrike" cap="none">
              <a:solidFill>
                <a:srgbClr val="000000"/>
              </a:solidFill>
              <a:latin typeface="Arial"/>
              <a:ea typeface="Arial"/>
              <a:cs typeface="Arial"/>
              <a:sym typeface="Arial"/>
            </a:endParaRPr>
          </a:p>
        </p:txBody>
      </p:sp>
      <p:sp>
        <p:nvSpPr>
          <p:cNvPr id="240" name="Google Shape;240;p16"/>
          <p:cNvSpPr/>
          <p:nvPr/>
        </p:nvSpPr>
        <p:spPr>
          <a:xfrm>
            <a:off x="9079394" y="1738497"/>
            <a:ext cx="1219139" cy="1443007"/>
          </a:xfrm>
          <a:prstGeom prst="rect">
            <a:avLst/>
          </a:prstGeom>
          <a:solidFill>
            <a:srgbClr val="FFFFFF">
              <a:alpha val="48627"/>
            </a:srgbClr>
          </a:solidFill>
          <a:ln w="9525" cap="flat" cmpd="sng">
            <a:solidFill>
              <a:srgbClr val="7F7F7F"/>
            </a:solidFill>
            <a:prstDash val="dash"/>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a:solidFill>
                  <a:schemeClr val="dk1"/>
                </a:solidFill>
                <a:latin typeface="Meiryo"/>
                <a:ea typeface="Meiryo"/>
                <a:cs typeface="Meiryo"/>
                <a:sym typeface="Meiryo"/>
              </a:rPr>
              <a:t>店舗</a:t>
            </a:r>
            <a:r>
              <a:rPr lang="en-US" altLang="ja-JP" sz="1067" b="1">
                <a:solidFill>
                  <a:schemeClr val="dk1"/>
                </a:solidFill>
                <a:latin typeface="Meiryo"/>
                <a:ea typeface="Meiryo"/>
                <a:cs typeface="Meiryo"/>
                <a:sym typeface="Meiryo"/>
              </a:rPr>
              <a:t>CV</a:t>
            </a:r>
            <a:endParaRPr sz="1067" b="1" i="0" u="none" strike="noStrike" cap="none">
              <a:solidFill>
                <a:schemeClr val="dk1"/>
              </a:solidFill>
              <a:latin typeface="Meiryo"/>
              <a:ea typeface="Meiryo"/>
              <a:cs typeface="Meiryo"/>
              <a:sym typeface="Meiryo"/>
            </a:endParaRPr>
          </a:p>
        </p:txBody>
      </p:sp>
      <p:cxnSp>
        <p:nvCxnSpPr>
          <p:cNvPr id="243" name="Google Shape;243;p16"/>
          <p:cNvCxnSpPr>
            <a:cxnSpLocks/>
          </p:cNvCxnSpPr>
          <p:nvPr/>
        </p:nvCxnSpPr>
        <p:spPr>
          <a:xfrm>
            <a:off x="2100146" y="1727611"/>
            <a:ext cx="0" cy="1460189"/>
          </a:xfrm>
          <a:prstGeom prst="straightConnector1">
            <a:avLst/>
          </a:prstGeom>
          <a:noFill/>
          <a:ln w="38100" cap="flat" cmpd="sng">
            <a:solidFill>
              <a:srgbClr val="E50012"/>
            </a:solidFill>
            <a:prstDash val="solid"/>
            <a:round/>
            <a:headEnd type="none" w="sm" len="sm"/>
            <a:tailEnd type="none" w="sm" len="sm"/>
          </a:ln>
        </p:spPr>
      </p:cxnSp>
      <p:sp>
        <p:nvSpPr>
          <p:cNvPr id="245" name="Google Shape;245;p16"/>
          <p:cNvSpPr txBox="1">
            <a:spLocks noGrp="1"/>
          </p:cNvSpPr>
          <p:nvPr>
            <p:ph type="title"/>
          </p:nvPr>
        </p:nvSpPr>
        <p:spPr>
          <a:xfrm>
            <a:off x="630000" y="622800"/>
            <a:ext cx="10933600" cy="332399"/>
          </a:xfrm>
          <a:prstGeom prst="rect">
            <a:avLst/>
          </a:prstGeom>
          <a:noFill/>
          <a:ln>
            <a:solidFill>
              <a:schemeClr val="bg1"/>
            </a:solid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ステコミ報告フォーマットサンプル</a:t>
            </a:r>
            <a:endParaRPr/>
          </a:p>
        </p:txBody>
      </p:sp>
      <p:sp>
        <p:nvSpPr>
          <p:cNvPr id="246" name="Google Shape;246;p16"/>
          <p:cNvSpPr/>
          <p:nvPr/>
        </p:nvSpPr>
        <p:spPr>
          <a:xfrm>
            <a:off x="8784357" y="308654"/>
            <a:ext cx="528000" cy="526847"/>
          </a:xfrm>
          <a:prstGeom prst="rect">
            <a:avLst/>
          </a:prstGeom>
          <a:solidFill>
            <a:schemeClr val="accent4"/>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2133" b="1" i="0" u="none" strike="noStrike" cap="none">
                <a:solidFill>
                  <a:schemeClr val="lt1"/>
                </a:solidFill>
                <a:latin typeface="Meiryo"/>
                <a:ea typeface="Meiryo"/>
                <a:cs typeface="Meiryo"/>
                <a:sym typeface="Meiryo"/>
              </a:rPr>
              <a:t>G</a:t>
            </a:r>
            <a:endParaRPr sz="2133" b="1" i="0" u="none" strike="noStrike" cap="none">
              <a:solidFill>
                <a:schemeClr val="lt1"/>
              </a:solidFill>
              <a:latin typeface="Meiryo"/>
              <a:ea typeface="Meiryo"/>
              <a:cs typeface="Meiryo"/>
              <a:sym typeface="Meiryo"/>
            </a:endParaRPr>
          </a:p>
        </p:txBody>
      </p:sp>
      <p:sp>
        <p:nvSpPr>
          <p:cNvPr id="247" name="Google Shape;247;p16"/>
          <p:cNvSpPr/>
          <p:nvPr/>
        </p:nvSpPr>
        <p:spPr>
          <a:xfrm>
            <a:off x="9384424" y="308654"/>
            <a:ext cx="528000" cy="526847"/>
          </a:xfrm>
          <a:prstGeom prst="rect">
            <a:avLst/>
          </a:prstGeom>
          <a:solidFill>
            <a:srgbClr val="FFC000"/>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2133" b="1" i="0" u="none" strike="noStrike" cap="none">
                <a:solidFill>
                  <a:schemeClr val="lt1"/>
                </a:solidFill>
                <a:latin typeface="Meiryo"/>
                <a:ea typeface="Meiryo"/>
                <a:cs typeface="Meiryo"/>
                <a:sym typeface="Meiryo"/>
              </a:rPr>
              <a:t>A</a:t>
            </a:r>
            <a:endParaRPr sz="2133" b="1" i="0" u="none" strike="noStrike" cap="none">
              <a:solidFill>
                <a:schemeClr val="lt1"/>
              </a:solidFill>
              <a:latin typeface="Meiryo"/>
              <a:ea typeface="Meiryo"/>
              <a:cs typeface="Meiryo"/>
              <a:sym typeface="Meiryo"/>
            </a:endParaRPr>
          </a:p>
        </p:txBody>
      </p:sp>
      <p:sp>
        <p:nvSpPr>
          <p:cNvPr id="248" name="Google Shape;248;p16"/>
          <p:cNvSpPr/>
          <p:nvPr/>
        </p:nvSpPr>
        <p:spPr>
          <a:xfrm>
            <a:off x="9984491" y="308654"/>
            <a:ext cx="528000" cy="526847"/>
          </a:xfrm>
          <a:prstGeom prst="rect">
            <a:avLst/>
          </a:prstGeom>
          <a:solidFill>
            <a:srgbClr val="E50012"/>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2133" b="1" i="0" u="none" strike="noStrike" cap="none">
                <a:solidFill>
                  <a:schemeClr val="lt1"/>
                </a:solidFill>
                <a:latin typeface="Meiryo"/>
                <a:ea typeface="Meiryo"/>
                <a:cs typeface="Meiryo"/>
                <a:sym typeface="Meiryo"/>
              </a:rPr>
              <a:t>R</a:t>
            </a:r>
            <a:endParaRPr sz="2133" b="1" i="0" u="none" strike="noStrike" cap="none">
              <a:solidFill>
                <a:schemeClr val="lt1"/>
              </a:solidFill>
              <a:latin typeface="Meiryo"/>
              <a:ea typeface="Meiryo"/>
              <a:cs typeface="Meiryo"/>
              <a:sym typeface="Meiryo"/>
            </a:endParaRPr>
          </a:p>
        </p:txBody>
      </p:sp>
      <p:sp>
        <p:nvSpPr>
          <p:cNvPr id="2" name="Google Shape;237;p16">
            <a:extLst>
              <a:ext uri="{FF2B5EF4-FFF2-40B4-BE49-F238E27FC236}">
                <a16:creationId xmlns:a16="http://schemas.microsoft.com/office/drawing/2014/main" id="{2E31941E-5EB4-1252-E109-20255AC5B0B1}"/>
              </a:ext>
            </a:extLst>
          </p:cNvPr>
          <p:cNvSpPr/>
          <p:nvPr/>
        </p:nvSpPr>
        <p:spPr>
          <a:xfrm>
            <a:off x="3684383" y="2262716"/>
            <a:ext cx="789646" cy="203341"/>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a:solidFill>
                  <a:schemeClr val="dk1"/>
                </a:solidFill>
                <a:latin typeface="Meiryo"/>
                <a:ea typeface="Meiryo"/>
                <a:sym typeface="Meiryo"/>
              </a:rPr>
              <a:t>設計</a:t>
            </a:r>
            <a:endParaRPr sz="1867" b="0" i="0" u="none" strike="noStrike" cap="none">
              <a:solidFill>
                <a:srgbClr val="000000"/>
              </a:solidFill>
              <a:latin typeface="Arial"/>
              <a:ea typeface="Arial"/>
              <a:cs typeface="Arial"/>
              <a:sym typeface="Arial"/>
            </a:endParaRPr>
          </a:p>
        </p:txBody>
      </p:sp>
      <p:sp>
        <p:nvSpPr>
          <p:cNvPr id="3" name="Google Shape;237;p16">
            <a:extLst>
              <a:ext uri="{FF2B5EF4-FFF2-40B4-BE49-F238E27FC236}">
                <a16:creationId xmlns:a16="http://schemas.microsoft.com/office/drawing/2014/main" id="{ACEE62A7-9746-F38B-504B-8850C937595A}"/>
              </a:ext>
            </a:extLst>
          </p:cNvPr>
          <p:cNvSpPr/>
          <p:nvPr/>
        </p:nvSpPr>
        <p:spPr>
          <a:xfrm>
            <a:off x="4511697" y="2262714"/>
            <a:ext cx="789646" cy="203341"/>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i="0" u="none" strike="noStrike" cap="none">
                <a:solidFill>
                  <a:schemeClr val="dk1"/>
                </a:solidFill>
                <a:latin typeface="Meiryo"/>
                <a:ea typeface="Meiryo"/>
                <a:cs typeface="Arial"/>
                <a:sym typeface="Meiryo"/>
              </a:rPr>
              <a:t>開発</a:t>
            </a:r>
            <a:endParaRPr sz="1867" b="0" i="0" u="none" strike="noStrike" cap="none">
              <a:solidFill>
                <a:srgbClr val="000000"/>
              </a:solidFill>
              <a:latin typeface="Arial"/>
              <a:ea typeface="Arial"/>
              <a:cs typeface="Arial"/>
              <a:sym typeface="Arial"/>
            </a:endParaRPr>
          </a:p>
        </p:txBody>
      </p:sp>
      <p:sp>
        <p:nvSpPr>
          <p:cNvPr id="4" name="Google Shape;237;p16">
            <a:extLst>
              <a:ext uri="{FF2B5EF4-FFF2-40B4-BE49-F238E27FC236}">
                <a16:creationId xmlns:a16="http://schemas.microsoft.com/office/drawing/2014/main" id="{646C5D07-E34C-9C1E-162B-67AA5A46DAEB}"/>
              </a:ext>
            </a:extLst>
          </p:cNvPr>
          <p:cNvSpPr/>
          <p:nvPr/>
        </p:nvSpPr>
        <p:spPr>
          <a:xfrm>
            <a:off x="5339013" y="2447773"/>
            <a:ext cx="789646" cy="203341"/>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US" altLang="ja-JP" sz="1067" b="1">
                <a:solidFill>
                  <a:schemeClr val="dk1"/>
                </a:solidFill>
                <a:latin typeface="Meiryo"/>
                <a:ea typeface="Meiryo"/>
                <a:sym typeface="Meiryo"/>
              </a:rPr>
              <a:t>SIT</a:t>
            </a:r>
            <a:endParaRPr sz="1867" b="0" i="0" u="none" strike="noStrike" cap="none">
              <a:solidFill>
                <a:srgbClr val="000000"/>
              </a:solidFill>
              <a:latin typeface="Arial"/>
              <a:ea typeface="Arial"/>
              <a:cs typeface="Arial"/>
              <a:sym typeface="Arial"/>
            </a:endParaRPr>
          </a:p>
        </p:txBody>
      </p:sp>
      <p:sp>
        <p:nvSpPr>
          <p:cNvPr id="5" name="Google Shape;237;p16">
            <a:extLst>
              <a:ext uri="{FF2B5EF4-FFF2-40B4-BE49-F238E27FC236}">
                <a16:creationId xmlns:a16="http://schemas.microsoft.com/office/drawing/2014/main" id="{18CCB60D-E49F-6294-DACA-0E21B8D4EFAA}"/>
              </a:ext>
            </a:extLst>
          </p:cNvPr>
          <p:cNvSpPr/>
          <p:nvPr/>
        </p:nvSpPr>
        <p:spPr>
          <a:xfrm>
            <a:off x="5339013" y="2691608"/>
            <a:ext cx="789646" cy="203341"/>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US" altLang="ja-JP" sz="1067" b="1">
                <a:solidFill>
                  <a:schemeClr val="dk1"/>
                </a:solidFill>
                <a:latin typeface="Meiryo"/>
                <a:ea typeface="Meiryo"/>
                <a:sym typeface="Meiryo"/>
              </a:rPr>
              <a:t>E2E</a:t>
            </a:r>
            <a:endParaRPr sz="1867" b="0" i="0" u="none" strike="noStrike" cap="none">
              <a:solidFill>
                <a:srgbClr val="000000"/>
              </a:solidFill>
              <a:latin typeface="Arial"/>
              <a:ea typeface="Arial"/>
              <a:cs typeface="Arial"/>
              <a:sym typeface="Arial"/>
            </a:endParaRPr>
          </a:p>
        </p:txBody>
      </p:sp>
      <p:sp>
        <p:nvSpPr>
          <p:cNvPr id="6" name="Google Shape;237;p16">
            <a:extLst>
              <a:ext uri="{FF2B5EF4-FFF2-40B4-BE49-F238E27FC236}">
                <a16:creationId xmlns:a16="http://schemas.microsoft.com/office/drawing/2014/main" id="{EFF65C31-C540-204A-CE0A-ACD121BB5858}"/>
              </a:ext>
            </a:extLst>
          </p:cNvPr>
          <p:cNvSpPr/>
          <p:nvPr/>
        </p:nvSpPr>
        <p:spPr>
          <a:xfrm>
            <a:off x="6619112" y="2689658"/>
            <a:ext cx="789646" cy="203341"/>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en-US" altLang="ja-JP" sz="1067" b="1" i="0" u="none" strike="noStrike" cap="none">
                <a:solidFill>
                  <a:schemeClr val="dk1"/>
                </a:solidFill>
                <a:latin typeface="Meiryo"/>
                <a:ea typeface="Meiryo"/>
                <a:cs typeface="Arial"/>
                <a:sym typeface="Meiryo"/>
              </a:rPr>
              <a:t>UAT</a:t>
            </a:r>
            <a:endParaRPr sz="1867" b="0" i="0" u="none" strike="noStrike" cap="none">
              <a:solidFill>
                <a:srgbClr val="000000"/>
              </a:solidFill>
              <a:latin typeface="Arial"/>
              <a:ea typeface="Arial"/>
              <a:cs typeface="Arial"/>
              <a:sym typeface="Arial"/>
            </a:endParaRPr>
          </a:p>
        </p:txBody>
      </p:sp>
      <p:sp>
        <p:nvSpPr>
          <p:cNvPr id="7" name="Google Shape;237;p16">
            <a:extLst>
              <a:ext uri="{FF2B5EF4-FFF2-40B4-BE49-F238E27FC236}">
                <a16:creationId xmlns:a16="http://schemas.microsoft.com/office/drawing/2014/main" id="{273AC49A-6D3A-3FBC-3D20-B55321F5A3DA}"/>
              </a:ext>
            </a:extLst>
          </p:cNvPr>
          <p:cNvSpPr/>
          <p:nvPr/>
        </p:nvSpPr>
        <p:spPr>
          <a:xfrm>
            <a:off x="7439206" y="2689658"/>
            <a:ext cx="789646" cy="449648"/>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a:solidFill>
                  <a:schemeClr val="dk1"/>
                </a:solidFill>
                <a:latin typeface="Meiryo"/>
                <a:ea typeface="Meiryo"/>
                <a:sym typeface="Meiryo"/>
              </a:rPr>
              <a:t>移行</a:t>
            </a:r>
            <a:endParaRPr sz="1867" b="0" i="0" u="none" strike="noStrike" cap="none">
              <a:solidFill>
                <a:srgbClr val="000000"/>
              </a:solidFill>
              <a:latin typeface="Arial"/>
              <a:ea typeface="Arial"/>
              <a:cs typeface="Arial"/>
              <a:sym typeface="Arial"/>
            </a:endParaRPr>
          </a:p>
        </p:txBody>
      </p:sp>
      <p:sp>
        <p:nvSpPr>
          <p:cNvPr id="9" name="正方形/長方形 8">
            <a:extLst>
              <a:ext uri="{FF2B5EF4-FFF2-40B4-BE49-F238E27FC236}">
                <a16:creationId xmlns:a16="http://schemas.microsoft.com/office/drawing/2014/main" id="{4DA19CAC-FA98-8FBF-9041-A5537D3FA99D}"/>
              </a:ext>
            </a:extLst>
          </p:cNvPr>
          <p:cNvSpPr/>
          <p:nvPr/>
        </p:nvSpPr>
        <p:spPr>
          <a:xfrm>
            <a:off x="1260490" y="1727611"/>
            <a:ext cx="323561" cy="284675"/>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S1</a:t>
            </a:r>
            <a:endParaRPr kumimoji="1" lang="ja-JP" altLang="en-US" sz="800"/>
          </a:p>
        </p:txBody>
      </p:sp>
      <p:sp>
        <p:nvSpPr>
          <p:cNvPr id="10" name="正方形/長方形 9">
            <a:extLst>
              <a:ext uri="{FF2B5EF4-FFF2-40B4-BE49-F238E27FC236}">
                <a16:creationId xmlns:a16="http://schemas.microsoft.com/office/drawing/2014/main" id="{668E9659-A3BE-D69B-C734-13765525C513}"/>
              </a:ext>
            </a:extLst>
          </p:cNvPr>
          <p:cNvSpPr/>
          <p:nvPr/>
        </p:nvSpPr>
        <p:spPr>
          <a:xfrm>
            <a:off x="1260489" y="2021527"/>
            <a:ext cx="321554" cy="115997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800"/>
              <a:t>S3</a:t>
            </a:r>
            <a:endParaRPr kumimoji="1" lang="ja-JP" altLang="en-US" sz="800"/>
          </a:p>
        </p:txBody>
      </p:sp>
      <p:sp>
        <p:nvSpPr>
          <p:cNvPr id="11" name="Google Shape;230;p16">
            <a:extLst>
              <a:ext uri="{FF2B5EF4-FFF2-40B4-BE49-F238E27FC236}">
                <a16:creationId xmlns:a16="http://schemas.microsoft.com/office/drawing/2014/main" id="{811B3E9F-AB31-A639-36CB-5CC7EDDB99B5}"/>
              </a:ext>
            </a:extLst>
          </p:cNvPr>
          <p:cNvSpPr/>
          <p:nvPr/>
        </p:nvSpPr>
        <p:spPr>
          <a:xfrm>
            <a:off x="6629752" y="2925492"/>
            <a:ext cx="768120" cy="213814"/>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i="0" u="none" strike="noStrike" cap="none">
                <a:solidFill>
                  <a:schemeClr val="dk1"/>
                </a:solidFill>
                <a:latin typeface="Meiryo"/>
                <a:ea typeface="Meiryo"/>
                <a:cs typeface="Arial"/>
                <a:sym typeface="Meiryo"/>
              </a:rPr>
              <a:t>説明会</a:t>
            </a:r>
            <a:endParaRPr sz="1867" b="0" i="0" u="none" strike="noStrike" cap="none">
              <a:solidFill>
                <a:srgbClr val="000000"/>
              </a:solidFill>
              <a:latin typeface="Arial"/>
              <a:ea typeface="Arial"/>
              <a:cs typeface="Arial"/>
              <a:sym typeface="Arial"/>
            </a:endParaRPr>
          </a:p>
        </p:txBody>
      </p:sp>
      <p:sp>
        <p:nvSpPr>
          <p:cNvPr id="12" name="Google Shape;237;p16">
            <a:extLst>
              <a:ext uri="{FF2B5EF4-FFF2-40B4-BE49-F238E27FC236}">
                <a16:creationId xmlns:a16="http://schemas.microsoft.com/office/drawing/2014/main" id="{1809BB9C-5AC5-D329-BA95-2330D226F304}"/>
              </a:ext>
            </a:extLst>
          </p:cNvPr>
          <p:cNvSpPr/>
          <p:nvPr/>
        </p:nvSpPr>
        <p:spPr>
          <a:xfrm>
            <a:off x="8269438" y="2700668"/>
            <a:ext cx="789646" cy="449648"/>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1067" b="1" i="0" u="none" strike="noStrike" cap="none">
                <a:solidFill>
                  <a:schemeClr val="dk1"/>
                </a:solidFill>
                <a:latin typeface="Meiryo"/>
                <a:ea typeface="Meiryo"/>
                <a:cs typeface="Arial"/>
                <a:sym typeface="Meiryo"/>
              </a:rPr>
              <a:t>ハイパーケア</a:t>
            </a:r>
            <a:endParaRPr sz="1867" b="0" i="0" u="none" strike="noStrike" cap="none">
              <a:solidFill>
                <a:srgbClr val="000000"/>
              </a:solidFill>
              <a:latin typeface="Arial"/>
              <a:ea typeface="Arial"/>
              <a:cs typeface="Arial"/>
              <a:sym typeface="Arial"/>
            </a:endParaRPr>
          </a:p>
        </p:txBody>
      </p:sp>
      <p:sp>
        <p:nvSpPr>
          <p:cNvPr id="13" name="Google Shape;230;p16">
            <a:extLst>
              <a:ext uri="{FF2B5EF4-FFF2-40B4-BE49-F238E27FC236}">
                <a16:creationId xmlns:a16="http://schemas.microsoft.com/office/drawing/2014/main" id="{5E66F198-0B30-9E19-570E-67F4329EB5E5}"/>
              </a:ext>
            </a:extLst>
          </p:cNvPr>
          <p:cNvSpPr/>
          <p:nvPr/>
        </p:nvSpPr>
        <p:spPr>
          <a:xfrm>
            <a:off x="5343527" y="2936254"/>
            <a:ext cx="785131" cy="203341"/>
          </a:xfrm>
          <a:prstGeom prst="homePlate">
            <a:avLst>
              <a:gd name="adj" fmla="val 21842"/>
            </a:avLst>
          </a:prstGeom>
          <a:solidFill>
            <a:schemeClr val="lt1"/>
          </a:solidFill>
          <a:ln w="9525" cap="flat" cmpd="sng">
            <a:solidFill>
              <a:srgbClr val="7F7F7F"/>
            </a:solidFill>
            <a:prstDash val="solid"/>
            <a:round/>
            <a:headEnd type="none" w="sm" len="sm"/>
            <a:tailEnd type="none" w="sm" len="sm"/>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altLang="en-US" sz="900" b="1">
                <a:solidFill>
                  <a:schemeClr val="dk1"/>
                </a:solidFill>
                <a:latin typeface="Meiryo"/>
                <a:ea typeface="Meiryo"/>
                <a:sym typeface="Meiryo"/>
              </a:rPr>
              <a:t>移行計画</a:t>
            </a:r>
            <a:endParaRPr sz="9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graphicFrame>
        <p:nvGraphicFramePr>
          <p:cNvPr id="254" name="Google Shape;254;p17"/>
          <p:cNvGraphicFramePr/>
          <p:nvPr/>
        </p:nvGraphicFramePr>
        <p:xfrm>
          <a:off x="624418" y="1196975"/>
          <a:ext cx="10939183" cy="5040313"/>
        </p:xfrm>
        <a:graphic>
          <a:graphicData uri="http://schemas.openxmlformats.org/drawingml/2006/chart">
            <c:chart xmlns:c="http://schemas.openxmlformats.org/drawingml/2006/chart" xmlns:r="http://schemas.openxmlformats.org/officeDocument/2006/relationships" r:id="rId3"/>
          </a:graphicData>
        </a:graphic>
      </p:graphicFrame>
      <p:sp>
        <p:nvSpPr>
          <p:cNvPr id="255" name="Google Shape;255;p17"/>
          <p:cNvSpPr/>
          <p:nvPr/>
        </p:nvSpPr>
        <p:spPr>
          <a:xfrm rot="5400000" flipH="1">
            <a:off x="4753321" y="5522543"/>
            <a:ext cx="387883" cy="665292"/>
          </a:xfrm>
          <a:prstGeom prst="homePlate">
            <a:avLst>
              <a:gd name="adj" fmla="val 34307"/>
            </a:avLst>
          </a:prstGeom>
          <a:solidFill>
            <a:srgbClr val="E50012"/>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endParaRPr sz="1867" b="0" i="0" u="none" strike="noStrike" cap="none">
              <a:solidFill>
                <a:srgbClr val="000000"/>
              </a:solidFill>
              <a:latin typeface="Arial"/>
              <a:ea typeface="Arial"/>
              <a:cs typeface="Arial"/>
              <a:sym typeface="Arial"/>
            </a:endParaRPr>
          </a:p>
        </p:txBody>
      </p:sp>
      <p:sp>
        <p:nvSpPr>
          <p:cNvPr id="256" name="Google Shape;256;p17"/>
          <p:cNvSpPr txBox="1"/>
          <p:nvPr/>
        </p:nvSpPr>
        <p:spPr>
          <a:xfrm flipH="1">
            <a:off x="4614595" y="5727773"/>
            <a:ext cx="665292" cy="321347"/>
          </a:xfrm>
          <a:prstGeom prst="rect">
            <a:avLst/>
          </a:prstGeom>
          <a:no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r>
              <a:rPr lang="ja-JP" sz="1400" b="1" i="0" u="none" strike="noStrike" cap="none">
                <a:solidFill>
                  <a:schemeClr val="lt1"/>
                </a:solidFill>
                <a:latin typeface="Arial"/>
                <a:ea typeface="Arial"/>
                <a:cs typeface="Arial"/>
                <a:sym typeface="Arial"/>
              </a:rPr>
              <a:t>現在</a:t>
            </a:r>
            <a:endParaRPr sz="1867" b="0" i="0" u="none" strike="noStrike" cap="none">
              <a:solidFill>
                <a:srgbClr val="000000"/>
              </a:solidFill>
              <a:latin typeface="Arial"/>
              <a:ea typeface="Arial"/>
              <a:cs typeface="Arial"/>
              <a:sym typeface="Arial"/>
            </a:endParaRPr>
          </a:p>
        </p:txBody>
      </p:sp>
      <p:sp>
        <p:nvSpPr>
          <p:cNvPr id="257" name="Google Shape;257;p17"/>
          <p:cNvSpPr txBox="1">
            <a:spLocks noGrp="1"/>
          </p:cNvSpPr>
          <p:nvPr>
            <p:ph type="title"/>
          </p:nvPr>
        </p:nvSpPr>
        <p:spPr>
          <a:xfrm>
            <a:off x="630000" y="622800"/>
            <a:ext cx="10933600" cy="332399"/>
          </a:xfrm>
          <a:prstGeom prst="rect">
            <a:avLst/>
          </a:prstGeom>
          <a:noFill/>
          <a:ln>
            <a:noFill/>
          </a:ln>
        </p:spPr>
        <p:txBody>
          <a:bodyPr spcFirstLastPara="1" wrap="square" lIns="0" tIns="0" rIns="0" bIns="0" anchor="t" anchorCtr="0">
            <a:spAutoFit/>
          </a:bodyPr>
          <a:lstStyle/>
          <a:p>
            <a:pPr marL="0" lvl="0" indent="0" algn="l" rtl="0">
              <a:lnSpc>
                <a:spcPct val="90000"/>
              </a:lnSpc>
              <a:spcBef>
                <a:spcPts val="0"/>
              </a:spcBef>
              <a:spcAft>
                <a:spcPts val="0"/>
              </a:spcAft>
              <a:buClr>
                <a:srgbClr val="012916"/>
              </a:buClr>
              <a:buSzPts val="1800"/>
              <a:buFont typeface="MS PGothic"/>
              <a:buNone/>
            </a:pPr>
            <a:r>
              <a:rPr lang="ja-JP"/>
              <a:t>予算費消状況報告サンプル</a:t>
            </a:r>
            <a:r>
              <a:rPr lang="ja-JP" sz="1867"/>
              <a:t>（単位：百万円）</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6F7901-1851-E73A-0D77-32759A438121}"/>
              </a:ext>
            </a:extLst>
          </p:cNvPr>
          <p:cNvSpPr>
            <a:spLocks noGrp="1"/>
          </p:cNvSpPr>
          <p:nvPr>
            <p:ph type="title"/>
          </p:nvPr>
        </p:nvSpPr>
        <p:spPr/>
        <p:txBody>
          <a:bodyPr/>
          <a:lstStyle/>
          <a:p>
            <a:endParaRPr kumimoji="1" lang="ja-JP" altLang="en-US"/>
          </a:p>
        </p:txBody>
      </p:sp>
      <p:pic>
        <p:nvPicPr>
          <p:cNvPr id="3" name="図 2" descr="グラフ, ダイアグラム&#10;&#10;AI 生成コンテンツは間違っている可能性があります。">
            <a:extLst>
              <a:ext uri="{FF2B5EF4-FFF2-40B4-BE49-F238E27FC236}">
                <a16:creationId xmlns:a16="http://schemas.microsoft.com/office/drawing/2014/main" id="{3F92EFB5-3122-9AD8-8CEE-AC1FD3575390}"/>
              </a:ext>
            </a:extLst>
          </p:cNvPr>
          <p:cNvPicPr>
            <a:picLocks noChangeAspect="1"/>
          </p:cNvPicPr>
          <p:nvPr/>
        </p:nvPicPr>
        <p:blipFill>
          <a:blip r:embed="rId2"/>
          <a:stretch>
            <a:fillRect/>
          </a:stretch>
        </p:blipFill>
        <p:spPr>
          <a:xfrm>
            <a:off x="1638300" y="90488"/>
            <a:ext cx="8915400" cy="6677025"/>
          </a:xfrm>
          <a:prstGeom prst="rect">
            <a:avLst/>
          </a:prstGeom>
        </p:spPr>
      </p:pic>
    </p:spTree>
    <p:extLst>
      <p:ext uri="{BB962C8B-B14F-4D97-AF65-F5344CB8AC3E}">
        <p14:creationId xmlns:p14="http://schemas.microsoft.com/office/powerpoint/2010/main" val="1849297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55;p3">
            <a:extLst>
              <a:ext uri="{FF2B5EF4-FFF2-40B4-BE49-F238E27FC236}">
                <a16:creationId xmlns:a16="http://schemas.microsoft.com/office/drawing/2014/main" id="{6B252BA4-B162-F693-4A1C-2EDEF82B54E5}"/>
              </a:ext>
            </a:extLst>
          </p:cNvPr>
          <p:cNvSpPr txBox="1"/>
          <p:nvPr/>
        </p:nvSpPr>
        <p:spPr>
          <a:xfrm>
            <a:off x="526236" y="1089024"/>
            <a:ext cx="11149827" cy="2946492"/>
          </a:xfrm>
          <a:prstGeom prst="rect">
            <a:avLst/>
          </a:prstGeom>
          <a:solidFill>
            <a:srgbClr val="F2F2F2"/>
          </a:solidFill>
          <a:ln w="28575">
            <a:solidFill>
              <a:schemeClr val="bg1"/>
            </a:solidFill>
          </a:ln>
        </p:spPr>
        <p:txBody>
          <a:bodyPr spcFirstLastPara="1" wrap="square" lIns="360000" tIns="360000" rIns="360000" bIns="360000" anchor="ctr" anchorCtr="0">
            <a:noAutofit/>
          </a:bodyPr>
          <a:lstStyle/>
          <a:p>
            <a:pPr marL="342900" marR="0" lvl="0" indent="-342900" algn="l" defTabSz="914400" rtl="0" eaLnBrk="1" fontAlgn="auto" latinLnBrk="0" hangingPunct="1">
              <a:lnSpc>
                <a:spcPct val="100000"/>
              </a:lnSpc>
              <a:spcBef>
                <a:spcPts val="0"/>
              </a:spcBef>
              <a:spcAft>
                <a:spcPts val="1200"/>
              </a:spcAft>
              <a:buClr>
                <a:srgbClr val="BFBFBF"/>
              </a:buClr>
              <a:buSzPts val="1800"/>
              <a:buFont typeface="Noto Sans Symbols"/>
              <a:buChar char="■"/>
              <a:tabLst>
                <a:tab pos="630238" algn="l"/>
              </a:tabLst>
              <a:defRPr/>
            </a:pPr>
            <a:r>
              <a:rPr kumimoji="0" lang="ja-JP" altLang="en-US" sz="2000" b="0" i="0" strike="noStrike" kern="0" cap="none" spc="0" normalizeH="0" baseline="0" noProof="0">
                <a:ln>
                  <a:noFill/>
                </a:ln>
                <a:solidFill>
                  <a:srgbClr val="000000"/>
                </a:solidFill>
                <a:effectLst/>
                <a:uLnTx/>
                <a:uFillTx/>
                <a:latin typeface="Meiryo"/>
                <a:ea typeface="Meiryo"/>
                <a:cs typeface="Meiryo"/>
                <a:sym typeface="Meiryo"/>
              </a:rPr>
              <a:t>マスタ共通化による</a:t>
            </a:r>
            <a:r>
              <a:rPr kumimoji="0" lang="ja-JP" altLang="en-US" sz="2000" b="1" i="0" strike="noStrike" kern="0" cap="none" spc="0" normalizeH="0" baseline="0" noProof="0">
                <a:ln>
                  <a:noFill/>
                </a:ln>
                <a:solidFill>
                  <a:schemeClr val="accent5"/>
                </a:solidFill>
                <a:effectLst/>
                <a:uLnTx/>
                <a:uFillTx/>
                <a:latin typeface="Meiryo"/>
                <a:ea typeface="Meiryo"/>
                <a:cs typeface="Meiryo"/>
                <a:sym typeface="Meiryo"/>
              </a:rPr>
              <a:t>相互</a:t>
            </a:r>
            <a:r>
              <a:rPr kumimoji="0" lang="en-US" altLang="ja-JP" sz="2000" b="1" i="0" strike="noStrike" kern="0" cap="none" spc="0" normalizeH="0" baseline="0" noProof="0">
                <a:ln>
                  <a:noFill/>
                </a:ln>
                <a:solidFill>
                  <a:schemeClr val="accent5"/>
                </a:solidFill>
                <a:effectLst/>
                <a:uLnTx/>
                <a:uFillTx/>
                <a:latin typeface="Meiryo"/>
                <a:ea typeface="Meiryo"/>
                <a:cs typeface="Meiryo"/>
                <a:sym typeface="Meiryo"/>
              </a:rPr>
              <a:t>PB</a:t>
            </a:r>
            <a:r>
              <a:rPr kumimoji="0" lang="ja-JP" altLang="en-US" sz="2000" b="1" i="0" strike="noStrike" kern="0" cap="none" spc="0" normalizeH="0" baseline="0" noProof="0">
                <a:ln>
                  <a:noFill/>
                </a:ln>
                <a:solidFill>
                  <a:schemeClr val="accent5"/>
                </a:solidFill>
                <a:effectLst/>
                <a:uLnTx/>
                <a:uFillTx/>
                <a:latin typeface="Meiryo"/>
                <a:ea typeface="Meiryo"/>
                <a:cs typeface="Meiryo"/>
                <a:sym typeface="Meiryo"/>
              </a:rPr>
              <a:t>商品販売や各拠点からの相互店舗配送の実現化</a:t>
            </a:r>
            <a:br>
              <a:rPr kumimoji="0" lang="en-US" altLang="ja-JP" sz="2000" b="1" i="0" strike="noStrike" kern="0" cap="none" spc="0" normalizeH="0" baseline="0" noProof="0">
                <a:ln>
                  <a:noFill/>
                </a:ln>
                <a:solidFill>
                  <a:schemeClr val="accent5"/>
                </a:solidFill>
                <a:effectLst/>
                <a:uLnTx/>
                <a:uFillTx/>
                <a:latin typeface="Meiryo"/>
                <a:ea typeface="Meiryo"/>
                <a:cs typeface="Meiryo"/>
                <a:sym typeface="Meiryo"/>
              </a:rPr>
            </a:br>
            <a:r>
              <a:rPr kumimoji="0" lang="en-US" altLang="ja-JP" sz="2000" b="1" i="0" strike="noStrike" kern="0" cap="none" spc="0" normalizeH="0" baseline="0" noProof="0">
                <a:ln>
                  <a:noFill/>
                </a:ln>
                <a:solidFill>
                  <a:schemeClr val="accent5"/>
                </a:solidFill>
                <a:effectLst/>
                <a:uLnTx/>
                <a:uFillTx/>
                <a:latin typeface="Meiryo"/>
                <a:ea typeface="Meiryo"/>
                <a:cs typeface="Meiryo"/>
                <a:sym typeface="Meiryo"/>
              </a:rPr>
              <a:t>	</a:t>
            </a:r>
            <a:r>
              <a:rPr kumimoji="0" lang="ja-JP" altLang="en-US" sz="2000" i="0" strike="noStrike" kern="0" cap="none" spc="0" normalizeH="0" baseline="0" noProof="0">
                <a:ln>
                  <a:noFill/>
                </a:ln>
                <a:effectLst/>
                <a:uLnTx/>
                <a:uFillTx/>
                <a:latin typeface="Meiryo"/>
                <a:ea typeface="Meiryo"/>
                <a:cs typeface="Meiryo"/>
                <a:sym typeface="Meiryo"/>
              </a:rPr>
              <a:t>➡ </a:t>
            </a:r>
            <a:r>
              <a:rPr lang="ja-JP" altLang="en-US" sz="2000" kern="0">
                <a:solidFill>
                  <a:srgbClr val="000000"/>
                </a:solidFill>
                <a:latin typeface="Meiryo"/>
                <a:ea typeface="Meiryo"/>
                <a:cs typeface="Meiryo"/>
                <a:sym typeface="Meiryo"/>
              </a:rPr>
              <a:t>商品マスタ・店舗</a:t>
            </a:r>
            <a:r>
              <a:rPr lang="en-US" altLang="ja-JP" sz="2000" kern="0">
                <a:solidFill>
                  <a:srgbClr val="000000"/>
                </a:solidFill>
                <a:latin typeface="Meiryo"/>
                <a:ea typeface="Meiryo"/>
                <a:cs typeface="Meiryo"/>
                <a:sym typeface="Meiryo"/>
              </a:rPr>
              <a:t>/</a:t>
            </a:r>
            <a:r>
              <a:rPr lang="ja-JP" altLang="en-US" sz="2000" kern="0">
                <a:solidFill>
                  <a:srgbClr val="000000"/>
                </a:solidFill>
                <a:latin typeface="Meiryo"/>
                <a:ea typeface="Meiryo"/>
                <a:cs typeface="Meiryo"/>
                <a:sym typeface="Meiryo"/>
              </a:rPr>
              <a:t>拠点マスタ・仕入先マスタの統合</a:t>
            </a:r>
            <a:endParaRPr kumimoji="0" lang="en-US" sz="2000" b="0" i="0" strike="noStrike" kern="0" cap="none" spc="0" normalizeH="0" baseline="0" noProof="0">
              <a:ln>
                <a:noFill/>
              </a:ln>
              <a:solidFill>
                <a:srgbClr val="000000"/>
              </a:solidFill>
              <a:effectLst/>
              <a:uLnTx/>
              <a:uFillTx/>
              <a:latin typeface="Meiryo"/>
              <a:ea typeface="Meiryo"/>
              <a:cs typeface="Arial"/>
              <a:sym typeface="Meiryo"/>
            </a:endParaRPr>
          </a:p>
          <a:p>
            <a:pPr marL="342900" marR="0" lvl="0" indent="-342900" algn="l" defTabSz="914400" rtl="0" eaLnBrk="1" fontAlgn="auto" latinLnBrk="0" hangingPunct="1">
              <a:lnSpc>
                <a:spcPct val="100000"/>
              </a:lnSpc>
              <a:spcBef>
                <a:spcPts val="0"/>
              </a:spcBef>
              <a:spcAft>
                <a:spcPts val="1200"/>
              </a:spcAft>
              <a:buClr>
                <a:srgbClr val="BFBFBF"/>
              </a:buClr>
              <a:buSzPts val="1800"/>
              <a:buFont typeface="Noto Sans Symbols"/>
              <a:buChar char="■"/>
              <a:tabLst/>
              <a:defRPr/>
            </a:pPr>
            <a:r>
              <a:rPr lang="ja-JP" altLang="en-US" sz="2000" kern="0">
                <a:solidFill>
                  <a:srgbClr val="000000"/>
                </a:solidFill>
                <a:latin typeface="Meiryo"/>
                <a:ea typeface="Meiryo"/>
                <a:cs typeface="Arial"/>
              </a:rPr>
              <a:t>トライアル・西友の商品部の</a:t>
            </a:r>
            <a:r>
              <a:rPr lang="ja-JP" altLang="en-US" sz="2000" b="1" kern="0">
                <a:solidFill>
                  <a:schemeClr val="accent5"/>
                </a:solidFill>
                <a:latin typeface="Meiryo"/>
                <a:ea typeface="Meiryo"/>
                <a:cs typeface="Arial"/>
              </a:rPr>
              <a:t>一体運営の推進</a:t>
            </a:r>
            <a:endParaRPr lang="ja-JP" altLang="en-US" sz="2000" kern="0">
              <a:solidFill>
                <a:schemeClr val="accent5"/>
              </a:solidFill>
              <a:latin typeface="Meiryo"/>
              <a:ea typeface="Meiryo"/>
              <a:cs typeface="Arial"/>
            </a:endParaRPr>
          </a:p>
          <a:p>
            <a:pPr marL="342900" marR="0" lvl="0" indent="-342900" algn="l" defTabSz="914400" rtl="0" eaLnBrk="1" fontAlgn="auto" latinLnBrk="0" hangingPunct="1">
              <a:lnSpc>
                <a:spcPct val="100000"/>
              </a:lnSpc>
              <a:spcBef>
                <a:spcPts val="0"/>
              </a:spcBef>
              <a:spcAft>
                <a:spcPts val="1200"/>
              </a:spcAft>
              <a:buClr>
                <a:srgbClr val="BFBFBF"/>
              </a:buClr>
              <a:buSzPts val="1800"/>
              <a:buFont typeface="Noto Sans Symbols"/>
              <a:buChar char="■"/>
              <a:tabLst/>
              <a:defRPr/>
            </a:pPr>
            <a:r>
              <a:rPr lang="ja-JP" altLang="en-US" sz="2000" kern="0">
                <a:solidFill>
                  <a:srgbClr val="000000"/>
                </a:solidFill>
                <a:latin typeface="Meiryo"/>
                <a:ea typeface="Meiryo"/>
                <a:cs typeface="Arial"/>
                <a:sym typeface="Arial"/>
              </a:rPr>
              <a:t>システム共通化による</a:t>
            </a:r>
            <a:r>
              <a:rPr lang="ja-JP" altLang="en-US" sz="2000" b="1" kern="0">
                <a:solidFill>
                  <a:srgbClr val="000000"/>
                </a:solidFill>
                <a:latin typeface="Meiryo"/>
                <a:ea typeface="Meiryo"/>
                <a:cs typeface="Arial"/>
                <a:sym typeface="Arial"/>
              </a:rPr>
              <a:t>システムサポート費用の削減</a:t>
            </a:r>
            <a:endParaRPr lang="en-US" altLang="ja-JP" sz="2000" b="1" kern="0">
              <a:solidFill>
                <a:srgbClr val="000000"/>
              </a:solidFill>
              <a:latin typeface="Meiryo"/>
              <a:ea typeface="Meiryo"/>
              <a:cs typeface="Arial"/>
              <a:sym typeface="Arial"/>
            </a:endParaRPr>
          </a:p>
          <a:p>
            <a:pPr marL="342900" marR="0" lvl="0" indent="-342900" algn="l" defTabSz="914400" rtl="0" eaLnBrk="1" fontAlgn="auto" latinLnBrk="0" hangingPunct="1">
              <a:lnSpc>
                <a:spcPct val="100000"/>
              </a:lnSpc>
              <a:spcBef>
                <a:spcPts val="0"/>
              </a:spcBef>
              <a:spcAft>
                <a:spcPts val="1200"/>
              </a:spcAft>
              <a:buClr>
                <a:srgbClr val="BFBFBF"/>
              </a:buClr>
              <a:buSzPts val="1800"/>
              <a:buFont typeface="Noto Sans Symbols"/>
              <a:buChar char="■"/>
              <a:tabLst>
                <a:tab pos="630238" algn="l"/>
              </a:tabLst>
              <a:defRPr/>
            </a:pPr>
            <a:r>
              <a:rPr lang="ja-JP" altLang="en-US" sz="2000" kern="0">
                <a:solidFill>
                  <a:srgbClr val="000000"/>
                </a:solidFill>
                <a:latin typeface="Meiryo"/>
                <a:ea typeface="Meiryo"/>
                <a:cs typeface="Arial"/>
                <a:sym typeface="Arial"/>
              </a:rPr>
              <a:t>システムエンジニア内製化によるシステム改善の</a:t>
            </a:r>
            <a:r>
              <a:rPr lang="ja-JP" altLang="en-US" sz="2000" b="1" kern="0">
                <a:solidFill>
                  <a:srgbClr val="000000"/>
                </a:solidFill>
                <a:latin typeface="Meiryo"/>
                <a:ea typeface="Meiryo"/>
                <a:cs typeface="Arial"/>
                <a:sym typeface="Arial"/>
              </a:rPr>
              <a:t>低コスト・早期対応の実現</a:t>
            </a:r>
            <a:br>
              <a:rPr lang="en-US" altLang="ja-JP" sz="2000" b="1" kern="0">
                <a:solidFill>
                  <a:srgbClr val="000000"/>
                </a:solidFill>
                <a:latin typeface="Meiryo"/>
                <a:ea typeface="Meiryo"/>
                <a:cs typeface="Arial"/>
                <a:sym typeface="Arial"/>
              </a:rPr>
            </a:br>
            <a:r>
              <a:rPr lang="en-US" altLang="ja-JP" sz="2000" b="1" kern="0">
                <a:solidFill>
                  <a:srgbClr val="000000"/>
                </a:solidFill>
                <a:latin typeface="Meiryo"/>
                <a:ea typeface="Meiryo"/>
                <a:cs typeface="Arial"/>
                <a:sym typeface="Arial"/>
              </a:rPr>
              <a:t>	</a:t>
            </a:r>
            <a:r>
              <a:rPr lang="ja-JP" altLang="en-US" sz="2000" kern="0">
                <a:solidFill>
                  <a:srgbClr val="000000"/>
                </a:solidFill>
                <a:latin typeface="Meiryo"/>
                <a:ea typeface="Meiryo"/>
                <a:cs typeface="Arial"/>
                <a:sym typeface="Arial"/>
              </a:rPr>
              <a:t>➡ ベンダーロックからの脱却</a:t>
            </a:r>
          </a:p>
        </p:txBody>
      </p:sp>
      <p:sp>
        <p:nvSpPr>
          <p:cNvPr id="6" name="Rectangle 1">
            <a:extLst>
              <a:ext uri="{FF2B5EF4-FFF2-40B4-BE49-F238E27FC236}">
                <a16:creationId xmlns:a16="http://schemas.microsoft.com/office/drawing/2014/main" id="{9D465488-2503-881B-7E94-BFFD0036020A}"/>
              </a:ext>
            </a:extLst>
          </p:cNvPr>
          <p:cNvSpPr/>
          <p:nvPr/>
        </p:nvSpPr>
        <p:spPr>
          <a:xfrm>
            <a:off x="526234" y="4035516"/>
            <a:ext cx="11160125" cy="2238284"/>
          </a:xfrm>
          <a:prstGeom prst="rect">
            <a:avLst/>
          </a:prstGeom>
          <a:solidFill>
            <a:srgbClr val="FDEDED"/>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sz="2000" b="1">
                <a:solidFill>
                  <a:schemeClr val="accent5"/>
                </a:solidFill>
                <a:latin typeface="メイリオ"/>
                <a:ea typeface="メイリオ"/>
              </a:rPr>
              <a:t>トライアル・西友個別ではなく、一体的に考えた場合に、</a:t>
            </a:r>
            <a:endParaRPr lang="en-US" altLang="ja-JP" sz="2000" b="1">
              <a:solidFill>
                <a:schemeClr val="accent5"/>
              </a:solidFill>
              <a:latin typeface="メイリオ"/>
              <a:ea typeface="メイリオ"/>
            </a:endParaRPr>
          </a:p>
          <a:p>
            <a:pPr algn="ctr"/>
            <a:r>
              <a:rPr lang="ja-JP" altLang="en-US" sz="2000" b="1">
                <a:solidFill>
                  <a:schemeClr val="accent5"/>
                </a:solidFill>
                <a:latin typeface="メイリオ"/>
                <a:ea typeface="メイリオ"/>
              </a:rPr>
              <a:t>より良い機能、より効果的・効率的に業務を運営するために必要な機能は対応します</a:t>
            </a:r>
          </a:p>
          <a:p>
            <a:pPr algn="ctr"/>
            <a:endParaRPr lang="ja-JP" altLang="en-US" sz="1100" b="1">
              <a:solidFill>
                <a:schemeClr val="accent6"/>
              </a:solidFill>
              <a:latin typeface="メイリオ" panose="020B0604030504040204" pitchFamily="50" charset="-128"/>
              <a:ea typeface="メイリオ" panose="020B0604030504040204" pitchFamily="50" charset="-128"/>
            </a:endParaRPr>
          </a:p>
          <a:p>
            <a:pPr algn="ctr"/>
            <a:r>
              <a:rPr lang="ja-JP" altLang="en-US" b="1">
                <a:solidFill>
                  <a:schemeClr val="tx1"/>
                </a:solidFill>
                <a:latin typeface="メイリオ"/>
                <a:ea typeface="メイリオ"/>
              </a:rPr>
              <a:t>下記の理由で既存システムを残す判断をしていますが、次期システムへの統合を見据えています</a:t>
            </a:r>
          </a:p>
          <a:p>
            <a:pPr marL="444500" indent="-85725"/>
            <a:r>
              <a:rPr lang="ja-JP" altLang="en-US" sz="1600" b="1" u="sng">
                <a:solidFill>
                  <a:schemeClr val="tx1"/>
                </a:solidFill>
                <a:latin typeface="メイリオ"/>
                <a:ea typeface="メイリオ"/>
              </a:rPr>
              <a:t>自動発注</a:t>
            </a:r>
            <a:r>
              <a:rPr lang="ja-JP" altLang="en-US" sz="1600">
                <a:solidFill>
                  <a:schemeClr val="tx1"/>
                </a:solidFill>
                <a:latin typeface="メイリオ"/>
                <a:ea typeface="メイリオ"/>
              </a:rPr>
              <a:t>：TR自動発注では生鮮領域の自動発注がなく、次期自動発注（Retail-cix）の検討が進んでいる</a:t>
            </a:r>
          </a:p>
          <a:p>
            <a:pPr marL="444500" indent="-85725"/>
            <a:r>
              <a:rPr lang="ja-JP" altLang="en-US" sz="1600" b="1" u="sng">
                <a:solidFill>
                  <a:schemeClr val="tx1"/>
                </a:solidFill>
                <a:latin typeface="メイリオ"/>
                <a:ea typeface="メイリオ"/>
              </a:rPr>
              <a:t>棚割</a:t>
            </a:r>
            <a:r>
              <a:rPr lang="ja-JP" altLang="en-US" sz="1600">
                <a:solidFill>
                  <a:schemeClr val="tx1"/>
                </a:solidFill>
                <a:latin typeface="メイリオ"/>
                <a:ea typeface="メイリオ"/>
              </a:rPr>
              <a:t>：次期棚割システムの検討が進んでいる。共通棚割情報（PTS）のため、システムは違っても業務影響はない</a:t>
            </a:r>
            <a:endParaRPr lang="ja-JP" altLang="en-US" sz="1600">
              <a:solidFill>
                <a:schemeClr val="tx1"/>
              </a:solidFill>
              <a:latin typeface="メイリオ" panose="020B0604030504040204" pitchFamily="50" charset="-128"/>
              <a:ea typeface="メイリオ" panose="020B0604030504040204" pitchFamily="50" charset="-128"/>
            </a:endParaRPr>
          </a:p>
        </p:txBody>
      </p:sp>
      <p:sp>
        <p:nvSpPr>
          <p:cNvPr id="4" name="Google Shape;108;p11">
            <a:extLst>
              <a:ext uri="{FF2B5EF4-FFF2-40B4-BE49-F238E27FC236}">
                <a16:creationId xmlns:a16="http://schemas.microsoft.com/office/drawing/2014/main" id="{A94AA5A3-22D7-CBB6-7A6A-150056297A0D}"/>
              </a:ext>
            </a:extLst>
          </p:cNvPr>
          <p:cNvSpPr txBox="1">
            <a:spLocks/>
          </p:cNvSpPr>
          <p:nvPr/>
        </p:nvSpPr>
        <p:spPr>
          <a:xfrm>
            <a:off x="527760" y="476672"/>
            <a:ext cx="10933600" cy="387798"/>
          </a:xfrm>
          <a:prstGeom prst="rect">
            <a:avLst/>
          </a:prstGeom>
          <a:noFill/>
          <a:ln>
            <a:noFill/>
          </a:ln>
        </p:spPr>
        <p:txBody>
          <a:bodyPr spcFirstLastPara="1" wrap="square" lIns="0" tIns="0" rIns="0" bIns="0" anchor="t" anchorCtr="0">
            <a:spAutoFit/>
          </a:bodyPr>
          <a:lstStyle>
            <a:lvl1pPr marR="0" lvl="0" algn="l" defTabSz="914377" rtl="0" eaLnBrk="1" latinLnBrk="0" hangingPunct="1">
              <a:lnSpc>
                <a:spcPct val="90000"/>
              </a:lnSpc>
              <a:spcBef>
                <a:spcPts val="0"/>
              </a:spcBef>
              <a:spcAft>
                <a:spcPts val="0"/>
              </a:spcAft>
              <a:buClr>
                <a:srgbClr val="012916"/>
              </a:buClr>
              <a:buSzPts val="1800"/>
              <a:buFont typeface="MS PGothic"/>
              <a:buNone/>
              <a:defRPr kumimoji="1" sz="2400" b="1" i="0" u="none" strike="noStrike" kern="1200" cap="none" baseline="0">
                <a:solidFill>
                  <a:srgbClr val="000000"/>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r>
              <a:rPr lang="en-US" altLang="ja-JP" sz="2800"/>
              <a:t>4.</a:t>
            </a:r>
            <a:r>
              <a:rPr lang="ja-JP" altLang="en-US" sz="2800"/>
              <a:t> システム統合のメリット</a:t>
            </a:r>
          </a:p>
        </p:txBody>
      </p:sp>
    </p:spTree>
    <p:extLst>
      <p:ext uri="{BB962C8B-B14F-4D97-AF65-F5344CB8AC3E}">
        <p14:creationId xmlns:p14="http://schemas.microsoft.com/office/powerpoint/2010/main" val="22196396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E4BA-0799-3704-048C-3B2A33F5C94D}"/>
            </a:ext>
          </a:extLst>
        </p:cNvPr>
        <p:cNvGrpSpPr/>
        <p:nvPr/>
      </p:nvGrpSpPr>
      <p:grpSpPr>
        <a:xfrm>
          <a:off x="0" y="0"/>
          <a:ext cx="0" cy="0"/>
          <a:chOff x="0" y="0"/>
          <a:chExt cx="0" cy="0"/>
        </a:xfrm>
      </p:grpSpPr>
      <p:graphicFrame>
        <p:nvGraphicFramePr>
          <p:cNvPr id="9" name="Google Shape;147;p1">
            <a:extLst>
              <a:ext uri="{FF2B5EF4-FFF2-40B4-BE49-F238E27FC236}">
                <a16:creationId xmlns:a16="http://schemas.microsoft.com/office/drawing/2014/main" id="{0EA20C42-375D-A41F-3A53-01A637723F59}"/>
              </a:ext>
            </a:extLst>
          </p:cNvPr>
          <p:cNvGraphicFramePr/>
          <p:nvPr/>
        </p:nvGraphicFramePr>
        <p:xfrm>
          <a:off x="515937" y="1088740"/>
          <a:ext cx="11160000" cy="5202480"/>
        </p:xfrm>
        <a:graphic>
          <a:graphicData uri="http://schemas.openxmlformats.org/drawingml/2006/table">
            <a:tbl>
              <a:tblPr firstRow="1" bandRow="1">
                <a:noFill/>
              </a:tblPr>
              <a:tblGrid>
                <a:gridCol w="756000">
                  <a:extLst>
                    <a:ext uri="{9D8B030D-6E8A-4147-A177-3AD203B41FA5}">
                      <a16:colId xmlns:a16="http://schemas.microsoft.com/office/drawing/2014/main" val="20000"/>
                    </a:ext>
                  </a:extLst>
                </a:gridCol>
                <a:gridCol w="1764000">
                  <a:extLst>
                    <a:ext uri="{9D8B030D-6E8A-4147-A177-3AD203B41FA5}">
                      <a16:colId xmlns:a16="http://schemas.microsoft.com/office/drawing/2014/main" val="20001"/>
                    </a:ext>
                  </a:extLst>
                </a:gridCol>
                <a:gridCol w="288000">
                  <a:extLst>
                    <a:ext uri="{9D8B030D-6E8A-4147-A177-3AD203B41FA5}">
                      <a16:colId xmlns:a16="http://schemas.microsoft.com/office/drawing/2014/main" val="20005"/>
                    </a:ext>
                  </a:extLst>
                </a:gridCol>
                <a:gridCol w="288000">
                  <a:extLst>
                    <a:ext uri="{9D8B030D-6E8A-4147-A177-3AD203B41FA5}">
                      <a16:colId xmlns:a16="http://schemas.microsoft.com/office/drawing/2014/main" val="20006"/>
                    </a:ext>
                  </a:extLst>
                </a:gridCol>
                <a:gridCol w="288000">
                  <a:extLst>
                    <a:ext uri="{9D8B030D-6E8A-4147-A177-3AD203B41FA5}">
                      <a16:colId xmlns:a16="http://schemas.microsoft.com/office/drawing/2014/main" val="20007"/>
                    </a:ext>
                  </a:extLst>
                </a:gridCol>
                <a:gridCol w="288000">
                  <a:extLst>
                    <a:ext uri="{9D8B030D-6E8A-4147-A177-3AD203B41FA5}">
                      <a16:colId xmlns:a16="http://schemas.microsoft.com/office/drawing/2014/main" val="20008"/>
                    </a:ext>
                  </a:extLst>
                </a:gridCol>
                <a:gridCol w="288000">
                  <a:extLst>
                    <a:ext uri="{9D8B030D-6E8A-4147-A177-3AD203B41FA5}">
                      <a16:colId xmlns:a16="http://schemas.microsoft.com/office/drawing/2014/main" val="20009"/>
                    </a:ext>
                  </a:extLst>
                </a:gridCol>
                <a:gridCol w="288000">
                  <a:extLst>
                    <a:ext uri="{9D8B030D-6E8A-4147-A177-3AD203B41FA5}">
                      <a16:colId xmlns:a16="http://schemas.microsoft.com/office/drawing/2014/main" val="20010"/>
                    </a:ext>
                  </a:extLst>
                </a:gridCol>
                <a:gridCol w="288000">
                  <a:extLst>
                    <a:ext uri="{9D8B030D-6E8A-4147-A177-3AD203B41FA5}">
                      <a16:colId xmlns:a16="http://schemas.microsoft.com/office/drawing/2014/main" val="20011"/>
                    </a:ext>
                  </a:extLst>
                </a:gridCol>
                <a:gridCol w="215971">
                  <a:extLst>
                    <a:ext uri="{9D8B030D-6E8A-4147-A177-3AD203B41FA5}">
                      <a16:colId xmlns:a16="http://schemas.microsoft.com/office/drawing/2014/main" val="20012"/>
                    </a:ext>
                  </a:extLst>
                </a:gridCol>
                <a:gridCol w="360029">
                  <a:extLst>
                    <a:ext uri="{9D8B030D-6E8A-4147-A177-3AD203B41FA5}">
                      <a16:colId xmlns:a16="http://schemas.microsoft.com/office/drawing/2014/main" val="20013"/>
                    </a:ext>
                  </a:extLst>
                </a:gridCol>
                <a:gridCol w="288000">
                  <a:extLst>
                    <a:ext uri="{9D8B030D-6E8A-4147-A177-3AD203B41FA5}">
                      <a16:colId xmlns:a16="http://schemas.microsoft.com/office/drawing/2014/main" val="20014"/>
                    </a:ext>
                  </a:extLst>
                </a:gridCol>
                <a:gridCol w="288000">
                  <a:extLst>
                    <a:ext uri="{9D8B030D-6E8A-4147-A177-3AD203B41FA5}">
                      <a16:colId xmlns:a16="http://schemas.microsoft.com/office/drawing/2014/main" val="20015"/>
                    </a:ext>
                  </a:extLst>
                </a:gridCol>
                <a:gridCol w="288000">
                  <a:extLst>
                    <a:ext uri="{9D8B030D-6E8A-4147-A177-3AD203B41FA5}">
                      <a16:colId xmlns:a16="http://schemas.microsoft.com/office/drawing/2014/main" val="20016"/>
                    </a:ext>
                  </a:extLst>
                </a:gridCol>
                <a:gridCol w="288000">
                  <a:extLst>
                    <a:ext uri="{9D8B030D-6E8A-4147-A177-3AD203B41FA5}">
                      <a16:colId xmlns:a16="http://schemas.microsoft.com/office/drawing/2014/main" val="20017"/>
                    </a:ext>
                  </a:extLst>
                </a:gridCol>
                <a:gridCol w="288000">
                  <a:extLst>
                    <a:ext uri="{9D8B030D-6E8A-4147-A177-3AD203B41FA5}">
                      <a16:colId xmlns:a16="http://schemas.microsoft.com/office/drawing/2014/main" val="20018"/>
                    </a:ext>
                  </a:extLst>
                </a:gridCol>
                <a:gridCol w="288000">
                  <a:extLst>
                    <a:ext uri="{9D8B030D-6E8A-4147-A177-3AD203B41FA5}">
                      <a16:colId xmlns:a16="http://schemas.microsoft.com/office/drawing/2014/main" val="20019"/>
                    </a:ext>
                  </a:extLst>
                </a:gridCol>
                <a:gridCol w="288000">
                  <a:extLst>
                    <a:ext uri="{9D8B030D-6E8A-4147-A177-3AD203B41FA5}">
                      <a16:colId xmlns:a16="http://schemas.microsoft.com/office/drawing/2014/main" val="3408758122"/>
                    </a:ext>
                  </a:extLst>
                </a:gridCol>
                <a:gridCol w="288000">
                  <a:extLst>
                    <a:ext uri="{9D8B030D-6E8A-4147-A177-3AD203B41FA5}">
                      <a16:colId xmlns:a16="http://schemas.microsoft.com/office/drawing/2014/main" val="1967163736"/>
                    </a:ext>
                  </a:extLst>
                </a:gridCol>
                <a:gridCol w="288000">
                  <a:extLst>
                    <a:ext uri="{9D8B030D-6E8A-4147-A177-3AD203B41FA5}">
                      <a16:colId xmlns:a16="http://schemas.microsoft.com/office/drawing/2014/main" val="4137116622"/>
                    </a:ext>
                  </a:extLst>
                </a:gridCol>
                <a:gridCol w="288000">
                  <a:extLst>
                    <a:ext uri="{9D8B030D-6E8A-4147-A177-3AD203B41FA5}">
                      <a16:colId xmlns:a16="http://schemas.microsoft.com/office/drawing/2014/main" val="1583594224"/>
                    </a:ext>
                  </a:extLst>
                </a:gridCol>
                <a:gridCol w="288000">
                  <a:extLst>
                    <a:ext uri="{9D8B030D-6E8A-4147-A177-3AD203B41FA5}">
                      <a16:colId xmlns:a16="http://schemas.microsoft.com/office/drawing/2014/main" val="2359424389"/>
                    </a:ext>
                  </a:extLst>
                </a:gridCol>
                <a:gridCol w="288000">
                  <a:extLst>
                    <a:ext uri="{9D8B030D-6E8A-4147-A177-3AD203B41FA5}">
                      <a16:colId xmlns:a16="http://schemas.microsoft.com/office/drawing/2014/main" val="4287212319"/>
                    </a:ext>
                  </a:extLst>
                </a:gridCol>
                <a:gridCol w="288000">
                  <a:extLst>
                    <a:ext uri="{9D8B030D-6E8A-4147-A177-3AD203B41FA5}">
                      <a16:colId xmlns:a16="http://schemas.microsoft.com/office/drawing/2014/main" val="3068024847"/>
                    </a:ext>
                  </a:extLst>
                </a:gridCol>
                <a:gridCol w="288000">
                  <a:extLst>
                    <a:ext uri="{9D8B030D-6E8A-4147-A177-3AD203B41FA5}">
                      <a16:colId xmlns:a16="http://schemas.microsoft.com/office/drawing/2014/main" val="2725089243"/>
                    </a:ext>
                  </a:extLst>
                </a:gridCol>
                <a:gridCol w="288000">
                  <a:extLst>
                    <a:ext uri="{9D8B030D-6E8A-4147-A177-3AD203B41FA5}">
                      <a16:colId xmlns:a16="http://schemas.microsoft.com/office/drawing/2014/main" val="943934696"/>
                    </a:ext>
                  </a:extLst>
                </a:gridCol>
                <a:gridCol w="288000">
                  <a:extLst>
                    <a:ext uri="{9D8B030D-6E8A-4147-A177-3AD203B41FA5}">
                      <a16:colId xmlns:a16="http://schemas.microsoft.com/office/drawing/2014/main" val="1653362742"/>
                    </a:ext>
                  </a:extLst>
                </a:gridCol>
                <a:gridCol w="288000">
                  <a:extLst>
                    <a:ext uri="{9D8B030D-6E8A-4147-A177-3AD203B41FA5}">
                      <a16:colId xmlns:a16="http://schemas.microsoft.com/office/drawing/2014/main" val="2425998291"/>
                    </a:ext>
                  </a:extLst>
                </a:gridCol>
                <a:gridCol w="288000">
                  <a:extLst>
                    <a:ext uri="{9D8B030D-6E8A-4147-A177-3AD203B41FA5}">
                      <a16:colId xmlns:a16="http://schemas.microsoft.com/office/drawing/2014/main" val="2670269525"/>
                    </a:ext>
                  </a:extLst>
                </a:gridCol>
                <a:gridCol w="288000">
                  <a:extLst>
                    <a:ext uri="{9D8B030D-6E8A-4147-A177-3AD203B41FA5}">
                      <a16:colId xmlns:a16="http://schemas.microsoft.com/office/drawing/2014/main" val="1516208101"/>
                    </a:ext>
                  </a:extLst>
                </a:gridCol>
                <a:gridCol w="288000">
                  <a:extLst>
                    <a:ext uri="{9D8B030D-6E8A-4147-A177-3AD203B41FA5}">
                      <a16:colId xmlns:a16="http://schemas.microsoft.com/office/drawing/2014/main" val="3528581714"/>
                    </a:ext>
                  </a:extLst>
                </a:gridCol>
                <a:gridCol w="288000">
                  <a:extLst>
                    <a:ext uri="{9D8B030D-6E8A-4147-A177-3AD203B41FA5}">
                      <a16:colId xmlns:a16="http://schemas.microsoft.com/office/drawing/2014/main" val="750660328"/>
                    </a:ext>
                  </a:extLst>
                </a:gridCol>
              </a:tblGrid>
              <a:tr h="0">
                <a:tc rowSpan="2" gridSpan="2">
                  <a:txBody>
                    <a:bodyPr/>
                    <a:lstStyle/>
                    <a:p>
                      <a:pPr marL="0" marR="0" lvl="0" indent="0" algn="l" defTabSz="914377" rtl="0" eaLnBrk="1" fontAlgn="auto" latinLnBrk="0" hangingPunct="1">
                        <a:lnSpc>
                          <a:spcPct val="100000"/>
                        </a:lnSpc>
                        <a:spcBef>
                          <a:spcPts val="0"/>
                        </a:spcBef>
                        <a:spcAft>
                          <a:spcPts val="0"/>
                        </a:spcAft>
                        <a:buClr>
                          <a:srgbClr val="000000"/>
                        </a:buClr>
                        <a:buSzPts val="800"/>
                        <a:buFont typeface="Arial"/>
                        <a:buNone/>
                        <a:tabLst/>
                        <a:defRPr/>
                      </a:pPr>
                      <a:r>
                        <a:rPr lang="ja-JP" altLang="en-US" sz="1400" b="1">
                          <a:solidFill>
                            <a:schemeClr val="accent5"/>
                          </a:solidFill>
                          <a:latin typeface="メイリオ" panose="020B0604030504040204" pitchFamily="50" charset="-128"/>
                          <a:ea typeface="メイリオ" panose="020B0604030504040204" pitchFamily="50" charset="-128"/>
                        </a:rPr>
                        <a:t>Step2マスタ刷新プロジェクトは継続決定</a:t>
                      </a: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lt1"/>
                    </a:solidFill>
                  </a:tcPr>
                </a:tc>
                <a:tc rowSpan="2"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lang="ja-JP" sz="1100" b="1" u="none" strike="noStrike" cap="none">
                          <a:solidFill>
                            <a:schemeClr val="bg1"/>
                          </a:solidFill>
                          <a:latin typeface="メイリオ"/>
                          <a:ea typeface="メイリオ"/>
                          <a:cs typeface="Meiryo"/>
                          <a:sym typeface="Meiryo"/>
                        </a:rPr>
                        <a:t>2026</a:t>
                      </a:r>
                      <a:endParaRPr sz="1100" b="1" u="none" strike="noStrike" cap="none">
                        <a:solidFill>
                          <a:schemeClr val="bg1"/>
                        </a:solidFill>
                        <a:latin typeface="メイリオ"/>
                        <a:ea typeface="メイリオ"/>
                        <a:cs typeface="Meiryo"/>
                        <a:sym typeface="Meiryo"/>
                      </a:endParaRPr>
                    </a:p>
                  </a:txBody>
                  <a:tcPr marL="36000" marR="36000" marT="46800" marB="468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hMerge="1">
                  <a:txBody>
                    <a:bodyPr/>
                    <a:lstStyle/>
                    <a:p>
                      <a:endParaRPr lang="ja-JP"/>
                    </a:p>
                  </a:txBody>
                  <a:tcPr/>
                </a:tc>
                <a:tc gridSpan="12">
                  <a:txBody>
                    <a:bodyPr/>
                    <a:lstStyle/>
                    <a:p>
                      <a:pPr marL="0" marR="0" lvl="0" indent="0" algn="l" rtl="0">
                        <a:lnSpc>
                          <a:spcPct val="100000"/>
                        </a:lnSpc>
                        <a:spcBef>
                          <a:spcPts val="0"/>
                        </a:spcBef>
                        <a:spcAft>
                          <a:spcPts val="0"/>
                        </a:spcAft>
                        <a:buClr>
                          <a:srgbClr val="000000"/>
                        </a:buClr>
                        <a:buSzPts val="900"/>
                        <a:buFont typeface="Arial"/>
                        <a:buNone/>
                      </a:pPr>
                      <a:r>
                        <a:rPr lang="ja-JP" sz="1100" b="1" u="none" strike="noStrike" cap="none">
                          <a:solidFill>
                            <a:schemeClr val="bg1"/>
                          </a:solidFill>
                          <a:latin typeface="メイリオ"/>
                          <a:ea typeface="メイリオ"/>
                          <a:cs typeface="Meiryo"/>
                          <a:sym typeface="Meiryo"/>
                        </a:rPr>
                        <a:t>2027</a:t>
                      </a:r>
                      <a:endParaRPr sz="1100" b="1" u="none" strike="noStrike" cap="none">
                        <a:solidFill>
                          <a:schemeClr val="bg1"/>
                        </a:solidFill>
                        <a:latin typeface="メイリオ"/>
                        <a:ea typeface="メイリオ"/>
                        <a:cs typeface="Meiryo"/>
                        <a:sym typeface="Meiryo"/>
                      </a:endParaRPr>
                    </a:p>
                  </a:txBody>
                  <a:tcPr marL="36000" marR="36000" marT="46800" marB="468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lang="ja-JP"/>
                    </a:p>
                  </a:txBody>
                  <a:tcPr/>
                </a:tc>
                <a:tc hMerge="1">
                  <a:txBody>
                    <a:bodyPr/>
                    <a:lstStyle/>
                    <a:p>
                      <a:endParaRPr lang="ja-JP"/>
                    </a:p>
                  </a:txBody>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gridSpan="6">
                  <a:txBody>
                    <a:bodyPr/>
                    <a:lstStyle/>
                    <a:p>
                      <a:pPr marL="0" marR="0" lvl="0" indent="0" algn="l" rtl="0">
                        <a:lnSpc>
                          <a:spcPct val="100000"/>
                        </a:lnSpc>
                        <a:spcBef>
                          <a:spcPts val="0"/>
                        </a:spcBef>
                        <a:spcAft>
                          <a:spcPts val="0"/>
                        </a:spcAft>
                        <a:buClr>
                          <a:srgbClr val="000000"/>
                        </a:buClr>
                        <a:buSzPts val="900"/>
                        <a:buFont typeface="Arial"/>
                        <a:buNone/>
                      </a:pPr>
                      <a:r>
                        <a:rPr lang="en-US" sz="1100" b="1" u="none" strike="noStrike" cap="none">
                          <a:solidFill>
                            <a:schemeClr val="bg1"/>
                          </a:solidFill>
                          <a:latin typeface="メイリオ"/>
                          <a:ea typeface="メイリオ"/>
                          <a:cs typeface="Meiryo"/>
                          <a:sym typeface="Meiryo"/>
                        </a:rPr>
                        <a:t>2028</a:t>
                      </a:r>
                      <a:endParaRPr sz="1100" b="1" u="none" strike="noStrike" cap="none">
                        <a:solidFill>
                          <a:schemeClr val="bg1"/>
                        </a:solidFill>
                        <a:latin typeface="メイリオ"/>
                        <a:ea typeface="メイリオ"/>
                        <a:cs typeface="Meiryo"/>
                        <a:sym typeface="Meiryo"/>
                      </a:endParaRPr>
                    </a:p>
                  </a:txBody>
                  <a:tcPr marL="36000" marR="36000" marT="46800" marB="46800">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メイリオ" panose="020B0604030504040204" pitchFamily="50" charset="-128"/>
                        <a:ea typeface="メイリオ" panose="020B0604030504040204" pitchFamily="50" charset="-128"/>
                        <a:cs typeface="Meiryo"/>
                        <a:sym typeface="Meiryo"/>
                      </a:endParaRPr>
                    </a:p>
                  </a:txBody>
                  <a:tcPr marL="36000" marR="36000" marT="34300" marB="343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7F7F7F"/>
                    </a:solidFill>
                  </a:tcPr>
                </a:tc>
                <a:extLst>
                  <a:ext uri="{0D108BD9-81ED-4DB2-BD59-A6C34878D82A}">
                    <a16:rowId xmlns:a16="http://schemas.microsoft.com/office/drawing/2014/main" val="10000"/>
                  </a:ext>
                </a:extLst>
              </a:tr>
              <a:tr h="0">
                <a:tc gridSpan="2" vMerge="1">
                  <a:txBody>
                    <a:bodyPr/>
                    <a:lstStyle/>
                    <a:p>
                      <a:endParaRPr lang="ja-JP"/>
                    </a:p>
                  </a:txBody>
                  <a:tcPr/>
                </a:tc>
                <a:tc hMerge="1" vMerge="1">
                  <a:txBody>
                    <a:bodyPr/>
                    <a:lstStyle/>
                    <a:p>
                      <a:endParaRPr lang="ja-JP"/>
                    </a:p>
                  </a:txBody>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a:t>
                      </a:r>
                      <a:endParaRPr sz="1100" b="1" u="none" strike="noStrike" cap="none">
                        <a:latin typeface="メイリオ"/>
                        <a:ea typeface="メイリオ"/>
                      </a:endParaRPr>
                    </a:p>
                  </a:txBody>
                  <a:tcPr marL="0" marR="0"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2</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3</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4</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5</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6</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7</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8</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9</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10</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11</a:t>
                      </a:r>
                      <a:endParaRPr sz="1100" b="1" u="none" strike="noStrike" cap="none">
                        <a:latin typeface="メイリオ"/>
                        <a:ea typeface="メイリオ"/>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12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panose="020B0604030504040204" pitchFamily="50" charset="-128"/>
                          <a:ea typeface="メイリオ" panose="020B0604030504040204" pitchFamily="50" charset="-128"/>
                          <a:cs typeface="Meiryo"/>
                          <a:sym typeface="Meiryo"/>
                        </a:rPr>
                        <a:t>１</a:t>
                      </a:r>
                      <a:endParaRPr sz="1100" b="1" u="none" strike="noStrike" cap="none">
                        <a:latin typeface="メイリオ" panose="020B0604030504040204" pitchFamily="50" charset="-128"/>
                        <a:ea typeface="メイリオ" panose="020B0604030504040204" pitchFamily="50" charset="-128"/>
                        <a:cs typeface="Meiryo"/>
                        <a:sym typeface="Meiryo"/>
                      </a:endParaRPr>
                    </a:p>
                  </a:txBody>
                  <a:tcPr marL="0" marR="0"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ja-JP" sz="1100" b="1" u="none" strike="noStrike" cap="none">
                          <a:latin typeface="メイリオ"/>
                          <a:ea typeface="メイリオ"/>
                          <a:cs typeface="Meiryo"/>
                          <a:sym typeface="Meiryo"/>
                        </a:rPr>
                        <a:t>3</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4</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5</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6</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7</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8</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9</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10</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11</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1</a:t>
                      </a:r>
                      <a:endParaRPr sz="1100" b="1" u="none" strike="noStrike" cap="none">
                        <a:latin typeface="メイリオ"/>
                        <a:ea typeface="メイリオ"/>
                        <a:cs typeface="Meiryo"/>
                        <a:sym typeface="Meiryo"/>
                      </a:endParaRPr>
                    </a:p>
                  </a:txBody>
                  <a:tcPr marL="0" marR="0"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2</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3</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4</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5</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a:lnSpc>
                          <a:spcPct val="100000"/>
                        </a:lnSpc>
                        <a:spcBef>
                          <a:spcPts val="0"/>
                        </a:spcBef>
                        <a:spcAft>
                          <a:spcPts val="0"/>
                        </a:spcAft>
                        <a:buClr>
                          <a:srgbClr val="000000"/>
                        </a:buClr>
                        <a:buSzPts val="900"/>
                        <a:buFont typeface="Arial"/>
                        <a:buNone/>
                      </a:pPr>
                      <a:r>
                        <a:rPr lang="en-US" sz="1100" b="1" u="none" strike="noStrike" cap="none">
                          <a:latin typeface="メイリオ"/>
                          <a:ea typeface="メイリオ"/>
                          <a:cs typeface="Meiryo"/>
                          <a:sym typeface="Meiryo"/>
                        </a:rPr>
                        <a:t>6</a:t>
                      </a:r>
                      <a:endParaRPr sz="1100" b="1" u="none" strike="noStrike" cap="none">
                        <a:latin typeface="メイリオ"/>
                        <a:ea typeface="メイリオ"/>
                        <a:cs typeface="Meiryo"/>
                        <a:sym typeface="Meiryo"/>
                      </a:endParaRPr>
                    </a:p>
                  </a:txBody>
                  <a:tcPr marL="0" marR="0"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D8D8D8"/>
                    </a:solidFill>
                  </a:tcPr>
                </a:tc>
                <a:extLst>
                  <a:ext uri="{0D108BD9-81ED-4DB2-BD59-A6C34878D82A}">
                    <a16:rowId xmlns:a16="http://schemas.microsoft.com/office/drawing/2014/main" val="10001"/>
                  </a:ext>
                </a:extLst>
              </a:tr>
              <a:tr h="756000">
                <a:tc gridSpan="2">
                  <a:txBody>
                    <a:bodyPr/>
                    <a:lstStyle/>
                    <a:p>
                      <a:pPr marL="0" marR="0" lvl="0" indent="0" algn="l" rtl="0">
                        <a:lnSpc>
                          <a:spcPct val="100000"/>
                        </a:lnSpc>
                        <a:spcBef>
                          <a:spcPts val="0"/>
                        </a:spcBef>
                        <a:spcAft>
                          <a:spcPts val="0"/>
                        </a:spcAft>
                        <a:buClr>
                          <a:srgbClr val="000000"/>
                        </a:buClr>
                        <a:buSzPts val="1100"/>
                        <a:buFont typeface="Arial"/>
                        <a:buNone/>
                      </a:pPr>
                      <a:r>
                        <a:rPr lang="ja-JP" sz="1400" b="1" u="none" strike="noStrike" cap="none">
                          <a:solidFill>
                            <a:schemeClr val="lt1"/>
                          </a:solidFill>
                          <a:latin typeface="メイリオ" panose="020B0604030504040204" pitchFamily="50" charset="-128"/>
                          <a:ea typeface="メイリオ" panose="020B0604030504040204" pitchFamily="50" charset="-128"/>
                          <a:cs typeface="Meiryo"/>
                          <a:sym typeface="Meiryo"/>
                        </a:rPr>
                        <a:t>イベント・</a:t>
                      </a:r>
                      <a:endParaRPr lang="en-US" altLang="ja-JP" sz="1400" b="1" u="none" strike="noStrike" cap="none">
                        <a:solidFill>
                          <a:schemeClr val="lt1"/>
                        </a:solidFill>
                        <a:latin typeface="メイリオ" panose="020B0604030504040204" pitchFamily="50" charset="-128"/>
                        <a:ea typeface="メイリオ" panose="020B0604030504040204" pitchFamily="50" charset="-128"/>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JP" sz="1400" b="1" u="none" strike="noStrike" cap="none">
                          <a:solidFill>
                            <a:schemeClr val="lt1"/>
                          </a:solidFill>
                          <a:latin typeface="メイリオ" panose="020B0604030504040204" pitchFamily="50" charset="-128"/>
                          <a:ea typeface="メイリオ" panose="020B0604030504040204" pitchFamily="50" charset="-128"/>
                          <a:cs typeface="Meiryo"/>
                          <a:sym typeface="Meiryo"/>
                        </a:rPr>
                        <a:t>マイルストーン</a:t>
                      </a:r>
                      <a:endParaRPr sz="1400" b="1" u="none" strike="noStrike" cap="none">
                        <a:solidFill>
                          <a:schemeClr val="lt1"/>
                        </a:solidFill>
                        <a:latin typeface="メイリオ" panose="020B0604030504040204" pitchFamily="50" charset="-128"/>
                        <a:ea typeface="メイリオ" panose="020B0604030504040204" pitchFamily="50" charset="-128"/>
                        <a:cs typeface="Meiryo"/>
                        <a:sym typeface="Meiryo"/>
                      </a:endParaRPr>
                    </a:p>
                  </a:txBody>
                  <a:tcPr marL="68575" marR="68575" marT="46800" marB="46800"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2B2B2B"/>
                    </a:solidFill>
                  </a:tcPr>
                </a:tc>
                <a:tc hMerge="1">
                  <a:txBody>
                    <a:bodyPr/>
                    <a:lstStyle/>
                    <a:p>
                      <a:endParaRPr lang="ja-JP"/>
                    </a:p>
                  </a:txBody>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756000">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100" b="1" u="none" strike="noStrike" cap="none">
                          <a:solidFill>
                            <a:schemeClr val="lt1"/>
                          </a:solidFill>
                          <a:latin typeface="メイリオ"/>
                          <a:ea typeface="メイリオ"/>
                          <a:cs typeface="Meiryo"/>
                          <a:sym typeface="Meiryo"/>
                        </a:rPr>
                        <a:t>Step</a:t>
                      </a:r>
                      <a:r>
                        <a:rPr lang="en-US" altLang="ja-JP" sz="1200" b="1" u="none" strike="noStrike" cap="none">
                          <a:solidFill>
                            <a:schemeClr val="lt1"/>
                          </a:solidFill>
                          <a:latin typeface="メイリオ"/>
                          <a:ea typeface="メイリオ"/>
                          <a:cs typeface="Meiryo"/>
                          <a:sym typeface="Meiryo"/>
                        </a:rPr>
                        <a:t> </a:t>
                      </a:r>
                      <a:r>
                        <a:rPr lang="en-US" altLang="ja-JP" sz="2000" b="1" u="none" strike="noStrike" cap="none">
                          <a:solidFill>
                            <a:schemeClr val="lt1"/>
                          </a:solidFill>
                          <a:latin typeface="メイリオ"/>
                          <a:ea typeface="メイリオ"/>
                          <a:cs typeface="Meiryo"/>
                          <a:sym typeface="Meiryo"/>
                        </a:rPr>
                        <a:t>1</a:t>
                      </a:r>
                    </a:p>
                  </a:txBody>
                  <a:tcPr marL="68575" marR="68575" marT="46800" marB="468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5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600" b="1" u="none" strike="noStrike" cap="none">
                          <a:solidFill>
                            <a:schemeClr val="tx1"/>
                          </a:solidFill>
                          <a:latin typeface="メイリオ" panose="020B0604030504040204" pitchFamily="50" charset="-128"/>
                          <a:ea typeface="メイリオ" panose="020B0604030504040204" pitchFamily="50" charset="-128"/>
                          <a:cs typeface="Meiryo"/>
                          <a:sym typeface="Meiryo"/>
                        </a:rPr>
                        <a:t>両社への商品マスタデータ連携</a:t>
                      </a:r>
                    </a:p>
                  </a:txBody>
                  <a:tcPr marL="68575" marR="68575" marT="46800" marB="4680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756000">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100" b="1" u="none" strike="noStrike" cap="none">
                          <a:solidFill>
                            <a:schemeClr val="lt1"/>
                          </a:solidFill>
                          <a:latin typeface="メイリオ"/>
                          <a:ea typeface="メイリオ"/>
                          <a:cs typeface="Meiryo"/>
                          <a:sym typeface="Meiryo"/>
                        </a:rPr>
                        <a:t>Step</a:t>
                      </a:r>
                      <a:r>
                        <a:rPr lang="en-US" altLang="ja-JP" sz="1200" b="1" u="none" strike="noStrike" cap="none">
                          <a:solidFill>
                            <a:schemeClr val="lt1"/>
                          </a:solidFill>
                          <a:latin typeface="メイリオ"/>
                          <a:ea typeface="メイリオ"/>
                          <a:cs typeface="Meiryo"/>
                          <a:sym typeface="Meiryo"/>
                        </a:rPr>
                        <a:t> </a:t>
                      </a:r>
                      <a:r>
                        <a:rPr lang="en-US" altLang="ja-JP" sz="2000" b="1" u="none" strike="noStrike" cap="none">
                          <a:solidFill>
                            <a:schemeClr val="lt1"/>
                          </a:solidFill>
                          <a:latin typeface="メイリオ"/>
                          <a:ea typeface="メイリオ"/>
                          <a:cs typeface="Meiryo"/>
                          <a:sym typeface="Meiryo"/>
                        </a:rPr>
                        <a:t>2</a:t>
                      </a:r>
                    </a:p>
                  </a:txBody>
                  <a:tcPr marL="68575" marR="68575" marT="46800" marB="468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5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600" b="1" u="none" strike="noStrike" cap="none" err="1">
                          <a:solidFill>
                            <a:schemeClr val="tx1"/>
                          </a:solidFill>
                          <a:latin typeface="メイリオ"/>
                          <a:ea typeface="メイリオ"/>
                          <a:cs typeface="Meiryo"/>
                          <a:sym typeface="Meiryo"/>
                        </a:rPr>
                        <a:t>eB</a:t>
                      </a:r>
                      <a:r>
                        <a:rPr lang="en-US" altLang="ja-JP" sz="1600" b="1" u="none" strike="noStrike" cap="none">
                          <a:solidFill>
                            <a:schemeClr val="tx1"/>
                          </a:solidFill>
                          <a:latin typeface="メイリオ"/>
                          <a:ea typeface="メイリオ"/>
                          <a:cs typeface="Meiryo"/>
                          <a:sym typeface="Meiryo"/>
                        </a:rPr>
                        <a:t>-MDM</a:t>
                      </a:r>
                      <a:r>
                        <a:rPr lang="ja-JP" altLang="en-US" sz="1600" b="1" u="none" strike="noStrike" cap="none">
                          <a:solidFill>
                            <a:schemeClr val="tx1"/>
                          </a:solidFill>
                          <a:latin typeface="メイリオ"/>
                          <a:ea typeface="メイリオ"/>
                          <a:cs typeface="Meiryo"/>
                          <a:sym typeface="Meiryo"/>
                        </a:rPr>
                        <a:t>導入</a:t>
                      </a:r>
                      <a:br>
                        <a:rPr lang="ja-JP" altLang="en-US" sz="1600" b="1" u="none" strike="noStrike" cap="none">
                          <a:solidFill>
                            <a:srgbClr val="000000"/>
                          </a:solidFill>
                          <a:latin typeface="メイリオ"/>
                          <a:ea typeface="メイリオ"/>
                          <a:cs typeface="Meiryo"/>
                          <a:sym typeface="Meiryo"/>
                        </a:rPr>
                      </a:br>
                      <a:r>
                        <a:rPr lang="en-US" altLang="ja-JP" sz="1600" b="1" u="none" strike="noStrike" cap="none">
                          <a:solidFill>
                            <a:schemeClr val="tx1"/>
                          </a:solidFill>
                          <a:latin typeface="メイリオ"/>
                          <a:ea typeface="メイリオ"/>
                          <a:cs typeface="Meiryo"/>
                          <a:sym typeface="Meiryo"/>
                        </a:rPr>
                        <a:t>(</a:t>
                      </a:r>
                      <a:r>
                        <a:rPr lang="en-US" altLang="ja-JP" sz="1600" b="1" u="none" strike="noStrike" cap="none" err="1">
                          <a:solidFill>
                            <a:schemeClr val="tx1"/>
                          </a:solidFill>
                          <a:latin typeface="メイリオ"/>
                          <a:ea typeface="メイリオ"/>
                          <a:cs typeface="Meiryo"/>
                          <a:sym typeface="Meiryo"/>
                        </a:rPr>
                        <a:t>i</a:t>
                      </a:r>
                      <a:r>
                        <a:rPr lang="en-US" altLang="ja-JP" sz="1600" b="1" u="none" strike="noStrike" cap="none">
                          <a:solidFill>
                            <a:schemeClr val="tx1"/>
                          </a:solidFill>
                          <a:latin typeface="メイリオ"/>
                          <a:ea typeface="メイリオ"/>
                          <a:cs typeface="Meiryo"/>
                          <a:sym typeface="Meiryo"/>
                        </a:rPr>
                        <a:t>-Master</a:t>
                      </a:r>
                      <a:r>
                        <a:rPr lang="ja-JP" altLang="en-US" sz="1600" b="1" u="none" strike="noStrike" cap="none">
                          <a:solidFill>
                            <a:schemeClr val="tx1"/>
                          </a:solidFill>
                          <a:latin typeface="メイリオ"/>
                          <a:ea typeface="メイリオ"/>
                          <a:cs typeface="Meiryo"/>
                          <a:sym typeface="Meiryo"/>
                        </a:rPr>
                        <a:t>廃止）</a:t>
                      </a:r>
                    </a:p>
                  </a:txBody>
                  <a:tcPr marL="68575" marR="68575" marT="46800" marB="4680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612037698"/>
                  </a:ext>
                </a:extLst>
              </a:tr>
              <a:tr h="2412000">
                <a:tc>
                  <a:txBody>
                    <a:bodyPr/>
                    <a:lstStyle/>
                    <a:p>
                      <a:pPr marL="0" marR="0" lvl="0" indent="0" algn="l" rtl="0">
                        <a:lnSpc>
                          <a:spcPct val="100000"/>
                        </a:lnSpc>
                        <a:spcBef>
                          <a:spcPts val="0"/>
                        </a:spcBef>
                        <a:spcAft>
                          <a:spcPts val="0"/>
                        </a:spcAft>
                        <a:buClr>
                          <a:srgbClr val="000000"/>
                        </a:buClr>
                        <a:buSzPts val="1100"/>
                        <a:buFont typeface="Arial"/>
                        <a:buNone/>
                      </a:pPr>
                      <a:r>
                        <a:rPr lang="en-US" altLang="ja-JP" sz="1100" b="1" u="none" strike="noStrike" cap="none">
                          <a:solidFill>
                            <a:schemeClr val="lt1"/>
                          </a:solidFill>
                          <a:latin typeface="メイリオ"/>
                          <a:ea typeface="メイリオ"/>
                          <a:cs typeface="Meiryo"/>
                          <a:sym typeface="Meiryo"/>
                        </a:rPr>
                        <a:t>Step</a:t>
                      </a:r>
                      <a:r>
                        <a:rPr lang="en-US" altLang="ja-JP" sz="1200" b="1" u="none" strike="noStrike" cap="none">
                          <a:solidFill>
                            <a:schemeClr val="lt1"/>
                          </a:solidFill>
                          <a:latin typeface="メイリオ"/>
                          <a:ea typeface="メイリオ"/>
                          <a:cs typeface="Meiryo"/>
                          <a:sym typeface="Meiryo"/>
                        </a:rPr>
                        <a:t> </a:t>
                      </a:r>
                      <a:r>
                        <a:rPr lang="en-US" altLang="ja-JP" sz="2000" b="1" u="none" strike="noStrike" cap="none">
                          <a:solidFill>
                            <a:schemeClr val="lt1"/>
                          </a:solidFill>
                          <a:latin typeface="メイリオ"/>
                          <a:ea typeface="メイリオ"/>
                          <a:cs typeface="Meiryo"/>
                          <a:sym typeface="Meiryo"/>
                        </a:rPr>
                        <a:t>3</a:t>
                      </a:r>
                      <a:endParaRPr lang="ja-JP" altLang="en-US" sz="1000" b="0" u="none" strike="noStrike" cap="none">
                        <a:solidFill>
                          <a:schemeClr val="lt1"/>
                        </a:solidFill>
                        <a:latin typeface="メイリオ"/>
                        <a:ea typeface="メイリオ"/>
                        <a:cs typeface="Meiryo"/>
                        <a:sym typeface="Meiryo"/>
                      </a:endParaRPr>
                    </a:p>
                  </a:txBody>
                  <a:tcPr marL="68575" marR="68575" marT="46800" marB="46800" anchor="ctr">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50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a:ea typeface="メイリオ"/>
                          <a:cs typeface="Arial"/>
                          <a:sym typeface="Arial"/>
                        </a:rPr>
                        <a:t>マスタ統合</a:t>
                      </a:r>
                      <a:r>
                        <a:rPr lang="en-US" altLang="ja-JP" sz="1600" b="1" i="0" u="none" strike="noStrike" cap="none">
                          <a:solidFill>
                            <a:schemeClr val="tx1"/>
                          </a:solidFill>
                          <a:latin typeface="メイリオ"/>
                          <a:ea typeface="メイリオ"/>
                          <a:cs typeface="Arial"/>
                          <a:sym typeface="Arial"/>
                        </a:rPr>
                        <a:t>/</a:t>
                      </a:r>
                    </a:p>
                    <a:p>
                      <a:pPr marL="0" marR="0" lvl="0" indent="0" algn="l" rtl="0">
                        <a:lnSpc>
                          <a:spcPct val="100000"/>
                        </a:lnSpc>
                        <a:spcBef>
                          <a:spcPts val="0"/>
                        </a:spcBef>
                        <a:spcAft>
                          <a:spcPts val="0"/>
                        </a:spcAft>
                        <a:buClr>
                          <a:srgbClr val="000000"/>
                        </a:buClr>
                        <a:buSzPts val="1100"/>
                        <a:buFont typeface="Arial"/>
                        <a:buNone/>
                      </a:pPr>
                      <a:r>
                        <a:rPr lang="ja-JP" altLang="en-US" sz="1600" b="1" i="0" u="none" strike="noStrike" cap="none">
                          <a:solidFill>
                            <a:schemeClr val="tx1"/>
                          </a:solidFill>
                          <a:latin typeface="メイリオ"/>
                          <a:ea typeface="メイリオ"/>
                          <a:cs typeface="Arial"/>
                          <a:sym typeface="Arial"/>
                        </a:rPr>
                        <a:t>共通</a:t>
                      </a:r>
                      <a:r>
                        <a:rPr lang="ja-JP" altLang="en-US" sz="1600" b="1" i="0" u="none" strike="noStrike" cap="none">
                          <a:solidFill>
                            <a:schemeClr val="tx1"/>
                          </a:solidFill>
                          <a:latin typeface="メイリオ"/>
                          <a:ea typeface="メイリオ"/>
                          <a:cs typeface="Arial"/>
                        </a:rPr>
                        <a:t>マスタ登録システム</a:t>
                      </a:r>
                      <a:r>
                        <a:rPr lang="ja-JP" altLang="en-US" sz="1600" b="1" i="0" u="none" strike="noStrike" cap="none">
                          <a:solidFill>
                            <a:schemeClr val="tx1"/>
                          </a:solidFill>
                          <a:latin typeface="メイリオ"/>
                          <a:ea typeface="メイリオ"/>
                          <a:cs typeface="Arial"/>
                          <a:sym typeface="Arial"/>
                        </a:rPr>
                        <a:t>構築</a:t>
                      </a:r>
                      <a:endParaRPr lang="ja-JP" sz="2000">
                        <a:sym typeface="Arial"/>
                      </a:endParaRPr>
                    </a:p>
                  </a:txBody>
                  <a:tcPr marL="68575" marR="68575" marT="46800" marB="46800" anchor="ctr">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28575"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lvl="0" indent="0" algn="l" rtl="0">
                        <a:lnSpc>
                          <a:spcPct val="100000"/>
                        </a:lnSpc>
                        <a:spcBef>
                          <a:spcPts val="0"/>
                        </a:spcBef>
                        <a:spcAft>
                          <a:spcPts val="0"/>
                        </a:spcAft>
                        <a:buClr>
                          <a:srgbClr val="000000"/>
                        </a:buClr>
                        <a:buSzPts val="1100"/>
                        <a:buFont typeface="Arial"/>
                        <a:buNone/>
                      </a:pPr>
                      <a:endParaRPr sz="1200" u="none" strike="noStrike" cap="none">
                        <a:latin typeface="メイリオ" panose="020B0604030504040204" pitchFamily="50" charset="-128"/>
                        <a:ea typeface="メイリオ" panose="020B0604030504040204" pitchFamily="50" charset="-128"/>
                        <a:cs typeface="Meiryo"/>
                        <a:sym typeface="Meiryo"/>
                      </a:endParaRPr>
                    </a:p>
                  </a:txBody>
                  <a:tcPr marL="68575" marR="68575" marT="46800" marB="46800">
                    <a:lnL w="12700"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7"/>
                  </a:ext>
                </a:extLst>
              </a:tr>
            </a:tbl>
          </a:graphicData>
        </a:graphic>
      </p:graphicFrame>
      <p:sp>
        <p:nvSpPr>
          <p:cNvPr id="17" name="Google Shape;153;p1">
            <a:extLst>
              <a:ext uri="{FF2B5EF4-FFF2-40B4-BE49-F238E27FC236}">
                <a16:creationId xmlns:a16="http://schemas.microsoft.com/office/drawing/2014/main" id="{BC669D04-1E87-8DB2-3020-A162F9A7A624}"/>
              </a:ext>
            </a:extLst>
          </p:cNvPr>
          <p:cNvSpPr/>
          <p:nvPr/>
        </p:nvSpPr>
        <p:spPr>
          <a:xfrm>
            <a:off x="3035660" y="2502293"/>
            <a:ext cx="864000"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endParaRPr lang="ja-JP" altLang="en-US" sz="1200" b="1" i="0" u="none" strike="noStrike" cap="none">
              <a:solidFill>
                <a:schemeClr val="dk1"/>
              </a:solidFill>
              <a:latin typeface="Meiryo"/>
              <a:ea typeface="Meiryo"/>
              <a:cs typeface="Meiryo"/>
              <a:sym typeface="Meiryo"/>
            </a:endParaRPr>
          </a:p>
        </p:txBody>
      </p:sp>
      <p:sp>
        <p:nvSpPr>
          <p:cNvPr id="18" name="Google Shape;153;p1">
            <a:extLst>
              <a:ext uri="{FF2B5EF4-FFF2-40B4-BE49-F238E27FC236}">
                <a16:creationId xmlns:a16="http://schemas.microsoft.com/office/drawing/2014/main" id="{FFB6BB46-CFA1-459E-0A69-E05B31CADA9F}"/>
              </a:ext>
            </a:extLst>
          </p:cNvPr>
          <p:cNvSpPr/>
          <p:nvPr/>
        </p:nvSpPr>
        <p:spPr>
          <a:xfrm>
            <a:off x="3035660" y="3248696"/>
            <a:ext cx="2016000"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endParaRPr lang="ja-JP" altLang="en-US" sz="1200" b="1" i="0" u="none" strike="noStrike" cap="none">
              <a:solidFill>
                <a:schemeClr val="dk1"/>
              </a:solidFill>
              <a:latin typeface="Meiryo"/>
              <a:ea typeface="Meiryo"/>
              <a:cs typeface="Meiryo"/>
              <a:sym typeface="Meiryo"/>
            </a:endParaRPr>
          </a:p>
        </p:txBody>
      </p:sp>
      <p:sp>
        <p:nvSpPr>
          <p:cNvPr id="19" name="Google Shape;153;p1">
            <a:extLst>
              <a:ext uri="{FF2B5EF4-FFF2-40B4-BE49-F238E27FC236}">
                <a16:creationId xmlns:a16="http://schemas.microsoft.com/office/drawing/2014/main" id="{66CD5658-82EA-0D61-C208-2A9815331A88}"/>
              </a:ext>
            </a:extLst>
          </p:cNvPr>
          <p:cNvSpPr/>
          <p:nvPr/>
        </p:nvSpPr>
        <p:spPr>
          <a:xfrm>
            <a:off x="5063089" y="4557561"/>
            <a:ext cx="871854"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rPr>
              <a:t>マスタ</a:t>
            </a:r>
          </a:p>
          <a:p>
            <a:pPr>
              <a:buSzPts val="900"/>
            </a:pPr>
            <a:r>
              <a:rPr lang="ja-JP" altLang="en-US" sz="1200" b="1">
                <a:solidFill>
                  <a:schemeClr val="dk1"/>
                </a:solidFill>
                <a:latin typeface="Meiryo"/>
                <a:ea typeface="Meiryo"/>
                <a:cs typeface="Meiryo"/>
              </a:rPr>
              <a:t>移行計画</a:t>
            </a:r>
          </a:p>
        </p:txBody>
      </p:sp>
      <p:sp>
        <p:nvSpPr>
          <p:cNvPr id="26" name="Google Shape;153;p1">
            <a:extLst>
              <a:ext uri="{FF2B5EF4-FFF2-40B4-BE49-F238E27FC236}">
                <a16:creationId xmlns:a16="http://schemas.microsoft.com/office/drawing/2014/main" id="{53A15C3E-AF5C-686E-C9A4-A48E19D42C20}"/>
              </a:ext>
            </a:extLst>
          </p:cNvPr>
          <p:cNvSpPr/>
          <p:nvPr/>
        </p:nvSpPr>
        <p:spPr>
          <a:xfrm>
            <a:off x="3770782" y="5657232"/>
            <a:ext cx="737822"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要件定義</a:t>
            </a:r>
          </a:p>
        </p:txBody>
      </p:sp>
      <p:sp>
        <p:nvSpPr>
          <p:cNvPr id="27" name="Google Shape;153;p1">
            <a:extLst>
              <a:ext uri="{FF2B5EF4-FFF2-40B4-BE49-F238E27FC236}">
                <a16:creationId xmlns:a16="http://schemas.microsoft.com/office/drawing/2014/main" id="{03CBED42-47CB-840C-3AB3-B000574DBB46}"/>
              </a:ext>
            </a:extLst>
          </p:cNvPr>
          <p:cNvSpPr/>
          <p:nvPr/>
        </p:nvSpPr>
        <p:spPr>
          <a:xfrm>
            <a:off x="4508604" y="5657232"/>
            <a:ext cx="1705568"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sym typeface="Meiryo"/>
              </a:rPr>
              <a:t>設計・開発・テスト</a:t>
            </a:r>
            <a:endParaRPr lang="ja-JP" altLang="en-US" sz="1200" b="1" i="0" u="none" strike="noStrike" cap="none">
              <a:solidFill>
                <a:schemeClr val="dk1"/>
              </a:solidFill>
              <a:latin typeface="Meiryo"/>
              <a:ea typeface="Meiryo"/>
              <a:cs typeface="Meiryo"/>
              <a:sym typeface="Meiryo"/>
            </a:endParaRPr>
          </a:p>
        </p:txBody>
      </p:sp>
      <p:sp>
        <p:nvSpPr>
          <p:cNvPr id="28" name="Google Shape;153;p1">
            <a:extLst>
              <a:ext uri="{FF2B5EF4-FFF2-40B4-BE49-F238E27FC236}">
                <a16:creationId xmlns:a16="http://schemas.microsoft.com/office/drawing/2014/main" id="{F7D941FD-DAEA-D79E-0BB9-7F07DB71C466}"/>
              </a:ext>
            </a:extLst>
          </p:cNvPr>
          <p:cNvSpPr/>
          <p:nvPr/>
        </p:nvSpPr>
        <p:spPr>
          <a:xfrm>
            <a:off x="6486936" y="4007725"/>
            <a:ext cx="732900"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取引先説明会</a:t>
            </a:r>
          </a:p>
          <a:p>
            <a:pPr>
              <a:buSzPts val="900"/>
            </a:pPr>
            <a:r>
              <a:rPr lang="ja-JP" altLang="en-US" sz="1200" b="1">
                <a:solidFill>
                  <a:schemeClr val="dk1"/>
                </a:solidFill>
                <a:latin typeface="Meiryo"/>
                <a:ea typeface="Meiryo"/>
                <a:cs typeface="Meiryo"/>
              </a:rPr>
              <a:t>準備・開催</a:t>
            </a:r>
          </a:p>
        </p:txBody>
      </p:sp>
      <p:sp>
        <p:nvSpPr>
          <p:cNvPr id="29" name="Google Shape;153;p1">
            <a:extLst>
              <a:ext uri="{FF2B5EF4-FFF2-40B4-BE49-F238E27FC236}">
                <a16:creationId xmlns:a16="http://schemas.microsoft.com/office/drawing/2014/main" id="{2030E029-738C-5A40-A2C9-B292D73B0142}"/>
              </a:ext>
            </a:extLst>
          </p:cNvPr>
          <p:cNvSpPr/>
          <p:nvPr/>
        </p:nvSpPr>
        <p:spPr>
          <a:xfrm>
            <a:off x="3338218" y="4007725"/>
            <a:ext cx="1724647"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i="0" u="none" strike="noStrike" cap="none">
                <a:solidFill>
                  <a:schemeClr val="dk1"/>
                </a:solidFill>
                <a:latin typeface="Meiryo"/>
                <a:ea typeface="Meiryo"/>
                <a:cs typeface="Meiryo"/>
                <a:sym typeface="Meiryo"/>
              </a:rPr>
              <a:t>統合商談・統合マスタ</a:t>
            </a:r>
            <a:endParaRPr lang="en-US" altLang="ja-JP" sz="1200" b="1" i="0" u="none" strike="noStrike" cap="none">
              <a:solidFill>
                <a:schemeClr val="dk1"/>
              </a:solidFill>
              <a:latin typeface="Meiryo"/>
              <a:ea typeface="Meiryo"/>
              <a:cs typeface="Meiryo"/>
              <a:sym typeface="Meiryo"/>
            </a:endParaRPr>
          </a:p>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sym typeface="Meiryo"/>
              </a:rPr>
              <a:t>プロセス検討</a:t>
            </a:r>
            <a:endParaRPr lang="ja-JP" altLang="en-US" sz="1200" b="1" i="0" u="none" strike="noStrike" cap="none">
              <a:solidFill>
                <a:schemeClr val="dk1"/>
              </a:solidFill>
              <a:latin typeface="Meiryo"/>
              <a:ea typeface="Meiryo"/>
              <a:cs typeface="Meiryo"/>
              <a:sym typeface="Meiryo"/>
            </a:endParaRPr>
          </a:p>
        </p:txBody>
      </p:sp>
      <p:sp>
        <p:nvSpPr>
          <p:cNvPr id="30" name="Google Shape;153;p1">
            <a:extLst>
              <a:ext uri="{FF2B5EF4-FFF2-40B4-BE49-F238E27FC236}">
                <a16:creationId xmlns:a16="http://schemas.microsoft.com/office/drawing/2014/main" id="{1611FAD2-9096-EFEE-0C7A-BD183D46F116}"/>
              </a:ext>
            </a:extLst>
          </p:cNvPr>
          <p:cNvSpPr/>
          <p:nvPr/>
        </p:nvSpPr>
        <p:spPr>
          <a:xfrm>
            <a:off x="5933048" y="5107397"/>
            <a:ext cx="1102695"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a:buClr>
                <a:srgbClr val="000000"/>
              </a:buClr>
              <a:buSzPts val="900"/>
            </a:pPr>
            <a:r>
              <a:rPr lang="ja-JP" altLang="en-US" sz="1200" b="1">
                <a:solidFill>
                  <a:schemeClr val="dk1"/>
                </a:solidFill>
                <a:latin typeface="Meiryo"/>
                <a:ea typeface="Meiryo"/>
                <a:cs typeface="Meiryo"/>
              </a:rPr>
              <a:t>データ洗い替え</a:t>
            </a:r>
            <a:endParaRPr lang="ja-JP">
              <a:solidFill>
                <a:schemeClr val="dk1"/>
              </a:solidFill>
            </a:endParaRPr>
          </a:p>
        </p:txBody>
      </p:sp>
      <p:sp>
        <p:nvSpPr>
          <p:cNvPr id="31" name="Google Shape;153;p1">
            <a:extLst>
              <a:ext uri="{FF2B5EF4-FFF2-40B4-BE49-F238E27FC236}">
                <a16:creationId xmlns:a16="http://schemas.microsoft.com/office/drawing/2014/main" id="{D6A103C6-402F-1591-C9D3-41CAE61AE7E1}"/>
              </a:ext>
            </a:extLst>
          </p:cNvPr>
          <p:cNvSpPr/>
          <p:nvPr/>
        </p:nvSpPr>
        <p:spPr>
          <a:xfrm>
            <a:off x="6214172" y="5657232"/>
            <a:ext cx="1140135"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en-US" altLang="ja-JP" sz="1200" b="1" i="0" u="none" strike="noStrike" cap="none">
                <a:solidFill>
                  <a:schemeClr val="dk1"/>
                </a:solidFill>
                <a:latin typeface="Meiryo"/>
                <a:ea typeface="Meiryo"/>
                <a:cs typeface="Meiryo"/>
                <a:sym typeface="Meiryo"/>
              </a:rPr>
              <a:t>UAT</a:t>
            </a:r>
            <a:endParaRPr lang="ja-JP" altLang="en-US" sz="1200" b="1" i="0" u="none" strike="noStrike" cap="none">
              <a:solidFill>
                <a:schemeClr val="dk1"/>
              </a:solidFill>
              <a:latin typeface="Meiryo"/>
              <a:ea typeface="Meiryo"/>
              <a:cs typeface="Meiryo"/>
              <a:sym typeface="Meiryo"/>
            </a:endParaRPr>
          </a:p>
        </p:txBody>
      </p:sp>
      <p:grpSp>
        <p:nvGrpSpPr>
          <p:cNvPr id="39" name="Group 38">
            <a:extLst>
              <a:ext uri="{FF2B5EF4-FFF2-40B4-BE49-F238E27FC236}">
                <a16:creationId xmlns:a16="http://schemas.microsoft.com/office/drawing/2014/main" id="{E0FFA872-840D-5840-4B90-0A0583E3D187}"/>
              </a:ext>
            </a:extLst>
          </p:cNvPr>
          <p:cNvGrpSpPr/>
          <p:nvPr/>
        </p:nvGrpSpPr>
        <p:grpSpPr>
          <a:xfrm>
            <a:off x="7457429" y="2119900"/>
            <a:ext cx="1323171" cy="252000"/>
            <a:chOff x="10081840" y="2008125"/>
            <a:chExt cx="1323171" cy="252000"/>
          </a:xfrm>
        </p:grpSpPr>
        <p:sp>
          <p:nvSpPr>
            <p:cNvPr id="35" name="Google Shape;151;p1">
              <a:extLst>
                <a:ext uri="{FF2B5EF4-FFF2-40B4-BE49-F238E27FC236}">
                  <a16:creationId xmlns:a16="http://schemas.microsoft.com/office/drawing/2014/main" id="{D1605AE2-E781-DA1A-ED2B-42C353356955}"/>
                </a:ext>
              </a:extLst>
            </p:cNvPr>
            <p:cNvSpPr>
              <a:spLocks noChangeAspect="1"/>
            </p:cNvSpPr>
            <p:nvPr/>
          </p:nvSpPr>
          <p:spPr>
            <a:xfrm>
              <a:off x="10081840" y="2008125"/>
              <a:ext cx="252000" cy="252000"/>
            </a:xfrm>
            <a:prstGeom prst="diamond">
              <a:avLst/>
            </a:prstGeom>
            <a:solidFill>
              <a:schemeClr val="accent5"/>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36" name="Rectangle 35">
              <a:extLst>
                <a:ext uri="{FF2B5EF4-FFF2-40B4-BE49-F238E27FC236}">
                  <a16:creationId xmlns:a16="http://schemas.microsoft.com/office/drawing/2014/main" id="{F861DEC0-44C7-8648-91E1-F51C43EF6B3E}"/>
                </a:ext>
              </a:extLst>
            </p:cNvPr>
            <p:cNvSpPr/>
            <p:nvPr/>
          </p:nvSpPr>
          <p:spPr>
            <a:xfrm>
              <a:off x="10289011" y="2008125"/>
              <a:ext cx="1116000"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lvl="0">
                <a:buSzPts val="825"/>
              </a:pPr>
              <a:r>
                <a:rPr lang="ja-JP" altLang="en-US" sz="1200" b="1">
                  <a:solidFill>
                    <a:schemeClr val="dk1"/>
                  </a:solidFill>
                  <a:latin typeface="Meiryo"/>
                  <a:ea typeface="Meiryo"/>
                  <a:cs typeface="Meiryo"/>
                  <a:sym typeface="Meiryo"/>
                </a:rPr>
                <a:t>リリース</a:t>
              </a:r>
            </a:p>
          </p:txBody>
        </p:sp>
      </p:grpSp>
      <p:sp>
        <p:nvSpPr>
          <p:cNvPr id="46" name="Google Shape;151;p1">
            <a:extLst>
              <a:ext uri="{FF2B5EF4-FFF2-40B4-BE49-F238E27FC236}">
                <a16:creationId xmlns:a16="http://schemas.microsoft.com/office/drawing/2014/main" id="{27A83D5D-B14F-6D3A-475A-F4AE0460C6B7}"/>
              </a:ext>
            </a:extLst>
          </p:cNvPr>
          <p:cNvSpPr>
            <a:spLocks noChangeAspect="1"/>
          </p:cNvSpPr>
          <p:nvPr/>
        </p:nvSpPr>
        <p:spPr>
          <a:xfrm>
            <a:off x="8107608" y="1634866"/>
            <a:ext cx="252000" cy="252000"/>
          </a:xfrm>
          <a:prstGeom prst="diamond">
            <a:avLst/>
          </a:prstGeom>
          <a:solidFill>
            <a:schemeClr val="bg1">
              <a:lumMod val="5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47" name="Google Shape;151;p1">
            <a:extLst>
              <a:ext uri="{FF2B5EF4-FFF2-40B4-BE49-F238E27FC236}">
                <a16:creationId xmlns:a16="http://schemas.microsoft.com/office/drawing/2014/main" id="{0E7836A5-CB0A-C698-20FE-4F390056B946}"/>
              </a:ext>
            </a:extLst>
          </p:cNvPr>
          <p:cNvSpPr>
            <a:spLocks noChangeAspect="1"/>
          </p:cNvSpPr>
          <p:nvPr/>
        </p:nvSpPr>
        <p:spPr>
          <a:xfrm>
            <a:off x="9804440" y="1634866"/>
            <a:ext cx="252000" cy="252000"/>
          </a:xfrm>
          <a:prstGeom prst="diamond">
            <a:avLst/>
          </a:prstGeom>
          <a:solidFill>
            <a:schemeClr val="bg1">
              <a:lumMod val="5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cxnSp>
        <p:nvCxnSpPr>
          <p:cNvPr id="49" name="Straight Connector 48">
            <a:extLst>
              <a:ext uri="{FF2B5EF4-FFF2-40B4-BE49-F238E27FC236}">
                <a16:creationId xmlns:a16="http://schemas.microsoft.com/office/drawing/2014/main" id="{8A3C24C0-93A0-F113-48A2-E4A6A1EB3DF8}"/>
              </a:ext>
            </a:extLst>
          </p:cNvPr>
          <p:cNvCxnSpPr>
            <a:cxnSpLocks/>
          </p:cNvCxnSpPr>
          <p:nvPr/>
        </p:nvCxnSpPr>
        <p:spPr>
          <a:xfrm>
            <a:off x="8359608" y="1760866"/>
            <a:ext cx="1444832"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25C6A2C2-2CBB-8E11-E70C-4E7B18D96F98}"/>
              </a:ext>
            </a:extLst>
          </p:cNvPr>
          <p:cNvSpPr/>
          <p:nvPr/>
        </p:nvSpPr>
        <p:spPr>
          <a:xfrm>
            <a:off x="6364609" y="1664907"/>
            <a:ext cx="1867592"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lvl="0" algn="r">
              <a:buSzPts val="825"/>
            </a:pPr>
            <a:r>
              <a:rPr lang="ja-JP" altLang="en-US" sz="1200" b="1">
                <a:solidFill>
                  <a:schemeClr val="bg1">
                    <a:lumMod val="50000"/>
                  </a:schemeClr>
                </a:solidFill>
                <a:latin typeface="Meiryo"/>
                <a:ea typeface="Meiryo"/>
                <a:cs typeface="Meiryo"/>
                <a:sym typeface="Meiryo"/>
              </a:rPr>
              <a:t>店舗コンバージョン（西友</a:t>
            </a:r>
            <a:r>
              <a:rPr lang="en-US" altLang="ja-JP" sz="1200" b="1">
                <a:solidFill>
                  <a:schemeClr val="bg1">
                    <a:lumMod val="50000"/>
                  </a:schemeClr>
                </a:solidFill>
                <a:latin typeface="Meiryo"/>
                <a:ea typeface="Meiryo"/>
                <a:cs typeface="Meiryo"/>
                <a:sym typeface="Meiryo"/>
              </a:rPr>
              <a:t>MD</a:t>
            </a:r>
            <a:r>
              <a:rPr lang="ja-JP" altLang="en-US" sz="1200" b="1">
                <a:solidFill>
                  <a:schemeClr val="bg1">
                    <a:lumMod val="50000"/>
                  </a:schemeClr>
                </a:solidFill>
                <a:latin typeface="Meiryo"/>
                <a:ea typeface="Meiryo"/>
                <a:cs typeface="Meiryo"/>
                <a:sym typeface="Meiryo"/>
              </a:rPr>
              <a:t>基幹・</a:t>
            </a:r>
            <a:r>
              <a:rPr lang="en-US" altLang="ja-JP" sz="1200" b="1">
                <a:solidFill>
                  <a:schemeClr val="bg1">
                    <a:lumMod val="50000"/>
                  </a:schemeClr>
                </a:solidFill>
                <a:latin typeface="Meiryo"/>
                <a:ea typeface="Meiryo"/>
                <a:cs typeface="Meiryo"/>
                <a:sym typeface="Meiryo"/>
              </a:rPr>
              <a:t>Shinise</a:t>
            </a:r>
            <a:r>
              <a:rPr lang="ja-JP" altLang="en-US" sz="1200" b="1">
                <a:solidFill>
                  <a:schemeClr val="bg1">
                    <a:lumMod val="50000"/>
                  </a:schemeClr>
                </a:solidFill>
                <a:latin typeface="Meiryo"/>
                <a:ea typeface="Meiryo"/>
                <a:cs typeface="Meiryo"/>
                <a:sym typeface="Meiryo"/>
              </a:rPr>
              <a:t>本格稼働開始）</a:t>
            </a:r>
          </a:p>
        </p:txBody>
      </p:sp>
      <p:sp>
        <p:nvSpPr>
          <p:cNvPr id="51" name="Freeform: Shape 50">
            <a:extLst>
              <a:ext uri="{FF2B5EF4-FFF2-40B4-BE49-F238E27FC236}">
                <a16:creationId xmlns:a16="http://schemas.microsoft.com/office/drawing/2014/main" id="{445A9A55-0C83-D850-E87E-0B8733400C24}"/>
              </a:ext>
            </a:extLst>
          </p:cNvPr>
          <p:cNvSpPr/>
          <p:nvPr/>
        </p:nvSpPr>
        <p:spPr>
          <a:xfrm>
            <a:off x="5062367" y="3520676"/>
            <a:ext cx="205541" cy="1012181"/>
          </a:xfrm>
          <a:custGeom>
            <a:avLst/>
            <a:gdLst>
              <a:gd name="connsiteX0" fmla="*/ 0 w 314325"/>
              <a:gd name="connsiteY0" fmla="*/ 0 h 514350"/>
              <a:gd name="connsiteX1" fmla="*/ 314325 w 314325"/>
              <a:gd name="connsiteY1" fmla="*/ 0 h 514350"/>
              <a:gd name="connsiteX2" fmla="*/ 314325 w 314325"/>
              <a:gd name="connsiteY2" fmla="*/ 514350 h 514350"/>
            </a:gdLst>
            <a:ahLst/>
            <a:cxnLst>
              <a:cxn ang="0">
                <a:pos x="connsiteX0" y="connsiteY0"/>
              </a:cxn>
              <a:cxn ang="0">
                <a:pos x="connsiteX1" y="connsiteY1"/>
              </a:cxn>
              <a:cxn ang="0">
                <a:pos x="connsiteX2" y="connsiteY2"/>
              </a:cxn>
            </a:cxnLst>
            <a:rect l="l" t="t" r="r" b="b"/>
            <a:pathLst>
              <a:path w="314325" h="514350">
                <a:moveTo>
                  <a:pt x="0" y="0"/>
                </a:moveTo>
                <a:lnTo>
                  <a:pt x="314325" y="0"/>
                </a:lnTo>
                <a:lnTo>
                  <a:pt x="314325" y="514350"/>
                </a:lnTo>
              </a:path>
            </a:pathLst>
          </a:cu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Freeform: Shape 51">
            <a:extLst>
              <a:ext uri="{FF2B5EF4-FFF2-40B4-BE49-F238E27FC236}">
                <a16:creationId xmlns:a16="http://schemas.microsoft.com/office/drawing/2014/main" id="{04DCF39F-2751-62F4-4F0A-27DE87CB7711}"/>
              </a:ext>
            </a:extLst>
          </p:cNvPr>
          <p:cNvSpPr/>
          <p:nvPr/>
        </p:nvSpPr>
        <p:spPr>
          <a:xfrm>
            <a:off x="3899661" y="2780644"/>
            <a:ext cx="1368248" cy="1752213"/>
          </a:xfrm>
          <a:custGeom>
            <a:avLst/>
            <a:gdLst>
              <a:gd name="connsiteX0" fmla="*/ 0 w 314325"/>
              <a:gd name="connsiteY0" fmla="*/ 0 h 514350"/>
              <a:gd name="connsiteX1" fmla="*/ 314325 w 314325"/>
              <a:gd name="connsiteY1" fmla="*/ 0 h 514350"/>
              <a:gd name="connsiteX2" fmla="*/ 314325 w 314325"/>
              <a:gd name="connsiteY2" fmla="*/ 514350 h 514350"/>
            </a:gdLst>
            <a:ahLst/>
            <a:cxnLst>
              <a:cxn ang="0">
                <a:pos x="connsiteX0" y="connsiteY0"/>
              </a:cxn>
              <a:cxn ang="0">
                <a:pos x="connsiteX1" y="connsiteY1"/>
              </a:cxn>
              <a:cxn ang="0">
                <a:pos x="connsiteX2" y="connsiteY2"/>
              </a:cxn>
            </a:cxnLst>
            <a:rect l="l" t="t" r="r" b="b"/>
            <a:pathLst>
              <a:path w="314325" h="514350">
                <a:moveTo>
                  <a:pt x="0" y="0"/>
                </a:moveTo>
                <a:lnTo>
                  <a:pt x="314325" y="0"/>
                </a:lnTo>
                <a:lnTo>
                  <a:pt x="314325" y="514350"/>
                </a:lnTo>
              </a:path>
            </a:pathLst>
          </a:cu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4" name="Connector: Elbow 53">
            <a:extLst>
              <a:ext uri="{FF2B5EF4-FFF2-40B4-BE49-F238E27FC236}">
                <a16:creationId xmlns:a16="http://schemas.microsoft.com/office/drawing/2014/main" id="{8E3F9F17-5B22-18E6-FEB4-1EFF87265EE3}"/>
              </a:ext>
            </a:extLst>
          </p:cNvPr>
          <p:cNvCxnSpPr>
            <a:cxnSpLocks/>
          </p:cNvCxnSpPr>
          <p:nvPr/>
        </p:nvCxnSpPr>
        <p:spPr>
          <a:xfrm flipV="1">
            <a:off x="7354307" y="2371900"/>
            <a:ext cx="229122" cy="3537332"/>
          </a:xfrm>
          <a:prstGeom prst="bentConnector2">
            <a:avLst/>
          </a:pr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cxnSp>
      <p:cxnSp>
        <p:nvCxnSpPr>
          <p:cNvPr id="56" name="Connector: Elbow 55">
            <a:extLst>
              <a:ext uri="{FF2B5EF4-FFF2-40B4-BE49-F238E27FC236}">
                <a16:creationId xmlns:a16="http://schemas.microsoft.com/office/drawing/2014/main" id="{F3C0A9DC-25E4-26BB-F470-6EF3B403433D}"/>
              </a:ext>
            </a:extLst>
          </p:cNvPr>
          <p:cNvCxnSpPr>
            <a:cxnSpLocks/>
          </p:cNvCxnSpPr>
          <p:nvPr/>
        </p:nvCxnSpPr>
        <p:spPr>
          <a:xfrm flipV="1">
            <a:off x="7219836" y="2371900"/>
            <a:ext cx="363593" cy="1887825"/>
          </a:xfrm>
          <a:prstGeom prst="bentConnector2">
            <a:avLst/>
          </a:pr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cxnSp>
      <p:sp>
        <p:nvSpPr>
          <p:cNvPr id="59" name="Freeform: Shape 58">
            <a:extLst>
              <a:ext uri="{FF2B5EF4-FFF2-40B4-BE49-F238E27FC236}">
                <a16:creationId xmlns:a16="http://schemas.microsoft.com/office/drawing/2014/main" id="{21535761-7AA2-B06B-6563-3FC434A3A02B}"/>
              </a:ext>
            </a:extLst>
          </p:cNvPr>
          <p:cNvSpPr/>
          <p:nvPr/>
        </p:nvSpPr>
        <p:spPr>
          <a:xfrm>
            <a:off x="5062367" y="4220804"/>
            <a:ext cx="205541" cy="312053"/>
          </a:xfrm>
          <a:custGeom>
            <a:avLst/>
            <a:gdLst>
              <a:gd name="connsiteX0" fmla="*/ 0 w 314325"/>
              <a:gd name="connsiteY0" fmla="*/ 0 h 514350"/>
              <a:gd name="connsiteX1" fmla="*/ 314325 w 314325"/>
              <a:gd name="connsiteY1" fmla="*/ 0 h 514350"/>
              <a:gd name="connsiteX2" fmla="*/ 314325 w 314325"/>
              <a:gd name="connsiteY2" fmla="*/ 514350 h 514350"/>
            </a:gdLst>
            <a:ahLst/>
            <a:cxnLst>
              <a:cxn ang="0">
                <a:pos x="connsiteX0" y="connsiteY0"/>
              </a:cxn>
              <a:cxn ang="0">
                <a:pos x="connsiteX1" y="connsiteY1"/>
              </a:cxn>
              <a:cxn ang="0">
                <a:pos x="connsiteX2" y="connsiteY2"/>
              </a:cxn>
            </a:cxnLst>
            <a:rect l="l" t="t" r="r" b="b"/>
            <a:pathLst>
              <a:path w="314325" h="514350">
                <a:moveTo>
                  <a:pt x="0" y="0"/>
                </a:moveTo>
                <a:lnTo>
                  <a:pt x="314325" y="0"/>
                </a:lnTo>
                <a:lnTo>
                  <a:pt x="314325" y="514350"/>
                </a:lnTo>
              </a:path>
            </a:pathLst>
          </a:custGeom>
          <a:noFill/>
          <a:ln w="28575">
            <a:solidFill>
              <a:schemeClr val="bg1">
                <a:lumMod val="65000"/>
              </a:schemeClr>
            </a:solidFill>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Google Shape;151;p1">
            <a:extLst>
              <a:ext uri="{FF2B5EF4-FFF2-40B4-BE49-F238E27FC236}">
                <a16:creationId xmlns:a16="http://schemas.microsoft.com/office/drawing/2014/main" id="{4C9014F3-D6C9-58A7-034D-8E0B651BF692}"/>
              </a:ext>
            </a:extLst>
          </p:cNvPr>
          <p:cNvSpPr>
            <a:spLocks noChangeAspect="1"/>
          </p:cNvSpPr>
          <p:nvPr/>
        </p:nvSpPr>
        <p:spPr>
          <a:xfrm>
            <a:off x="3468134" y="4556046"/>
            <a:ext cx="252000" cy="252000"/>
          </a:xfrm>
          <a:prstGeom prst="diamond">
            <a:avLst/>
          </a:prstGeom>
          <a:solidFill>
            <a:schemeClr val="accent5">
              <a:lumMod val="60000"/>
              <a:lumOff val="4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5" name="Rectangle 35">
            <a:extLst>
              <a:ext uri="{FF2B5EF4-FFF2-40B4-BE49-F238E27FC236}">
                <a16:creationId xmlns:a16="http://schemas.microsoft.com/office/drawing/2014/main" id="{F6EFC99B-24FC-E71D-C1EB-77F6F55FDCD9}"/>
              </a:ext>
            </a:extLst>
          </p:cNvPr>
          <p:cNvSpPr/>
          <p:nvPr/>
        </p:nvSpPr>
        <p:spPr>
          <a:xfrm>
            <a:off x="3323692" y="4832872"/>
            <a:ext cx="1228058" cy="27441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lvl="0" algn="r">
              <a:buSzPts val="825"/>
            </a:pPr>
            <a:r>
              <a:rPr lang="ja-JP" altLang="en-US" sz="1200" b="1">
                <a:solidFill>
                  <a:schemeClr val="dk1"/>
                </a:solidFill>
                <a:latin typeface="Meiryo"/>
                <a:ea typeface="Meiryo"/>
                <a:cs typeface="Meiryo"/>
                <a:sym typeface="Meiryo"/>
              </a:rPr>
              <a:t>Bizレビュー  </a:t>
            </a:r>
          </a:p>
        </p:txBody>
      </p:sp>
      <p:sp>
        <p:nvSpPr>
          <p:cNvPr id="13" name="Google Shape;153;p1">
            <a:extLst>
              <a:ext uri="{FF2B5EF4-FFF2-40B4-BE49-F238E27FC236}">
                <a16:creationId xmlns:a16="http://schemas.microsoft.com/office/drawing/2014/main" id="{A9AB51D8-8714-80BD-1849-57F58480EAFA}"/>
              </a:ext>
            </a:extLst>
          </p:cNvPr>
          <p:cNvSpPr/>
          <p:nvPr/>
        </p:nvSpPr>
        <p:spPr>
          <a:xfrm>
            <a:off x="3035660" y="5107397"/>
            <a:ext cx="2899282" cy="504000"/>
          </a:xfrm>
          <a:prstGeom prst="rect">
            <a:avLst/>
          </a:prstGeom>
          <a:solidFill>
            <a:schemeClr val="accent5">
              <a:lumMod val="20000"/>
              <a:lumOff val="80000"/>
            </a:schemeClr>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marL="0" marR="0" lvl="0" indent="0" rtl="0">
              <a:lnSpc>
                <a:spcPct val="100000"/>
              </a:lnSpc>
              <a:spcBef>
                <a:spcPts val="0"/>
              </a:spcBef>
              <a:spcAft>
                <a:spcPts val="0"/>
              </a:spcAft>
              <a:buClr>
                <a:srgbClr val="000000"/>
              </a:buClr>
              <a:buSzPts val="900"/>
              <a:buFont typeface="Arial"/>
              <a:buNone/>
            </a:pPr>
            <a:r>
              <a:rPr lang="ja-JP" altLang="en-US" sz="1200" b="1">
                <a:solidFill>
                  <a:schemeClr val="dk1"/>
                </a:solidFill>
                <a:latin typeface="Meiryo"/>
                <a:ea typeface="Meiryo"/>
                <a:cs typeface="Meiryo"/>
              </a:rPr>
              <a:t>データクレンジング（データパージ）</a:t>
            </a:r>
          </a:p>
        </p:txBody>
      </p:sp>
      <p:sp>
        <p:nvSpPr>
          <p:cNvPr id="14" name="Google Shape;151;p1">
            <a:extLst>
              <a:ext uri="{FF2B5EF4-FFF2-40B4-BE49-F238E27FC236}">
                <a16:creationId xmlns:a16="http://schemas.microsoft.com/office/drawing/2014/main" id="{FA91EF80-BB28-EE98-2703-8D1F29825F50}"/>
              </a:ext>
            </a:extLst>
          </p:cNvPr>
          <p:cNvSpPr>
            <a:spLocks noChangeAspect="1"/>
          </p:cNvSpPr>
          <p:nvPr/>
        </p:nvSpPr>
        <p:spPr>
          <a:xfrm>
            <a:off x="7901661" y="1891176"/>
            <a:ext cx="252000" cy="252000"/>
          </a:xfrm>
          <a:prstGeom prst="diamond">
            <a:avLst/>
          </a:prstGeom>
          <a:solidFill>
            <a:schemeClr val="accent5"/>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15" name="Rectangle 49">
            <a:extLst>
              <a:ext uri="{FF2B5EF4-FFF2-40B4-BE49-F238E27FC236}">
                <a16:creationId xmlns:a16="http://schemas.microsoft.com/office/drawing/2014/main" id="{FDA8DE5C-E468-7D52-AAA9-F52EF658BE63}"/>
              </a:ext>
            </a:extLst>
          </p:cNvPr>
          <p:cNvSpPr/>
          <p:nvPr/>
        </p:nvSpPr>
        <p:spPr>
          <a:xfrm>
            <a:off x="4551260" y="1891176"/>
            <a:ext cx="3494564"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algn="r">
              <a:buSzPts val="825"/>
            </a:pPr>
            <a:r>
              <a:rPr lang="ja-JP" altLang="en-US" sz="1200" b="1">
                <a:solidFill>
                  <a:schemeClr val="dk1"/>
                </a:solidFill>
                <a:latin typeface="Meiryo"/>
                <a:ea typeface="Meiryo"/>
                <a:cs typeface="Meiryo"/>
              </a:rPr>
              <a:t>棚割・自動発注・WMS　発注データI/F連携開始  </a:t>
            </a:r>
          </a:p>
        </p:txBody>
      </p:sp>
      <p:sp>
        <p:nvSpPr>
          <p:cNvPr id="16" name="Google Shape;108;p11">
            <a:extLst>
              <a:ext uri="{FF2B5EF4-FFF2-40B4-BE49-F238E27FC236}">
                <a16:creationId xmlns:a16="http://schemas.microsoft.com/office/drawing/2014/main" id="{FA6A28E5-B7F8-8B8F-06B1-2145BB8951BD}"/>
              </a:ext>
            </a:extLst>
          </p:cNvPr>
          <p:cNvSpPr txBox="1">
            <a:spLocks/>
          </p:cNvSpPr>
          <p:nvPr/>
        </p:nvSpPr>
        <p:spPr>
          <a:xfrm>
            <a:off x="527760" y="272842"/>
            <a:ext cx="10933600" cy="707886"/>
          </a:xfrm>
          <a:prstGeom prst="rect">
            <a:avLst/>
          </a:prstGeom>
          <a:noFill/>
          <a:ln>
            <a:noFill/>
          </a:ln>
        </p:spPr>
        <p:txBody>
          <a:bodyPr spcFirstLastPara="1" wrap="square" lIns="0" tIns="0" rIns="0" bIns="0" anchor="t" anchorCtr="0">
            <a:spAutoFit/>
          </a:bodyPr>
          <a:lstStyle>
            <a:lvl1pPr marR="0" lvl="0" algn="l" defTabSz="914377" rtl="0" eaLnBrk="1" latinLnBrk="0" hangingPunct="1">
              <a:lnSpc>
                <a:spcPct val="90000"/>
              </a:lnSpc>
              <a:spcBef>
                <a:spcPts val="0"/>
              </a:spcBef>
              <a:spcAft>
                <a:spcPts val="0"/>
              </a:spcAft>
              <a:buClr>
                <a:srgbClr val="012916"/>
              </a:buClr>
              <a:buSzPts val="1800"/>
              <a:buFont typeface="MS PGothic"/>
              <a:buNone/>
              <a:defRPr kumimoji="1" sz="2400" b="1" i="0" u="none" strike="noStrike" kern="1200" cap="none" baseline="0">
                <a:solidFill>
                  <a:srgbClr val="000000"/>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pPr>
              <a:lnSpc>
                <a:spcPct val="100000"/>
              </a:lnSpc>
            </a:pPr>
            <a:r>
              <a:rPr lang="en-US" altLang="ja-JP" sz="1800">
                <a:solidFill>
                  <a:schemeClr val="bg1">
                    <a:lumMod val="65000"/>
                  </a:schemeClr>
                </a:solidFill>
                <a:latin typeface="メイリオ" panose="020B0604030504040204" pitchFamily="50" charset="-128"/>
                <a:ea typeface="メイリオ" panose="020B0604030504040204" pitchFamily="50" charset="-128"/>
              </a:rPr>
              <a:t>7. </a:t>
            </a:r>
            <a:r>
              <a:rPr lang="ja-JP" altLang="en-US" sz="1800">
                <a:solidFill>
                  <a:schemeClr val="bg1">
                    <a:lumMod val="65000"/>
                  </a:schemeClr>
                </a:solidFill>
                <a:latin typeface="メイリオ" panose="020B0604030504040204" pitchFamily="50" charset="-128"/>
                <a:ea typeface="メイリオ" panose="020B0604030504040204" pitchFamily="50" charset="-128"/>
              </a:rPr>
              <a:t>各領域におけるポイント</a:t>
            </a:r>
            <a:endParaRPr lang="en-US" altLang="ja-JP" sz="1800">
              <a:solidFill>
                <a:schemeClr val="accent5"/>
              </a:solidFill>
              <a:latin typeface="メイリオ" panose="020B0604030504040204" pitchFamily="50" charset="-128"/>
              <a:ea typeface="メイリオ" panose="020B0604030504040204" pitchFamily="50" charset="-128"/>
            </a:endParaRPr>
          </a:p>
          <a:p>
            <a:pPr>
              <a:lnSpc>
                <a:spcPct val="100000"/>
              </a:lnSpc>
            </a:pPr>
            <a:r>
              <a:rPr lang="ja-JP" altLang="en-US" sz="2800">
                <a:latin typeface="メイリオ" panose="020B0604030504040204" pitchFamily="50" charset="-128"/>
                <a:ea typeface="メイリオ" panose="020B0604030504040204" pitchFamily="50" charset="-128"/>
              </a:rPr>
              <a:t>マスタ関連システム刷新スケジュール</a:t>
            </a:r>
            <a:endParaRPr lang="ja-JP" altLang="en-US" sz="2800"/>
          </a:p>
        </p:txBody>
      </p:sp>
      <p:sp>
        <p:nvSpPr>
          <p:cNvPr id="22" name="Rectangle 21">
            <a:extLst>
              <a:ext uri="{FF2B5EF4-FFF2-40B4-BE49-F238E27FC236}">
                <a16:creationId xmlns:a16="http://schemas.microsoft.com/office/drawing/2014/main" id="{4CF61012-BD69-C23C-5578-29AD55A207EF}"/>
              </a:ext>
            </a:extLst>
          </p:cNvPr>
          <p:cNvSpPr/>
          <p:nvPr/>
        </p:nvSpPr>
        <p:spPr>
          <a:xfrm>
            <a:off x="3437228" y="230812"/>
            <a:ext cx="1584176" cy="2745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b="1">
                <a:solidFill>
                  <a:schemeClr val="bg1"/>
                </a:solidFill>
                <a:latin typeface="メイリオ" panose="020B0604030504040204" pitchFamily="50" charset="-128"/>
                <a:ea typeface="メイリオ" panose="020B0604030504040204" pitchFamily="50" charset="-128"/>
              </a:rPr>
              <a:t>A. </a:t>
            </a:r>
            <a:r>
              <a:rPr kumimoji="1" lang="ja-JP" altLang="en-US" sz="1600" b="1">
                <a:solidFill>
                  <a:schemeClr val="bg1"/>
                </a:solidFill>
                <a:latin typeface="メイリオ" panose="020B0604030504040204" pitchFamily="50" charset="-128"/>
                <a:ea typeface="メイリオ" panose="020B0604030504040204" pitchFamily="50" charset="-128"/>
              </a:rPr>
              <a:t>マスタ関連</a:t>
            </a:r>
          </a:p>
        </p:txBody>
      </p:sp>
      <p:sp>
        <p:nvSpPr>
          <p:cNvPr id="2" name="Google Shape;153;p1">
            <a:extLst>
              <a:ext uri="{FF2B5EF4-FFF2-40B4-BE49-F238E27FC236}">
                <a16:creationId xmlns:a16="http://schemas.microsoft.com/office/drawing/2014/main" id="{64B633CA-3FFB-485B-2CD5-B5D090B4F743}"/>
              </a:ext>
            </a:extLst>
          </p:cNvPr>
          <p:cNvSpPr/>
          <p:nvPr/>
        </p:nvSpPr>
        <p:spPr>
          <a:xfrm>
            <a:off x="7035707" y="4557561"/>
            <a:ext cx="860647" cy="504000"/>
          </a:xfrm>
          <a:prstGeom prst="rect">
            <a:avLst/>
          </a:prstGeom>
          <a:solidFill>
            <a:schemeClr val="accent5"/>
          </a:solidFill>
          <a:ln w="19050" cap="flat" cmpd="sng">
            <a:solidFill>
              <a:schemeClr val="lt1"/>
            </a:solidFill>
            <a:prstDash val="solid"/>
            <a:round/>
            <a:headEnd type="none" w="sm" len="sm"/>
            <a:tailEnd type="none" w="sm" len="sm"/>
          </a:ln>
        </p:spPr>
        <p:txBody>
          <a:bodyPr spcFirstLastPara="1" wrap="none" lIns="91425" tIns="45700" rIns="91425" bIns="45700" anchor="ctr" anchorCtr="0">
            <a:noAutofit/>
          </a:bodyPr>
          <a:lstStyle/>
          <a:p>
            <a:pPr>
              <a:buClr>
                <a:srgbClr val="000000"/>
              </a:buClr>
              <a:buSzPts val="900"/>
            </a:pPr>
            <a:r>
              <a:rPr lang="ja-JP" altLang="en-US" sz="1200" b="1">
                <a:solidFill>
                  <a:schemeClr val="bg1"/>
                </a:solidFill>
                <a:latin typeface="Meiryo"/>
                <a:ea typeface="Meiryo"/>
                <a:cs typeface="Meiryo"/>
              </a:rPr>
              <a:t>マスタ</a:t>
            </a:r>
            <a:endParaRPr lang="en-US" altLang="ja-JP" sz="1200" b="1">
              <a:solidFill>
                <a:schemeClr val="bg1"/>
              </a:solidFill>
              <a:latin typeface="Meiryo"/>
              <a:ea typeface="Meiryo"/>
              <a:cs typeface="Meiryo"/>
            </a:endParaRPr>
          </a:p>
          <a:p>
            <a:pPr>
              <a:buClr>
                <a:srgbClr val="000000"/>
              </a:buClr>
              <a:buSzPts val="900"/>
            </a:pPr>
            <a:r>
              <a:rPr lang="ja-JP" altLang="en-US" sz="1200" b="1">
                <a:solidFill>
                  <a:schemeClr val="bg1"/>
                </a:solidFill>
                <a:latin typeface="Meiryo"/>
                <a:ea typeface="Meiryo"/>
                <a:cs typeface="Meiryo"/>
              </a:rPr>
              <a:t>移行</a:t>
            </a:r>
            <a:endParaRPr lang="ja-JP">
              <a:solidFill>
                <a:schemeClr val="bg1"/>
              </a:solidFill>
            </a:endParaRPr>
          </a:p>
        </p:txBody>
      </p:sp>
      <p:sp>
        <p:nvSpPr>
          <p:cNvPr id="33" name="Google Shape;151;p1">
            <a:extLst>
              <a:ext uri="{FF2B5EF4-FFF2-40B4-BE49-F238E27FC236}">
                <a16:creationId xmlns:a16="http://schemas.microsoft.com/office/drawing/2014/main" id="{89ED3B7E-0B50-EED7-70B1-C1B6F14C46B6}"/>
              </a:ext>
            </a:extLst>
          </p:cNvPr>
          <p:cNvSpPr>
            <a:spLocks noChangeAspect="1"/>
          </p:cNvSpPr>
          <p:nvPr/>
        </p:nvSpPr>
        <p:spPr>
          <a:xfrm>
            <a:off x="3899756" y="4556046"/>
            <a:ext cx="252000" cy="252000"/>
          </a:xfrm>
          <a:prstGeom prst="diamond">
            <a:avLst/>
          </a:prstGeom>
          <a:solidFill>
            <a:schemeClr val="accent5">
              <a:lumMod val="60000"/>
              <a:lumOff val="4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34" name="Google Shape;151;p1">
            <a:extLst>
              <a:ext uri="{FF2B5EF4-FFF2-40B4-BE49-F238E27FC236}">
                <a16:creationId xmlns:a16="http://schemas.microsoft.com/office/drawing/2014/main" id="{9D0338C4-34B2-B7E4-65C4-618874276B43}"/>
              </a:ext>
            </a:extLst>
          </p:cNvPr>
          <p:cNvSpPr>
            <a:spLocks noChangeAspect="1"/>
          </p:cNvSpPr>
          <p:nvPr/>
        </p:nvSpPr>
        <p:spPr>
          <a:xfrm>
            <a:off x="4187788" y="4556046"/>
            <a:ext cx="252000" cy="252000"/>
          </a:xfrm>
          <a:prstGeom prst="diamond">
            <a:avLst/>
          </a:prstGeom>
          <a:solidFill>
            <a:schemeClr val="accent5">
              <a:lumMod val="60000"/>
              <a:lumOff val="40000"/>
            </a:schemeClr>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cxnSp>
        <p:nvCxnSpPr>
          <p:cNvPr id="38" name="Straight Connector 37">
            <a:extLst>
              <a:ext uri="{FF2B5EF4-FFF2-40B4-BE49-F238E27FC236}">
                <a16:creationId xmlns:a16="http://schemas.microsoft.com/office/drawing/2014/main" id="{C6CB41D5-BBC0-DFEC-A143-E440319B4FEC}"/>
              </a:ext>
            </a:extLst>
          </p:cNvPr>
          <p:cNvCxnSpPr>
            <a:cxnSpLocks/>
          </p:cNvCxnSpPr>
          <p:nvPr/>
        </p:nvCxnSpPr>
        <p:spPr>
          <a:xfrm>
            <a:off x="3720134" y="4682046"/>
            <a:ext cx="179622"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AF19A8E0-BA81-D9A9-CF5D-14228B23D52B}"/>
              </a:ext>
            </a:extLst>
          </p:cNvPr>
          <p:cNvCxnSpPr>
            <a:cxnSpLocks/>
          </p:cNvCxnSpPr>
          <p:nvPr/>
        </p:nvCxnSpPr>
        <p:spPr>
          <a:xfrm>
            <a:off x="4151756" y="4682046"/>
            <a:ext cx="36032" cy="0"/>
          </a:xfrm>
          <a:prstGeom prst="line">
            <a:avLst/>
          </a:prstGeom>
          <a:ln w="190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Callout: Line 2">
            <a:extLst>
              <a:ext uri="{FF2B5EF4-FFF2-40B4-BE49-F238E27FC236}">
                <a16:creationId xmlns:a16="http://schemas.microsoft.com/office/drawing/2014/main" id="{01CBF1AC-574D-F860-2158-6CEE8D8D23E2}"/>
              </a:ext>
            </a:extLst>
          </p:cNvPr>
          <p:cNvSpPr/>
          <p:nvPr/>
        </p:nvSpPr>
        <p:spPr>
          <a:xfrm>
            <a:off x="8378508" y="3115887"/>
            <a:ext cx="3194755" cy="1440159"/>
          </a:xfrm>
          <a:prstGeom prst="borderCallout1">
            <a:avLst>
              <a:gd name="adj1" fmla="val 39914"/>
              <a:gd name="adj2" fmla="val 233"/>
              <a:gd name="adj3" fmla="val 100742"/>
              <a:gd name="adj4" fmla="val -19803"/>
            </a:avLst>
          </a:prstGeom>
          <a:solidFill>
            <a:schemeClr val="accent5"/>
          </a:solidFill>
          <a:ln w="1905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a:solidFill>
                  <a:schemeClr val="bg1"/>
                </a:solidFill>
                <a:latin typeface="メイリオ" panose="020B0604030504040204" pitchFamily="50" charset="-128"/>
                <a:ea typeface="メイリオ" panose="020B0604030504040204" pitchFamily="50" charset="-128"/>
              </a:rPr>
              <a:t>西友Shinise（MD基幹）が</a:t>
            </a:r>
            <a:endParaRPr lang="en-US" altLang="ja-JP" sz="1400">
              <a:solidFill>
                <a:schemeClr val="bg1"/>
              </a:solidFill>
              <a:latin typeface="メイリオ" panose="020B0604030504040204" pitchFamily="50" charset="-128"/>
              <a:ea typeface="メイリオ" panose="020B0604030504040204" pitchFamily="50" charset="-128"/>
            </a:endParaRPr>
          </a:p>
          <a:p>
            <a:pPr algn="ctr"/>
            <a:r>
              <a:rPr lang="ja-JP" altLang="en-US" sz="1400">
                <a:solidFill>
                  <a:schemeClr val="bg1"/>
                </a:solidFill>
                <a:latin typeface="メイリオ" panose="020B0604030504040204" pitchFamily="50" charset="-128"/>
                <a:ea typeface="メイリオ" panose="020B0604030504040204" pitchFamily="50" charset="-128"/>
              </a:rPr>
              <a:t>2027年6月から本格稼働するため、マスタ移行は2027年5月までに実施する必要がある。</a:t>
            </a:r>
            <a:endParaRPr lang="en-US" altLang="ja-JP" sz="1400">
              <a:solidFill>
                <a:schemeClr val="bg1"/>
              </a:solidFill>
              <a:latin typeface="メイリオ" panose="020B0604030504040204" pitchFamily="50" charset="-128"/>
              <a:ea typeface="メイリオ" panose="020B0604030504040204" pitchFamily="50" charset="-128"/>
            </a:endParaRPr>
          </a:p>
          <a:p>
            <a:pPr algn="ctr"/>
            <a:r>
              <a:rPr lang="ja-JP" altLang="en-US" sz="1400">
                <a:solidFill>
                  <a:schemeClr val="bg1"/>
                </a:solidFill>
                <a:latin typeface="メイリオ" panose="020B0604030504040204" pitchFamily="50" charset="-128"/>
                <a:ea typeface="メイリオ" panose="020B0604030504040204" pitchFamily="50" charset="-128"/>
              </a:rPr>
              <a:t>リードタイムなどを考慮して</a:t>
            </a:r>
            <a:endParaRPr lang="en-US" altLang="ja-JP" sz="1400">
              <a:solidFill>
                <a:schemeClr val="bg1"/>
              </a:solidFill>
              <a:latin typeface="メイリオ" panose="020B0604030504040204" pitchFamily="50" charset="-128"/>
              <a:ea typeface="メイリオ" panose="020B0604030504040204" pitchFamily="50" charset="-128"/>
            </a:endParaRPr>
          </a:p>
          <a:p>
            <a:pPr algn="ctr"/>
            <a:r>
              <a:rPr lang="ja-JP" altLang="en-US" sz="1400" b="1" u="sng">
                <a:solidFill>
                  <a:schemeClr val="bg1"/>
                </a:solidFill>
                <a:latin typeface="メイリオ" panose="020B0604030504040204" pitchFamily="50" charset="-128"/>
                <a:ea typeface="メイリオ" panose="020B0604030504040204" pitchFamily="50" charset="-128"/>
              </a:rPr>
              <a:t>2027年3月には開始</a:t>
            </a:r>
            <a:r>
              <a:rPr lang="ja-JP" altLang="en-US" sz="1400">
                <a:solidFill>
                  <a:schemeClr val="bg1"/>
                </a:solidFill>
                <a:latin typeface="メイリオ" panose="020B0604030504040204" pitchFamily="50" charset="-128"/>
                <a:ea typeface="メイリオ" panose="020B0604030504040204" pitchFamily="50" charset="-128"/>
              </a:rPr>
              <a:t>予定。</a:t>
            </a:r>
            <a:endParaRPr kumimoji="1" lang="ja-JP" altLang="en-US" sz="1400">
              <a:solidFill>
                <a:schemeClr val="bg1"/>
              </a:solidFill>
            </a:endParaRPr>
          </a:p>
        </p:txBody>
      </p:sp>
      <p:sp>
        <p:nvSpPr>
          <p:cNvPr id="6" name="Google Shape;151;p1">
            <a:extLst>
              <a:ext uri="{FF2B5EF4-FFF2-40B4-BE49-F238E27FC236}">
                <a16:creationId xmlns:a16="http://schemas.microsoft.com/office/drawing/2014/main" id="{A38AB02A-A1F0-A826-71FE-7D0CF4BF1130}"/>
              </a:ext>
            </a:extLst>
          </p:cNvPr>
          <p:cNvSpPr>
            <a:spLocks noChangeAspect="1"/>
          </p:cNvSpPr>
          <p:nvPr/>
        </p:nvSpPr>
        <p:spPr>
          <a:xfrm>
            <a:off x="6962125" y="2119900"/>
            <a:ext cx="252000" cy="252000"/>
          </a:xfrm>
          <a:prstGeom prst="diamond">
            <a:avLst/>
          </a:prstGeom>
          <a:solidFill>
            <a:schemeClr val="accent5"/>
          </a:solidFill>
          <a:ln w="127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25"/>
              <a:buFont typeface="Arial"/>
              <a:buNone/>
            </a:pPr>
            <a:endParaRPr sz="1200" b="1" i="0" u="none" strike="noStrike" cap="none">
              <a:solidFill>
                <a:schemeClr val="dk1"/>
              </a:solidFill>
              <a:latin typeface="Meiryo"/>
              <a:ea typeface="Meiryo"/>
              <a:cs typeface="Meiryo"/>
              <a:sym typeface="Meiryo"/>
            </a:endParaRPr>
          </a:p>
        </p:txBody>
      </p:sp>
      <p:sp>
        <p:nvSpPr>
          <p:cNvPr id="7" name="Rectangle 49">
            <a:extLst>
              <a:ext uri="{FF2B5EF4-FFF2-40B4-BE49-F238E27FC236}">
                <a16:creationId xmlns:a16="http://schemas.microsoft.com/office/drawing/2014/main" id="{05D92647-CE5C-A523-1953-807CABA5ADF1}"/>
              </a:ext>
            </a:extLst>
          </p:cNvPr>
          <p:cNvSpPr/>
          <p:nvPr/>
        </p:nvSpPr>
        <p:spPr>
          <a:xfrm>
            <a:off x="5724306" y="2119900"/>
            <a:ext cx="1298320" cy="252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none" lIns="91440" tIns="45720" rIns="91440" bIns="45720" rtlCol="0" anchor="ctr"/>
          <a:lstStyle/>
          <a:p>
            <a:pPr lvl="0" algn="r">
              <a:buSzPts val="825"/>
            </a:pPr>
            <a:r>
              <a:rPr lang="ja-JP" altLang="en-US" sz="1200" b="1">
                <a:solidFill>
                  <a:schemeClr val="dk1"/>
                </a:solidFill>
                <a:latin typeface="Meiryo"/>
                <a:ea typeface="Meiryo"/>
                <a:cs typeface="Meiryo"/>
              </a:rPr>
              <a:t>マスタ移行開始</a:t>
            </a:r>
          </a:p>
        </p:txBody>
      </p:sp>
    </p:spTree>
    <p:extLst>
      <p:ext uri="{BB962C8B-B14F-4D97-AF65-F5344CB8AC3E}">
        <p14:creationId xmlns:p14="http://schemas.microsoft.com/office/powerpoint/2010/main" val="1732296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B4AEBD2B-DF98-35E2-B6C2-653294031E0F}"/>
              </a:ext>
            </a:extLst>
          </p:cNvPr>
          <p:cNvSpPr txBox="1"/>
          <p:nvPr/>
        </p:nvSpPr>
        <p:spPr>
          <a:xfrm>
            <a:off x="515938" y="1074580"/>
            <a:ext cx="11160125" cy="5199219"/>
          </a:xfrm>
          <a:prstGeom prst="rect">
            <a:avLst/>
          </a:prstGeom>
          <a:solidFill>
            <a:schemeClr val="bg1">
              <a:lumMod val="95000"/>
            </a:schemeClr>
          </a:solidFill>
        </p:spPr>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358775" indent="-358775">
              <a:spcAft>
                <a:spcPts val="300"/>
              </a:spcAft>
              <a:buClr>
                <a:schemeClr val="bg1">
                  <a:lumMod val="75000"/>
                </a:schemeClr>
              </a:buClr>
              <a:buFont typeface="Wingdings" panose="05000000000000000000" pitchFamily="2" charset="2"/>
              <a:buChar char="n"/>
            </a:pPr>
            <a:r>
              <a:rPr lang="ja-JP" altLang="en-US" sz="1600" b="1">
                <a:latin typeface="メイリオ" panose="020B0604030504040204" pitchFamily="50" charset="-128"/>
                <a:ea typeface="メイリオ" panose="020B0604030504040204" pitchFamily="50" charset="-128"/>
              </a:rPr>
              <a:t>西友Shinise（MD基幹）が2027年6月から本格稼働する</a:t>
            </a:r>
            <a:r>
              <a:rPr lang="ja-JP" altLang="en-US" sz="1600">
                <a:latin typeface="メイリオ" panose="020B0604030504040204" pitchFamily="50" charset="-128"/>
                <a:ea typeface="メイリオ" panose="020B0604030504040204" pitchFamily="50" charset="-128"/>
              </a:rPr>
              <a:t>ため、</a:t>
            </a:r>
            <a:r>
              <a:rPr lang="ja-JP" altLang="en-US" sz="1600" b="1">
                <a:solidFill>
                  <a:srgbClr val="C00000"/>
                </a:solidFill>
                <a:latin typeface="メイリオ" panose="020B0604030504040204" pitchFamily="50" charset="-128"/>
                <a:ea typeface="メイリオ" panose="020B0604030504040204" pitchFamily="50" charset="-128"/>
              </a:rPr>
              <a:t>マスタ移行は2027年5月までに実施する必要</a:t>
            </a:r>
            <a:r>
              <a:rPr lang="ja-JP" altLang="en-US" sz="1600">
                <a:latin typeface="メイリオ" panose="020B0604030504040204" pitchFamily="50" charset="-128"/>
                <a:ea typeface="メイリオ" panose="020B0604030504040204" pitchFamily="50" charset="-128"/>
              </a:rPr>
              <a:t>があり、リードタイムなどを考慮すると</a:t>
            </a:r>
            <a:r>
              <a:rPr lang="ja-JP" altLang="en-US" sz="1600" b="1">
                <a:solidFill>
                  <a:srgbClr val="C00000"/>
                </a:solidFill>
                <a:latin typeface="メイリオ" panose="020B0604030504040204" pitchFamily="50" charset="-128"/>
                <a:ea typeface="メイリオ" panose="020B0604030504040204" pitchFamily="50" charset="-128"/>
              </a:rPr>
              <a:t>2027年3月には開始</a:t>
            </a:r>
            <a:r>
              <a:rPr lang="ja-JP" altLang="en-US" sz="1600">
                <a:latin typeface="メイリオ" panose="020B0604030504040204" pitchFamily="50" charset="-128"/>
                <a:ea typeface="メイリオ" panose="020B0604030504040204" pitchFamily="50" charset="-128"/>
              </a:rPr>
              <a:t>します</a:t>
            </a:r>
          </a:p>
          <a:p>
            <a:pPr marL="358775" indent="-358775">
              <a:spcAft>
                <a:spcPts val="300"/>
              </a:spcAft>
              <a:buClr>
                <a:schemeClr val="bg1">
                  <a:lumMod val="75000"/>
                </a:schemeClr>
              </a:buClr>
              <a:buFont typeface="Wingdings" panose="05000000000000000000" pitchFamily="2" charset="2"/>
              <a:buChar char="n"/>
            </a:pPr>
            <a:r>
              <a:rPr lang="ja-JP" altLang="en-US" sz="1600" b="1">
                <a:latin typeface="メイリオ" panose="020B0604030504040204" pitchFamily="50" charset="-128"/>
                <a:ea typeface="メイリオ" panose="020B0604030504040204" pitchFamily="50" charset="-128"/>
              </a:rPr>
              <a:t>移行対象となるマスタの特定必須</a:t>
            </a:r>
            <a:r>
              <a:rPr lang="ja-JP" sz="1600" b="1">
                <a:latin typeface="メイリオ" panose="020B0604030504040204" pitchFamily="50" charset="-128"/>
                <a:ea typeface="メイリオ" panose="020B0604030504040204" pitchFamily="50" charset="-128"/>
                <a:cs typeface="+mn-lt"/>
              </a:rPr>
              <a:t>（2026年Q1-2検討）</a:t>
            </a:r>
          </a:p>
          <a:p>
            <a:pPr marL="815975" lvl="1" indent="-358775">
              <a:spcAft>
                <a:spcPts val="300"/>
              </a:spcAft>
              <a:buClr>
                <a:schemeClr val="bg1">
                  <a:lumMod val="75000"/>
                </a:schemeClr>
              </a:buClr>
              <a:buFont typeface="Arial" panose="020B0604020202020204" pitchFamily="34" charset="0"/>
              <a:buChar char="•"/>
            </a:pPr>
            <a:r>
              <a:rPr lang="ja-JP" altLang="en-US" sz="1600">
                <a:latin typeface="メイリオ" panose="020B0604030504040204" pitchFamily="50" charset="-128"/>
                <a:ea typeface="メイリオ" panose="020B0604030504040204" pitchFamily="50" charset="-128"/>
              </a:rPr>
              <a:t>商品マスタ、仕入先マスタなど属性情報はどうするか</a:t>
            </a:r>
          </a:p>
          <a:p>
            <a:pPr marL="358775" indent="-358775">
              <a:spcAft>
                <a:spcPts val="300"/>
              </a:spcAft>
              <a:buClr>
                <a:schemeClr val="bg1">
                  <a:lumMod val="75000"/>
                </a:schemeClr>
              </a:buClr>
              <a:buFont typeface="Wingdings" panose="05000000000000000000" pitchFamily="2" charset="2"/>
              <a:buChar char="n"/>
            </a:pPr>
            <a:r>
              <a:rPr lang="ja-JP" altLang="en-US" sz="1600">
                <a:latin typeface="メイリオ" panose="020B0604030504040204" pitchFamily="50" charset="-128"/>
                <a:ea typeface="メイリオ" panose="020B0604030504040204" pitchFamily="50" charset="-128"/>
              </a:rPr>
              <a:t>商品マスタデータは現状約74万件ありますが、この規模の移行は非常に困難かつワークロードを要する業務となるため、ビジネス側のリソース確保をお願いします。詳細は別途協議させてください</a:t>
            </a:r>
          </a:p>
          <a:p>
            <a:pPr marL="358775" indent="-358775">
              <a:spcAft>
                <a:spcPts val="300"/>
              </a:spcAft>
              <a:buClr>
                <a:schemeClr val="bg1">
                  <a:lumMod val="75000"/>
                </a:schemeClr>
              </a:buClr>
              <a:buFont typeface="Wingdings" panose="05000000000000000000" pitchFamily="2" charset="2"/>
              <a:buChar char="n"/>
            </a:pPr>
            <a:r>
              <a:rPr lang="ja-JP" altLang="en-US" sz="1600">
                <a:latin typeface="メイリオ" panose="020B0604030504040204" pitchFamily="50" charset="-128"/>
                <a:ea typeface="メイリオ" panose="020B0604030504040204" pitchFamily="50" charset="-128"/>
              </a:rPr>
              <a:t>準備作業のひとつとして、</a:t>
            </a:r>
            <a:r>
              <a:rPr lang="ja-JP" altLang="en-US" sz="1600" b="1">
                <a:solidFill>
                  <a:srgbClr val="C00000"/>
                </a:solidFill>
                <a:latin typeface="メイリオ" panose="020B0604030504040204" pitchFamily="50" charset="-128"/>
                <a:ea typeface="メイリオ" panose="020B0604030504040204" pitchFamily="50" charset="-128"/>
              </a:rPr>
              <a:t>マスタデータクレンジングを可能なものから即時に開始</a:t>
            </a:r>
            <a:r>
              <a:rPr lang="ja-JP" altLang="en-US" sz="1600">
                <a:latin typeface="メイリオ" panose="020B0604030504040204" pitchFamily="50" charset="-128"/>
                <a:ea typeface="メイリオ" panose="020B0604030504040204" pitchFamily="50" charset="-128"/>
              </a:rPr>
              <a:t>します。アプローチは以下です</a:t>
            </a:r>
          </a:p>
          <a:p>
            <a:pPr marL="815975" lvl="1" indent="-358775">
              <a:spcAft>
                <a:spcPts val="300"/>
              </a:spcAft>
              <a:buClr>
                <a:schemeClr val="bg1">
                  <a:lumMod val="75000"/>
                </a:schemeClr>
              </a:buClr>
              <a:buFont typeface="Arial" panose="020B0604020202020204" pitchFamily="34" charset="0"/>
              <a:buChar char="•"/>
            </a:pPr>
            <a:r>
              <a:rPr lang="ja-JP" altLang="en-US" sz="1600" b="1">
                <a:latin typeface="メイリオ" panose="020B0604030504040204" pitchFamily="50" charset="-128"/>
                <a:ea typeface="メイリオ" panose="020B0604030504040204" pitchFamily="50" charset="-128"/>
              </a:rPr>
              <a:t>カーブアウト(2024年）以降売上がない商品は削除</a:t>
            </a:r>
            <a:endParaRPr lang="en-US" altLang="ja-JP" sz="1600" b="1">
              <a:latin typeface="メイリオ" panose="020B0604030504040204" pitchFamily="50" charset="-128"/>
              <a:ea typeface="メイリオ" panose="020B0604030504040204" pitchFamily="50" charset="-128"/>
            </a:endParaRPr>
          </a:p>
          <a:p>
            <a:pPr marL="1273175" lvl="2" indent="-358775">
              <a:spcAft>
                <a:spcPts val="300"/>
              </a:spcAft>
              <a:buClr>
                <a:schemeClr val="bg1">
                  <a:lumMod val="75000"/>
                </a:schemeClr>
              </a:buClr>
              <a:buFont typeface="Wingdings" panose="05000000000000000000" pitchFamily="2" charset="2"/>
              <a:buChar char="ü"/>
            </a:pPr>
            <a:r>
              <a:rPr lang="ja-JP" altLang="en-US" sz="1600">
                <a:latin typeface="メイリオ" panose="020B0604030504040204" pitchFamily="50" charset="-128"/>
                <a:ea typeface="メイリオ" panose="020B0604030504040204" pitchFamily="50" charset="-128"/>
              </a:rPr>
              <a:t>-該当店舗/商品をリストアップ/関係者へ共有の後、順次削除（ISD）</a:t>
            </a:r>
          </a:p>
          <a:p>
            <a:pPr marL="815975" lvl="1" indent="-358775">
              <a:spcAft>
                <a:spcPts val="300"/>
              </a:spcAft>
              <a:buClr>
                <a:schemeClr val="bg1">
                  <a:lumMod val="75000"/>
                </a:schemeClr>
              </a:buClr>
              <a:buFont typeface="Arial" panose="020B0604020202020204" pitchFamily="34" charset="0"/>
              <a:buChar char="•"/>
            </a:pPr>
            <a:r>
              <a:rPr lang="ja-JP" altLang="en-US" sz="1600" b="1">
                <a:latin typeface="メイリオ" panose="020B0604030504040204" pitchFamily="50" charset="-128"/>
                <a:ea typeface="メイリオ" panose="020B0604030504040204" pitchFamily="50" charset="-128"/>
              </a:rPr>
              <a:t>1年以上、売上は立っていないが在庫がある商品は「売り尽くし」</a:t>
            </a:r>
            <a:endParaRPr lang="en-US" altLang="ja-JP" sz="1600" b="1">
              <a:latin typeface="メイリオ" panose="020B0604030504040204" pitchFamily="50" charset="-128"/>
              <a:ea typeface="メイリオ" panose="020B0604030504040204" pitchFamily="50" charset="-128"/>
            </a:endParaRPr>
          </a:p>
          <a:p>
            <a:pPr marL="1273175" lvl="2" indent="-358775">
              <a:spcAft>
                <a:spcPts val="300"/>
              </a:spcAft>
              <a:buClr>
                <a:schemeClr val="bg1">
                  <a:lumMod val="75000"/>
                </a:schemeClr>
              </a:buClr>
              <a:buFont typeface="Wingdings" panose="05000000000000000000" pitchFamily="2" charset="2"/>
              <a:buChar char="ü"/>
            </a:pPr>
            <a:r>
              <a:rPr lang="ja-JP" altLang="en-US" sz="1600">
                <a:latin typeface="メイリオ" panose="020B0604030504040204" pitchFamily="50" charset="-128"/>
                <a:ea typeface="メイリオ" panose="020B0604030504040204" pitchFamily="50" charset="-128"/>
              </a:rPr>
              <a:t>該当店舗/商品をリストアップ/関係者へ共有（ISD）　　　</a:t>
            </a:r>
            <a:endParaRPr lang="en-US" altLang="ja-JP" sz="1600">
              <a:latin typeface="メイリオ" panose="020B0604030504040204" pitchFamily="50" charset="-128"/>
              <a:ea typeface="メイリオ" panose="020B0604030504040204" pitchFamily="50" charset="-128"/>
            </a:endParaRPr>
          </a:p>
          <a:p>
            <a:pPr marL="1273175" lvl="2" indent="-358775">
              <a:spcAft>
                <a:spcPts val="300"/>
              </a:spcAft>
              <a:buClr>
                <a:schemeClr val="bg1">
                  <a:lumMod val="75000"/>
                </a:schemeClr>
              </a:buClr>
              <a:buFont typeface="Wingdings" panose="05000000000000000000" pitchFamily="2" charset="2"/>
              <a:buChar char="ü"/>
            </a:pPr>
            <a:r>
              <a:rPr lang="ja-JP" altLang="en-US" sz="1600">
                <a:latin typeface="メイリオ" panose="020B0604030504040204" pitchFamily="50" charset="-128"/>
                <a:ea typeface="メイリオ" panose="020B0604030504040204" pitchFamily="50" charset="-128"/>
              </a:rPr>
              <a:t>期限を設けて、「値下げ」「売り尽くし」として販売するよう店舗へ指示（商品部・販売本部）</a:t>
            </a:r>
            <a:endParaRPr lang="en-US" altLang="ja-JP" sz="1600">
              <a:latin typeface="メイリオ" panose="020B0604030504040204" pitchFamily="50" charset="-128"/>
              <a:ea typeface="メイリオ" panose="020B0604030504040204" pitchFamily="50" charset="-128"/>
            </a:endParaRPr>
          </a:p>
          <a:p>
            <a:pPr marL="1273175" lvl="2" indent="-358775">
              <a:spcAft>
                <a:spcPts val="300"/>
              </a:spcAft>
              <a:buClr>
                <a:schemeClr val="bg1">
                  <a:lumMod val="75000"/>
                </a:schemeClr>
              </a:buClr>
              <a:buFont typeface="Wingdings" panose="05000000000000000000" pitchFamily="2" charset="2"/>
              <a:buChar char="ü"/>
            </a:pPr>
            <a:r>
              <a:rPr lang="ja-JP" altLang="en-US" sz="1600">
                <a:latin typeface="メイリオ" panose="020B0604030504040204" pitchFamily="50" charset="-128"/>
                <a:ea typeface="メイリオ" panose="020B0604030504040204" pitchFamily="50" charset="-128"/>
              </a:rPr>
              <a:t>期限が過ぎた後、該当マスタの削除（ISD）</a:t>
            </a:r>
          </a:p>
          <a:p>
            <a:pPr marL="358775" indent="-358775">
              <a:spcAft>
                <a:spcPts val="300"/>
              </a:spcAft>
              <a:buClr>
                <a:schemeClr val="bg1">
                  <a:lumMod val="75000"/>
                </a:schemeClr>
              </a:buClr>
              <a:buFont typeface="Wingdings" panose="05000000000000000000" pitchFamily="2" charset="2"/>
              <a:buChar char="n"/>
            </a:pPr>
            <a:r>
              <a:rPr lang="ja-JP" altLang="en-US" sz="1600" b="1">
                <a:latin typeface="メイリオ" panose="020B0604030504040204" pitchFamily="50" charset="-128"/>
                <a:ea typeface="メイリオ" panose="020B0604030504040204" pitchFamily="50" charset="-128"/>
              </a:rPr>
              <a:t>上記以外でも稼働商品以外は一旦削除しましょう。「今後使うと思う」は削除し、必要になった時に登録します</a:t>
            </a:r>
          </a:p>
        </p:txBody>
      </p:sp>
      <p:sp>
        <p:nvSpPr>
          <p:cNvPr id="7" name="Google Shape;108;p11">
            <a:extLst>
              <a:ext uri="{FF2B5EF4-FFF2-40B4-BE49-F238E27FC236}">
                <a16:creationId xmlns:a16="http://schemas.microsoft.com/office/drawing/2014/main" id="{A99619D3-C2EB-719C-0C0C-7280ACCAE9FD}"/>
              </a:ext>
            </a:extLst>
          </p:cNvPr>
          <p:cNvSpPr txBox="1">
            <a:spLocks/>
          </p:cNvSpPr>
          <p:nvPr/>
        </p:nvSpPr>
        <p:spPr>
          <a:xfrm>
            <a:off x="527760" y="272842"/>
            <a:ext cx="10933600" cy="707886"/>
          </a:xfrm>
          <a:prstGeom prst="rect">
            <a:avLst/>
          </a:prstGeom>
          <a:noFill/>
          <a:ln>
            <a:noFill/>
          </a:ln>
        </p:spPr>
        <p:txBody>
          <a:bodyPr spcFirstLastPara="1" wrap="square" lIns="0" tIns="0" rIns="0" bIns="0" anchor="t" anchorCtr="0">
            <a:spAutoFit/>
          </a:bodyPr>
          <a:lstStyle>
            <a:lvl1pPr marR="0" lvl="0" algn="l" defTabSz="914377" rtl="0" eaLnBrk="1" latinLnBrk="0" hangingPunct="1">
              <a:lnSpc>
                <a:spcPct val="90000"/>
              </a:lnSpc>
              <a:spcBef>
                <a:spcPts val="0"/>
              </a:spcBef>
              <a:spcAft>
                <a:spcPts val="0"/>
              </a:spcAft>
              <a:buClr>
                <a:srgbClr val="012916"/>
              </a:buClr>
              <a:buSzPts val="1800"/>
              <a:buFont typeface="MS PGothic"/>
              <a:buNone/>
              <a:defRPr kumimoji="1" sz="2400" b="1" i="0" u="none" strike="noStrike" kern="1200" cap="none" baseline="0">
                <a:solidFill>
                  <a:srgbClr val="000000"/>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pPr>
              <a:lnSpc>
                <a:spcPct val="100000"/>
              </a:lnSpc>
            </a:pPr>
            <a:r>
              <a:rPr lang="en-US" altLang="ja-JP" sz="1800">
                <a:solidFill>
                  <a:schemeClr val="bg1">
                    <a:lumMod val="65000"/>
                  </a:schemeClr>
                </a:solidFill>
                <a:latin typeface="メイリオ" panose="020B0604030504040204" pitchFamily="50" charset="-128"/>
                <a:ea typeface="メイリオ" panose="020B0604030504040204" pitchFamily="50" charset="-128"/>
              </a:rPr>
              <a:t>7. </a:t>
            </a:r>
            <a:r>
              <a:rPr lang="ja-JP" altLang="en-US" sz="1800">
                <a:solidFill>
                  <a:schemeClr val="bg1">
                    <a:lumMod val="65000"/>
                  </a:schemeClr>
                </a:solidFill>
                <a:latin typeface="メイリオ" panose="020B0604030504040204" pitchFamily="50" charset="-128"/>
                <a:ea typeface="メイリオ" panose="020B0604030504040204" pitchFamily="50" charset="-128"/>
              </a:rPr>
              <a:t>各領域におけるポイント</a:t>
            </a:r>
            <a:endParaRPr lang="en-US" altLang="ja-JP" sz="1800">
              <a:solidFill>
                <a:schemeClr val="accent5"/>
              </a:solidFill>
              <a:latin typeface="メイリオ" panose="020B0604030504040204" pitchFamily="50" charset="-128"/>
              <a:ea typeface="メイリオ" panose="020B0604030504040204" pitchFamily="50" charset="-128"/>
            </a:endParaRPr>
          </a:p>
          <a:p>
            <a:pPr>
              <a:lnSpc>
                <a:spcPct val="100000"/>
              </a:lnSpc>
            </a:pPr>
            <a:r>
              <a:rPr lang="en-US" altLang="ja-JP" sz="2800">
                <a:latin typeface="メイリオ" panose="020B0604030504040204" pitchFamily="50" charset="-128"/>
                <a:ea typeface="メイリオ" panose="020B0604030504040204" pitchFamily="50" charset="-128"/>
              </a:rPr>
              <a:t>Step3.</a:t>
            </a:r>
            <a:r>
              <a:rPr lang="ja-JP" altLang="en-US" sz="2800">
                <a:latin typeface="メイリオ" panose="020B0604030504040204" pitchFamily="50" charset="-128"/>
                <a:ea typeface="メイリオ" panose="020B0604030504040204" pitchFamily="50" charset="-128"/>
              </a:rPr>
              <a:t>マスタデータ移行とは？</a:t>
            </a:r>
            <a:endParaRPr lang="ja-JP" altLang="en-US" sz="2800"/>
          </a:p>
        </p:txBody>
      </p:sp>
      <p:sp>
        <p:nvSpPr>
          <p:cNvPr id="8" name="Rectangle 7">
            <a:extLst>
              <a:ext uri="{FF2B5EF4-FFF2-40B4-BE49-F238E27FC236}">
                <a16:creationId xmlns:a16="http://schemas.microsoft.com/office/drawing/2014/main" id="{B3ABFC85-BC08-109B-0A79-46C3070D1BAE}"/>
              </a:ext>
            </a:extLst>
          </p:cNvPr>
          <p:cNvSpPr/>
          <p:nvPr/>
        </p:nvSpPr>
        <p:spPr>
          <a:xfrm>
            <a:off x="3437228" y="230812"/>
            <a:ext cx="1584176" cy="2745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b="1">
                <a:solidFill>
                  <a:schemeClr val="bg1"/>
                </a:solidFill>
                <a:latin typeface="メイリオ" panose="020B0604030504040204" pitchFamily="50" charset="-128"/>
                <a:ea typeface="メイリオ" panose="020B0604030504040204" pitchFamily="50" charset="-128"/>
              </a:rPr>
              <a:t>A. </a:t>
            </a:r>
            <a:r>
              <a:rPr kumimoji="1" lang="ja-JP" altLang="en-US" sz="1600" b="1">
                <a:solidFill>
                  <a:schemeClr val="bg1"/>
                </a:solidFill>
                <a:latin typeface="メイリオ" panose="020B0604030504040204" pitchFamily="50" charset="-128"/>
                <a:ea typeface="メイリオ" panose="020B0604030504040204" pitchFamily="50" charset="-128"/>
              </a:rPr>
              <a:t>マスタ関連</a:t>
            </a:r>
          </a:p>
        </p:txBody>
      </p:sp>
      <p:sp>
        <p:nvSpPr>
          <p:cNvPr id="9" name="Rectangle 8">
            <a:extLst>
              <a:ext uri="{FF2B5EF4-FFF2-40B4-BE49-F238E27FC236}">
                <a16:creationId xmlns:a16="http://schemas.microsoft.com/office/drawing/2014/main" id="{3BF39F41-9C61-4925-0576-60910704CBE9}"/>
              </a:ext>
            </a:extLst>
          </p:cNvPr>
          <p:cNvSpPr/>
          <p:nvPr/>
        </p:nvSpPr>
        <p:spPr>
          <a:xfrm>
            <a:off x="947428" y="5229200"/>
            <a:ext cx="10333148" cy="850267"/>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spcAft>
                <a:spcPts val="300"/>
              </a:spcAft>
              <a:buClr>
                <a:schemeClr val="bg1">
                  <a:lumMod val="75000"/>
                </a:schemeClr>
              </a:buClr>
            </a:pPr>
            <a:r>
              <a:rPr lang="ja-JP" altLang="en-US" sz="1600" b="1">
                <a:solidFill>
                  <a:schemeClr val="bg1"/>
                </a:solidFill>
                <a:latin typeface="メイリオ" panose="020B0604030504040204" pitchFamily="50" charset="-128"/>
                <a:ea typeface="メイリオ" panose="020B0604030504040204" pitchFamily="50" charset="-128"/>
              </a:rPr>
              <a:t>カーブアウト時、１年以上マスタ不備で業務に影響を与えてしまった学びから、</a:t>
            </a:r>
            <a:endParaRPr lang="en-US" altLang="ja-JP" sz="1600" b="1">
              <a:solidFill>
                <a:schemeClr val="bg1"/>
              </a:solidFill>
              <a:latin typeface="メイリオ" panose="020B0604030504040204" pitchFamily="50" charset="-128"/>
              <a:ea typeface="メイリオ" panose="020B0604030504040204" pitchFamily="50" charset="-128"/>
            </a:endParaRPr>
          </a:p>
          <a:p>
            <a:pPr algn="ctr">
              <a:spcAft>
                <a:spcPts val="300"/>
              </a:spcAft>
              <a:buClr>
                <a:schemeClr val="bg1">
                  <a:lumMod val="75000"/>
                </a:schemeClr>
              </a:buClr>
            </a:pPr>
            <a:r>
              <a:rPr lang="ja-JP" altLang="en-US" sz="1600" b="1">
                <a:solidFill>
                  <a:schemeClr val="bg1"/>
                </a:solidFill>
                <a:latin typeface="メイリオ" panose="020B0604030504040204" pitchFamily="50" charset="-128"/>
                <a:ea typeface="メイリオ" panose="020B0604030504040204" pitchFamily="50" charset="-128"/>
              </a:rPr>
              <a:t>マスタは絶対に </a:t>
            </a:r>
            <a:r>
              <a:rPr lang="ja-JP" altLang="en-US" sz="2400" b="1" u="sng">
                <a:solidFill>
                  <a:schemeClr val="bg1"/>
                </a:solidFill>
                <a:latin typeface="メイリオ" panose="020B0604030504040204" pitchFamily="50" charset="-128"/>
                <a:ea typeface="メイリオ" panose="020B0604030504040204" pitchFamily="50" charset="-128"/>
              </a:rPr>
              <a:t>軽くしておく</a:t>
            </a:r>
            <a:r>
              <a:rPr lang="ja-JP" altLang="en-US" sz="1600" b="1">
                <a:solidFill>
                  <a:schemeClr val="bg1"/>
                </a:solidFill>
                <a:latin typeface="メイリオ" panose="020B0604030504040204" pitchFamily="50" charset="-128"/>
                <a:ea typeface="メイリオ" panose="020B0604030504040204" pitchFamily="50" charset="-128"/>
              </a:rPr>
              <a:t> 必要があります</a:t>
            </a:r>
            <a:endParaRPr lang="ja-JP" altLang="ja-JP" sz="160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9610607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7A06BE64-7EF7-424D-F926-5D256A74764F}"/>
              </a:ext>
            </a:extLst>
          </p:cNvPr>
          <p:cNvSpPr txBox="1"/>
          <p:nvPr/>
        </p:nvSpPr>
        <p:spPr>
          <a:xfrm>
            <a:off x="515380" y="1109528"/>
            <a:ext cx="11160683" cy="3471600"/>
          </a:xfrm>
          <a:prstGeom prst="rect">
            <a:avLst/>
          </a:prstGeom>
          <a:solidFill>
            <a:srgbClr val="F2F2F2"/>
          </a:solidFill>
          <a:ln w="28575">
            <a:solidFill>
              <a:schemeClr val="bg1"/>
            </a:solidFill>
          </a:ln>
        </p:spPr>
        <p:txBody>
          <a:bodyPr spcFirstLastPara="1" wrap="square" lIns="360000" tIns="360000" rIns="360000" bIns="360000" anchor="ctr" anchorCtr="0">
            <a:noAutofit/>
          </a:bodyPr>
          <a:lstStyle>
            <a:defPPr>
              <a:defRPr lang="en-US"/>
            </a:defPPr>
            <a:lvl1pPr marL="342900" marR="0" lvl="0" indent="-342900" defTabSz="914400" fontAlgn="auto">
              <a:lnSpc>
                <a:spcPct val="100000"/>
              </a:lnSpc>
              <a:spcBef>
                <a:spcPts val="0"/>
              </a:spcBef>
              <a:spcAft>
                <a:spcPts val="1200"/>
              </a:spcAft>
              <a:buClr>
                <a:srgbClr val="BFBFBF"/>
              </a:buClr>
              <a:buSzPts val="1800"/>
              <a:buFont typeface="Noto Sans Symbols"/>
              <a:buChar char="■"/>
              <a:tabLst>
                <a:tab pos="630238" algn="l"/>
              </a:tabLst>
              <a:defRPr kumimoji="0" sz="2000" b="0" i="0" strike="noStrike" kern="0" cap="none" spc="0" normalizeH="0" baseline="0">
                <a:ln>
                  <a:noFill/>
                </a:ln>
                <a:solidFill>
                  <a:srgbClr val="000000"/>
                </a:solidFill>
                <a:effectLst/>
                <a:uLnTx/>
                <a:uFillTx/>
                <a:latin typeface="Meiryo"/>
                <a:ea typeface="Meiryo"/>
                <a:cs typeface="Meiryo"/>
              </a:defRPr>
            </a:lvl1pPr>
          </a:lstStyle>
          <a:p>
            <a:pPr>
              <a:spcAft>
                <a:spcPts val="600"/>
              </a:spcAft>
            </a:pPr>
            <a:r>
              <a:rPr lang="ja-JP" altLang="en-US" sz="1800"/>
              <a:t>現在、西友の商品マスタ件数：</a:t>
            </a:r>
            <a:r>
              <a:rPr lang="ja-JP" altLang="en-US" sz="1800" b="1" u="sng"/>
              <a:t>約74万件</a:t>
            </a:r>
            <a:endParaRPr lang="ja-JP" altLang="en-US" sz="1800"/>
          </a:p>
          <a:p>
            <a:pPr marL="715963" indent="-357188">
              <a:spcAft>
                <a:spcPts val="600"/>
              </a:spcAft>
              <a:buFont typeface="Wingdings" panose="05000000000000000000" pitchFamily="2" charset="2"/>
              <a:buChar char=""/>
              <a:tabLst/>
            </a:pPr>
            <a:r>
              <a:rPr lang="ja-JP" altLang="en-US"/>
              <a:t>基本商品マスタ：       743,946件</a:t>
            </a:r>
          </a:p>
          <a:p>
            <a:pPr marL="715963" indent="-357188">
              <a:spcAft>
                <a:spcPts val="600"/>
              </a:spcAft>
              <a:buFont typeface="Wingdings" panose="05000000000000000000" pitchFamily="2" charset="2"/>
              <a:buChar char=""/>
              <a:tabLst/>
            </a:pPr>
            <a:r>
              <a:rPr lang="ja-JP" altLang="en-US"/>
              <a:t>店別商品マスタ：</a:t>
            </a:r>
            <a:r>
              <a:rPr lang="ja-JP" altLang="en-US" sz="900"/>
              <a:t> </a:t>
            </a:r>
            <a:r>
              <a:rPr lang="ja-JP" altLang="en-US"/>
              <a:t>145,167,847件</a:t>
            </a:r>
            <a:endParaRPr lang="en-US" altLang="ja-JP" sz="1800"/>
          </a:p>
          <a:p>
            <a:pPr>
              <a:spcAft>
                <a:spcPts val="600"/>
              </a:spcAft>
            </a:pPr>
            <a:r>
              <a:rPr lang="ja-JP" altLang="en-US" sz="1800" b="1" u="sng"/>
              <a:t>カーブアウトのデータ移行後、実績が一度もあがっていない6万件</a:t>
            </a:r>
            <a:r>
              <a:rPr lang="ja-JP" altLang="en-US" sz="1800"/>
              <a:t>は来年1月に削除予定</a:t>
            </a:r>
          </a:p>
          <a:p>
            <a:pPr>
              <a:spcAft>
                <a:spcPts val="600"/>
              </a:spcAft>
            </a:pPr>
            <a:r>
              <a:rPr lang="ja-JP" altLang="en-US" sz="1800"/>
              <a:t>しかし、販売終了している商品が店舗で倉庫に存在している場合は、</a:t>
            </a:r>
            <a:r>
              <a:rPr lang="ja-JP" altLang="en-US" sz="1800" b="1" u="sng"/>
              <a:t>棚卸用にマスタが存在している</a:t>
            </a:r>
            <a:r>
              <a:rPr lang="ja-JP" altLang="en-US" sz="1800"/>
              <a:t>ことになる</a:t>
            </a:r>
          </a:p>
          <a:p>
            <a:pPr>
              <a:spcAft>
                <a:spcPts val="600"/>
              </a:spcAft>
            </a:pPr>
            <a:r>
              <a:rPr lang="ja-JP" altLang="en-US" sz="1800" b="1" u="sng"/>
              <a:t>マスタ統合はカーブアウト時に大きな問題</a:t>
            </a:r>
            <a:r>
              <a:rPr lang="ja-JP" altLang="en-US" sz="1800"/>
              <a:t>になっており、</a:t>
            </a:r>
            <a:r>
              <a:rPr lang="ja-JP" altLang="en-US" sz="1800" b="1" u="sng"/>
              <a:t>切替後にも</a:t>
            </a:r>
            <a:r>
              <a:rPr lang="en-US" altLang="ja-JP" sz="1800" b="1" u="sng"/>
              <a:t>1</a:t>
            </a:r>
            <a:r>
              <a:rPr lang="ja-JP" altLang="en-US" sz="1800" b="1" u="sng"/>
              <a:t>年以上影響</a:t>
            </a:r>
            <a:r>
              <a:rPr lang="ja-JP" altLang="en-US" sz="1800"/>
              <a:t>があった</a:t>
            </a:r>
          </a:p>
          <a:p>
            <a:pPr>
              <a:spcAft>
                <a:spcPts val="600"/>
              </a:spcAft>
            </a:pPr>
            <a:r>
              <a:rPr lang="ja-JP" altLang="en-US" sz="1800"/>
              <a:t>よって今回は、</a:t>
            </a:r>
            <a:r>
              <a:rPr lang="ja-JP" altLang="en-US" sz="1800" b="1" u="sng"/>
              <a:t>稼働商品データボリュームを極力減らす</a:t>
            </a:r>
            <a:r>
              <a:rPr lang="ja-JP" altLang="en-US" sz="1800"/>
              <a:t>ところから始め、</a:t>
            </a:r>
            <a:r>
              <a:rPr lang="ja-JP" altLang="en-US" sz="1800" b="1" u="sng"/>
              <a:t>切替時の影響を最小限</a:t>
            </a:r>
            <a:r>
              <a:rPr lang="ja-JP" altLang="en-US" sz="1800"/>
              <a:t>にしたい</a:t>
            </a:r>
          </a:p>
        </p:txBody>
      </p:sp>
      <p:sp>
        <p:nvSpPr>
          <p:cNvPr id="6" name="正方形/長方形 5">
            <a:extLst>
              <a:ext uri="{FF2B5EF4-FFF2-40B4-BE49-F238E27FC236}">
                <a16:creationId xmlns:a16="http://schemas.microsoft.com/office/drawing/2014/main" id="{E14D9B27-2F10-A468-AA1D-1046541778A0}"/>
              </a:ext>
            </a:extLst>
          </p:cNvPr>
          <p:cNvSpPr/>
          <p:nvPr/>
        </p:nvSpPr>
        <p:spPr>
          <a:xfrm>
            <a:off x="515938" y="4581128"/>
            <a:ext cx="11160125" cy="1692672"/>
          </a:xfrm>
          <a:prstGeom prst="rect">
            <a:avLst/>
          </a:prstGeom>
          <a:solidFill>
            <a:srgbClr val="FDEDED"/>
          </a:solid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lIns="180000" tIns="45720" rIns="180000" bIns="45720" rtlCol="0" anchor="ctr">
            <a:noAutofit/>
          </a:bodyPr>
          <a:lstStyle/>
          <a:p>
            <a:pPr algn="ctr"/>
            <a:r>
              <a:rPr lang="ja-JP" altLang="en-US">
                <a:solidFill>
                  <a:schemeClr val="accent5"/>
                </a:solidFill>
                <a:latin typeface="メイリオ" panose="020B0604030504040204" pitchFamily="50" charset="-128"/>
                <a:ea typeface="メイリオ" panose="020B0604030504040204" pitchFamily="50" charset="-128"/>
              </a:rPr>
              <a:t>2026年内にデータクレンジングを実施し、</a:t>
            </a:r>
            <a:r>
              <a:rPr lang="ja-JP" altLang="en-US" b="1" u="sng">
                <a:solidFill>
                  <a:schemeClr val="accent5"/>
                </a:solidFill>
                <a:latin typeface="メイリオ" panose="020B0604030504040204" pitchFamily="50" charset="-128"/>
                <a:ea typeface="メイリオ" panose="020B0604030504040204" pitchFamily="50" charset="-128"/>
              </a:rPr>
              <a:t>稼働している商品のみが商品マスタに登録</a:t>
            </a:r>
            <a:r>
              <a:rPr lang="ja-JP" altLang="en-US">
                <a:solidFill>
                  <a:schemeClr val="accent5"/>
                </a:solidFill>
                <a:latin typeface="メイリオ" panose="020B0604030504040204" pitchFamily="50" charset="-128"/>
                <a:ea typeface="メイリオ" panose="020B0604030504040204" pitchFamily="50" charset="-128"/>
              </a:rPr>
              <a:t>されているよう、例えば</a:t>
            </a:r>
            <a:r>
              <a:rPr lang="ja-JP" altLang="en-US" b="1" u="sng">
                <a:solidFill>
                  <a:schemeClr val="accent5"/>
                </a:solidFill>
                <a:latin typeface="メイリオ" panose="020B0604030504040204" pitchFamily="50" charset="-128"/>
                <a:ea typeface="メイリオ" panose="020B0604030504040204" pitchFamily="50" charset="-128"/>
              </a:rPr>
              <a:t>１年以上売上がなく、在庫がある商品は、マスタから削除する</a:t>
            </a:r>
            <a:r>
              <a:rPr lang="ja-JP" altLang="en-US">
                <a:solidFill>
                  <a:schemeClr val="accent5"/>
                </a:solidFill>
                <a:latin typeface="メイリオ" panose="020B0604030504040204" pitchFamily="50" charset="-128"/>
                <a:ea typeface="メイリオ" panose="020B0604030504040204" pitchFamily="50" charset="-128"/>
              </a:rPr>
              <a:t>ような運用につき、</a:t>
            </a:r>
            <a:br>
              <a:rPr lang="en-US" altLang="ja-JP">
                <a:solidFill>
                  <a:schemeClr val="accent5"/>
                </a:solidFill>
                <a:latin typeface="メイリオ" panose="020B0604030504040204" pitchFamily="50" charset="-128"/>
                <a:ea typeface="メイリオ" panose="020B0604030504040204" pitchFamily="50" charset="-128"/>
              </a:rPr>
            </a:br>
            <a:r>
              <a:rPr lang="ja-JP" altLang="en-US">
                <a:solidFill>
                  <a:schemeClr val="accent5"/>
                </a:solidFill>
                <a:latin typeface="メイリオ" panose="020B0604030504040204" pitchFamily="50" charset="-128"/>
                <a:ea typeface="メイリオ" panose="020B0604030504040204" pitchFamily="50" charset="-128"/>
              </a:rPr>
              <a:t>商品部・販売本部と検討が必要</a:t>
            </a:r>
            <a:endParaRPr lang="en-US" altLang="ja-JP">
              <a:solidFill>
                <a:schemeClr val="accent5"/>
              </a:solidFill>
              <a:latin typeface="メイリオ" panose="020B0604030504040204" pitchFamily="50" charset="-128"/>
              <a:ea typeface="メイリオ" panose="020B0604030504040204" pitchFamily="50" charset="-128"/>
            </a:endParaRPr>
          </a:p>
          <a:p>
            <a:pPr algn="ctr"/>
            <a:endParaRPr lang="ja-JP" altLang="en-US" sz="600">
              <a:solidFill>
                <a:schemeClr val="accent5"/>
              </a:solidFill>
              <a:latin typeface="メイリオ" panose="020B0604030504040204" pitchFamily="50" charset="-128"/>
              <a:ea typeface="メイリオ" panose="020B0604030504040204" pitchFamily="50" charset="-128"/>
            </a:endParaRPr>
          </a:p>
          <a:p>
            <a:pPr algn="ctr"/>
            <a:r>
              <a:rPr lang="ja-JP" altLang="en-US">
                <a:solidFill>
                  <a:schemeClr val="accent5"/>
                </a:solidFill>
                <a:latin typeface="メイリオ" panose="020B0604030504040204" pitchFamily="50" charset="-128"/>
                <a:ea typeface="メイリオ" panose="020B0604030504040204" pitchFamily="50" charset="-128"/>
              </a:rPr>
              <a:t>該当する商品は、</a:t>
            </a:r>
            <a:r>
              <a:rPr lang="ja-JP" altLang="en-US" b="1" i="1" u="sng">
                <a:solidFill>
                  <a:schemeClr val="accent5"/>
                </a:solidFill>
                <a:latin typeface="メイリオ" panose="020B0604030504040204" pitchFamily="50" charset="-128"/>
                <a:ea typeface="メイリオ" panose="020B0604030504040204" pitchFamily="50" charset="-128"/>
              </a:rPr>
              <a:t>マスタ削除前までにワゴンなどによる値下げ・売り尽くし販売</a:t>
            </a:r>
            <a:r>
              <a:rPr lang="ja-JP" altLang="en-US">
                <a:solidFill>
                  <a:schemeClr val="accent5"/>
                </a:solidFill>
                <a:latin typeface="メイリオ" panose="020B0604030504040204" pitchFamily="50" charset="-128"/>
                <a:ea typeface="メイリオ" panose="020B0604030504040204" pitchFamily="50" charset="-128"/>
              </a:rPr>
              <a:t>などを進める</a:t>
            </a:r>
          </a:p>
        </p:txBody>
      </p:sp>
      <p:sp>
        <p:nvSpPr>
          <p:cNvPr id="4" name="Google Shape;108;p11">
            <a:extLst>
              <a:ext uri="{FF2B5EF4-FFF2-40B4-BE49-F238E27FC236}">
                <a16:creationId xmlns:a16="http://schemas.microsoft.com/office/drawing/2014/main" id="{CA8F1220-4979-B625-FE2F-846C022D3411}"/>
              </a:ext>
            </a:extLst>
          </p:cNvPr>
          <p:cNvSpPr txBox="1">
            <a:spLocks/>
          </p:cNvSpPr>
          <p:nvPr/>
        </p:nvSpPr>
        <p:spPr>
          <a:xfrm>
            <a:off x="527760" y="272842"/>
            <a:ext cx="10933600" cy="707886"/>
          </a:xfrm>
          <a:prstGeom prst="rect">
            <a:avLst/>
          </a:prstGeom>
          <a:noFill/>
          <a:ln>
            <a:noFill/>
          </a:ln>
        </p:spPr>
        <p:txBody>
          <a:bodyPr spcFirstLastPara="1" wrap="square" lIns="0" tIns="0" rIns="0" bIns="0" anchor="t" anchorCtr="0">
            <a:spAutoFit/>
          </a:bodyPr>
          <a:lstStyle>
            <a:lvl1pPr marR="0" lvl="0" algn="l" defTabSz="914377" rtl="0" eaLnBrk="1" latinLnBrk="0" hangingPunct="1">
              <a:lnSpc>
                <a:spcPct val="90000"/>
              </a:lnSpc>
              <a:spcBef>
                <a:spcPts val="0"/>
              </a:spcBef>
              <a:spcAft>
                <a:spcPts val="0"/>
              </a:spcAft>
              <a:buClr>
                <a:srgbClr val="012916"/>
              </a:buClr>
              <a:buSzPts val="1800"/>
              <a:buFont typeface="MS PGothic"/>
              <a:buNone/>
              <a:defRPr kumimoji="1" sz="2400" b="1" i="0" u="none" strike="noStrike" kern="1200" cap="none" baseline="0">
                <a:solidFill>
                  <a:srgbClr val="000000"/>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pPr>
              <a:lnSpc>
                <a:spcPct val="100000"/>
              </a:lnSpc>
            </a:pPr>
            <a:r>
              <a:rPr lang="en-US" altLang="ja-JP" sz="1800">
                <a:solidFill>
                  <a:schemeClr val="bg1">
                    <a:lumMod val="65000"/>
                  </a:schemeClr>
                </a:solidFill>
                <a:latin typeface="メイリオ" panose="020B0604030504040204" pitchFamily="50" charset="-128"/>
                <a:ea typeface="メイリオ" panose="020B0604030504040204" pitchFamily="50" charset="-128"/>
              </a:rPr>
              <a:t>7. </a:t>
            </a:r>
            <a:r>
              <a:rPr lang="ja-JP" altLang="en-US" sz="1800">
                <a:solidFill>
                  <a:schemeClr val="bg1">
                    <a:lumMod val="65000"/>
                  </a:schemeClr>
                </a:solidFill>
                <a:latin typeface="メイリオ" panose="020B0604030504040204" pitchFamily="50" charset="-128"/>
                <a:ea typeface="メイリオ" panose="020B0604030504040204" pitchFamily="50" charset="-128"/>
              </a:rPr>
              <a:t>各領域におけるポイント</a:t>
            </a:r>
            <a:endParaRPr lang="en-US" altLang="ja-JP" sz="1800">
              <a:solidFill>
                <a:schemeClr val="bg1"/>
              </a:solidFill>
              <a:latin typeface="メイリオ" panose="020B0604030504040204" pitchFamily="50" charset="-128"/>
              <a:ea typeface="メイリオ" panose="020B0604030504040204" pitchFamily="50" charset="-128"/>
            </a:endParaRPr>
          </a:p>
          <a:p>
            <a:pPr>
              <a:lnSpc>
                <a:spcPct val="100000"/>
              </a:lnSpc>
            </a:pPr>
            <a:r>
              <a:rPr lang="en-US" altLang="ja-JP" sz="2800">
                <a:latin typeface="メイリオ" panose="020B0604030504040204" pitchFamily="50" charset="-128"/>
                <a:ea typeface="メイリオ" panose="020B0604030504040204" pitchFamily="50" charset="-128"/>
              </a:rPr>
              <a:t>Step3.</a:t>
            </a:r>
            <a:r>
              <a:rPr lang="ja-JP" altLang="en-US" sz="2800">
                <a:latin typeface="メイリオ" panose="020B0604030504040204" pitchFamily="50" charset="-128"/>
                <a:ea typeface="メイリオ" panose="020B0604030504040204" pitchFamily="50" charset="-128"/>
              </a:rPr>
              <a:t>マスタのデータクレンジングの必要性</a:t>
            </a:r>
            <a:endParaRPr lang="ja-JP" altLang="en-US" sz="2800"/>
          </a:p>
        </p:txBody>
      </p:sp>
      <p:sp>
        <p:nvSpPr>
          <p:cNvPr id="13" name="Rectangle 12">
            <a:extLst>
              <a:ext uri="{FF2B5EF4-FFF2-40B4-BE49-F238E27FC236}">
                <a16:creationId xmlns:a16="http://schemas.microsoft.com/office/drawing/2014/main" id="{9FB6C97F-635E-D4BD-3CDF-75F637CEDDFF}"/>
              </a:ext>
            </a:extLst>
          </p:cNvPr>
          <p:cNvSpPr/>
          <p:nvPr/>
        </p:nvSpPr>
        <p:spPr>
          <a:xfrm>
            <a:off x="3437228" y="230812"/>
            <a:ext cx="1584176" cy="2745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b="1">
                <a:solidFill>
                  <a:schemeClr val="bg1"/>
                </a:solidFill>
                <a:latin typeface="メイリオ" panose="020B0604030504040204" pitchFamily="50" charset="-128"/>
                <a:ea typeface="メイリオ" panose="020B0604030504040204" pitchFamily="50" charset="-128"/>
              </a:rPr>
              <a:t>A. </a:t>
            </a:r>
            <a:r>
              <a:rPr kumimoji="1" lang="ja-JP" altLang="en-US" sz="1600" b="1">
                <a:solidFill>
                  <a:schemeClr val="bg1"/>
                </a:solidFill>
                <a:latin typeface="メイリオ" panose="020B0604030504040204" pitchFamily="50" charset="-128"/>
                <a:ea typeface="メイリオ" panose="020B0604030504040204" pitchFamily="50" charset="-128"/>
              </a:rPr>
              <a:t>マスタ関連</a:t>
            </a:r>
          </a:p>
        </p:txBody>
      </p:sp>
    </p:spTree>
    <p:extLst>
      <p:ext uri="{BB962C8B-B14F-4D97-AF65-F5344CB8AC3E}">
        <p14:creationId xmlns:p14="http://schemas.microsoft.com/office/powerpoint/2010/main" val="22879627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4843568C-4156-F8C4-2649-9A1D75C14530}"/>
              </a:ext>
            </a:extLst>
          </p:cNvPr>
          <p:cNvSpPr txBox="1"/>
          <p:nvPr/>
        </p:nvSpPr>
        <p:spPr>
          <a:xfrm>
            <a:off x="515938" y="1088740"/>
            <a:ext cx="11160125" cy="5170646"/>
          </a:xfrm>
          <a:prstGeom prst="rect">
            <a:avLst/>
          </a:prstGeom>
          <a:solidFill>
            <a:schemeClr val="bg1">
              <a:lumMod val="95000"/>
            </a:schemeClr>
          </a:solidFill>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defPPr>
              <a:defRPr lang="en-US"/>
            </a:defPPr>
            <a:lvl1pPr marL="358775" indent="-358775">
              <a:spcAft>
                <a:spcPts val="300"/>
              </a:spcAft>
              <a:buClr>
                <a:schemeClr val="bg1">
                  <a:lumMod val="75000"/>
                </a:schemeClr>
              </a:buClr>
              <a:buFont typeface="Wingdings" panose="05000000000000000000" pitchFamily="2" charset="2"/>
              <a:buChar char="n"/>
              <a:defRPr sz="1600" b="1">
                <a:latin typeface="メイリオ" panose="020B0604030504040204" pitchFamily="50" charset="-128"/>
                <a:ea typeface="メイリオ" panose="020B0604030504040204" pitchFamily="50" charset="-128"/>
              </a:defRPr>
            </a:lvl1pPr>
            <a:lvl2pPr marL="815975" lvl="1" indent="-358775">
              <a:spcAft>
                <a:spcPts val="300"/>
              </a:spcAft>
              <a:buClr>
                <a:schemeClr val="bg1">
                  <a:lumMod val="75000"/>
                </a:schemeClr>
              </a:buClr>
              <a:buFont typeface="Arial" panose="020B0604020202020204" pitchFamily="34" charset="0"/>
              <a:buChar char="•"/>
              <a:defRPr sz="1600">
                <a:latin typeface="メイリオ" panose="020B0604030504040204" pitchFamily="50" charset="-128"/>
                <a:ea typeface="メイリオ" panose="020B0604030504040204" pitchFamily="50" charset="-128"/>
              </a:defRPr>
            </a:lvl2pPr>
            <a:lvl3pPr marL="1273175" lvl="2" indent="-358775">
              <a:spcAft>
                <a:spcPts val="300"/>
              </a:spcAft>
              <a:buClr>
                <a:schemeClr val="bg1">
                  <a:lumMod val="75000"/>
                </a:schemeClr>
              </a:buClr>
              <a:buFont typeface="Wingdings" panose="05000000000000000000" pitchFamily="2" charset="2"/>
              <a:buChar char="ü"/>
              <a:defRPr sz="1600">
                <a:latin typeface="メイリオ" panose="020B0604030504040204" pitchFamily="50" charset="-128"/>
                <a:ea typeface="メイリオ" panose="020B0604030504040204" pitchFamily="50" charset="-128"/>
              </a:defRPr>
            </a:lvl3pPr>
          </a:lstStyle>
          <a:p>
            <a:pPr marL="0" indent="0">
              <a:spcAft>
                <a:spcPts val="1000"/>
              </a:spcAft>
              <a:buNone/>
            </a:pPr>
            <a:endParaRPr lang="en-US" altLang="ja-JP" sz="1800"/>
          </a:p>
          <a:p>
            <a:pPr marL="0" indent="0">
              <a:spcAft>
                <a:spcPts val="1000"/>
              </a:spcAft>
              <a:buNone/>
            </a:pPr>
            <a:endParaRPr lang="en-US" altLang="ja-JP" sz="1800"/>
          </a:p>
          <a:p>
            <a:pPr marL="0" indent="0">
              <a:spcAft>
                <a:spcPts val="1000"/>
              </a:spcAft>
              <a:buNone/>
            </a:pPr>
            <a:endParaRPr lang="en-US" altLang="ja-JP" sz="1800"/>
          </a:p>
          <a:p>
            <a:pPr>
              <a:spcAft>
                <a:spcPts val="1000"/>
              </a:spcAft>
            </a:pPr>
            <a:r>
              <a:rPr lang="ja-JP" altLang="en-US" sz="1800"/>
              <a:t>共通マスタ項目の整理</a:t>
            </a:r>
            <a:endParaRPr lang="en-US" altLang="ja-JP" sz="1800"/>
          </a:p>
          <a:p>
            <a:pPr lvl="1">
              <a:spcAft>
                <a:spcPts val="1000"/>
              </a:spcAft>
            </a:pPr>
            <a:r>
              <a:rPr lang="ja-JP" altLang="en-US"/>
              <a:t>共通マスタ項目、西友独自の属性有無（有りの場合は、理由を明確にし検討が必要）</a:t>
            </a:r>
          </a:p>
          <a:p>
            <a:pPr>
              <a:spcAft>
                <a:spcPts val="1000"/>
              </a:spcAft>
            </a:pPr>
            <a:r>
              <a:rPr lang="ja-JP" altLang="en-US" sz="1800"/>
              <a:t>マスタ移行計画/データ洗い替え</a:t>
            </a:r>
            <a:endParaRPr lang="en-US" altLang="ja-JP" sz="1800"/>
          </a:p>
          <a:p>
            <a:pPr lvl="1">
              <a:spcAft>
                <a:spcPts val="0"/>
              </a:spcAft>
            </a:pPr>
            <a:r>
              <a:rPr lang="ja-JP" altLang="en-US"/>
              <a:t>どのタイミング、どのデパから洗い替えをするかの策定、ルール策定</a:t>
            </a:r>
            <a:endParaRPr lang="en-US" altLang="ja-JP"/>
          </a:p>
          <a:p>
            <a:pPr lvl="1">
              <a:spcAft>
                <a:spcPts val="0"/>
              </a:spcAft>
            </a:pPr>
            <a:r>
              <a:rPr lang="ja-JP" altLang="en-US"/>
              <a:t>共通マスタ情報のデータ洗い替え作業（現行のTCのマスタを修正していく）</a:t>
            </a:r>
            <a:endParaRPr lang="en-US" altLang="ja-JP"/>
          </a:p>
          <a:p>
            <a:pPr lvl="1">
              <a:spcAft>
                <a:spcPts val="0"/>
              </a:spcAft>
            </a:pPr>
            <a:r>
              <a:rPr lang="ja-JP" altLang="en-US"/>
              <a:t>表示データの洗い替えは必要→洗い替え前にどのような表示にするのかルールはシステムより提示必要</a:t>
            </a:r>
            <a:br>
              <a:rPr lang="en-US" altLang="ja-JP"/>
            </a:br>
            <a:r>
              <a:rPr lang="ja-JP" altLang="en-US"/>
              <a:t>例：商品名に規格や西友の好きなように★や何かを入れているが、今後はNG</a:t>
            </a:r>
            <a:endParaRPr lang="en-US" altLang="ja-JP"/>
          </a:p>
          <a:p>
            <a:pPr lvl="1">
              <a:spcAft>
                <a:spcPts val="1000"/>
              </a:spcAft>
            </a:pPr>
            <a:r>
              <a:rPr lang="ja-JP" altLang="en-US"/>
              <a:t>商品名は、メーカーが提示している商品名にして、規格は規格に記載するのみにする（他社でも利用する項目限定）</a:t>
            </a:r>
          </a:p>
          <a:p>
            <a:pPr>
              <a:spcAft>
                <a:spcPts val="1000"/>
              </a:spcAft>
            </a:pPr>
            <a:r>
              <a:rPr lang="ja-JP" altLang="en-US" sz="1800"/>
              <a:t>UAT/マニュアル作成（トライアル・西友共同作業）</a:t>
            </a:r>
          </a:p>
          <a:p>
            <a:pPr>
              <a:spcAft>
                <a:spcPts val="1000"/>
              </a:spcAft>
            </a:pPr>
            <a:r>
              <a:rPr lang="ja-JP" altLang="en-US" sz="1800"/>
              <a:t>取引先/バイヤー説明会準備・実施（トライアル・西友合同）/問い合わせ対応（トライアル・西友共同作業）</a:t>
            </a:r>
          </a:p>
        </p:txBody>
      </p:sp>
      <p:sp>
        <p:nvSpPr>
          <p:cNvPr id="4" name="Google Shape;108;p11">
            <a:extLst>
              <a:ext uri="{FF2B5EF4-FFF2-40B4-BE49-F238E27FC236}">
                <a16:creationId xmlns:a16="http://schemas.microsoft.com/office/drawing/2014/main" id="{D9A08999-AE8E-C94B-8344-E404667C35D1}"/>
              </a:ext>
            </a:extLst>
          </p:cNvPr>
          <p:cNvSpPr txBox="1">
            <a:spLocks/>
          </p:cNvSpPr>
          <p:nvPr/>
        </p:nvSpPr>
        <p:spPr>
          <a:xfrm>
            <a:off x="527760" y="272842"/>
            <a:ext cx="10933600" cy="707886"/>
          </a:xfrm>
          <a:prstGeom prst="rect">
            <a:avLst/>
          </a:prstGeom>
          <a:noFill/>
          <a:ln>
            <a:noFill/>
          </a:ln>
        </p:spPr>
        <p:txBody>
          <a:bodyPr spcFirstLastPara="1" wrap="square" lIns="0" tIns="0" rIns="0" bIns="0" anchor="t" anchorCtr="0">
            <a:spAutoFit/>
          </a:bodyPr>
          <a:lstStyle>
            <a:lvl1pPr marR="0" lvl="0" algn="l" defTabSz="914377" rtl="0" eaLnBrk="1" latinLnBrk="0" hangingPunct="1">
              <a:lnSpc>
                <a:spcPct val="90000"/>
              </a:lnSpc>
              <a:spcBef>
                <a:spcPts val="0"/>
              </a:spcBef>
              <a:spcAft>
                <a:spcPts val="0"/>
              </a:spcAft>
              <a:buClr>
                <a:srgbClr val="012916"/>
              </a:buClr>
              <a:buSzPts val="1800"/>
              <a:buFont typeface="MS PGothic"/>
              <a:buNone/>
              <a:defRPr kumimoji="1" sz="2400" b="1" i="0" u="none" strike="noStrike" kern="1200" cap="none" baseline="0">
                <a:solidFill>
                  <a:srgbClr val="000000"/>
                </a:solidFill>
                <a:latin typeface="Meiryo"/>
                <a:ea typeface="Meiryo"/>
                <a:cs typeface="Meiryo"/>
                <a:sym typeface="Meiryo"/>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rgbClr val="000000"/>
                </a:solidFill>
                <a:latin typeface="Arial"/>
                <a:ea typeface="Arial"/>
                <a:cs typeface="Arial"/>
                <a:sym typeface="Arial"/>
              </a:defRPr>
            </a:lvl9pPr>
          </a:lstStyle>
          <a:p>
            <a:pPr>
              <a:lnSpc>
                <a:spcPct val="100000"/>
              </a:lnSpc>
            </a:pPr>
            <a:r>
              <a:rPr lang="en-US" altLang="ja-JP" sz="1800">
                <a:solidFill>
                  <a:schemeClr val="bg1">
                    <a:lumMod val="65000"/>
                  </a:schemeClr>
                </a:solidFill>
                <a:latin typeface="メイリオ" panose="020B0604030504040204" pitchFamily="50" charset="-128"/>
                <a:ea typeface="メイリオ" panose="020B0604030504040204" pitchFamily="50" charset="-128"/>
              </a:rPr>
              <a:t>7. </a:t>
            </a:r>
            <a:r>
              <a:rPr lang="ja-JP" altLang="en-US" sz="1800">
                <a:solidFill>
                  <a:schemeClr val="bg1">
                    <a:lumMod val="65000"/>
                  </a:schemeClr>
                </a:solidFill>
                <a:latin typeface="メイリオ" panose="020B0604030504040204" pitchFamily="50" charset="-128"/>
                <a:ea typeface="メイリオ" panose="020B0604030504040204" pitchFamily="50" charset="-128"/>
              </a:rPr>
              <a:t>各領域におけるポイント</a:t>
            </a:r>
            <a:endParaRPr lang="en-US" altLang="ja-JP" sz="1800">
              <a:solidFill>
                <a:schemeClr val="accent5"/>
              </a:solidFill>
              <a:latin typeface="メイリオ" panose="020B0604030504040204" pitchFamily="50" charset="-128"/>
              <a:ea typeface="メイリオ" panose="020B0604030504040204" pitchFamily="50" charset="-128"/>
            </a:endParaRPr>
          </a:p>
          <a:p>
            <a:pPr>
              <a:lnSpc>
                <a:spcPct val="100000"/>
              </a:lnSpc>
            </a:pPr>
            <a:r>
              <a:rPr lang="en-US" altLang="ja-JP" sz="2800">
                <a:latin typeface="メイリオ" panose="020B0604030504040204" pitchFamily="50" charset="-128"/>
                <a:ea typeface="メイリオ" panose="020B0604030504040204" pitchFamily="50" charset="-128"/>
              </a:rPr>
              <a:t>Step3.</a:t>
            </a:r>
            <a:r>
              <a:rPr lang="ja-JP" altLang="en-US" sz="2800">
                <a:latin typeface="メイリオ" panose="020B0604030504040204" pitchFamily="50" charset="-128"/>
                <a:ea typeface="メイリオ" panose="020B0604030504040204" pitchFamily="50" charset="-128"/>
              </a:rPr>
              <a:t>マスタ統合に関わるビジネスリソースについて</a:t>
            </a:r>
            <a:endParaRPr lang="ja-JP" altLang="en-US" sz="2800"/>
          </a:p>
        </p:txBody>
      </p:sp>
      <p:sp>
        <p:nvSpPr>
          <p:cNvPr id="7" name="Rectangle 6">
            <a:extLst>
              <a:ext uri="{FF2B5EF4-FFF2-40B4-BE49-F238E27FC236}">
                <a16:creationId xmlns:a16="http://schemas.microsoft.com/office/drawing/2014/main" id="{F1261718-DD42-137C-3C18-C0E836F1A4AA}"/>
              </a:ext>
            </a:extLst>
          </p:cNvPr>
          <p:cNvSpPr/>
          <p:nvPr/>
        </p:nvSpPr>
        <p:spPr>
          <a:xfrm>
            <a:off x="3437228" y="230812"/>
            <a:ext cx="1584176" cy="27458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rtlCol="0" anchor="ctr"/>
          <a:lstStyle/>
          <a:p>
            <a:pPr algn="ctr"/>
            <a:r>
              <a:rPr kumimoji="1" lang="en-US" altLang="ja-JP" sz="1600" b="1">
                <a:solidFill>
                  <a:schemeClr val="bg1"/>
                </a:solidFill>
                <a:latin typeface="メイリオ" panose="020B0604030504040204" pitchFamily="50" charset="-128"/>
                <a:ea typeface="メイリオ" panose="020B0604030504040204" pitchFamily="50" charset="-128"/>
              </a:rPr>
              <a:t>A. </a:t>
            </a:r>
            <a:r>
              <a:rPr kumimoji="1" lang="ja-JP" altLang="en-US" sz="1600" b="1">
                <a:solidFill>
                  <a:schemeClr val="bg1"/>
                </a:solidFill>
                <a:latin typeface="メイリオ" panose="020B0604030504040204" pitchFamily="50" charset="-128"/>
                <a:ea typeface="メイリオ" panose="020B0604030504040204" pitchFamily="50" charset="-128"/>
              </a:rPr>
              <a:t>マスタ関連</a:t>
            </a:r>
          </a:p>
        </p:txBody>
      </p:sp>
      <p:grpSp>
        <p:nvGrpSpPr>
          <p:cNvPr id="8" name="Group 7">
            <a:extLst>
              <a:ext uri="{FF2B5EF4-FFF2-40B4-BE49-F238E27FC236}">
                <a16:creationId xmlns:a16="http://schemas.microsoft.com/office/drawing/2014/main" id="{3D14E0C0-8E47-7A35-1A3A-A202D2BB3C42}"/>
              </a:ext>
            </a:extLst>
          </p:cNvPr>
          <p:cNvGrpSpPr/>
          <p:nvPr/>
        </p:nvGrpSpPr>
        <p:grpSpPr>
          <a:xfrm>
            <a:off x="874656" y="1340768"/>
            <a:ext cx="10513932" cy="850267"/>
            <a:chOff x="947428" y="3465004"/>
            <a:chExt cx="10513932" cy="850267"/>
          </a:xfrm>
        </p:grpSpPr>
        <p:sp>
          <p:nvSpPr>
            <p:cNvPr id="5" name="Rectangle 4">
              <a:extLst>
                <a:ext uri="{FF2B5EF4-FFF2-40B4-BE49-F238E27FC236}">
                  <a16:creationId xmlns:a16="http://schemas.microsoft.com/office/drawing/2014/main" id="{68290E45-F3BA-4385-2E65-1E89303FA0EF}"/>
                </a:ext>
              </a:extLst>
            </p:cNvPr>
            <p:cNvSpPr/>
            <p:nvPr/>
          </p:nvSpPr>
          <p:spPr>
            <a:xfrm>
              <a:off x="947428" y="3465004"/>
              <a:ext cx="1980220" cy="850267"/>
            </a:xfrm>
            <a:prstGeom prst="rect">
              <a:avLst/>
            </a:prstGeom>
            <a:solidFill>
              <a:schemeClr val="bg1">
                <a:lumMod val="50000"/>
              </a:schemeClr>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spcAft>
                  <a:spcPts val="300"/>
                </a:spcAft>
                <a:buClr>
                  <a:schemeClr val="bg1">
                    <a:lumMod val="75000"/>
                  </a:schemeClr>
                </a:buClr>
              </a:pPr>
              <a:r>
                <a:rPr lang="ja-JP" altLang="en-US" b="1">
                  <a:solidFill>
                    <a:schemeClr val="bg1"/>
                  </a:solidFill>
                  <a:latin typeface="メイリオ" panose="020B0604030504040204" pitchFamily="50" charset="-128"/>
                  <a:ea typeface="メイリオ" panose="020B0604030504040204" pitchFamily="50" charset="-128"/>
                </a:rPr>
                <a:t>マスタ統合の</a:t>
              </a:r>
              <a:endParaRPr lang="en-US" altLang="ja-JP" b="1">
                <a:solidFill>
                  <a:schemeClr val="bg1"/>
                </a:solidFill>
                <a:latin typeface="メイリオ" panose="020B0604030504040204" pitchFamily="50" charset="-128"/>
                <a:ea typeface="メイリオ" panose="020B0604030504040204" pitchFamily="50" charset="-128"/>
              </a:endParaRPr>
            </a:p>
            <a:p>
              <a:pPr algn="ctr">
                <a:spcAft>
                  <a:spcPts val="300"/>
                </a:spcAft>
                <a:buClr>
                  <a:schemeClr val="bg1">
                    <a:lumMod val="75000"/>
                  </a:schemeClr>
                </a:buClr>
              </a:pPr>
              <a:r>
                <a:rPr lang="ja-JP" altLang="en-US" b="1">
                  <a:solidFill>
                    <a:schemeClr val="bg1"/>
                  </a:solidFill>
                  <a:latin typeface="メイリオ" panose="020B0604030504040204" pitchFamily="50" charset="-128"/>
                  <a:ea typeface="メイリオ" panose="020B0604030504040204" pitchFamily="50" charset="-128"/>
                </a:rPr>
                <a:t>方針</a:t>
              </a:r>
              <a:endParaRPr lang="ja-JP" altLang="ja-JP">
                <a:solidFill>
                  <a:schemeClr val="bg1"/>
                </a:solidFill>
                <a:latin typeface="メイリオ" panose="020B0604030504040204" pitchFamily="50" charset="-128"/>
                <a:ea typeface="メイリオ" panose="020B0604030504040204" pitchFamily="50" charset="-128"/>
              </a:endParaRPr>
            </a:p>
          </p:txBody>
        </p:sp>
        <p:sp>
          <p:nvSpPr>
            <p:cNvPr id="6" name="Rectangle 5">
              <a:extLst>
                <a:ext uri="{FF2B5EF4-FFF2-40B4-BE49-F238E27FC236}">
                  <a16:creationId xmlns:a16="http://schemas.microsoft.com/office/drawing/2014/main" id="{575D0FEF-EF2B-2FBA-D544-1C8A797EB659}"/>
                </a:ext>
              </a:extLst>
            </p:cNvPr>
            <p:cNvSpPr/>
            <p:nvPr/>
          </p:nvSpPr>
          <p:spPr>
            <a:xfrm>
              <a:off x="2927648" y="3465004"/>
              <a:ext cx="8533712" cy="850267"/>
            </a:xfrm>
            <a:prstGeom prst="rect">
              <a:avLst/>
            </a:prstGeom>
            <a:solidFill>
              <a:schemeClr val="bg1"/>
            </a:solidFill>
            <a:ln w="28575">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spcAft>
                  <a:spcPts val="300"/>
                </a:spcAft>
                <a:buClr>
                  <a:schemeClr val="bg1">
                    <a:lumMod val="75000"/>
                  </a:schemeClr>
                </a:buClr>
              </a:pPr>
              <a:r>
                <a:rPr lang="ja-JP" altLang="en-US" b="1">
                  <a:solidFill>
                    <a:schemeClr val="tx1"/>
                  </a:solidFill>
                  <a:latin typeface="メイリオ" panose="020B0604030504040204" pitchFamily="50" charset="-128"/>
                  <a:ea typeface="メイリオ" panose="020B0604030504040204" pitchFamily="50" charset="-128"/>
                </a:rPr>
                <a:t>マスタは、将来他社でも汎用的に利用できるような</a:t>
              </a:r>
              <a:endParaRPr lang="en-US" altLang="ja-JP" b="1">
                <a:solidFill>
                  <a:schemeClr val="tx1"/>
                </a:solidFill>
                <a:latin typeface="メイリオ" panose="020B0604030504040204" pitchFamily="50" charset="-128"/>
                <a:ea typeface="メイリオ" panose="020B0604030504040204" pitchFamily="50" charset="-128"/>
              </a:endParaRPr>
            </a:p>
            <a:p>
              <a:pPr algn="ctr">
                <a:spcAft>
                  <a:spcPts val="300"/>
                </a:spcAft>
                <a:buClr>
                  <a:schemeClr val="bg1">
                    <a:lumMod val="75000"/>
                  </a:schemeClr>
                </a:buClr>
              </a:pPr>
              <a:r>
                <a:rPr lang="ja-JP" altLang="en-US" b="1">
                  <a:solidFill>
                    <a:schemeClr val="tx1"/>
                  </a:solidFill>
                  <a:latin typeface="メイリオ" panose="020B0604030504040204" pitchFamily="50" charset="-128"/>
                  <a:ea typeface="メイリオ" panose="020B0604030504040204" pitchFamily="50" charset="-128"/>
                </a:rPr>
                <a:t>基本情報のマスタ構成・入力方法にする（外部クラウドサービス活用も）</a:t>
              </a:r>
            </a:p>
          </p:txBody>
        </p:sp>
      </p:grpSp>
    </p:spTree>
    <p:extLst>
      <p:ext uri="{BB962C8B-B14F-4D97-AF65-F5344CB8AC3E}">
        <p14:creationId xmlns:p14="http://schemas.microsoft.com/office/powerpoint/2010/main" val="32908894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18"/>
          <p:cNvSpPr/>
          <p:nvPr/>
        </p:nvSpPr>
        <p:spPr>
          <a:xfrm>
            <a:off x="0" y="0"/>
            <a:ext cx="12192000" cy="6858000"/>
          </a:xfrm>
          <a:prstGeom prst="rect">
            <a:avLst/>
          </a:prstGeom>
          <a:solidFill>
            <a:schemeClr val="lt1"/>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263" name="Google Shape;263;p18" descr="赤い背景と白い文字&#10;&#10;自動的に生成された説明"/>
          <p:cNvPicPr preferRelativeResize="0"/>
          <p:nvPr/>
        </p:nvPicPr>
        <p:blipFill rotWithShape="1">
          <a:blip r:embed="rId3">
            <a:alphaModFix/>
          </a:blip>
          <a:srcRect/>
          <a:stretch/>
        </p:blipFill>
        <p:spPr>
          <a:xfrm>
            <a:off x="4214464" y="1460782"/>
            <a:ext cx="3763072" cy="3791885"/>
          </a:xfrm>
          <a:prstGeom prst="rect">
            <a:avLst/>
          </a:prstGeom>
          <a:noFill/>
          <a:ln>
            <a:noFill/>
          </a:ln>
        </p:spPr>
      </p:pic>
    </p:spTree>
  </p:cSld>
  <p:clrMapOvr>
    <a:masterClrMapping/>
  </p:clrMapOvr>
</p:sld>
</file>

<file path=ppt/theme/theme1.xml><?xml version="1.0" encoding="utf-8"?>
<a:theme xmlns:a="http://schemas.openxmlformats.org/drawingml/2006/main" name="2_MASTER01">
  <a:themeElements>
    <a:clrScheme name="TRIAL-SEIYU">
      <a:dk1>
        <a:srgbClr val="000000"/>
      </a:dk1>
      <a:lt1>
        <a:srgbClr val="FFFFFF"/>
      </a:lt1>
      <a:dk2>
        <a:srgbClr val="0071CE"/>
      </a:dk2>
      <a:lt2>
        <a:srgbClr val="E7E6E6"/>
      </a:lt2>
      <a:accent1>
        <a:srgbClr val="FA6400"/>
      </a:accent1>
      <a:accent2>
        <a:srgbClr val="FFC220"/>
      </a:accent2>
      <a:accent3>
        <a:srgbClr val="FFF200"/>
      </a:accent3>
      <a:accent4>
        <a:srgbClr val="3EAD92"/>
      </a:accent4>
      <a:accent5>
        <a:srgbClr val="DE1C24"/>
      </a:accent5>
      <a:accent6>
        <a:srgbClr val="295E7E"/>
      </a:accent6>
      <a:hlink>
        <a:srgbClr val="05D3C1"/>
      </a:hlink>
      <a:folHlink>
        <a:srgbClr val="ED7EB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lcf76f155ced4ddcb4097134ff3c332f xmlns="ab6a0ad2-89b8-4fad-bc0d-ed23cf1e4716">
      <Terms xmlns="http://schemas.microsoft.com/office/infopath/2007/PartnerControls"/>
    </lcf76f155ced4ddcb4097134ff3c332f>
    <TaxCatchAll xmlns="e5a22fd1-a4c9-409b-80f4-004d543c835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0EC7A633E3469B41B51E43F4D17960C6" ma:contentTypeVersion="13" ma:contentTypeDescription="新しいドキュメントを作成します。" ma:contentTypeScope="" ma:versionID="3902d7b350c844e45e4cfd7a18d38387">
  <xsd:schema xmlns:xsd="http://www.w3.org/2001/XMLSchema" xmlns:xs="http://www.w3.org/2001/XMLSchema" xmlns:p="http://schemas.microsoft.com/office/2006/metadata/properties" xmlns:ns1="http://schemas.microsoft.com/sharepoint/v3" xmlns:ns2="ab6a0ad2-89b8-4fad-bc0d-ed23cf1e4716" xmlns:ns3="e5a22fd1-a4c9-409b-80f4-004d543c835b" targetNamespace="http://schemas.microsoft.com/office/2006/metadata/properties" ma:root="true" ma:fieldsID="228bbe518f5d0b469dfb8a7b112bf0ca" ns1:_="" ns2:_="" ns3:_="">
    <xsd:import namespace="http://schemas.microsoft.com/sharepoint/v3"/>
    <xsd:import namespace="ab6a0ad2-89b8-4fad-bc0d-ed23cf1e4716"/>
    <xsd:import namespace="e5a22fd1-a4c9-409b-80f4-004d543c835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統合コンプライアンス ポリシーのプロパティ" ma:hidden="true" ma:internalName="_ip_UnifiedCompliancePolicyProperties">
      <xsd:simpleType>
        <xsd:restriction base="dms:Note"/>
      </xsd:simpleType>
    </xsd:element>
    <xsd:element name="_ip_UnifiedCompliancePolicyUIAction" ma:index="12" nillable="true" ma:displayName="統合コンプライアンス ポリシーの UI アクション"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6a0ad2-89b8-4fad-bc0d-ed23cf1e47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画像タグ" ma:readOnly="false" ma:fieldId="{5cf76f15-5ced-4ddc-b409-7134ff3c332f}" ma:taxonomyMulti="true" ma:sspId="cfbaa570-437e-4e98-b361-17486c1d74e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5a22fd1-a4c9-409b-80f4-004d543c835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2166e26-04d3-4fc8-bacf-9e355037beb2}" ma:internalName="TaxCatchAll" ma:showField="CatchAllData" ma:web="e5a22fd1-a4c9-409b-80f4-004d543c835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7D8BB0A-ADA9-4D0F-B312-B5EAA0C379CC}">
  <ds:schemaRefs>
    <ds:schemaRef ds:uri="http://schemas.microsoft.com/sharepoint/v3/contenttype/forms"/>
  </ds:schemaRefs>
</ds:datastoreItem>
</file>

<file path=customXml/itemProps2.xml><?xml version="1.0" encoding="utf-8"?>
<ds:datastoreItem xmlns:ds="http://schemas.openxmlformats.org/officeDocument/2006/customXml" ds:itemID="{DCDFBDB8-D6ED-4D46-AB44-D5DF35626C3E}">
  <ds:schemaRefs>
    <ds:schemaRef ds:uri="ab6a0ad2-89b8-4fad-bc0d-ed23cf1e4716"/>
    <ds:schemaRef ds:uri="e5a22fd1-a4c9-409b-80f4-004d543c835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250FF3-D447-463B-9218-69C67051D69A}">
  <ds:schemaRefs>
    <ds:schemaRef ds:uri="ab6a0ad2-89b8-4fad-bc0d-ed23cf1e4716"/>
    <ds:schemaRef ds:uri="e5a22fd1-a4c9-409b-80f4-004d543c835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0</TotalTime>
  <Words>6652</Words>
  <Application>Microsoft Office PowerPoint</Application>
  <PresentationFormat>ワイド画面</PresentationFormat>
  <Paragraphs>1463</Paragraphs>
  <Slides>32</Slides>
  <Notes>26</Notes>
  <HiddenSlides>0</HiddenSlides>
  <MMClips>0</MMClips>
  <ScaleCrop>false</ScaleCrop>
  <HeadingPairs>
    <vt:vector size="4" baseType="variant">
      <vt:variant>
        <vt:lpstr>テーマ</vt:lpstr>
      </vt:variant>
      <vt:variant>
        <vt:i4>1</vt:i4>
      </vt:variant>
      <vt:variant>
        <vt:lpstr>スライド タイトル</vt:lpstr>
      </vt:variant>
      <vt:variant>
        <vt:i4>32</vt:i4>
      </vt:variant>
    </vt:vector>
  </HeadingPairs>
  <TitlesOfParts>
    <vt:vector size="33" baseType="lpstr">
      <vt:lpstr>2_MASTER01</vt:lpstr>
      <vt:lpstr>PowerPoint プレゼンテーション</vt:lpstr>
      <vt:lpstr>目次</vt:lpstr>
      <vt:lpstr>1. 背景・目的・ゴール</vt:lpstr>
      <vt:lpstr>2. 概要・アプローチ フェーズアプローチ</vt:lpstr>
      <vt:lpstr>2. 概要・アプローチ 共通マスタシステム構成推移（1/4）</vt:lpstr>
      <vt:lpstr>PowerPoint プレゼンテーション</vt:lpstr>
      <vt:lpstr>PowerPoint プレゼンテーション</vt:lpstr>
      <vt:lpstr>PowerPoint プレゼンテーション</vt:lpstr>
      <vt:lpstr>PowerPoint プレゼンテーション</vt:lpstr>
      <vt:lpstr>3. スコープ</vt:lpstr>
      <vt:lpstr>4. Phase1 :スケジュール　組織統合（7月）以降の運営体制/データ移行準備</vt:lpstr>
      <vt:lpstr>4. Phase2-3:スケジュール　商談システム本番リリース</vt:lpstr>
      <vt:lpstr>5. コスト（単位：百万円）</vt:lpstr>
      <vt:lpstr>6. Phase1 体制・役割　-2026年7月組織統合以降の商品マスタ運用体制と 　　　　　　　　　　　　　　　　　　　　　　　　　　　　先行データ移行</vt:lpstr>
      <vt:lpstr>6. 体制・役割　Phase2　ー商品マスタ統合プロジェクト（８月正式キックオフ）</vt:lpstr>
      <vt:lpstr>7. 会議体</vt:lpstr>
      <vt:lpstr>8. 課題・リスク</vt:lpstr>
      <vt:lpstr>参考資料</vt:lpstr>
      <vt:lpstr>2. 概要・アプローチ（1/2)　システム/TRIAL</vt:lpstr>
      <vt:lpstr>2. 概要・アプローチ(2/2)　ビジネス　TRIAL/西友</vt:lpstr>
      <vt:lpstr>PowerPoint プレゼンテーション</vt:lpstr>
      <vt:lpstr>プロジェクトダッシュボード【XXチーム】</vt:lpstr>
      <vt:lpstr>週次報告フォーマットサンプル</vt:lpstr>
      <vt:lpstr>ステコミ報告フォーマットサンプル</vt:lpstr>
      <vt:lpstr>予算費消状況報告サンプル（単位：百万円）</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KKDD</dc:creator>
  <cp:lastModifiedBy>SUGISAKI, Yukiko (杉崎 由希子)</cp:lastModifiedBy>
  <cp:revision>11</cp:revision>
  <dcterms:created xsi:type="dcterms:W3CDTF">2014-11-12T21:47:38Z</dcterms:created>
  <dcterms:modified xsi:type="dcterms:W3CDTF">2026-06-02T04:03:47Z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0x0101000EC7A633E3469B41B51E43F4D17960C6</vt:lpwstr>
  </property>
  <property fmtid="{D5CDD505-2E9C-101B-9397-08002B2CF9AE}" pid="3" name="MediaServiceImageTags">
    <vt:lpwstr/>
  </property>
  <property fmtid="{D5CDD505-2E9C-101B-9397-08002B2CF9AE}" pid="4" name="MSIP_Label_b24820e8-223f-4ed2-bd95-81c83f641284_Enabled">
    <vt:lpwstr>true</vt:lpwstr>
  </property>
  <property fmtid="{D5CDD505-2E9C-101B-9397-08002B2CF9AE}" pid="5" name="MSIP_Label_b24820e8-223f-4ed2-bd95-81c83f641284_SetDate">
    <vt:lpwstr>2023-04-26T04:38:52Z</vt:lpwstr>
  </property>
  <property fmtid="{D5CDD505-2E9C-101B-9397-08002B2CF9AE}" pid="6" name="MSIP_Label_b24820e8-223f-4ed2-bd95-81c83f641284_Method">
    <vt:lpwstr>Standard</vt:lpwstr>
  </property>
  <property fmtid="{D5CDD505-2E9C-101B-9397-08002B2CF9AE}" pid="7" name="MSIP_Label_b24820e8-223f-4ed2-bd95-81c83f641284_Name">
    <vt:lpwstr>b24820e8-223f-4ed2-bd95-81c83f641284</vt:lpwstr>
  </property>
  <property fmtid="{D5CDD505-2E9C-101B-9397-08002B2CF9AE}" pid="8" name="MSIP_Label_b24820e8-223f-4ed2-bd95-81c83f641284_SiteId">
    <vt:lpwstr>3cbcc3d3-094d-4006-9849-0d11d61f484d</vt:lpwstr>
  </property>
  <property fmtid="{D5CDD505-2E9C-101B-9397-08002B2CF9AE}" pid="9" name="MSIP_Label_b24820e8-223f-4ed2-bd95-81c83f641284_ActionId">
    <vt:lpwstr>ff739049-a5cb-4ef2-875f-a66fcdd44c4f</vt:lpwstr>
  </property>
  <property fmtid="{D5CDD505-2E9C-101B-9397-08002B2CF9AE}" pid="10" name="MSIP_Label_b24820e8-223f-4ed2-bd95-81c83f641284_ContentBits">
    <vt:lpwstr>0</vt:lpwstr>
  </property>
</Properties>
</file>