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386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22960" y="196596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BD6"/>
              </a:buClr>
              <a:buSzPts val="1500"/>
              <a:buFont typeface="Meiryo"/>
              <a:buNone/>
            </a:pPr>
            <a:r>
              <a:rPr b="0" i="0" lang="en-US" sz="1500" u="none" cap="none" strike="noStrike">
                <a:solidFill>
                  <a:srgbClr val="AEBBD6"/>
                </a:solidFill>
                <a:latin typeface="Meiryo"/>
                <a:ea typeface="Meiryo"/>
                <a:cs typeface="Meiryo"/>
                <a:sym typeface="Meiryo"/>
              </a:rPr>
              <a:t>MD基幹統合PJ（Project West）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786384" y="2468880"/>
            <a:ext cx="106070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Meiryo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自動補充システム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Meiryo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課題Q&amp;A分析・詳細設計移行判定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841248" y="4526280"/>
            <a:ext cx="640080" cy="41148"/>
          </a:xfrm>
          <a:prstGeom prst="rect">
            <a:avLst/>
          </a:prstGeom>
          <a:solidFill>
            <a:srgbClr val="6E82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841248" y="4754880"/>
            <a:ext cx="10058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BD5EA"/>
              </a:buClr>
              <a:buSzPts val="1300"/>
              <a:buFont typeface="Meiryo"/>
              <a:buNone/>
            </a:pPr>
            <a:r>
              <a:rPr b="0" i="0" lang="en-US" sz="1300" u="none" cap="none" strike="noStrike">
                <a:solidFill>
                  <a:srgbClr val="CBD5EA"/>
                </a:solidFill>
                <a:latin typeface="Meiryo"/>
                <a:ea typeface="Meiryo"/>
                <a:cs typeface="Meiryo"/>
                <a:sym typeface="Meiryo"/>
              </a:rPr>
              <a:t>対象：TRE_課題管理表 MD/SCM領域（システム＝自動補充 81件）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BD5EA"/>
              </a:buClr>
              <a:buSzPts val="1300"/>
              <a:buFont typeface="Meiryo"/>
              <a:buNone/>
            </a:pPr>
            <a:r>
              <a:rPr b="0" i="0" lang="en-US" sz="1300" u="none" cap="none" strike="noStrike">
                <a:solidFill>
                  <a:srgbClr val="CBD5EA"/>
                </a:solidFill>
                <a:latin typeface="Meiryo"/>
                <a:ea typeface="Meiryo"/>
                <a:cs typeface="Meiryo"/>
                <a:sym typeface="Meiryo"/>
              </a:rPr>
              <a:t>基準日：2026-08-03　／　判定：条件付き着手可（Conditional GO）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91B4"/>
              </a:buClr>
              <a:buSzPts val="1050"/>
              <a:buFont typeface="Meiryo"/>
              <a:buNone/>
            </a:pPr>
            <a:r>
              <a:rPr b="0" i="0" lang="en-US" sz="1050" u="none" cap="none" strike="noStrike">
                <a:solidFill>
                  <a:srgbClr val="8091B4"/>
                </a:solidFill>
                <a:latin typeface="Meiryo"/>
                <a:ea typeface="Meiryo"/>
                <a:cs typeface="Meiryo"/>
                <a:sym typeface="Meiryo"/>
              </a:rPr>
              <a:t>TRE Inc. / TRIAL CHINA　MD/SCM Domain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700"/>
              <a:buFont typeface="Meiryo"/>
              <a:buNone/>
            </a:pPr>
            <a:r>
              <a:rPr b="1" i="0" lang="en-US" sz="270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エグゼクティブサマリ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28C"/>
              </a:buClr>
              <a:buSzPts val="1050"/>
              <a:buFont typeface="Meiryo"/>
              <a:buNone/>
            </a:pPr>
            <a:r>
              <a:rPr b="0" i="0" lang="en-US" sz="1050" u="none" cap="none" strike="noStrike">
                <a:solidFill>
                  <a:srgbClr val="7A828C"/>
                </a:solidFill>
                <a:latin typeface="Meiryo"/>
                <a:ea typeface="Meiryo"/>
                <a:cs typeface="Meiryo"/>
                <a:sym typeface="Meiryo"/>
              </a:rPr>
              <a:t>01  SUMMARY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7955280" y="6455664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28C"/>
              </a:buClr>
              <a:buSzPts val="850"/>
              <a:buFont typeface="Meiryo"/>
              <a:buNone/>
            </a:pPr>
            <a:r>
              <a:rPr b="0" i="0" lang="en-US" sz="850" u="none" cap="none" strike="noStrike">
                <a:solidFill>
                  <a:srgbClr val="7A828C"/>
                </a:solidFill>
                <a:latin typeface="Meiryo"/>
                <a:ea typeface="Meiryo"/>
                <a:cs typeface="Meiryo"/>
                <a:sym typeface="Meiryo"/>
              </a:rPr>
              <a:t>Project West / 自動補充システム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11338560" y="6419088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Meiryo"/>
              <a:buNone/>
            </a:pPr>
            <a:r>
              <a:rPr b="1" i="0" lang="en-US" sz="1000" u="none" cap="none" strike="noStrike">
                <a:solidFill>
                  <a:srgbClr val="1F3864"/>
                </a:solidFill>
                <a:latin typeface="Meiryo"/>
                <a:ea typeface="Meiryo"/>
                <a:cs typeface="Meiryo"/>
                <a:sym typeface="Meiryo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48640" y="1371600"/>
            <a:ext cx="11091672" cy="868680"/>
          </a:xfrm>
          <a:prstGeom prst="roundRect">
            <a:avLst>
              <a:gd fmla="val 6316" name="adj"/>
            </a:avLst>
          </a:prstGeom>
          <a:solidFill>
            <a:srgbClr val="1F38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914400" y="1371600"/>
            <a:ext cx="104241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BD6"/>
              </a:buClr>
              <a:buSzPts val="1300"/>
              <a:buFont typeface="Meiryo"/>
              <a:buNone/>
            </a:pPr>
            <a:r>
              <a:rPr b="0" i="0" lang="en-US" sz="1300" u="none" cap="none" strike="noStrike">
                <a:solidFill>
                  <a:srgbClr val="AEBBD6"/>
                </a:solidFill>
                <a:latin typeface="Meiryo"/>
                <a:ea typeface="Meiryo"/>
                <a:cs typeface="Meiryo"/>
                <a:sym typeface="Meiryo"/>
              </a:rPr>
              <a:t>総合判定　</a:t>
            </a:r>
            <a:r>
              <a:rPr b="1" i="0" lang="en-US" sz="19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条件付きで詳細設計に着手可能（Conditional GO）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548640" y="2514600"/>
            <a:ext cx="3575304" cy="1828800"/>
          </a:xfrm>
          <a:prstGeom prst="roundRect">
            <a:avLst>
              <a:gd fmla="val 3000" name="adj"/>
            </a:avLst>
          </a:prstGeom>
          <a:solidFill>
            <a:srgbClr val="F5F6F8"/>
          </a:solidFill>
          <a:ln cap="flat" cmpd="sng" w="12700">
            <a:solidFill>
              <a:srgbClr val="E4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640080" y="2743200"/>
            <a:ext cx="3392424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5200"/>
              <a:buFont typeface="Meiryo"/>
              <a:buNone/>
            </a:pPr>
            <a:r>
              <a:rPr b="1" i="0" lang="en-US" sz="5200" u="none" cap="none" strike="noStrike">
                <a:solidFill>
                  <a:srgbClr val="1F3864"/>
                </a:solidFill>
                <a:latin typeface="Meiryo"/>
                <a:ea typeface="Meiryo"/>
                <a:cs typeface="Meiryo"/>
                <a:sym typeface="Meiryo"/>
              </a:rPr>
              <a:t>81</a:t>
            </a:r>
            <a:r>
              <a:rPr b="1" i="0" lang="en-US" sz="1800" u="none" cap="none" strike="noStrike">
                <a:solidFill>
                  <a:srgbClr val="1F3864"/>
                </a:solidFill>
                <a:latin typeface="Meiryo"/>
                <a:ea typeface="Meiryo"/>
                <a:cs typeface="Meiryo"/>
                <a:sym typeface="Meiryo"/>
              </a:rPr>
              <a:t> 件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731520" y="3703320"/>
            <a:ext cx="32095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28C"/>
              </a:buClr>
              <a:buSzPts val="1250"/>
              <a:buFont typeface="Meiryo"/>
              <a:buNone/>
            </a:pPr>
            <a:r>
              <a:rPr b="0" i="0" lang="en-US" sz="1250" u="none" cap="none" strike="noStrike">
                <a:solidFill>
                  <a:srgbClr val="7A828C"/>
                </a:solidFill>
                <a:latin typeface="Meiryo"/>
                <a:ea typeface="Meiryo"/>
                <a:cs typeface="Meiryo"/>
                <a:sym typeface="Meiryo"/>
              </a:rPr>
              <a:t>対象課題（自動補充）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4306824" y="2514600"/>
            <a:ext cx="3575304" cy="1828800"/>
          </a:xfrm>
          <a:prstGeom prst="roundRect">
            <a:avLst>
              <a:gd fmla="val 3000" name="adj"/>
            </a:avLst>
          </a:prstGeom>
          <a:solidFill>
            <a:srgbClr val="F5F6F8"/>
          </a:solidFill>
          <a:ln cap="flat" cmpd="sng" w="12700">
            <a:solidFill>
              <a:srgbClr val="E4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4398264" y="2743200"/>
            <a:ext cx="3392424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5200"/>
              <a:buFont typeface="Meiryo"/>
              <a:buNone/>
            </a:pPr>
            <a:r>
              <a:rPr b="1" i="0" lang="en-US" sz="5200" u="none" cap="none" strike="noStrike">
                <a:solidFill>
                  <a:srgbClr val="1F3864"/>
                </a:solidFill>
                <a:latin typeface="Meiryo"/>
                <a:ea typeface="Meiryo"/>
                <a:cs typeface="Meiryo"/>
                <a:sym typeface="Meiryo"/>
              </a:rPr>
              <a:t>80.2</a:t>
            </a:r>
            <a:r>
              <a:rPr b="1" i="0" lang="en-US" sz="1800" u="none" cap="none" strike="noStrike">
                <a:solidFill>
                  <a:srgbClr val="1F3864"/>
                </a:solidFill>
                <a:latin typeface="Meiryo"/>
                <a:ea typeface="Meiryo"/>
                <a:cs typeface="Meiryo"/>
                <a:sym typeface="Meiryo"/>
              </a:rPr>
              <a:t> %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4489704" y="3703320"/>
            <a:ext cx="32095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28C"/>
              </a:buClr>
              <a:buSzPts val="1250"/>
              <a:buFont typeface="Meiryo"/>
              <a:buNone/>
            </a:pPr>
            <a:r>
              <a:rPr b="0" i="0" lang="en-US" sz="1250" u="none" cap="none" strike="noStrike">
                <a:solidFill>
                  <a:srgbClr val="7A828C"/>
                </a:solidFill>
                <a:latin typeface="Meiryo"/>
                <a:ea typeface="Meiryo"/>
                <a:cs typeface="Meiryo"/>
                <a:sym typeface="Meiryo"/>
              </a:rPr>
              <a:t>完了済（65 / 81件）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8065008" y="2514600"/>
            <a:ext cx="3575304" cy="1828800"/>
          </a:xfrm>
          <a:prstGeom prst="roundRect">
            <a:avLst>
              <a:gd fmla="val 3000" name="adj"/>
            </a:avLst>
          </a:prstGeom>
          <a:solidFill>
            <a:srgbClr val="F5F6F8"/>
          </a:solidFill>
          <a:ln cap="flat" cmpd="sng" w="12700">
            <a:solidFill>
              <a:srgbClr val="E4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8156448" y="2743200"/>
            <a:ext cx="3392424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5200"/>
              <a:buFont typeface="Meiryo"/>
              <a:buNone/>
            </a:pPr>
            <a:r>
              <a:rPr b="1" i="0" lang="en-US" sz="5200" u="none" cap="none" strike="noStrike">
                <a:solidFill>
                  <a:srgbClr val="1F3864"/>
                </a:solidFill>
                <a:latin typeface="Meiryo"/>
                <a:ea typeface="Meiryo"/>
                <a:cs typeface="Meiryo"/>
                <a:sym typeface="Meiryo"/>
              </a:rPr>
              <a:t>11</a:t>
            </a:r>
            <a:r>
              <a:rPr b="1" i="0" lang="en-US" sz="1800" u="none" cap="none" strike="noStrike">
                <a:solidFill>
                  <a:srgbClr val="1F3864"/>
                </a:solidFill>
                <a:latin typeface="Meiryo"/>
                <a:ea typeface="Meiryo"/>
                <a:cs typeface="Meiryo"/>
                <a:sym typeface="Meiryo"/>
              </a:rPr>
              <a:t> テーマ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8247888" y="3703320"/>
            <a:ext cx="32095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28C"/>
              </a:buClr>
              <a:buSzPts val="1250"/>
              <a:buFont typeface="Meiryo"/>
              <a:buNone/>
            </a:pPr>
            <a:r>
              <a:rPr b="0" i="0" lang="en-US" sz="1250" u="none" cap="none" strike="noStrike">
                <a:solidFill>
                  <a:srgbClr val="7A828C"/>
                </a:solidFill>
                <a:latin typeface="Meiryo"/>
                <a:ea typeface="Meiryo"/>
                <a:cs typeface="Meiryo"/>
                <a:sym typeface="Meiryo"/>
              </a:rPr>
              <a:t>着手前に要決着（B1–B11）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548640" y="4617720"/>
            <a:ext cx="11091672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Meiryo"/>
              <a:buNone/>
            </a:pPr>
            <a:r>
              <a:rPr b="1" i="0" lang="en-US" sz="130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IF仕様の骨格は概ね確定。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Meiryo"/>
              <a:buNone/>
            </a:pPr>
            <a:r>
              <a:rPr b="0" i="0" lang="en-US" sz="130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マスタ連携・売上/販売実績・発注スケジュール・発注勧告の計算ロジック等は固まっています。</a:t>
            </a:r>
            <a:endParaRPr b="0" i="0" sz="1300" u="none" cap="none" strike="noStrike">
              <a:solidFill>
                <a:srgbClr val="2B2B2B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Meiryo"/>
              <a:buNone/>
            </a:pPr>
            <a:r>
              <a:rPr b="0" i="0" lang="en-US" sz="130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残る論点は、</a:t>
            </a:r>
            <a:r>
              <a:rPr b="1" i="0" lang="en-US" sz="1300" u="none" cap="none" strike="noStrike">
                <a:solidFill>
                  <a:srgbClr val="C0392B"/>
                </a:solidFill>
                <a:latin typeface="Meiryo"/>
                <a:ea typeface="Meiryo"/>
                <a:cs typeface="Meiryo"/>
                <a:sym typeface="Meiryo"/>
              </a:rPr>
              <a:t>①データ構造の根幹（PK／必須項目／連携方式）</a:t>
            </a:r>
            <a:r>
              <a:rPr b="0" i="0" lang="en-US" sz="130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の5テーマと、</a:t>
            </a:r>
            <a:r>
              <a:rPr b="1" i="0" lang="en-US" sz="1300" u="none" cap="none" strike="noStrike">
                <a:solidFill>
                  <a:srgbClr val="C58917"/>
                </a:solidFill>
                <a:latin typeface="Meiryo"/>
                <a:ea typeface="Meiryo"/>
                <a:cs typeface="Meiryo"/>
                <a:sym typeface="Meiryo"/>
              </a:rPr>
              <a:t>②マスタ統合方針・連携方式</a:t>
            </a:r>
            <a:r>
              <a:rPr b="0" i="0" lang="en-US" sz="130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の6テーマ。ブロッカーは集中討議での横断決着を前提とします。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700"/>
              <a:buFont typeface="Meiryo"/>
              <a:buNone/>
            </a:pPr>
            <a:r>
              <a:rPr b="1" i="0" lang="en-US" sz="270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進捗サマリ（自動補充 81件）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28C"/>
              </a:buClr>
              <a:buSzPts val="1050"/>
              <a:buFont typeface="Meiryo"/>
              <a:buNone/>
            </a:pPr>
            <a:r>
              <a:rPr b="0" i="0" lang="en-US" sz="1050" u="none" cap="none" strike="noStrike">
                <a:solidFill>
                  <a:srgbClr val="7A828C"/>
                </a:solidFill>
                <a:latin typeface="Meiryo"/>
                <a:ea typeface="Meiryo"/>
                <a:cs typeface="Meiryo"/>
                <a:sym typeface="Meiryo"/>
              </a:rPr>
              <a:t>02  PROGRESS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7955280" y="6455664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28C"/>
              </a:buClr>
              <a:buSzPts val="850"/>
              <a:buFont typeface="Meiryo"/>
              <a:buNone/>
            </a:pPr>
            <a:r>
              <a:rPr b="0" i="0" lang="en-US" sz="850" u="none" cap="none" strike="noStrike">
                <a:solidFill>
                  <a:srgbClr val="7A828C"/>
                </a:solidFill>
                <a:latin typeface="Meiryo"/>
                <a:ea typeface="Meiryo"/>
                <a:cs typeface="Meiryo"/>
                <a:sym typeface="Meiryo"/>
              </a:rPr>
              <a:t>Project West / 自動補充システム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11338560" y="6419088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Meiryo"/>
              <a:buNone/>
            </a:pPr>
            <a:r>
              <a:rPr b="1" i="0" lang="en-US" sz="1000" u="none" cap="none" strike="noStrike">
                <a:solidFill>
                  <a:srgbClr val="1F3864"/>
                </a:solidFill>
                <a:latin typeface="Meiryo"/>
                <a:ea typeface="Meiryo"/>
                <a:cs typeface="Meiryo"/>
                <a:sym typeface="Meiryo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" name="Google Shape;5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463040"/>
            <a:ext cx="4937760" cy="475488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5"/>
          <p:cNvSpPr/>
          <p:nvPr/>
        </p:nvSpPr>
        <p:spPr>
          <a:xfrm>
            <a:off x="1874520" y="3063240"/>
            <a:ext cx="24688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3000"/>
              <a:buFont typeface="Meiryo"/>
              <a:buNone/>
            </a:pPr>
            <a:r>
              <a:rPr b="1" i="0" lang="en-US" sz="3000" u="none" cap="none" strike="noStrike">
                <a:solidFill>
                  <a:srgbClr val="1F3864"/>
                </a:solidFill>
                <a:latin typeface="Meiryo"/>
                <a:ea typeface="Meiryo"/>
                <a:cs typeface="Meiryo"/>
                <a:sym typeface="Meiryo"/>
              </a:rPr>
              <a:t>80.2%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28C"/>
              </a:buClr>
              <a:buSzPts val="1300"/>
              <a:buFont typeface="Meiryo"/>
              <a:buNone/>
            </a:pPr>
            <a:r>
              <a:rPr b="0" i="0" lang="en-US" sz="1300" u="none" cap="none" strike="noStrike">
                <a:solidFill>
                  <a:srgbClr val="7A828C"/>
                </a:solidFill>
                <a:latin typeface="Meiryo"/>
                <a:ea typeface="Meiryo"/>
                <a:cs typeface="Meiryo"/>
                <a:sym typeface="Meiryo"/>
              </a:rPr>
              <a:t>完了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6126480" y="1581912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28C"/>
              </a:buClr>
              <a:buSzPts val="1100"/>
              <a:buFont typeface="Meiryo"/>
              <a:buNone/>
            </a:pPr>
            <a:r>
              <a:rPr b="1" i="0" lang="en-US" sz="1100" u="none" cap="none" strike="noStrike">
                <a:solidFill>
                  <a:srgbClr val="7A828C"/>
                </a:solidFill>
                <a:latin typeface="Meiryo"/>
                <a:ea typeface="Meiryo"/>
                <a:cs typeface="Meiryo"/>
                <a:sym typeface="Meiryo"/>
              </a:rPr>
              <a:t>ステータス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8321040" y="1581912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28C"/>
              </a:buClr>
              <a:buSzPts val="1100"/>
              <a:buFont typeface="Meiryo"/>
              <a:buNone/>
            </a:pPr>
            <a:r>
              <a:rPr b="1" i="0" lang="en-US" sz="1100" u="none" cap="none" strike="noStrike">
                <a:solidFill>
                  <a:srgbClr val="7A828C"/>
                </a:solidFill>
                <a:latin typeface="Meiryo"/>
                <a:ea typeface="Meiryo"/>
                <a:cs typeface="Meiryo"/>
                <a:sym typeface="Meiryo"/>
              </a:rPr>
              <a:t>件数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9326880" y="1581912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28C"/>
              </a:buClr>
              <a:buSzPts val="1100"/>
              <a:buFont typeface="Meiryo"/>
              <a:buNone/>
            </a:pPr>
            <a:r>
              <a:rPr b="1" i="0" lang="en-US" sz="1100" u="none" cap="none" strike="noStrike">
                <a:solidFill>
                  <a:srgbClr val="7A828C"/>
                </a:solidFill>
                <a:latin typeface="Meiryo"/>
                <a:ea typeface="Meiryo"/>
                <a:cs typeface="Meiryo"/>
                <a:sym typeface="Meiryo"/>
              </a:rPr>
              <a:t>割合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10515600" y="1581912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28C"/>
              </a:buClr>
              <a:buSzPts val="1100"/>
              <a:buFont typeface="Meiryo"/>
              <a:buNone/>
            </a:pPr>
            <a:r>
              <a:rPr b="1" i="0" lang="en-US" sz="1100" u="none" cap="none" strike="noStrike">
                <a:solidFill>
                  <a:srgbClr val="7A828C"/>
                </a:solidFill>
                <a:latin typeface="Meiryo"/>
                <a:ea typeface="Meiryo"/>
                <a:cs typeface="Meiryo"/>
                <a:sym typeface="Meiryo"/>
              </a:rPr>
              <a:t>増減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6126480" y="2066544"/>
            <a:ext cx="118872" cy="118872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6345936" y="198424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Meiryo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完了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8321040" y="1984248"/>
            <a:ext cx="1005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Meiryo"/>
              <a:buNone/>
            </a:pPr>
            <a:r>
              <a:rPr b="1" i="0" lang="en-US" sz="125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65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9326880" y="1984248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28C"/>
              </a:buClr>
              <a:buSzPts val="1250"/>
              <a:buFont typeface="Meiryo"/>
              <a:buNone/>
            </a:pPr>
            <a:r>
              <a:rPr b="0" i="0" lang="en-US" sz="1250" u="none" cap="none" strike="noStrike">
                <a:solidFill>
                  <a:srgbClr val="7A828C"/>
                </a:solidFill>
                <a:latin typeface="Meiryo"/>
                <a:ea typeface="Meiryo"/>
                <a:cs typeface="Meiryo"/>
                <a:sym typeface="Meiryo"/>
              </a:rPr>
              <a:t>80.2%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10515600" y="1984248"/>
            <a:ext cx="1097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28C"/>
              </a:buClr>
              <a:buSzPts val="1200"/>
              <a:buFont typeface="Meiryo"/>
              <a:buNone/>
            </a:pPr>
            <a:r>
              <a:rPr b="0" i="0" lang="en-US" sz="1200" u="none" cap="none" strike="noStrike">
                <a:solidFill>
                  <a:srgbClr val="7A828C"/>
                </a:solidFill>
                <a:latin typeface="Meiryo"/>
                <a:ea typeface="Meiryo"/>
                <a:cs typeface="Meiryo"/>
                <a:sym typeface="Meiryo"/>
              </a:rPr>
              <a:t>+6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" name="Google Shape;62;p5"/>
          <p:cNvCxnSpPr/>
          <p:nvPr/>
        </p:nvCxnSpPr>
        <p:spPr>
          <a:xfrm>
            <a:off x="6126480" y="2368296"/>
            <a:ext cx="5486400" cy="0"/>
          </a:xfrm>
          <a:prstGeom prst="straightConnector1">
            <a:avLst/>
          </a:prstGeom>
          <a:noFill/>
          <a:ln cap="flat" cmpd="sng" w="12700">
            <a:solidFill>
              <a:srgbClr val="E4E7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5"/>
          <p:cNvSpPr/>
          <p:nvPr/>
        </p:nvSpPr>
        <p:spPr>
          <a:xfrm>
            <a:off x="6126480" y="2560320"/>
            <a:ext cx="118872" cy="118872"/>
          </a:xfrm>
          <a:prstGeom prst="ellipse">
            <a:avLst/>
          </a:prstGeom>
          <a:solidFill>
            <a:srgbClr val="6E82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6345936" y="2478024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Meiryo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対応中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8321040" y="2478024"/>
            <a:ext cx="1005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Meiryo"/>
              <a:buNone/>
            </a:pPr>
            <a:r>
              <a:rPr b="1" i="0" lang="en-US" sz="125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10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9326880" y="2478024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28C"/>
              </a:buClr>
              <a:buSzPts val="1250"/>
              <a:buFont typeface="Meiryo"/>
              <a:buNone/>
            </a:pPr>
            <a:r>
              <a:rPr b="0" i="0" lang="en-US" sz="1250" u="none" cap="none" strike="noStrike">
                <a:solidFill>
                  <a:srgbClr val="7A828C"/>
                </a:solidFill>
                <a:latin typeface="Meiryo"/>
                <a:ea typeface="Meiryo"/>
                <a:cs typeface="Meiryo"/>
                <a:sym typeface="Meiryo"/>
              </a:rPr>
              <a:t>12.3%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10515600" y="2478024"/>
            <a:ext cx="1097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28C"/>
              </a:buClr>
              <a:buSzPts val="1200"/>
              <a:buFont typeface="Meiryo"/>
              <a:buNone/>
            </a:pPr>
            <a:r>
              <a:rPr b="0" i="0" lang="en-US" sz="1200" u="none" cap="none" strike="noStrike">
                <a:solidFill>
                  <a:srgbClr val="7A828C"/>
                </a:solidFill>
                <a:latin typeface="Meiryo"/>
                <a:ea typeface="Meiryo"/>
                <a:cs typeface="Meiryo"/>
                <a:sym typeface="Meiryo"/>
              </a:rPr>
              <a:t>-5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" name="Google Shape;68;p5"/>
          <p:cNvCxnSpPr/>
          <p:nvPr/>
        </p:nvCxnSpPr>
        <p:spPr>
          <a:xfrm>
            <a:off x="6126480" y="2862072"/>
            <a:ext cx="5486400" cy="0"/>
          </a:xfrm>
          <a:prstGeom prst="straightConnector1">
            <a:avLst/>
          </a:prstGeom>
          <a:noFill/>
          <a:ln cap="flat" cmpd="sng" w="12700">
            <a:solidFill>
              <a:srgbClr val="E4E7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" name="Google Shape;69;p5"/>
          <p:cNvSpPr/>
          <p:nvPr/>
        </p:nvSpPr>
        <p:spPr>
          <a:xfrm>
            <a:off x="6126480" y="3054096"/>
            <a:ext cx="118872" cy="118872"/>
          </a:xfrm>
          <a:prstGeom prst="ellipse">
            <a:avLst/>
          </a:prstGeom>
          <a:solidFill>
            <a:srgbClr val="9AA0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6345936" y="2971800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Meiryo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保留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8321040" y="2971800"/>
            <a:ext cx="1005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Meiryo"/>
              <a:buNone/>
            </a:pPr>
            <a:r>
              <a:rPr b="1" i="0" lang="en-US" sz="125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9326880" y="2971800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28C"/>
              </a:buClr>
              <a:buSzPts val="1250"/>
              <a:buFont typeface="Meiryo"/>
              <a:buNone/>
            </a:pPr>
            <a:r>
              <a:rPr b="0" i="0" lang="en-US" sz="1250" u="none" cap="none" strike="noStrike">
                <a:solidFill>
                  <a:srgbClr val="7A828C"/>
                </a:solidFill>
                <a:latin typeface="Meiryo"/>
                <a:ea typeface="Meiryo"/>
                <a:cs typeface="Meiryo"/>
                <a:sym typeface="Meiryo"/>
              </a:rPr>
              <a:t>2.5%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10515600" y="2971800"/>
            <a:ext cx="1097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28C"/>
              </a:buClr>
              <a:buSzPts val="1200"/>
              <a:buFont typeface="Meiryo"/>
              <a:buNone/>
            </a:pPr>
            <a:r>
              <a:rPr b="0" i="0" lang="en-US" sz="1200" u="none" cap="none" strike="noStrike">
                <a:solidFill>
                  <a:srgbClr val="7A828C"/>
                </a:solidFill>
                <a:latin typeface="Meiryo"/>
                <a:ea typeface="Meiryo"/>
                <a:cs typeface="Meiryo"/>
                <a:sym typeface="Meiryo"/>
              </a:rPr>
              <a:t>+1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" name="Google Shape;74;p5"/>
          <p:cNvCxnSpPr/>
          <p:nvPr/>
        </p:nvCxnSpPr>
        <p:spPr>
          <a:xfrm>
            <a:off x="6126480" y="3355848"/>
            <a:ext cx="5486400" cy="0"/>
          </a:xfrm>
          <a:prstGeom prst="straightConnector1">
            <a:avLst/>
          </a:prstGeom>
          <a:noFill/>
          <a:ln cap="flat" cmpd="sng" w="12700">
            <a:solidFill>
              <a:srgbClr val="E4E7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" name="Google Shape;75;p5"/>
          <p:cNvSpPr/>
          <p:nvPr/>
        </p:nvSpPr>
        <p:spPr>
          <a:xfrm>
            <a:off x="6126480" y="3547872"/>
            <a:ext cx="118872" cy="118872"/>
          </a:xfrm>
          <a:prstGeom prst="ellipse">
            <a:avLst/>
          </a:prstGeom>
          <a:solidFill>
            <a:srgbClr val="C589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6345936" y="3465576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Meiryo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未対応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8321040" y="3465576"/>
            <a:ext cx="1005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Meiryo"/>
              <a:buNone/>
            </a:pPr>
            <a:r>
              <a:rPr b="1" i="0" lang="en-US" sz="125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9326880" y="3465576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28C"/>
              </a:buClr>
              <a:buSzPts val="1250"/>
              <a:buFont typeface="Meiryo"/>
              <a:buNone/>
            </a:pPr>
            <a:r>
              <a:rPr b="0" i="0" lang="en-US" sz="1250" u="none" cap="none" strike="noStrike">
                <a:solidFill>
                  <a:srgbClr val="7A828C"/>
                </a:solidFill>
                <a:latin typeface="Meiryo"/>
                <a:ea typeface="Meiryo"/>
                <a:cs typeface="Meiryo"/>
                <a:sym typeface="Meiryo"/>
              </a:rPr>
              <a:t>2.5%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10515600" y="3465576"/>
            <a:ext cx="1097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28C"/>
              </a:buClr>
              <a:buSzPts val="1200"/>
              <a:buFont typeface="Meiryo"/>
              <a:buNone/>
            </a:pPr>
            <a:r>
              <a:rPr b="0" i="0" lang="en-US" sz="1200" u="none" cap="none" strike="noStrike">
                <a:solidFill>
                  <a:srgbClr val="7A828C"/>
                </a:solidFill>
                <a:latin typeface="Meiryo"/>
                <a:ea typeface="Meiryo"/>
                <a:cs typeface="Meiryo"/>
                <a:sym typeface="Meiryo"/>
              </a:rPr>
              <a:t>±0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" name="Google Shape;80;p5"/>
          <p:cNvCxnSpPr/>
          <p:nvPr/>
        </p:nvCxnSpPr>
        <p:spPr>
          <a:xfrm>
            <a:off x="6126480" y="3849624"/>
            <a:ext cx="5486400" cy="0"/>
          </a:xfrm>
          <a:prstGeom prst="straightConnector1">
            <a:avLst/>
          </a:prstGeom>
          <a:noFill/>
          <a:ln cap="flat" cmpd="sng" w="12700">
            <a:solidFill>
              <a:srgbClr val="E4E7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" name="Google Shape;81;p5"/>
          <p:cNvSpPr/>
          <p:nvPr/>
        </p:nvSpPr>
        <p:spPr>
          <a:xfrm>
            <a:off x="6126480" y="4041648"/>
            <a:ext cx="118872" cy="118872"/>
          </a:xfrm>
          <a:prstGeom prst="ellipse">
            <a:avLst/>
          </a:prstGeom>
          <a:solidFill>
            <a:srgbClr val="9AA0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6345936" y="3959352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Meiryo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中止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8321040" y="3959352"/>
            <a:ext cx="1005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Meiryo"/>
              <a:buNone/>
            </a:pPr>
            <a:r>
              <a:rPr b="1" i="0" lang="en-US" sz="125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9326880" y="3959352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28C"/>
              </a:buClr>
              <a:buSzPts val="1250"/>
              <a:buFont typeface="Meiryo"/>
              <a:buNone/>
            </a:pPr>
            <a:r>
              <a:rPr b="0" i="0" lang="en-US" sz="1250" u="none" cap="none" strike="noStrike">
                <a:solidFill>
                  <a:srgbClr val="7A828C"/>
                </a:solidFill>
                <a:latin typeface="Meiryo"/>
                <a:ea typeface="Meiryo"/>
                <a:cs typeface="Meiryo"/>
                <a:sym typeface="Meiryo"/>
              </a:rPr>
              <a:t>1.2%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10515600" y="3959352"/>
            <a:ext cx="1097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28C"/>
              </a:buClr>
              <a:buSzPts val="1200"/>
              <a:buFont typeface="Meiryo"/>
              <a:buNone/>
            </a:pPr>
            <a:r>
              <a:rPr b="0" i="0" lang="en-US" sz="1200" u="none" cap="none" strike="noStrike">
                <a:solidFill>
                  <a:srgbClr val="7A828C"/>
                </a:solidFill>
                <a:latin typeface="Meiryo"/>
                <a:ea typeface="Meiryo"/>
                <a:cs typeface="Meiryo"/>
                <a:sym typeface="Meiryo"/>
              </a:rPr>
              <a:t>±0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" name="Google Shape;86;p5"/>
          <p:cNvCxnSpPr/>
          <p:nvPr/>
        </p:nvCxnSpPr>
        <p:spPr>
          <a:xfrm>
            <a:off x="6126480" y="4343400"/>
            <a:ext cx="5486400" cy="0"/>
          </a:xfrm>
          <a:prstGeom prst="straightConnector1">
            <a:avLst/>
          </a:prstGeom>
          <a:noFill/>
          <a:ln cap="flat" cmpd="sng" w="12700">
            <a:solidFill>
              <a:srgbClr val="E4E7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" name="Google Shape;87;p5"/>
          <p:cNvSpPr/>
          <p:nvPr/>
        </p:nvSpPr>
        <p:spPr>
          <a:xfrm>
            <a:off x="6126480" y="4535424"/>
            <a:ext cx="118872" cy="118872"/>
          </a:xfrm>
          <a:prstGeom prst="ellipse">
            <a:avLst/>
          </a:prstGeom>
          <a:solidFill>
            <a:srgbClr val="9AA0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6345936" y="44531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Meiryo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（空欄）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8321040" y="4453128"/>
            <a:ext cx="1005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Meiryo"/>
              <a:buNone/>
            </a:pPr>
            <a:r>
              <a:rPr b="1" i="0" lang="en-US" sz="125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9326880" y="4453128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28C"/>
              </a:buClr>
              <a:buSzPts val="1250"/>
              <a:buFont typeface="Meiryo"/>
              <a:buNone/>
            </a:pPr>
            <a:r>
              <a:rPr b="0" i="0" lang="en-US" sz="1250" u="none" cap="none" strike="noStrike">
                <a:solidFill>
                  <a:srgbClr val="7A828C"/>
                </a:solidFill>
                <a:latin typeface="Meiryo"/>
                <a:ea typeface="Meiryo"/>
                <a:cs typeface="Meiryo"/>
                <a:sym typeface="Meiryo"/>
              </a:rPr>
              <a:t>1.2%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10515600" y="4453128"/>
            <a:ext cx="1097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28C"/>
              </a:buClr>
              <a:buSzPts val="1200"/>
              <a:buFont typeface="Meiryo"/>
              <a:buNone/>
            </a:pPr>
            <a:r>
              <a:rPr b="0" i="0" lang="en-US" sz="1200" u="none" cap="none" strike="noStrike">
                <a:solidFill>
                  <a:srgbClr val="7A828C"/>
                </a:solidFill>
                <a:latin typeface="Meiryo"/>
                <a:ea typeface="Meiryo"/>
                <a:cs typeface="Meiryo"/>
                <a:sym typeface="Meiryo"/>
              </a:rPr>
              <a:t>±0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" name="Google Shape;92;p5"/>
          <p:cNvCxnSpPr/>
          <p:nvPr/>
        </p:nvCxnSpPr>
        <p:spPr>
          <a:xfrm>
            <a:off x="6126480" y="4837176"/>
            <a:ext cx="5486400" cy="0"/>
          </a:xfrm>
          <a:prstGeom prst="straightConnector1">
            <a:avLst/>
          </a:prstGeom>
          <a:noFill/>
          <a:ln cap="flat" cmpd="sng" w="12700">
            <a:solidFill>
              <a:srgbClr val="E4E7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5"/>
          <p:cNvSpPr/>
          <p:nvPr/>
        </p:nvSpPr>
        <p:spPr>
          <a:xfrm>
            <a:off x="6126480" y="5084064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828C"/>
              </a:buClr>
              <a:buSzPts val="1050"/>
              <a:buFont typeface="Meiryo"/>
              <a:buNone/>
            </a:pPr>
            <a:r>
              <a:rPr b="0" i="0" lang="en-US" sz="1050" u="none" cap="none" strike="noStrike">
                <a:solidFill>
                  <a:srgbClr val="7A828C"/>
                </a:solidFill>
                <a:latin typeface="Meiryo"/>
                <a:ea typeface="Meiryo"/>
                <a:cs typeface="Meiryo"/>
                <a:sym typeface="Meiryo"/>
              </a:rPr>
              <a:t>※ 前回基準 2026-07-23（79件）から No.168 が回答済（未対応→完了）、No.56 が保留へ移行、新規2件（No.175/176）を追加。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700"/>
              <a:buFont typeface="Meiryo"/>
              <a:buNone/>
            </a:pPr>
            <a:r>
              <a:rPr b="1" i="0" lang="en-US" sz="270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総合判定の構造 ― 2系統で切り分け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28C"/>
              </a:buClr>
              <a:buSzPts val="1050"/>
              <a:buFont typeface="Meiryo"/>
              <a:buNone/>
            </a:pPr>
            <a:r>
              <a:rPr b="0" i="0" lang="en-US" sz="1050" u="none" cap="none" strike="noStrike">
                <a:solidFill>
                  <a:srgbClr val="7A828C"/>
                </a:solidFill>
                <a:latin typeface="Meiryo"/>
                <a:ea typeface="Meiryo"/>
                <a:cs typeface="Meiryo"/>
                <a:sym typeface="Meiryo"/>
              </a:rPr>
              <a:t>03  STRUCTURE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7955280" y="6455664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28C"/>
              </a:buClr>
              <a:buSzPts val="850"/>
              <a:buFont typeface="Meiryo"/>
              <a:buNone/>
            </a:pPr>
            <a:r>
              <a:rPr b="0" i="0" lang="en-US" sz="850" u="none" cap="none" strike="noStrike">
                <a:solidFill>
                  <a:srgbClr val="7A828C"/>
                </a:solidFill>
                <a:latin typeface="Meiryo"/>
                <a:ea typeface="Meiryo"/>
                <a:cs typeface="Meiryo"/>
                <a:sym typeface="Meiryo"/>
              </a:rPr>
              <a:t>Project West / 自動補充システム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11338560" y="6419088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Meiryo"/>
              <a:buNone/>
            </a:pPr>
            <a:r>
              <a:rPr b="1" i="0" lang="en-US" sz="1000" u="none" cap="none" strike="noStrike">
                <a:solidFill>
                  <a:srgbClr val="1F3864"/>
                </a:solidFill>
                <a:latin typeface="Meiryo"/>
                <a:ea typeface="Meiryo"/>
                <a:cs typeface="Meiryo"/>
                <a:sym typeface="Meiryo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548640" y="1417320"/>
            <a:ext cx="5449824" cy="4754880"/>
          </a:xfrm>
          <a:prstGeom prst="roundRect">
            <a:avLst>
              <a:gd fmla="val 1154" name="adj"/>
            </a:avLst>
          </a:prstGeom>
          <a:solidFill>
            <a:srgbClr val="FFFFFF"/>
          </a:solidFill>
          <a:ln cap="flat" cmpd="sng" w="15875">
            <a:solidFill>
              <a:srgbClr val="E4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868680" y="1755648"/>
            <a:ext cx="146304" cy="146304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1097280" y="1664208"/>
            <a:ext cx="4572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Meiryo"/>
              <a:buNone/>
            </a:pPr>
            <a:r>
              <a:rPr b="1" i="0" lang="en-US" sz="1200" u="none" cap="none" strike="noStrike">
                <a:solidFill>
                  <a:srgbClr val="C0392B"/>
                </a:solidFill>
                <a:latin typeface="Meiryo"/>
                <a:ea typeface="Meiryo"/>
                <a:cs typeface="Meiryo"/>
                <a:sym typeface="Meiryo"/>
              </a:rPr>
              <a:t>A系　データ構造の根幹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868680" y="201168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700"/>
              <a:buFont typeface="Meiryo"/>
              <a:buNone/>
            </a:pPr>
            <a:r>
              <a:rPr b="1" i="0" lang="en-US" sz="170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PK／必須項目／連携方式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868680" y="2487168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28C"/>
              </a:buClr>
              <a:buSzPts val="1150"/>
              <a:buFont typeface="Meiryo"/>
              <a:buNone/>
            </a:pPr>
            <a:r>
              <a:rPr b="0" i="0" lang="en-US" sz="1150" u="none" cap="none" strike="noStrike">
                <a:solidFill>
                  <a:srgbClr val="7A828C"/>
                </a:solidFill>
                <a:latin typeface="Meiryo"/>
                <a:ea typeface="Meiryo"/>
                <a:cs typeface="Meiryo"/>
                <a:sym typeface="Meiryo"/>
              </a:rPr>
              <a:t>確定しないと手戻り大 → 着手を保留し集中討議で横断決着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868680" y="306324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Meiryo"/>
              <a:buNone/>
            </a:pPr>
            <a:r>
              <a:rPr b="1" i="0" lang="en-US" sz="1200" u="none" cap="none" strike="noStrike">
                <a:solidFill>
                  <a:srgbClr val="C0392B"/>
                </a:solidFill>
                <a:latin typeface="Meiryo"/>
                <a:ea typeface="Meiryo"/>
                <a:cs typeface="Meiryo"/>
                <a:sym typeface="Meiryo"/>
              </a:rPr>
              <a:t>B1  </a:t>
            </a:r>
            <a:r>
              <a:rPr b="0" i="0" lang="en-US" sz="120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便区分の欠落（入荷予定/実績・発注勧告W）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868680" y="356616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Meiryo"/>
              <a:buNone/>
            </a:pPr>
            <a:r>
              <a:rPr b="1" i="0" lang="en-US" sz="1200" u="none" cap="none" strike="noStrike">
                <a:solidFill>
                  <a:srgbClr val="C0392B"/>
                </a:solidFill>
                <a:latin typeface="Meiryo"/>
                <a:ea typeface="Meiryo"/>
                <a:cs typeface="Meiryo"/>
                <a:sym typeface="Meiryo"/>
              </a:rPr>
              <a:t>B2  </a:t>
            </a:r>
            <a:r>
              <a:rPr b="0" i="0" lang="en-US" sz="120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発注区分の統合ルール（WMS共通）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868680" y="406908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Meiryo"/>
              <a:buNone/>
            </a:pPr>
            <a:r>
              <a:rPr b="1" i="0" lang="en-US" sz="1200" u="none" cap="none" strike="noStrike">
                <a:solidFill>
                  <a:srgbClr val="C0392B"/>
                </a:solidFill>
                <a:latin typeface="Meiryo"/>
                <a:ea typeface="Meiryo"/>
                <a:cs typeface="Meiryo"/>
                <a:sym typeface="Meiryo"/>
              </a:rPr>
              <a:t>B3  </a:t>
            </a:r>
            <a:r>
              <a:rPr b="0" i="0" lang="en-US" sz="120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営業在庫の24時スナップショット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868680" y="457200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Meiryo"/>
              <a:buNone/>
            </a:pPr>
            <a:r>
              <a:rPr b="1" i="0" lang="en-US" sz="1200" u="none" cap="none" strike="noStrike">
                <a:solidFill>
                  <a:srgbClr val="C0392B"/>
                </a:solidFill>
                <a:latin typeface="Meiryo"/>
                <a:ea typeface="Meiryo"/>
                <a:cs typeface="Meiryo"/>
                <a:sym typeface="Meiryo"/>
              </a:rPr>
              <a:t>B4  </a:t>
            </a:r>
            <a:r>
              <a:rPr b="0" i="0" lang="en-US" sz="120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棚割データの連携方式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868680" y="507492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Meiryo"/>
              <a:buNone/>
            </a:pPr>
            <a:r>
              <a:rPr b="1" i="0" lang="en-US" sz="1200" u="none" cap="none" strike="noStrike">
                <a:solidFill>
                  <a:srgbClr val="C0392B"/>
                </a:solidFill>
                <a:latin typeface="Meiryo"/>
                <a:ea typeface="Meiryo"/>
                <a:cs typeface="Meiryo"/>
                <a:sym typeface="Meiryo"/>
              </a:rPr>
              <a:t>B5  </a:t>
            </a:r>
            <a:r>
              <a:rPr b="0" i="0" lang="en-US" sz="120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受払明細(W)の伝票区分マッピング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6190488" y="1417320"/>
            <a:ext cx="5449824" cy="4754880"/>
          </a:xfrm>
          <a:prstGeom prst="roundRect">
            <a:avLst>
              <a:gd fmla="val 1154" name="adj"/>
            </a:avLst>
          </a:prstGeom>
          <a:solidFill>
            <a:srgbClr val="FFFFFF"/>
          </a:solidFill>
          <a:ln cap="flat" cmpd="sng" w="15875">
            <a:solidFill>
              <a:srgbClr val="E4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6510528" y="1755648"/>
            <a:ext cx="146304" cy="146304"/>
          </a:xfrm>
          <a:prstGeom prst="ellipse">
            <a:avLst/>
          </a:prstGeom>
          <a:solidFill>
            <a:srgbClr val="C589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6739128" y="1664208"/>
            <a:ext cx="4572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8917"/>
              </a:buClr>
              <a:buSzPts val="1200"/>
              <a:buFont typeface="Meiryo"/>
              <a:buNone/>
            </a:pPr>
            <a:r>
              <a:rPr b="1" i="0" lang="en-US" sz="1200" u="none" cap="none" strike="noStrike">
                <a:solidFill>
                  <a:srgbClr val="C58917"/>
                </a:solidFill>
                <a:latin typeface="Meiryo"/>
                <a:ea typeface="Meiryo"/>
                <a:cs typeface="Meiryo"/>
                <a:sym typeface="Meiryo"/>
              </a:rPr>
              <a:t>B系　マスタ統合方針・連携方式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6510528" y="201168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700"/>
              <a:buFont typeface="Meiryo"/>
              <a:buNone/>
            </a:pPr>
            <a:r>
              <a:rPr b="1" i="0" lang="en-US" sz="170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統合方針・連携方式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6510528" y="2487168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28C"/>
              </a:buClr>
              <a:buSzPts val="1150"/>
              <a:buFont typeface="Meiryo"/>
              <a:buNone/>
            </a:pPr>
            <a:r>
              <a:rPr b="0" i="0" lang="en-US" sz="1150" u="none" cap="none" strike="noStrike">
                <a:solidFill>
                  <a:srgbClr val="7A828C"/>
                </a:solidFill>
                <a:latin typeface="Meiryo"/>
                <a:ea typeface="Meiryo"/>
                <a:cs typeface="Meiryo"/>
                <a:sym typeface="Meiryo"/>
              </a:rPr>
              <a:t>方針は判明済 → その前提で着手可。残論点を並行して確定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6510528" y="306324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58917"/>
              </a:buClr>
              <a:buSzPts val="1200"/>
              <a:buFont typeface="Meiryo"/>
              <a:buNone/>
            </a:pPr>
            <a:r>
              <a:rPr b="1" i="0" lang="en-US" sz="1200" u="none" cap="none" strike="noStrike">
                <a:solidFill>
                  <a:srgbClr val="C58917"/>
                </a:solidFill>
                <a:latin typeface="Meiryo"/>
                <a:ea typeface="Meiryo"/>
                <a:cs typeface="Meiryo"/>
                <a:sym typeface="Meiryo"/>
              </a:rPr>
              <a:t>B6  </a:t>
            </a:r>
            <a:r>
              <a:rPr b="0" i="0" lang="en-US" sz="120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発注スケジュールの連携方式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6510528" y="356616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58917"/>
              </a:buClr>
              <a:buSzPts val="1200"/>
              <a:buFont typeface="Meiryo"/>
              <a:buNone/>
            </a:pPr>
            <a:r>
              <a:rPr b="1" i="0" lang="en-US" sz="1200" u="none" cap="none" strike="noStrike">
                <a:solidFill>
                  <a:srgbClr val="C58917"/>
                </a:solidFill>
                <a:latin typeface="Meiryo"/>
                <a:ea typeface="Meiryo"/>
                <a:cs typeface="Meiryo"/>
                <a:sym typeface="Meiryo"/>
              </a:rPr>
              <a:t>B7  </a:t>
            </a:r>
            <a:r>
              <a:rPr b="0" i="0" lang="en-US" sz="120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仕入先マスタの統合方針（別PJ依存）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6510528" y="406908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58917"/>
              </a:buClr>
              <a:buSzPts val="1200"/>
              <a:buFont typeface="Meiryo"/>
              <a:buNone/>
            </a:pPr>
            <a:r>
              <a:rPr b="1" i="0" lang="en-US" sz="1200" u="none" cap="none" strike="noStrike">
                <a:solidFill>
                  <a:srgbClr val="C58917"/>
                </a:solidFill>
                <a:latin typeface="Meiryo"/>
                <a:ea typeface="Meiryo"/>
                <a:cs typeface="Meiryo"/>
                <a:sym typeface="Meiryo"/>
              </a:rPr>
              <a:t>B8  </a:t>
            </a:r>
            <a:r>
              <a:rPr b="0" i="0" lang="en-US" sz="120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仕入先休日マスタの要否・位置づけ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6510528" y="457200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58917"/>
              </a:buClr>
              <a:buSzPts val="1200"/>
              <a:buFont typeface="Meiryo"/>
              <a:buNone/>
            </a:pPr>
            <a:r>
              <a:rPr b="1" i="0" lang="en-US" sz="1200" u="none" cap="none" strike="noStrike">
                <a:solidFill>
                  <a:srgbClr val="C58917"/>
                </a:solidFill>
                <a:latin typeface="Meiryo"/>
                <a:ea typeface="Meiryo"/>
                <a:cs typeface="Meiryo"/>
                <a:sym typeface="Meiryo"/>
              </a:rPr>
              <a:t>B9  </a:t>
            </a:r>
            <a:r>
              <a:rPr b="0" i="0" lang="en-US" sz="120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新商品在庫連携の整理（ブロッカー）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6510528" y="507492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58917"/>
              </a:buClr>
              <a:buSzPts val="1200"/>
              <a:buFont typeface="Meiryo"/>
              <a:buNone/>
            </a:pPr>
            <a:r>
              <a:rPr b="1" i="0" lang="en-US" sz="1200" u="none" cap="none" strike="noStrike">
                <a:solidFill>
                  <a:srgbClr val="C58917"/>
                </a:solidFill>
                <a:latin typeface="Meiryo"/>
                <a:ea typeface="Meiryo"/>
                <a:cs typeface="Meiryo"/>
                <a:sym typeface="Meiryo"/>
              </a:rPr>
              <a:t>B10 / B11  </a:t>
            </a:r>
            <a:r>
              <a:rPr b="0" i="0" lang="en-US" sz="120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商品マスタ統合 / カテゴリマスタ階層・桁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700"/>
              <a:buFont typeface="Meiryo"/>
              <a:buNone/>
            </a:pPr>
            <a:r>
              <a:rPr b="1" i="0" lang="en-US" sz="270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着手前に決着すべきブロッカー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28C"/>
              </a:buClr>
              <a:buSzPts val="1050"/>
              <a:buFont typeface="Meiryo"/>
              <a:buNone/>
            </a:pPr>
            <a:r>
              <a:rPr b="0" i="0" lang="en-US" sz="1050" u="none" cap="none" strike="noStrike">
                <a:solidFill>
                  <a:srgbClr val="7A828C"/>
                </a:solidFill>
                <a:latin typeface="Meiryo"/>
                <a:ea typeface="Meiryo"/>
                <a:cs typeface="Meiryo"/>
                <a:sym typeface="Meiryo"/>
              </a:rPr>
              <a:t>04  BLOCKERS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7955280" y="6455664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28C"/>
              </a:buClr>
              <a:buSzPts val="850"/>
              <a:buFont typeface="Meiryo"/>
              <a:buNone/>
            </a:pPr>
            <a:r>
              <a:rPr b="0" i="0" lang="en-US" sz="850" u="none" cap="none" strike="noStrike">
                <a:solidFill>
                  <a:srgbClr val="7A828C"/>
                </a:solidFill>
                <a:latin typeface="Meiryo"/>
                <a:ea typeface="Meiryo"/>
                <a:cs typeface="Meiryo"/>
                <a:sym typeface="Meiryo"/>
              </a:rPr>
              <a:t>Project West / 自動補充システム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11338560" y="6419088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Meiryo"/>
              <a:buNone/>
            </a:pPr>
            <a:r>
              <a:rPr b="1" i="0" lang="en-US" sz="1000" u="none" cap="none" strike="noStrike">
                <a:solidFill>
                  <a:srgbClr val="1F3864"/>
                </a:solidFill>
                <a:latin typeface="Meiryo"/>
                <a:ea typeface="Meiryo"/>
                <a:cs typeface="Meiryo"/>
                <a:sym typeface="Meiryo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9966960" y="704088"/>
            <a:ext cx="128016" cy="128016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10168128" y="603504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Meiryo"/>
              <a:buNone/>
            </a:pPr>
            <a:r>
              <a:rPr b="1" i="0" lang="en-US" sz="1100" u="none" cap="none" strike="noStrike">
                <a:solidFill>
                  <a:srgbClr val="C0392B"/>
                </a:solidFill>
                <a:latin typeface="Meiryo"/>
                <a:ea typeface="Meiryo"/>
                <a:cs typeface="Meiryo"/>
                <a:sym typeface="Meiryo"/>
              </a:rPr>
              <a:t>🔴 ブロッカー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548640" y="1463040"/>
            <a:ext cx="11091672" cy="649224"/>
          </a:xfrm>
          <a:prstGeom prst="roundRect">
            <a:avLst>
              <a:gd fmla="val 5634" name="adj"/>
            </a:avLst>
          </a:prstGeom>
          <a:solidFill>
            <a:srgbClr val="F5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685800" y="1463040"/>
            <a:ext cx="914400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00"/>
              <a:buFont typeface="Meiryo"/>
              <a:buNone/>
            </a:pPr>
            <a:r>
              <a:rPr b="1" i="0" lang="en-US" sz="1600" u="none" cap="none" strike="noStrike">
                <a:solidFill>
                  <a:srgbClr val="C0392B"/>
                </a:solidFill>
                <a:latin typeface="Meiryo"/>
                <a:ea typeface="Meiryo"/>
                <a:cs typeface="Meiryo"/>
                <a:sym typeface="Meiryo"/>
              </a:rPr>
              <a:t>B1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1691640" y="1463040"/>
            <a:ext cx="2743200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Meiryo"/>
              <a:buNone/>
            </a:pPr>
            <a:r>
              <a:rPr b="1" i="0" lang="en-US" sz="130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便区分の欠落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4526280" y="1463040"/>
            <a:ext cx="5486400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50"/>
              <a:buFont typeface="Meiryo"/>
              <a:buNone/>
            </a:pPr>
            <a:r>
              <a:rPr b="0" i="0" lang="en-US" sz="1150" u="none" cap="none" strike="noStrike">
                <a:solidFill>
                  <a:srgbClr val="4B5563"/>
                </a:solidFill>
                <a:latin typeface="Meiryo"/>
                <a:ea typeface="Meiryo"/>
                <a:cs typeface="Meiryo"/>
                <a:sym typeface="Meiryo"/>
              </a:rPr>
              <a:t>TRIALに便コードが無く、sinops便区分（PK/必須）を埋められない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10058400" y="1463040"/>
            <a:ext cx="1463040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28C"/>
              </a:buClr>
              <a:buSzPts val="1050"/>
              <a:buFont typeface="Meiryo"/>
              <a:buNone/>
            </a:pPr>
            <a:r>
              <a:rPr b="0" i="0" lang="en-US" sz="1050" u="none" cap="none" strike="noStrike">
                <a:solidFill>
                  <a:srgbClr val="7A828C"/>
                </a:solidFill>
                <a:latin typeface="Meiryo"/>
                <a:ea typeface="Meiryo"/>
                <a:cs typeface="Meiryo"/>
                <a:sym typeface="Meiryo"/>
              </a:rPr>
              <a:t>No. </a:t>
            </a:r>
            <a:r>
              <a:rPr b="1" i="0" lang="en-US" sz="1050" u="none" cap="none" strike="noStrike">
                <a:solidFill>
                  <a:srgbClr val="1F3864"/>
                </a:solidFill>
                <a:latin typeface="Meiryo"/>
                <a:ea typeface="Meiryo"/>
                <a:cs typeface="Meiryo"/>
                <a:sym typeface="Meiryo"/>
              </a:rPr>
              <a:t>28,29,92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548640" y="2221992"/>
            <a:ext cx="11091672" cy="649224"/>
          </a:xfrm>
          <a:prstGeom prst="roundRect">
            <a:avLst>
              <a:gd fmla="val 5634" name="adj"/>
            </a:avLst>
          </a:prstGeom>
          <a:solidFill>
            <a:srgbClr val="F5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685800" y="2221992"/>
            <a:ext cx="914400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00"/>
              <a:buFont typeface="Meiryo"/>
              <a:buNone/>
            </a:pPr>
            <a:r>
              <a:rPr b="1" i="0" lang="en-US" sz="1600" u="none" cap="none" strike="noStrike">
                <a:solidFill>
                  <a:srgbClr val="C0392B"/>
                </a:solidFill>
                <a:latin typeface="Meiryo"/>
                <a:ea typeface="Meiryo"/>
                <a:cs typeface="Meiryo"/>
                <a:sym typeface="Meiryo"/>
              </a:rPr>
              <a:t>B2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1691640" y="2221992"/>
            <a:ext cx="2743200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Meiryo"/>
              <a:buNone/>
            </a:pPr>
            <a:r>
              <a:rPr b="1" i="0" lang="en-US" sz="130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発注区分の統合ルール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4526280" y="2221992"/>
            <a:ext cx="5486400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50"/>
              <a:buFont typeface="Meiryo"/>
              <a:buNone/>
            </a:pPr>
            <a:r>
              <a:rPr b="0" i="0" lang="en-US" sz="1150" u="none" cap="none" strike="noStrike">
                <a:solidFill>
                  <a:srgbClr val="4B5563"/>
                </a:solidFill>
                <a:latin typeface="Meiryo"/>
                <a:ea typeface="Meiryo"/>
                <a:cs typeface="Meiryo"/>
                <a:sym typeface="Meiryo"/>
              </a:rPr>
              <a:t>Sinops(0/7)とTRIAL(1/4/10-15)が不一致で変換ルール未確定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10058400" y="2221992"/>
            <a:ext cx="1463040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28C"/>
              </a:buClr>
              <a:buSzPts val="1050"/>
              <a:buFont typeface="Meiryo"/>
              <a:buNone/>
            </a:pPr>
            <a:r>
              <a:rPr b="0" i="0" lang="en-US" sz="1050" u="none" cap="none" strike="noStrike">
                <a:solidFill>
                  <a:srgbClr val="7A828C"/>
                </a:solidFill>
                <a:latin typeface="Meiryo"/>
                <a:ea typeface="Meiryo"/>
                <a:cs typeface="Meiryo"/>
                <a:sym typeface="Meiryo"/>
              </a:rPr>
              <a:t>No. </a:t>
            </a:r>
            <a:r>
              <a:rPr b="1" i="0" lang="en-US" sz="1050" u="none" cap="none" strike="noStrike">
                <a:solidFill>
                  <a:srgbClr val="1F3864"/>
                </a:solidFill>
                <a:latin typeface="Meiryo"/>
                <a:ea typeface="Meiryo"/>
                <a:cs typeface="Meiryo"/>
                <a:sym typeface="Meiryo"/>
              </a:rPr>
              <a:t>49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548640" y="2980944"/>
            <a:ext cx="11091672" cy="649224"/>
          </a:xfrm>
          <a:prstGeom prst="roundRect">
            <a:avLst>
              <a:gd fmla="val 5634" name="adj"/>
            </a:avLst>
          </a:prstGeom>
          <a:solidFill>
            <a:srgbClr val="F5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685800" y="2980944"/>
            <a:ext cx="914400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00"/>
              <a:buFont typeface="Meiryo"/>
              <a:buNone/>
            </a:pPr>
            <a:r>
              <a:rPr b="1" i="0" lang="en-US" sz="1600" u="none" cap="none" strike="noStrike">
                <a:solidFill>
                  <a:srgbClr val="C0392B"/>
                </a:solidFill>
                <a:latin typeface="Meiryo"/>
                <a:ea typeface="Meiryo"/>
                <a:cs typeface="Meiryo"/>
                <a:sym typeface="Meiryo"/>
              </a:rPr>
              <a:t>B3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1691640" y="2980944"/>
            <a:ext cx="2743200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Meiryo"/>
              <a:buNone/>
            </a:pPr>
            <a:r>
              <a:rPr b="1" i="0" lang="en-US" sz="130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営業在庫の24時スナップショット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4526280" y="2980944"/>
            <a:ext cx="5486400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50"/>
              <a:buFont typeface="Meiryo"/>
              <a:buNone/>
            </a:pPr>
            <a:r>
              <a:rPr b="0" i="0" lang="en-US" sz="1150" u="none" cap="none" strike="noStrike">
                <a:solidFill>
                  <a:srgbClr val="4B5563"/>
                </a:solidFill>
                <a:latin typeface="Meiryo"/>
                <a:ea typeface="Meiryo"/>
                <a:cs typeface="Meiryo"/>
                <a:sym typeface="Meiryo"/>
              </a:rPr>
              <a:t>前日24時断面をShinise側で作成できるかが前提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10058400" y="2980944"/>
            <a:ext cx="1463040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28C"/>
              </a:buClr>
              <a:buSzPts val="1050"/>
              <a:buFont typeface="Meiryo"/>
              <a:buNone/>
            </a:pPr>
            <a:r>
              <a:rPr b="0" i="0" lang="en-US" sz="1050" u="none" cap="none" strike="noStrike">
                <a:solidFill>
                  <a:srgbClr val="7A828C"/>
                </a:solidFill>
                <a:latin typeface="Meiryo"/>
                <a:ea typeface="Meiryo"/>
                <a:cs typeface="Meiryo"/>
                <a:sym typeface="Meiryo"/>
              </a:rPr>
              <a:t>No. </a:t>
            </a:r>
            <a:r>
              <a:rPr b="1" i="0" lang="en-US" sz="1050" u="none" cap="none" strike="noStrike">
                <a:solidFill>
                  <a:srgbClr val="1F3864"/>
                </a:solidFill>
                <a:latin typeface="Meiryo"/>
                <a:ea typeface="Meiryo"/>
                <a:cs typeface="Meiryo"/>
                <a:sym typeface="Meiryo"/>
              </a:rPr>
              <a:t>121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548640" y="3739896"/>
            <a:ext cx="11091672" cy="649224"/>
          </a:xfrm>
          <a:prstGeom prst="roundRect">
            <a:avLst>
              <a:gd fmla="val 5634" name="adj"/>
            </a:avLst>
          </a:prstGeom>
          <a:solidFill>
            <a:srgbClr val="F5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685800" y="3739896"/>
            <a:ext cx="914400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00"/>
              <a:buFont typeface="Meiryo"/>
              <a:buNone/>
            </a:pPr>
            <a:r>
              <a:rPr b="1" i="0" lang="en-US" sz="1600" u="none" cap="none" strike="noStrike">
                <a:solidFill>
                  <a:srgbClr val="C0392B"/>
                </a:solidFill>
                <a:latin typeface="Meiryo"/>
                <a:ea typeface="Meiryo"/>
                <a:cs typeface="Meiryo"/>
                <a:sym typeface="Meiryo"/>
              </a:rPr>
              <a:t>B4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1691640" y="3739896"/>
            <a:ext cx="2743200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Meiryo"/>
              <a:buNone/>
            </a:pPr>
            <a:r>
              <a:rPr b="1" i="0" lang="en-US" sz="130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棚割データの連携方式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4526280" y="3739896"/>
            <a:ext cx="5486400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50"/>
              <a:buFont typeface="Meiryo"/>
              <a:buNone/>
            </a:pPr>
            <a:r>
              <a:rPr b="0" i="0" lang="en-US" sz="1150" u="none" cap="none" strike="noStrike">
                <a:solidFill>
                  <a:srgbClr val="4B5563"/>
                </a:solidFill>
                <a:latin typeface="Meiryo"/>
                <a:ea typeface="Meiryo"/>
                <a:cs typeface="Meiryo"/>
                <a:sym typeface="Meiryo"/>
              </a:rPr>
              <a:t>「棚割ストマネ→sinops」へ切替検討中でルート自体が未確定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10058400" y="3739896"/>
            <a:ext cx="1463040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28C"/>
              </a:buClr>
              <a:buSzPts val="1050"/>
              <a:buFont typeface="Meiryo"/>
              <a:buNone/>
            </a:pPr>
            <a:r>
              <a:rPr b="0" i="0" lang="en-US" sz="1050" u="none" cap="none" strike="noStrike">
                <a:solidFill>
                  <a:srgbClr val="7A828C"/>
                </a:solidFill>
                <a:latin typeface="Meiryo"/>
                <a:ea typeface="Meiryo"/>
                <a:cs typeface="Meiryo"/>
                <a:sym typeface="Meiryo"/>
              </a:rPr>
              <a:t>No. </a:t>
            </a:r>
            <a:r>
              <a:rPr b="1" i="0" lang="en-US" sz="1050" u="none" cap="none" strike="noStrike">
                <a:solidFill>
                  <a:srgbClr val="1F3864"/>
                </a:solidFill>
                <a:latin typeface="Meiryo"/>
                <a:ea typeface="Meiryo"/>
                <a:cs typeface="Meiryo"/>
                <a:sym typeface="Meiryo"/>
              </a:rPr>
              <a:t>122/44/72/74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548640" y="4498848"/>
            <a:ext cx="11091672" cy="649224"/>
          </a:xfrm>
          <a:prstGeom prst="roundRect">
            <a:avLst>
              <a:gd fmla="val 5634" name="adj"/>
            </a:avLst>
          </a:prstGeom>
          <a:solidFill>
            <a:srgbClr val="F5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685800" y="4498848"/>
            <a:ext cx="914400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00"/>
              <a:buFont typeface="Meiryo"/>
              <a:buNone/>
            </a:pPr>
            <a:r>
              <a:rPr b="1" i="0" lang="en-US" sz="1600" u="none" cap="none" strike="noStrike">
                <a:solidFill>
                  <a:srgbClr val="C0392B"/>
                </a:solidFill>
                <a:latin typeface="Meiryo"/>
                <a:ea typeface="Meiryo"/>
                <a:cs typeface="Meiryo"/>
                <a:sym typeface="Meiryo"/>
              </a:rPr>
              <a:t>B5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1691640" y="4498848"/>
            <a:ext cx="2743200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Meiryo"/>
              <a:buNone/>
            </a:pPr>
            <a:r>
              <a:rPr b="1" i="0" lang="en-US" sz="130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受払明細(W)の伝票区分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4526280" y="4498848"/>
            <a:ext cx="5486400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50"/>
              <a:buFont typeface="Meiryo"/>
              <a:buNone/>
            </a:pPr>
            <a:r>
              <a:rPr b="0" i="0" lang="en-US" sz="1150" u="none" cap="none" strike="noStrike">
                <a:solidFill>
                  <a:srgbClr val="4B5563"/>
                </a:solidFill>
                <a:latin typeface="Meiryo"/>
                <a:ea typeface="Meiryo"/>
                <a:cs typeface="Meiryo"/>
                <a:sym typeface="Meiryo"/>
              </a:rPr>
              <a:t>出庫/入庫にTRIALのどの伝票区分を割当てるか未定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10058400" y="4498848"/>
            <a:ext cx="1463040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28C"/>
              </a:buClr>
              <a:buSzPts val="1050"/>
              <a:buFont typeface="Meiryo"/>
              <a:buNone/>
            </a:pPr>
            <a:r>
              <a:rPr b="0" i="0" lang="en-US" sz="1050" u="none" cap="none" strike="noStrike">
                <a:solidFill>
                  <a:srgbClr val="7A828C"/>
                </a:solidFill>
                <a:latin typeface="Meiryo"/>
                <a:ea typeface="Meiryo"/>
                <a:cs typeface="Meiryo"/>
                <a:sym typeface="Meiryo"/>
              </a:rPr>
              <a:t>No. </a:t>
            </a:r>
            <a:r>
              <a:rPr b="1" i="0" lang="en-US" sz="1050" u="none" cap="none" strike="noStrike">
                <a:solidFill>
                  <a:srgbClr val="1F3864"/>
                </a:solidFill>
                <a:latin typeface="Meiryo"/>
                <a:ea typeface="Meiryo"/>
                <a:cs typeface="Meiryo"/>
                <a:sym typeface="Meiryo"/>
              </a:rPr>
              <a:t>151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548640" y="5257800"/>
            <a:ext cx="11091672" cy="649224"/>
          </a:xfrm>
          <a:prstGeom prst="roundRect">
            <a:avLst>
              <a:gd fmla="val 5634" name="adj"/>
            </a:avLst>
          </a:prstGeom>
          <a:solidFill>
            <a:srgbClr val="F5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685800" y="5257800"/>
            <a:ext cx="914400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00"/>
              <a:buFont typeface="Meiryo"/>
              <a:buNone/>
            </a:pPr>
            <a:r>
              <a:rPr b="1" i="0" lang="en-US" sz="1600" u="none" cap="none" strike="noStrike">
                <a:solidFill>
                  <a:srgbClr val="C0392B"/>
                </a:solidFill>
                <a:latin typeface="Meiryo"/>
                <a:ea typeface="Meiryo"/>
                <a:cs typeface="Meiryo"/>
                <a:sym typeface="Meiryo"/>
              </a:rPr>
              <a:t>B9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1691640" y="5257800"/>
            <a:ext cx="2743200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Meiryo"/>
              <a:buNone/>
            </a:pPr>
            <a:r>
              <a:rPr b="1" i="0" lang="en-US" sz="130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新商品在庫連携の整理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4526280" y="5257800"/>
            <a:ext cx="5486400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50"/>
              <a:buFont typeface="Meiryo"/>
              <a:buNone/>
            </a:pPr>
            <a:r>
              <a:rPr b="0" i="0" lang="en-US" sz="1150" u="none" cap="none" strike="noStrike">
                <a:solidFill>
                  <a:srgbClr val="4B5563"/>
                </a:solidFill>
                <a:latin typeface="Meiryo"/>
                <a:ea typeface="Meiryo"/>
                <a:cs typeface="Meiryo"/>
                <a:sym typeface="Meiryo"/>
              </a:rPr>
              <a:t>西友DWHへ必要な連携項目・条件が未整理（No.175/176未回答）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10058400" y="5257800"/>
            <a:ext cx="1463040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28C"/>
              </a:buClr>
              <a:buSzPts val="1050"/>
              <a:buFont typeface="Meiryo"/>
              <a:buNone/>
            </a:pPr>
            <a:r>
              <a:rPr b="0" i="0" lang="en-US" sz="1050" u="none" cap="none" strike="noStrike">
                <a:solidFill>
                  <a:srgbClr val="7A828C"/>
                </a:solidFill>
                <a:latin typeface="Meiryo"/>
                <a:ea typeface="Meiryo"/>
                <a:cs typeface="Meiryo"/>
                <a:sym typeface="Meiryo"/>
              </a:rPr>
              <a:t>No. </a:t>
            </a:r>
            <a:r>
              <a:rPr b="1" i="0" lang="en-US" sz="1050" u="none" cap="none" strike="noStrike">
                <a:solidFill>
                  <a:srgbClr val="1F3864"/>
                </a:solidFill>
                <a:latin typeface="Meiryo"/>
                <a:ea typeface="Meiryo"/>
                <a:cs typeface="Meiryo"/>
                <a:sym typeface="Meiryo"/>
              </a:rPr>
              <a:t>124,175,176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700"/>
              <a:buFont typeface="Meiryo"/>
              <a:buNone/>
            </a:pPr>
            <a:r>
              <a:rPr b="1" i="0" lang="en-US" sz="270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要フォロー・別PJ依存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28C"/>
              </a:buClr>
              <a:buSzPts val="1050"/>
              <a:buFont typeface="Meiryo"/>
              <a:buNone/>
            </a:pPr>
            <a:r>
              <a:rPr b="0" i="0" lang="en-US" sz="1050" u="none" cap="none" strike="noStrike">
                <a:solidFill>
                  <a:srgbClr val="7A828C"/>
                </a:solidFill>
                <a:latin typeface="Meiryo"/>
                <a:ea typeface="Meiryo"/>
                <a:cs typeface="Meiryo"/>
                <a:sym typeface="Meiryo"/>
              </a:rPr>
              <a:t>05  WATCH / DEPENDENCY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7955280" y="6455664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28C"/>
              </a:buClr>
              <a:buSzPts val="850"/>
              <a:buFont typeface="Meiryo"/>
              <a:buNone/>
            </a:pPr>
            <a:r>
              <a:rPr b="0" i="0" lang="en-US" sz="850" u="none" cap="none" strike="noStrike">
                <a:solidFill>
                  <a:srgbClr val="7A828C"/>
                </a:solidFill>
                <a:latin typeface="Meiryo"/>
                <a:ea typeface="Meiryo"/>
                <a:cs typeface="Meiryo"/>
                <a:sym typeface="Meiryo"/>
              </a:rPr>
              <a:t>Project West / 自動補充システム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11338560" y="6419088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Meiryo"/>
              <a:buNone/>
            </a:pPr>
            <a:r>
              <a:rPr b="1" i="0" lang="en-US" sz="1000" u="none" cap="none" strike="noStrike">
                <a:solidFill>
                  <a:srgbClr val="1F3864"/>
                </a:solidFill>
                <a:latin typeface="Meiryo"/>
                <a:ea typeface="Meiryo"/>
                <a:cs typeface="Meiryo"/>
                <a:sym typeface="Meiryo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566928" y="1463040"/>
            <a:ext cx="137160" cy="137160"/>
          </a:xfrm>
          <a:prstGeom prst="ellipse">
            <a:avLst/>
          </a:prstGeom>
          <a:solidFill>
            <a:srgbClr val="C589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777240" y="13716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8917"/>
              </a:buClr>
              <a:buSzPts val="1300"/>
              <a:buFont typeface="Meiryo"/>
              <a:buNone/>
            </a:pPr>
            <a:r>
              <a:rPr b="1" i="0" lang="en-US" sz="1300" u="none" cap="none" strike="noStrike">
                <a:solidFill>
                  <a:srgbClr val="C58917"/>
                </a:solidFill>
                <a:latin typeface="Meiryo"/>
                <a:ea typeface="Meiryo"/>
                <a:cs typeface="Meiryo"/>
                <a:sym typeface="Meiryo"/>
              </a:rPr>
              <a:t>🟡 要フォロー（方針判明・着手可）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548640" y="1847088"/>
            <a:ext cx="5486400" cy="932688"/>
          </a:xfrm>
          <a:prstGeom prst="roundRect">
            <a:avLst>
              <a:gd fmla="val 3922" name="adj"/>
            </a:avLst>
          </a:prstGeom>
          <a:solidFill>
            <a:srgbClr val="F5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685800" y="1938528"/>
            <a:ext cx="868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8917"/>
              </a:buClr>
              <a:buSzPts val="1500"/>
              <a:buFont typeface="Meiryo"/>
              <a:buNone/>
            </a:pPr>
            <a:r>
              <a:rPr b="1" i="0" lang="en-US" sz="1500" u="none" cap="none" strike="noStrike">
                <a:solidFill>
                  <a:srgbClr val="C58917"/>
                </a:solidFill>
                <a:latin typeface="Meiryo"/>
                <a:ea typeface="Meiryo"/>
                <a:cs typeface="Meiryo"/>
                <a:sym typeface="Meiryo"/>
              </a:rPr>
              <a:t>B6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1600200" y="1956816"/>
            <a:ext cx="4297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Meiryo"/>
              <a:buNone/>
            </a:pPr>
            <a:r>
              <a:rPr b="1" i="0" lang="en-US" sz="125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発注スケジュールの連携方式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1600200" y="2267712"/>
            <a:ext cx="4297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Meiryo"/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Meiryo"/>
                <a:ea typeface="Meiryo"/>
                <a:cs typeface="Meiryo"/>
                <a:sym typeface="Meiryo"/>
              </a:rPr>
              <a:t>参照先・優先順位は判明。休日の扱いはB8と一体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1600200" y="2505456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28C"/>
              </a:buClr>
              <a:buSzPts val="950"/>
              <a:buFont typeface="Meiryo"/>
              <a:buNone/>
            </a:pPr>
            <a:r>
              <a:rPr b="0" i="0" lang="en-US" sz="950" u="none" cap="none" strike="noStrike">
                <a:solidFill>
                  <a:srgbClr val="7A828C"/>
                </a:solidFill>
                <a:latin typeface="Meiryo"/>
                <a:ea typeface="Meiryo"/>
                <a:cs typeface="Meiryo"/>
                <a:sym typeface="Meiryo"/>
              </a:rPr>
              <a:t>No. </a:t>
            </a:r>
            <a:r>
              <a:rPr b="1" i="0" lang="en-US" sz="950" u="none" cap="none" strike="noStrike">
                <a:solidFill>
                  <a:srgbClr val="1F3864"/>
                </a:solidFill>
                <a:latin typeface="Meiryo"/>
                <a:ea typeface="Meiryo"/>
                <a:cs typeface="Meiryo"/>
                <a:sym typeface="Meiryo"/>
              </a:rPr>
              <a:t>33,41,147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548640" y="2871216"/>
            <a:ext cx="5486400" cy="932688"/>
          </a:xfrm>
          <a:prstGeom prst="roundRect">
            <a:avLst>
              <a:gd fmla="val 3922" name="adj"/>
            </a:avLst>
          </a:prstGeom>
          <a:solidFill>
            <a:srgbClr val="F5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685800" y="2962656"/>
            <a:ext cx="868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8917"/>
              </a:buClr>
              <a:buSzPts val="1500"/>
              <a:buFont typeface="Meiryo"/>
              <a:buNone/>
            </a:pPr>
            <a:r>
              <a:rPr b="1" i="0" lang="en-US" sz="1500" u="none" cap="none" strike="noStrike">
                <a:solidFill>
                  <a:srgbClr val="C58917"/>
                </a:solidFill>
                <a:latin typeface="Meiryo"/>
                <a:ea typeface="Meiryo"/>
                <a:cs typeface="Meiryo"/>
                <a:sym typeface="Meiryo"/>
              </a:rPr>
              <a:t>B8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1600200" y="2980944"/>
            <a:ext cx="4297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Meiryo"/>
              <a:buNone/>
            </a:pPr>
            <a:r>
              <a:rPr b="1" i="0" lang="en-US" sz="125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仕入先休日マスタの要否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1600200" y="3291840"/>
            <a:ext cx="4297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Meiryo"/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Meiryo"/>
                <a:ea typeface="Meiryo"/>
                <a:cs typeface="Meiryo"/>
                <a:sym typeface="Meiryo"/>
              </a:rPr>
              <a:t>休日マスタ連携の要否をB6と一体で確定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1600200" y="3529584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28C"/>
              </a:buClr>
              <a:buSzPts val="950"/>
              <a:buFont typeface="Meiryo"/>
              <a:buNone/>
            </a:pPr>
            <a:r>
              <a:rPr b="0" i="0" lang="en-US" sz="950" u="none" cap="none" strike="noStrike">
                <a:solidFill>
                  <a:srgbClr val="7A828C"/>
                </a:solidFill>
                <a:latin typeface="Meiryo"/>
                <a:ea typeface="Meiryo"/>
                <a:cs typeface="Meiryo"/>
                <a:sym typeface="Meiryo"/>
              </a:rPr>
              <a:t>No. </a:t>
            </a:r>
            <a:r>
              <a:rPr b="1" i="0" lang="en-US" sz="950" u="none" cap="none" strike="noStrike">
                <a:solidFill>
                  <a:srgbClr val="1F3864"/>
                </a:solidFill>
                <a:latin typeface="Meiryo"/>
                <a:ea typeface="Meiryo"/>
                <a:cs typeface="Meiryo"/>
                <a:sym typeface="Meiryo"/>
              </a:rPr>
              <a:t>58,64,168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548640" y="3895344"/>
            <a:ext cx="5486400" cy="932688"/>
          </a:xfrm>
          <a:prstGeom prst="roundRect">
            <a:avLst>
              <a:gd fmla="val 3922" name="adj"/>
            </a:avLst>
          </a:prstGeom>
          <a:solidFill>
            <a:srgbClr val="F5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685800" y="3986784"/>
            <a:ext cx="868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8917"/>
              </a:buClr>
              <a:buSzPts val="1500"/>
              <a:buFont typeface="Meiryo"/>
              <a:buNone/>
            </a:pPr>
            <a:r>
              <a:rPr b="1" i="0" lang="en-US" sz="1500" u="none" cap="none" strike="noStrike">
                <a:solidFill>
                  <a:srgbClr val="C58917"/>
                </a:solidFill>
                <a:latin typeface="Meiryo"/>
                <a:ea typeface="Meiryo"/>
                <a:cs typeface="Meiryo"/>
                <a:sym typeface="Meiryo"/>
              </a:rPr>
              <a:t>B11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1600200" y="4005072"/>
            <a:ext cx="4297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Meiryo"/>
              <a:buNone/>
            </a:pPr>
            <a:r>
              <a:rPr b="1" i="0" lang="en-US" sz="125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カテゴリマスタの階層・桁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1600200" y="4315968"/>
            <a:ext cx="4297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Meiryo"/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Meiryo"/>
                <a:ea typeface="Meiryo"/>
                <a:cs typeface="Meiryo"/>
                <a:sym typeface="Meiryo"/>
              </a:rPr>
              <a:t>4階層マッピング確定。桁・階層数差の変換ルールが残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1600200" y="455371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28C"/>
              </a:buClr>
              <a:buSzPts val="950"/>
              <a:buFont typeface="Meiryo"/>
              <a:buNone/>
            </a:pPr>
            <a:r>
              <a:rPr b="0" i="0" lang="en-US" sz="950" u="none" cap="none" strike="noStrike">
                <a:solidFill>
                  <a:srgbClr val="7A828C"/>
                </a:solidFill>
                <a:latin typeface="Meiryo"/>
                <a:ea typeface="Meiryo"/>
                <a:cs typeface="Meiryo"/>
                <a:sym typeface="Meiryo"/>
              </a:rPr>
              <a:t>No. </a:t>
            </a:r>
            <a:r>
              <a:rPr b="1" i="0" lang="en-US" sz="950" u="none" cap="none" strike="noStrike">
                <a:solidFill>
                  <a:srgbClr val="1F3864"/>
                </a:solidFill>
                <a:latin typeface="Meiryo"/>
                <a:ea typeface="Meiryo"/>
                <a:cs typeface="Meiryo"/>
                <a:sym typeface="Meiryo"/>
              </a:rPr>
              <a:t>35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548640" y="4919472"/>
            <a:ext cx="5486400" cy="932688"/>
          </a:xfrm>
          <a:prstGeom prst="roundRect">
            <a:avLst>
              <a:gd fmla="val 3922" name="adj"/>
            </a:avLst>
          </a:prstGeom>
          <a:solidFill>
            <a:srgbClr val="F5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685800" y="5010912"/>
            <a:ext cx="868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8917"/>
              </a:buClr>
              <a:buSzPts val="1500"/>
              <a:buFont typeface="Meiryo"/>
              <a:buNone/>
            </a:pPr>
            <a:r>
              <a:rPr b="1" i="0" lang="en-US" sz="1500" u="none" cap="none" strike="noStrike">
                <a:solidFill>
                  <a:srgbClr val="C58917"/>
                </a:solidFill>
                <a:latin typeface="Meiryo"/>
                <a:ea typeface="Meiryo"/>
                <a:cs typeface="Meiryo"/>
                <a:sym typeface="Meiryo"/>
              </a:rPr>
              <a:t>Y1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1600200" y="5029200"/>
            <a:ext cx="4297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Meiryo"/>
              <a:buNone/>
            </a:pPr>
            <a:r>
              <a:rPr b="1" i="0" lang="en-US" sz="125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発注勧告のPK・発注日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1600200" y="5340096"/>
            <a:ext cx="4297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Meiryo"/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Meiryo"/>
                <a:ea typeface="Meiryo"/>
                <a:cs typeface="Meiryo"/>
                <a:sym typeface="Meiryo"/>
              </a:rPr>
              <a:t>方針判明、大村・馬の最終確認待ち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1600200" y="55778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28C"/>
              </a:buClr>
              <a:buSzPts val="950"/>
              <a:buFont typeface="Meiryo"/>
              <a:buNone/>
            </a:pPr>
            <a:r>
              <a:rPr b="0" i="0" lang="en-US" sz="950" u="none" cap="none" strike="noStrike">
                <a:solidFill>
                  <a:srgbClr val="7A828C"/>
                </a:solidFill>
                <a:latin typeface="Meiryo"/>
                <a:ea typeface="Meiryo"/>
                <a:cs typeface="Meiryo"/>
                <a:sym typeface="Meiryo"/>
              </a:rPr>
              <a:t>No. </a:t>
            </a:r>
            <a:r>
              <a:rPr b="1" i="0" lang="en-US" sz="950" u="none" cap="none" strike="noStrike">
                <a:solidFill>
                  <a:srgbClr val="1F3864"/>
                </a:solidFill>
                <a:latin typeface="Meiryo"/>
                <a:ea typeface="Meiryo"/>
                <a:cs typeface="Meiryo"/>
                <a:sym typeface="Meiryo"/>
              </a:rPr>
              <a:t>85,86,91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6327648" y="1463040"/>
            <a:ext cx="137160" cy="137160"/>
          </a:xfrm>
          <a:prstGeom prst="ellipse">
            <a:avLst/>
          </a:prstGeom>
          <a:solidFill>
            <a:srgbClr val="9AA0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6537960" y="13716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8"/>
              </a:buClr>
              <a:buSzPts val="1300"/>
              <a:buFont typeface="Meiryo"/>
              <a:buNone/>
            </a:pPr>
            <a:r>
              <a:rPr b="1" i="0" lang="en-US" sz="1300" u="none" cap="none" strike="noStrike">
                <a:solidFill>
                  <a:srgbClr val="6B7078"/>
                </a:solidFill>
                <a:latin typeface="Meiryo"/>
                <a:ea typeface="Meiryo"/>
                <a:cs typeface="Meiryo"/>
                <a:sym typeface="Meiryo"/>
              </a:rPr>
              <a:t>⚪ 別PJ依存（統合PJの決定に依存）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6153912" y="1847088"/>
            <a:ext cx="5486400" cy="1417320"/>
          </a:xfrm>
          <a:prstGeom prst="roundRect">
            <a:avLst>
              <a:gd fmla="val 2581" name="adj"/>
            </a:avLst>
          </a:prstGeom>
          <a:solidFill>
            <a:srgbClr val="F5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6309360" y="1956816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078"/>
              </a:buClr>
              <a:buSzPts val="1500"/>
              <a:buFont typeface="Meiryo"/>
              <a:buNone/>
            </a:pPr>
            <a:r>
              <a:rPr b="1" i="0" lang="en-US" sz="1500" u="none" cap="none" strike="noStrike">
                <a:solidFill>
                  <a:srgbClr val="6B7078"/>
                </a:solidFill>
                <a:latin typeface="Meiryo"/>
                <a:ea typeface="Meiryo"/>
                <a:cs typeface="Meiryo"/>
                <a:sym typeface="Meiryo"/>
              </a:rPr>
              <a:t>B7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7223760" y="1984248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Meiryo"/>
              <a:buNone/>
            </a:pPr>
            <a:r>
              <a:rPr b="1" i="0" lang="en-US" sz="130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仕入先マスタの統合方針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6309360" y="2414016"/>
            <a:ext cx="5120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Meiryo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Meiryo"/>
                <a:ea typeface="Meiryo"/>
                <a:cs typeface="Meiryo"/>
                <a:sym typeface="Meiryo"/>
              </a:rPr>
              <a:t>CD採番・統合タイミングは商品マスタ統合PJと足並みを揃えて確定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6309360" y="2926080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28C"/>
              </a:buClr>
              <a:buSzPts val="950"/>
              <a:buFont typeface="Meiryo"/>
              <a:buNone/>
            </a:pPr>
            <a:r>
              <a:rPr b="0" i="0" lang="en-US" sz="950" u="none" cap="none" strike="noStrike">
                <a:solidFill>
                  <a:srgbClr val="7A828C"/>
                </a:solidFill>
                <a:latin typeface="Meiryo"/>
                <a:ea typeface="Meiryo"/>
                <a:cs typeface="Meiryo"/>
                <a:sym typeface="Meiryo"/>
              </a:rPr>
              <a:t>No. </a:t>
            </a:r>
            <a:r>
              <a:rPr b="1" i="0" lang="en-US" sz="950" u="none" cap="none" strike="noStrike">
                <a:solidFill>
                  <a:srgbClr val="1F3864"/>
                </a:solidFill>
                <a:latin typeface="Meiryo"/>
                <a:ea typeface="Meiryo"/>
                <a:cs typeface="Meiryo"/>
                <a:sym typeface="Meiryo"/>
              </a:rPr>
              <a:t>38,39,55,56,57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6153912" y="3401568"/>
            <a:ext cx="5486400" cy="1417320"/>
          </a:xfrm>
          <a:prstGeom prst="roundRect">
            <a:avLst>
              <a:gd fmla="val 2581" name="adj"/>
            </a:avLst>
          </a:prstGeom>
          <a:solidFill>
            <a:srgbClr val="F5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6309360" y="3511296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078"/>
              </a:buClr>
              <a:buSzPts val="1500"/>
              <a:buFont typeface="Meiryo"/>
              <a:buNone/>
            </a:pPr>
            <a:r>
              <a:rPr b="1" i="0" lang="en-US" sz="1500" u="none" cap="none" strike="noStrike">
                <a:solidFill>
                  <a:srgbClr val="6B7078"/>
                </a:solidFill>
                <a:latin typeface="Meiryo"/>
                <a:ea typeface="Meiryo"/>
                <a:cs typeface="Meiryo"/>
                <a:sym typeface="Meiryo"/>
              </a:rPr>
              <a:t>B10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7223760" y="3538728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Meiryo"/>
              <a:buNone/>
            </a:pPr>
            <a:r>
              <a:rPr b="1" i="0" lang="en-US" sz="130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商品マスタの統合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6309360" y="3968496"/>
            <a:ext cx="5120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Meiryo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Meiryo"/>
                <a:ea typeface="Meiryo"/>
                <a:cs typeface="Meiryo"/>
                <a:sym typeface="Meiryo"/>
              </a:rPr>
              <a:t>商品/西友の識別方法・同期対象は統合PJの設計待ち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6309360" y="4480560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28C"/>
              </a:buClr>
              <a:buSzPts val="950"/>
              <a:buFont typeface="Meiryo"/>
              <a:buNone/>
            </a:pPr>
            <a:r>
              <a:rPr b="0" i="0" lang="en-US" sz="950" u="none" cap="none" strike="noStrike">
                <a:solidFill>
                  <a:srgbClr val="7A828C"/>
                </a:solidFill>
                <a:latin typeface="Meiryo"/>
                <a:ea typeface="Meiryo"/>
                <a:cs typeface="Meiryo"/>
                <a:sym typeface="Meiryo"/>
              </a:rPr>
              <a:t>No. </a:t>
            </a:r>
            <a:r>
              <a:rPr b="1" i="0" lang="en-US" sz="950" u="none" cap="none" strike="noStrike">
                <a:solidFill>
                  <a:srgbClr val="1F3864"/>
                </a:solidFill>
                <a:latin typeface="Meiryo"/>
                <a:ea typeface="Meiryo"/>
                <a:cs typeface="Meiryo"/>
                <a:sym typeface="Meiryo"/>
              </a:rPr>
              <a:t>20,9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6153912" y="5029200"/>
            <a:ext cx="5486400" cy="1143000"/>
          </a:xfrm>
          <a:prstGeom prst="roundRect">
            <a:avLst>
              <a:gd fmla="val 3200" name="adj"/>
            </a:avLst>
          </a:prstGeom>
          <a:solidFill>
            <a:srgbClr val="FBF6EC"/>
          </a:solidFill>
          <a:ln cap="flat" cmpd="sng" w="12700">
            <a:solidFill>
              <a:srgbClr val="EAD9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6355080" y="5138928"/>
            <a:ext cx="5120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2691E"/>
              </a:buClr>
              <a:buSzPts val="1100"/>
              <a:buFont typeface="Meiryo"/>
              <a:buNone/>
            </a:pPr>
            <a:r>
              <a:rPr b="1" i="0" lang="en-US" sz="1100" u="none" cap="none" strike="noStrike">
                <a:solidFill>
                  <a:srgbClr val="D2691E"/>
                </a:solidFill>
                <a:latin typeface="Meiryo"/>
                <a:ea typeface="Meiryo"/>
                <a:cs typeface="Meiryo"/>
                <a:sym typeface="Meiryo"/>
              </a:rPr>
              <a:t>🟠 設計内で確定：</a:t>
            </a:r>
            <a:r>
              <a:rPr b="0" i="0" lang="en-US" sz="110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O1 ケースバラ変換 / O2 発注実績W納品日-1　　</a:t>
            </a:r>
            <a:r>
              <a:rPr b="1" i="0" lang="en-US" sz="1100" u="none" cap="none" strike="noStrike">
                <a:solidFill>
                  <a:srgbClr val="3C7D5A"/>
                </a:solidFill>
                <a:latin typeface="Meiryo"/>
                <a:ea typeface="Meiryo"/>
                <a:cs typeface="Meiryo"/>
                <a:sym typeface="Meiryo"/>
              </a:rPr>
              <a:t>✅ 影響なし：</a:t>
            </a:r>
            <a:r>
              <a:rPr b="0" i="0" lang="en-US" sz="110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C1 単品別売上CSV（中止）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700"/>
              <a:buFont typeface="Meiryo"/>
              <a:buNone/>
            </a:pPr>
            <a:r>
              <a:rPr b="1" i="0" lang="en-US" sz="270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論点①　仕入先マスタの統合方針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9646920" y="566928"/>
            <a:ext cx="1993392" cy="457200"/>
          </a:xfrm>
          <a:prstGeom prst="roundRect">
            <a:avLst>
              <a:gd fmla="val 50000" name="adj"/>
            </a:avLst>
          </a:prstGeom>
          <a:solidFill>
            <a:srgbClr val="6B70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9646920" y="566928"/>
            <a:ext cx="19933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eiryo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⚪ 別PJ依存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548640" y="1417320"/>
            <a:ext cx="5532120" cy="4754880"/>
          </a:xfrm>
          <a:prstGeom prst="roundRect">
            <a:avLst>
              <a:gd fmla="val 1154" name="adj"/>
            </a:avLst>
          </a:prstGeom>
          <a:solidFill>
            <a:srgbClr val="FFFFFF"/>
          </a:solidFill>
          <a:ln cap="flat" cmpd="sng" w="19050">
            <a:solidFill>
              <a:srgbClr val="6B70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822960" y="1627632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8"/>
              </a:buClr>
              <a:buSzPts val="1400"/>
              <a:buFont typeface="Meiryo"/>
              <a:buNone/>
            </a:pPr>
            <a:r>
              <a:rPr b="1" i="0" lang="en-US" sz="1400" u="none" cap="none" strike="noStrike">
                <a:solidFill>
                  <a:srgbClr val="6B7078"/>
                </a:solidFill>
                <a:latin typeface="Meiryo"/>
                <a:ea typeface="Meiryo"/>
                <a:cs typeface="Meiryo"/>
                <a:sym typeface="Meiryo"/>
              </a:rPr>
              <a:t>論点（未決着）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841248" y="2185416"/>
            <a:ext cx="256032" cy="256032"/>
          </a:xfrm>
          <a:prstGeom prst="ellipse">
            <a:avLst/>
          </a:prstGeom>
          <a:solidFill>
            <a:srgbClr val="6B70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841248" y="216712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eiry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1225296" y="2103120"/>
            <a:ext cx="4617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Meiryo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SEIYU仕入先CD（R6:9桁＝TC6桁+枝番3桁）を新規採番するか、現行のまま使用するか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841248" y="3118104"/>
            <a:ext cx="256032" cy="256032"/>
          </a:xfrm>
          <a:prstGeom prst="ellipse">
            <a:avLst/>
          </a:prstGeom>
          <a:solidFill>
            <a:srgbClr val="6B70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841248" y="3099816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eiry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1225296" y="3035808"/>
            <a:ext cx="4617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Meiryo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TRIALの仕入先マスタへ統合するタイミングをいつにするか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6245352" y="1417320"/>
            <a:ext cx="5394960" cy="2880360"/>
          </a:xfrm>
          <a:prstGeom prst="roundRect">
            <a:avLst>
              <a:gd fmla="val 1905" name="adj"/>
            </a:avLst>
          </a:prstGeom>
          <a:solidFill>
            <a:srgbClr val="F5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"/>
          <p:cNvSpPr/>
          <p:nvPr/>
        </p:nvSpPr>
        <p:spPr>
          <a:xfrm>
            <a:off x="6519672" y="1600200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300"/>
              <a:buFont typeface="Meiryo"/>
              <a:buNone/>
            </a:pPr>
            <a:r>
              <a:rPr b="1" i="0" lang="en-US" sz="1300" u="none" cap="none" strike="noStrike">
                <a:solidFill>
                  <a:srgbClr val="1F3864"/>
                </a:solidFill>
                <a:latin typeface="Meiryo"/>
                <a:ea typeface="Meiryo"/>
                <a:cs typeface="Meiryo"/>
                <a:sym typeface="Meiryo"/>
              </a:rPr>
              <a:t>判明済（前提）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6537960" y="2084832"/>
            <a:ext cx="109728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6784848" y="1975104"/>
            <a:ext cx="4709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150"/>
              <a:buFont typeface="Meiryo"/>
              <a:buNone/>
            </a:pPr>
            <a:r>
              <a:rPr b="1" i="0" lang="en-US" sz="1150" u="none" cap="none" strike="noStrike">
                <a:solidFill>
                  <a:srgbClr val="1F3864"/>
                </a:solidFill>
                <a:latin typeface="Meiryo"/>
                <a:ea typeface="Meiryo"/>
                <a:cs typeface="Meiryo"/>
                <a:sym typeface="Meiryo"/>
              </a:rPr>
              <a:t>No.39　</a:t>
            </a:r>
            <a:r>
              <a:rPr b="0" i="0" lang="en-US" sz="1150" u="none" cap="none" strike="noStrike">
                <a:solidFill>
                  <a:srgbClr val="3A3F47"/>
                </a:solidFill>
                <a:latin typeface="Meiryo"/>
                <a:ea typeface="Meiryo"/>
                <a:cs typeface="Meiryo"/>
                <a:sym typeface="Meiryo"/>
              </a:rPr>
              <a:t>IF同期はTRIAL仕入先コード9桁を枝番考慮せずそのまま同期で確定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6537960" y="2807208"/>
            <a:ext cx="109728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6784848" y="2697480"/>
            <a:ext cx="4709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150"/>
              <a:buFont typeface="Meiryo"/>
              <a:buNone/>
            </a:pPr>
            <a:r>
              <a:rPr b="1" i="0" lang="en-US" sz="1150" u="none" cap="none" strike="noStrike">
                <a:solidFill>
                  <a:srgbClr val="1F3864"/>
                </a:solidFill>
                <a:latin typeface="Meiryo"/>
                <a:ea typeface="Meiryo"/>
                <a:cs typeface="Meiryo"/>
                <a:sym typeface="Meiryo"/>
              </a:rPr>
              <a:t>No.38/55　</a:t>
            </a:r>
            <a:r>
              <a:rPr b="0" i="0" lang="en-US" sz="1150" u="none" cap="none" strike="noStrike">
                <a:solidFill>
                  <a:srgbClr val="3A3F47"/>
                </a:solidFill>
                <a:latin typeface="Meiryo"/>
                <a:ea typeface="Meiryo"/>
                <a:cs typeface="Meiryo"/>
                <a:sym typeface="Meiryo"/>
              </a:rPr>
              <a:t>倉庫分割ロジック判明（店マスタ判定→4拠点抽出）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6537960" y="3529584"/>
            <a:ext cx="109728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6784848" y="3419856"/>
            <a:ext cx="4709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150"/>
              <a:buFont typeface="Meiryo"/>
              <a:buNone/>
            </a:pPr>
            <a:r>
              <a:rPr b="1" i="0" lang="en-US" sz="1150" u="none" cap="none" strike="noStrike">
                <a:solidFill>
                  <a:srgbClr val="1F3864"/>
                </a:solidFill>
                <a:latin typeface="Meiryo"/>
                <a:ea typeface="Meiryo"/>
                <a:cs typeface="Meiryo"/>
                <a:sym typeface="Meiryo"/>
              </a:rPr>
              <a:t>No.56/57　</a:t>
            </a:r>
            <a:r>
              <a:rPr b="0" i="0" lang="en-US" sz="1150" u="none" cap="none" strike="noStrike">
                <a:solidFill>
                  <a:srgbClr val="3A3F47"/>
                </a:solidFill>
                <a:latin typeface="Meiryo"/>
                <a:ea typeface="Meiryo"/>
                <a:cs typeface="Meiryo"/>
                <a:sym typeface="Meiryo"/>
              </a:rPr>
              <a:t>倉庫⇔仕入先の紐づけは保留（調達マスタ活用可否を検討）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6245352" y="4434840"/>
            <a:ext cx="5394960" cy="1737360"/>
          </a:xfrm>
          <a:prstGeom prst="roundRect">
            <a:avLst>
              <a:gd fmla="val 3158" name="adj"/>
            </a:avLst>
          </a:prstGeom>
          <a:solidFill>
            <a:srgbClr val="1F38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6519672" y="4590288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BD6"/>
              </a:buClr>
              <a:buSzPts val="1300"/>
              <a:buFont typeface="Meiryo"/>
              <a:buNone/>
            </a:pPr>
            <a:r>
              <a:rPr b="1" i="0" lang="en-US" sz="1300" u="none" cap="none" strike="noStrike">
                <a:solidFill>
                  <a:srgbClr val="AEBBD6"/>
                </a:solidFill>
                <a:latin typeface="Meiryo"/>
                <a:ea typeface="Meiryo"/>
                <a:cs typeface="Meiryo"/>
                <a:sym typeface="Meiryo"/>
              </a:rPr>
              <a:t>推奨アクション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6519672" y="4956048"/>
            <a:ext cx="48920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Meiryo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コード採番ルール・統合タイミングを商品マスタ統合PJと足並みを揃えて確定。倉庫紐づけ（No.56/57 保留分）は調達マスタ活用可否を含め設計内で決着します。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28C"/>
              </a:buClr>
              <a:buSzPts val="1050"/>
              <a:buFont typeface="Meiryo"/>
              <a:buNone/>
            </a:pPr>
            <a:r>
              <a:rPr b="0" i="0" lang="en-US" sz="1050" u="none" cap="none" strike="noStrike">
                <a:solidFill>
                  <a:srgbClr val="7A828C"/>
                </a:solidFill>
                <a:latin typeface="Meiryo"/>
                <a:ea typeface="Meiryo"/>
                <a:cs typeface="Meiryo"/>
                <a:sym typeface="Meiryo"/>
              </a:rPr>
              <a:t>06  論点①  仕入先マスタ（B7）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7955280" y="6455664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28C"/>
              </a:buClr>
              <a:buSzPts val="850"/>
              <a:buFont typeface="Meiryo"/>
              <a:buNone/>
            </a:pPr>
            <a:r>
              <a:rPr b="0" i="0" lang="en-US" sz="850" u="none" cap="none" strike="noStrike">
                <a:solidFill>
                  <a:srgbClr val="7A828C"/>
                </a:solidFill>
                <a:latin typeface="Meiryo"/>
                <a:ea typeface="Meiryo"/>
                <a:cs typeface="Meiryo"/>
                <a:sym typeface="Meiryo"/>
              </a:rPr>
              <a:t>Project West / 自動補充システム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11338560" y="6419088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Meiryo"/>
              <a:buNone/>
            </a:pPr>
            <a:r>
              <a:rPr b="1" i="0" lang="en-US" sz="1000" u="none" cap="none" strike="noStrike">
                <a:solidFill>
                  <a:srgbClr val="1F3864"/>
                </a:solidFill>
                <a:latin typeface="Meiryo"/>
                <a:ea typeface="Meiryo"/>
                <a:cs typeface="Meiryo"/>
                <a:sym typeface="Meiryo"/>
              </a:rPr>
              <a:t>06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700"/>
              <a:buFont typeface="Meiryo"/>
              <a:buNone/>
            </a:pPr>
            <a:r>
              <a:rPr b="1" i="0" lang="en-US" sz="270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論点②　仕入先休日マスタの要否・位置づけ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9646920" y="566928"/>
            <a:ext cx="1993392" cy="457200"/>
          </a:xfrm>
          <a:prstGeom prst="roundRect">
            <a:avLst>
              <a:gd fmla="val 50000" name="adj"/>
            </a:avLst>
          </a:prstGeom>
          <a:solidFill>
            <a:srgbClr val="C589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0"/>
          <p:cNvSpPr/>
          <p:nvPr/>
        </p:nvSpPr>
        <p:spPr>
          <a:xfrm>
            <a:off x="9646920" y="566928"/>
            <a:ext cx="19933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eiryo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🟡 要フォロー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548640" y="1417320"/>
            <a:ext cx="5532120" cy="4754880"/>
          </a:xfrm>
          <a:prstGeom prst="roundRect">
            <a:avLst>
              <a:gd fmla="val 1154" name="adj"/>
            </a:avLst>
          </a:prstGeom>
          <a:solidFill>
            <a:srgbClr val="FFFFFF"/>
          </a:solidFill>
          <a:ln cap="flat" cmpd="sng" w="19050">
            <a:solidFill>
              <a:srgbClr val="C589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0"/>
          <p:cNvSpPr/>
          <p:nvPr/>
        </p:nvSpPr>
        <p:spPr>
          <a:xfrm>
            <a:off x="822960" y="1627632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8917"/>
              </a:buClr>
              <a:buSzPts val="1400"/>
              <a:buFont typeface="Meiryo"/>
              <a:buNone/>
            </a:pPr>
            <a:r>
              <a:rPr b="1" i="0" lang="en-US" sz="1400" u="none" cap="none" strike="noStrike">
                <a:solidFill>
                  <a:srgbClr val="C58917"/>
                </a:solidFill>
                <a:latin typeface="Meiryo"/>
                <a:ea typeface="Meiryo"/>
                <a:cs typeface="Meiryo"/>
                <a:sym typeface="Meiryo"/>
              </a:rPr>
              <a:t>論点（未決着）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841248" y="2185416"/>
            <a:ext cx="256032" cy="256032"/>
          </a:xfrm>
          <a:prstGeom prst="ellipse">
            <a:avLst/>
          </a:prstGeom>
          <a:solidFill>
            <a:srgbClr val="C589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0"/>
          <p:cNvSpPr/>
          <p:nvPr/>
        </p:nvSpPr>
        <p:spPr>
          <a:xfrm>
            <a:off x="841248" y="216712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eiry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1225296" y="2103120"/>
            <a:ext cx="4617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Meiryo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TRIAL側で発注スケジュールを生成する前提だと休日は発注スケジュールに織込まれる。仕入先休日マスタを別途連携する必要があるか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841248" y="3118104"/>
            <a:ext cx="256032" cy="256032"/>
          </a:xfrm>
          <a:prstGeom prst="ellipse">
            <a:avLst/>
          </a:prstGeom>
          <a:solidFill>
            <a:srgbClr val="C589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0"/>
          <p:cNvSpPr/>
          <p:nvPr/>
        </p:nvSpPr>
        <p:spPr>
          <a:xfrm>
            <a:off x="841248" y="3099816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eiry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1225296" y="3035808"/>
            <a:ext cx="4617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Meiryo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Sinops内部にも休日メンテ機能があるのに、なぜTRIALから同期するか（source of truth）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6245352" y="1417320"/>
            <a:ext cx="5394960" cy="2880360"/>
          </a:xfrm>
          <a:prstGeom prst="roundRect">
            <a:avLst>
              <a:gd fmla="val 1905" name="adj"/>
            </a:avLst>
          </a:prstGeom>
          <a:solidFill>
            <a:srgbClr val="F5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0"/>
          <p:cNvSpPr/>
          <p:nvPr/>
        </p:nvSpPr>
        <p:spPr>
          <a:xfrm>
            <a:off x="6519672" y="1600200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300"/>
              <a:buFont typeface="Meiryo"/>
              <a:buNone/>
            </a:pPr>
            <a:r>
              <a:rPr b="1" i="0" lang="en-US" sz="1300" u="none" cap="none" strike="noStrike">
                <a:solidFill>
                  <a:srgbClr val="1F3864"/>
                </a:solidFill>
                <a:latin typeface="Meiryo"/>
                <a:ea typeface="Meiryo"/>
                <a:cs typeface="Meiryo"/>
                <a:sym typeface="Meiryo"/>
              </a:rPr>
              <a:t>判明済（前提）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6537960" y="2084832"/>
            <a:ext cx="109728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0"/>
          <p:cNvSpPr/>
          <p:nvPr/>
        </p:nvSpPr>
        <p:spPr>
          <a:xfrm>
            <a:off x="6784848" y="1975104"/>
            <a:ext cx="4709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150"/>
              <a:buFont typeface="Meiryo"/>
              <a:buNone/>
            </a:pPr>
            <a:r>
              <a:rPr b="1" i="0" lang="en-US" sz="1150" u="none" cap="none" strike="noStrike">
                <a:solidFill>
                  <a:srgbClr val="1F3864"/>
                </a:solidFill>
                <a:latin typeface="Meiryo"/>
                <a:ea typeface="Meiryo"/>
                <a:cs typeface="Meiryo"/>
                <a:sym typeface="Meiryo"/>
              </a:rPr>
              <a:t>No.58/64　</a:t>
            </a:r>
            <a:r>
              <a:rPr b="0" i="0" lang="en-US" sz="1150" u="none" cap="none" strike="noStrike">
                <a:solidFill>
                  <a:srgbClr val="3A3F47"/>
                </a:solidFill>
                <a:latin typeface="Meiryo"/>
                <a:ea typeface="Meiryo"/>
                <a:cs typeface="Meiryo"/>
                <a:sym typeface="Meiryo"/>
              </a:rPr>
              <a:t>連携方式は方針化（GCS経由で西友へ転送）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6537960" y="2807208"/>
            <a:ext cx="109728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6784848" y="2697480"/>
            <a:ext cx="4709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150"/>
              <a:buFont typeface="Meiryo"/>
              <a:buNone/>
            </a:pPr>
            <a:r>
              <a:rPr b="1" i="0" lang="en-US" sz="1150" u="none" cap="none" strike="noStrike">
                <a:solidFill>
                  <a:srgbClr val="1F3864"/>
                </a:solidFill>
                <a:latin typeface="Meiryo"/>
                <a:ea typeface="Meiryo"/>
                <a:cs typeface="Meiryo"/>
                <a:sym typeface="Meiryo"/>
              </a:rPr>
              <a:t>No.168(8/2)　</a:t>
            </a:r>
            <a:r>
              <a:rPr b="0" i="0" lang="en-US" sz="1150" u="none" cap="none" strike="noStrike">
                <a:solidFill>
                  <a:srgbClr val="3A3F47"/>
                </a:solidFill>
                <a:latin typeface="Meiryo"/>
                <a:ea typeface="Meiryo"/>
                <a:cs typeface="Meiryo"/>
                <a:sym typeface="Meiryo"/>
              </a:rPr>
              <a:t>TCは発注スケジュール生成時に仕入先マスタの休日指定日を使用と確認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6537960" y="3529584"/>
            <a:ext cx="109728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0"/>
          <p:cNvSpPr/>
          <p:nvPr/>
        </p:nvSpPr>
        <p:spPr>
          <a:xfrm>
            <a:off x="6784848" y="3419856"/>
            <a:ext cx="4709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150"/>
              <a:buFont typeface="Meiryo"/>
              <a:buNone/>
            </a:pPr>
            <a:r>
              <a:rPr b="1" i="0" lang="en-US" sz="1150" u="none" cap="none" strike="noStrike">
                <a:solidFill>
                  <a:srgbClr val="1F3864"/>
                </a:solidFill>
                <a:latin typeface="Meiryo"/>
                <a:ea typeface="Meiryo"/>
                <a:cs typeface="Meiryo"/>
                <a:sym typeface="Meiryo"/>
              </a:rPr>
              <a:t>No.89　</a:t>
            </a:r>
            <a:r>
              <a:rPr b="0" i="0" lang="en-US" sz="1150" u="none" cap="none" strike="noStrike">
                <a:solidFill>
                  <a:srgbClr val="3A3F47"/>
                </a:solidFill>
                <a:latin typeface="Meiryo"/>
                <a:ea typeface="Meiryo"/>
                <a:cs typeface="Meiryo"/>
                <a:sym typeface="Meiryo"/>
              </a:rPr>
              <a:t>Sinops(W)は納品予定日算出で仕入先休日を使用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6245352" y="4434840"/>
            <a:ext cx="5394960" cy="1737360"/>
          </a:xfrm>
          <a:prstGeom prst="roundRect">
            <a:avLst>
              <a:gd fmla="val 3158" name="adj"/>
            </a:avLst>
          </a:prstGeom>
          <a:solidFill>
            <a:srgbClr val="1F38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6519672" y="4590288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BD6"/>
              </a:buClr>
              <a:buSzPts val="1300"/>
              <a:buFont typeface="Meiryo"/>
              <a:buNone/>
            </a:pPr>
            <a:r>
              <a:rPr b="1" i="0" lang="en-US" sz="1300" u="none" cap="none" strike="noStrike">
                <a:solidFill>
                  <a:srgbClr val="AEBBD6"/>
                </a:solidFill>
                <a:latin typeface="Meiryo"/>
                <a:ea typeface="Meiryo"/>
                <a:cs typeface="Meiryo"/>
                <a:sym typeface="Meiryo"/>
              </a:rPr>
              <a:t>推奨アクション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6519672" y="4956048"/>
            <a:ext cx="48920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Meiryo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発注スケジュール連携方式（B6）と一体で要否を切り分け。R6＝スケジュールに休日織込なら不要の可能性／W＝Sinops発注勧告が休日を使用のため必要。連携範囲とsource of truthを確定します。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28C"/>
              </a:buClr>
              <a:buSzPts val="1050"/>
              <a:buFont typeface="Meiryo"/>
              <a:buNone/>
            </a:pPr>
            <a:r>
              <a:rPr b="0" i="0" lang="en-US" sz="1050" u="none" cap="none" strike="noStrike">
                <a:solidFill>
                  <a:srgbClr val="7A828C"/>
                </a:solidFill>
                <a:latin typeface="Meiryo"/>
                <a:ea typeface="Meiryo"/>
                <a:cs typeface="Meiryo"/>
                <a:sym typeface="Meiryo"/>
              </a:rPr>
              <a:t>07  論点②  仕入先休日マスタ（B8）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7955280" y="6455664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28C"/>
              </a:buClr>
              <a:buSzPts val="850"/>
              <a:buFont typeface="Meiryo"/>
              <a:buNone/>
            </a:pPr>
            <a:r>
              <a:rPr b="0" i="0" lang="en-US" sz="850" u="none" cap="none" strike="noStrike">
                <a:solidFill>
                  <a:srgbClr val="7A828C"/>
                </a:solidFill>
                <a:latin typeface="Meiryo"/>
                <a:ea typeface="Meiryo"/>
                <a:cs typeface="Meiryo"/>
                <a:sym typeface="Meiryo"/>
              </a:rPr>
              <a:t>Project West / 自動補充システム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11338560" y="6419088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Meiryo"/>
              <a:buNone/>
            </a:pPr>
            <a:r>
              <a:rPr b="1" i="0" lang="en-US" sz="1000" u="none" cap="none" strike="noStrike">
                <a:solidFill>
                  <a:srgbClr val="1F3864"/>
                </a:solidFill>
                <a:latin typeface="Meiryo"/>
                <a:ea typeface="Meiryo"/>
                <a:cs typeface="Meiryo"/>
                <a:sym typeface="Meiryo"/>
              </a:rPr>
              <a:t>07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700"/>
              <a:buFont typeface="Meiryo"/>
              <a:buNone/>
            </a:pPr>
            <a:r>
              <a:rPr b="1" i="0" lang="en-US" sz="270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論点③　カテゴリマスタの階層・桁マッピング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9646920" y="566928"/>
            <a:ext cx="1993392" cy="457200"/>
          </a:xfrm>
          <a:prstGeom prst="roundRect">
            <a:avLst>
              <a:gd fmla="val 50000" name="adj"/>
            </a:avLst>
          </a:prstGeom>
          <a:solidFill>
            <a:srgbClr val="C589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1"/>
          <p:cNvSpPr/>
          <p:nvPr/>
        </p:nvSpPr>
        <p:spPr>
          <a:xfrm>
            <a:off x="9646920" y="566928"/>
            <a:ext cx="19933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eiryo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🟡 要フォロー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548640" y="1417320"/>
            <a:ext cx="5532120" cy="4754880"/>
          </a:xfrm>
          <a:prstGeom prst="roundRect">
            <a:avLst>
              <a:gd fmla="val 1154" name="adj"/>
            </a:avLst>
          </a:prstGeom>
          <a:solidFill>
            <a:srgbClr val="F5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1"/>
          <p:cNvSpPr/>
          <p:nvPr/>
        </p:nvSpPr>
        <p:spPr>
          <a:xfrm>
            <a:off x="822960" y="1600200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300"/>
              <a:buFont typeface="Meiryo"/>
              <a:buNone/>
            </a:pPr>
            <a:r>
              <a:rPr b="1" i="0" lang="en-US" sz="1300" u="none" cap="none" strike="noStrike">
                <a:solidFill>
                  <a:srgbClr val="1F3864"/>
                </a:solidFill>
                <a:latin typeface="Meiryo"/>
                <a:ea typeface="Meiryo"/>
                <a:cs typeface="Meiryo"/>
                <a:sym typeface="Meiryo"/>
              </a:rPr>
              <a:t>判明済　4階層マッピング（No.35）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822960" y="2148840"/>
            <a:ext cx="2514600" cy="64008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E4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1"/>
          <p:cNvSpPr/>
          <p:nvPr/>
        </p:nvSpPr>
        <p:spPr>
          <a:xfrm>
            <a:off x="896112" y="214884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Meiryo"/>
              <a:buNone/>
            </a:pPr>
            <a:r>
              <a:rPr b="0" i="0" lang="en-US" sz="105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西友 大分類（デパ）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3364992" y="2148840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8917"/>
              </a:buClr>
              <a:buSzPts val="1600"/>
              <a:buFont typeface="Meiryo"/>
              <a:buNone/>
            </a:pPr>
            <a:r>
              <a:rPr b="1" i="0" lang="en-US" sz="1600" u="none" cap="none" strike="noStrike">
                <a:solidFill>
                  <a:srgbClr val="C58917"/>
                </a:solidFill>
                <a:latin typeface="Meiryo"/>
                <a:ea typeface="Meiryo"/>
                <a:cs typeface="Meiryo"/>
                <a:sym typeface="Meiryo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3840480" y="2148840"/>
            <a:ext cx="1965960" cy="640080"/>
          </a:xfrm>
          <a:prstGeom prst="roundRect">
            <a:avLst>
              <a:gd fmla="val 5714" name="adj"/>
            </a:avLst>
          </a:prstGeom>
          <a:solidFill>
            <a:srgbClr val="1F38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1"/>
          <p:cNvSpPr/>
          <p:nvPr/>
        </p:nvSpPr>
        <p:spPr>
          <a:xfrm>
            <a:off x="3913632" y="214884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eiryo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2　ディビジョン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822960" y="2971800"/>
            <a:ext cx="2514600" cy="64008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E4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1"/>
          <p:cNvSpPr/>
          <p:nvPr/>
        </p:nvSpPr>
        <p:spPr>
          <a:xfrm>
            <a:off x="896112" y="297180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Meiryo"/>
              <a:buNone/>
            </a:pPr>
            <a:r>
              <a:rPr b="0" i="0" lang="en-US" sz="105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西友 中分類（西友ライン）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3364992" y="2971800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8917"/>
              </a:buClr>
              <a:buSzPts val="1600"/>
              <a:buFont typeface="Meiryo"/>
              <a:buNone/>
            </a:pPr>
            <a:r>
              <a:rPr b="1" i="0" lang="en-US" sz="1600" u="none" cap="none" strike="noStrike">
                <a:solidFill>
                  <a:srgbClr val="C58917"/>
                </a:solidFill>
                <a:latin typeface="Meiryo"/>
                <a:ea typeface="Meiryo"/>
                <a:cs typeface="Meiryo"/>
                <a:sym typeface="Meiryo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3840480" y="2971800"/>
            <a:ext cx="1965960" cy="640080"/>
          </a:xfrm>
          <a:prstGeom prst="roundRect">
            <a:avLst>
              <a:gd fmla="val 5714" name="adj"/>
            </a:avLst>
          </a:prstGeom>
          <a:solidFill>
            <a:srgbClr val="1F38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1"/>
          <p:cNvSpPr/>
          <p:nvPr/>
        </p:nvSpPr>
        <p:spPr>
          <a:xfrm>
            <a:off x="3913632" y="297180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eiryo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4　部門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822960" y="3794760"/>
            <a:ext cx="2514600" cy="64008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E4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1"/>
          <p:cNvSpPr/>
          <p:nvPr/>
        </p:nvSpPr>
        <p:spPr>
          <a:xfrm>
            <a:off x="896112" y="379476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Meiryo"/>
              <a:buNone/>
            </a:pPr>
            <a:r>
              <a:rPr b="0" i="0" lang="en-US" sz="105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西友 小分類（ファインライン）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3364992" y="3794760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8917"/>
              </a:buClr>
              <a:buSzPts val="1600"/>
              <a:buFont typeface="Meiryo"/>
              <a:buNone/>
            </a:pPr>
            <a:r>
              <a:rPr b="1" i="0" lang="en-US" sz="1600" u="none" cap="none" strike="noStrike">
                <a:solidFill>
                  <a:srgbClr val="C58917"/>
                </a:solidFill>
                <a:latin typeface="Meiryo"/>
                <a:ea typeface="Meiryo"/>
                <a:cs typeface="Meiryo"/>
                <a:sym typeface="Meiryo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3840480" y="3794760"/>
            <a:ext cx="1965960" cy="640080"/>
          </a:xfrm>
          <a:prstGeom prst="roundRect">
            <a:avLst>
              <a:gd fmla="val 5714" name="adj"/>
            </a:avLst>
          </a:prstGeom>
          <a:solidFill>
            <a:srgbClr val="1F38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1"/>
          <p:cNvSpPr/>
          <p:nvPr/>
        </p:nvSpPr>
        <p:spPr>
          <a:xfrm>
            <a:off x="3913632" y="37947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eiryo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5　カテゴリ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822960" y="4617720"/>
            <a:ext cx="2514600" cy="64008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E4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1"/>
          <p:cNvSpPr/>
          <p:nvPr/>
        </p:nvSpPr>
        <p:spPr>
          <a:xfrm>
            <a:off x="896112" y="461772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Meiryo"/>
              <a:buNone/>
            </a:pPr>
            <a:r>
              <a:rPr b="0" i="0" lang="en-US" sz="105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西友 単品 JAN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3364992" y="4617720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8917"/>
              </a:buClr>
              <a:buSzPts val="1600"/>
              <a:buFont typeface="Meiryo"/>
              <a:buNone/>
            </a:pPr>
            <a:r>
              <a:rPr b="1" i="0" lang="en-US" sz="1600" u="none" cap="none" strike="noStrike">
                <a:solidFill>
                  <a:srgbClr val="C58917"/>
                </a:solidFill>
                <a:latin typeface="Meiryo"/>
                <a:ea typeface="Meiryo"/>
                <a:cs typeface="Meiryo"/>
                <a:sym typeface="Meiryo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3840480" y="4617720"/>
            <a:ext cx="1965960" cy="640080"/>
          </a:xfrm>
          <a:prstGeom prst="roundRect">
            <a:avLst>
              <a:gd fmla="val 5714" name="adj"/>
            </a:avLst>
          </a:prstGeom>
          <a:solidFill>
            <a:srgbClr val="1F38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1"/>
          <p:cNvSpPr/>
          <p:nvPr/>
        </p:nvSpPr>
        <p:spPr>
          <a:xfrm>
            <a:off x="3913632" y="461772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eiryo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JAN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822960" y="5458968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28C"/>
              </a:buClr>
              <a:buSzPts val="1050"/>
              <a:buFont typeface="Meiryo"/>
              <a:buNone/>
            </a:pPr>
            <a:r>
              <a:rPr b="0" i="0" lang="en-US" sz="1050" u="none" cap="none" strike="noStrike">
                <a:solidFill>
                  <a:srgbClr val="7A828C"/>
                </a:solidFill>
                <a:latin typeface="Meiryo"/>
                <a:ea typeface="Meiryo"/>
                <a:cs typeface="Meiryo"/>
                <a:sym typeface="Meiryo"/>
              </a:rPr>
              <a:t>トライアル階層　⇔　西友階層　の対応関係は確定済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6245352" y="1417320"/>
            <a:ext cx="5394960" cy="2880360"/>
          </a:xfrm>
          <a:prstGeom prst="roundRect">
            <a:avLst>
              <a:gd fmla="val 1905" name="adj"/>
            </a:avLst>
          </a:prstGeom>
          <a:solidFill>
            <a:srgbClr val="FFFFFF"/>
          </a:solidFill>
          <a:ln cap="flat" cmpd="sng" w="19050">
            <a:solidFill>
              <a:srgbClr val="C589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1"/>
          <p:cNvSpPr/>
          <p:nvPr/>
        </p:nvSpPr>
        <p:spPr>
          <a:xfrm>
            <a:off x="6519672" y="1600200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8917"/>
              </a:buClr>
              <a:buSzPts val="1300"/>
              <a:buFont typeface="Meiryo"/>
              <a:buNone/>
            </a:pPr>
            <a:r>
              <a:rPr b="1" i="0" lang="en-US" sz="1300" u="none" cap="none" strike="noStrike">
                <a:solidFill>
                  <a:srgbClr val="C58917"/>
                </a:solidFill>
                <a:latin typeface="Meiryo"/>
                <a:ea typeface="Meiryo"/>
                <a:cs typeface="Meiryo"/>
                <a:sym typeface="Meiryo"/>
              </a:rPr>
              <a:t>論点（未決着）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6537960" y="2084832"/>
            <a:ext cx="256032" cy="256032"/>
          </a:xfrm>
          <a:prstGeom prst="ellipse">
            <a:avLst/>
          </a:prstGeom>
          <a:solidFill>
            <a:srgbClr val="C589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1"/>
          <p:cNvSpPr/>
          <p:nvPr/>
        </p:nvSpPr>
        <p:spPr>
          <a:xfrm>
            <a:off x="6537960" y="206654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eiry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6903720" y="2011680"/>
            <a:ext cx="4572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Meiryo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西友5階層 vs トライアル8階層の階層数差の扱い（マッピング対象外となる階層をどうするか）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6537960" y="3182112"/>
            <a:ext cx="256032" cy="256032"/>
          </a:xfrm>
          <a:prstGeom prst="ellipse">
            <a:avLst/>
          </a:prstGeom>
          <a:solidFill>
            <a:srgbClr val="C589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1"/>
          <p:cNvSpPr/>
          <p:nvPr/>
        </p:nvSpPr>
        <p:spPr>
          <a:xfrm>
            <a:off x="6537960" y="316382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eiry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6903720" y="3108960"/>
            <a:ext cx="4572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Meiryo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各階層コードのフィールド長（桁数）が不一致。桁あふれ／桁不足時の変換・格納ルールが未整理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6245352" y="4434840"/>
            <a:ext cx="5394960" cy="1737360"/>
          </a:xfrm>
          <a:prstGeom prst="roundRect">
            <a:avLst>
              <a:gd fmla="val 3158" name="adj"/>
            </a:avLst>
          </a:prstGeom>
          <a:solidFill>
            <a:srgbClr val="1F38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1"/>
          <p:cNvSpPr/>
          <p:nvPr/>
        </p:nvSpPr>
        <p:spPr>
          <a:xfrm>
            <a:off x="6519672" y="4590288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BD6"/>
              </a:buClr>
              <a:buSzPts val="1300"/>
              <a:buFont typeface="Meiryo"/>
              <a:buNone/>
            </a:pPr>
            <a:r>
              <a:rPr b="1" i="0" lang="en-US" sz="1300" u="none" cap="none" strike="noStrike">
                <a:solidFill>
                  <a:srgbClr val="AEBBD6"/>
                </a:solidFill>
                <a:latin typeface="Meiryo"/>
                <a:ea typeface="Meiryo"/>
                <a:cs typeface="Meiryo"/>
                <a:sym typeface="Meiryo"/>
              </a:rPr>
              <a:t>推奨アクション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6519672" y="4956048"/>
            <a:ext cx="48920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Meiryo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各階層コードの桁数を突合し、桁不一致の変換ルール（ゼロ埋め／切詰／変換テーブル）を定義。階層数差（8→5）でマッピング対象外となる階層の扱いを整理します。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28C"/>
              </a:buClr>
              <a:buSzPts val="1050"/>
              <a:buFont typeface="Meiryo"/>
              <a:buNone/>
            </a:pPr>
            <a:r>
              <a:rPr b="0" i="0" lang="en-US" sz="1050" u="none" cap="none" strike="noStrike">
                <a:solidFill>
                  <a:srgbClr val="7A828C"/>
                </a:solidFill>
                <a:latin typeface="Meiryo"/>
                <a:ea typeface="Meiryo"/>
                <a:cs typeface="Meiryo"/>
                <a:sym typeface="Meiryo"/>
              </a:rPr>
              <a:t>08  論点③  カテゴリマスタ（B11）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7955280" y="6455664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28C"/>
              </a:buClr>
              <a:buSzPts val="850"/>
              <a:buFont typeface="Meiryo"/>
              <a:buNone/>
            </a:pPr>
            <a:r>
              <a:rPr b="0" i="0" lang="en-US" sz="850" u="none" cap="none" strike="noStrike">
                <a:solidFill>
                  <a:srgbClr val="7A828C"/>
                </a:solidFill>
                <a:latin typeface="Meiryo"/>
                <a:ea typeface="Meiryo"/>
                <a:cs typeface="Meiryo"/>
                <a:sym typeface="Meiryo"/>
              </a:rPr>
              <a:t>Project West / 自動補充システム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11338560" y="6419088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Meiryo"/>
              <a:buNone/>
            </a:pPr>
            <a:r>
              <a:rPr b="1" i="0" lang="en-US" sz="1000" u="none" cap="none" strike="noStrike">
                <a:solidFill>
                  <a:srgbClr val="1F3864"/>
                </a:solidFill>
                <a:latin typeface="Meiryo"/>
                <a:ea typeface="Meiryo"/>
                <a:cs typeface="Meiryo"/>
                <a:sym typeface="Meiryo"/>
              </a:rPr>
              <a:t>08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700"/>
              <a:buFont typeface="Meiryo"/>
              <a:buNone/>
            </a:pPr>
            <a:r>
              <a:rPr b="1" i="0" lang="en-US" sz="270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詳細設計着手に向けたアクション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28C"/>
              </a:buClr>
              <a:buSzPts val="1050"/>
              <a:buFont typeface="Meiryo"/>
              <a:buNone/>
            </a:pPr>
            <a:r>
              <a:rPr b="0" i="0" lang="en-US" sz="1050" u="none" cap="none" strike="noStrike">
                <a:solidFill>
                  <a:srgbClr val="7A828C"/>
                </a:solidFill>
                <a:latin typeface="Meiryo"/>
                <a:ea typeface="Meiryo"/>
                <a:cs typeface="Meiryo"/>
                <a:sym typeface="Meiryo"/>
              </a:rPr>
              <a:t>09  NEXT ACTIONS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2"/>
          <p:cNvSpPr/>
          <p:nvPr/>
        </p:nvSpPr>
        <p:spPr>
          <a:xfrm>
            <a:off x="7955280" y="6455664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28C"/>
              </a:buClr>
              <a:buSzPts val="850"/>
              <a:buFont typeface="Meiryo"/>
              <a:buNone/>
            </a:pPr>
            <a:r>
              <a:rPr b="0" i="0" lang="en-US" sz="850" u="none" cap="none" strike="noStrike">
                <a:solidFill>
                  <a:srgbClr val="7A828C"/>
                </a:solidFill>
                <a:latin typeface="Meiryo"/>
                <a:ea typeface="Meiryo"/>
                <a:cs typeface="Meiryo"/>
                <a:sym typeface="Meiryo"/>
              </a:rPr>
              <a:t>Project West / 自動補充システム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11338560" y="6419088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Meiryo"/>
              <a:buNone/>
            </a:pPr>
            <a:r>
              <a:rPr b="1" i="0" lang="en-US" sz="1000" u="none" cap="none" strike="noStrike">
                <a:solidFill>
                  <a:srgbClr val="1F3864"/>
                </a:solidFill>
                <a:latin typeface="Meiryo"/>
                <a:ea typeface="Meiryo"/>
                <a:cs typeface="Meiryo"/>
                <a:sym typeface="Meiryo"/>
              </a:rPr>
              <a:t>09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548640" y="1508760"/>
            <a:ext cx="5486400" cy="2148840"/>
          </a:xfrm>
          <a:prstGeom prst="roundRect">
            <a:avLst>
              <a:gd fmla="val 2553" name="adj"/>
            </a:avLst>
          </a:prstGeom>
          <a:solidFill>
            <a:srgbClr val="F5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2"/>
          <p:cNvSpPr/>
          <p:nvPr/>
        </p:nvSpPr>
        <p:spPr>
          <a:xfrm>
            <a:off x="868680" y="1828800"/>
            <a:ext cx="502920" cy="5029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2"/>
          <p:cNvSpPr/>
          <p:nvPr/>
        </p:nvSpPr>
        <p:spPr>
          <a:xfrm>
            <a:off x="868680" y="18288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Meiryo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1554480" y="1828800"/>
            <a:ext cx="4206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Meiryo"/>
              <a:buNone/>
            </a:pPr>
            <a:r>
              <a:rPr b="1" i="0" lang="en-US" sz="160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集中討議で横断決着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2"/>
          <p:cNvSpPr/>
          <p:nvPr/>
        </p:nvSpPr>
        <p:spPr>
          <a:xfrm>
            <a:off x="914400" y="2560320"/>
            <a:ext cx="4800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Meiryo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Meiryo"/>
                <a:ea typeface="Meiryo"/>
                <a:cs typeface="Meiryo"/>
                <a:sym typeface="Meiryo"/>
              </a:rPr>
              <a:t>便区分・発注区分・受払伝票区分・棚割連携・24時在庫。WMS/棚割領域と共通のため領域横断で一括決着。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6153912" y="1508760"/>
            <a:ext cx="5486400" cy="2148840"/>
          </a:xfrm>
          <a:prstGeom prst="roundRect">
            <a:avLst>
              <a:gd fmla="val 2553" name="adj"/>
            </a:avLst>
          </a:prstGeom>
          <a:solidFill>
            <a:srgbClr val="F5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2"/>
          <p:cNvSpPr/>
          <p:nvPr/>
        </p:nvSpPr>
        <p:spPr>
          <a:xfrm>
            <a:off x="6473952" y="1828800"/>
            <a:ext cx="502920" cy="502920"/>
          </a:xfrm>
          <a:prstGeom prst="ellipse">
            <a:avLst/>
          </a:prstGeom>
          <a:solidFill>
            <a:srgbClr val="9AA0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2"/>
          <p:cNvSpPr/>
          <p:nvPr/>
        </p:nvSpPr>
        <p:spPr>
          <a:xfrm>
            <a:off x="6473952" y="18288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Meiryo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2"/>
          <p:cNvSpPr/>
          <p:nvPr/>
        </p:nvSpPr>
        <p:spPr>
          <a:xfrm>
            <a:off x="7159752" y="1828800"/>
            <a:ext cx="4206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Meiryo"/>
              <a:buNone/>
            </a:pPr>
            <a:r>
              <a:rPr b="1" i="0" lang="en-US" sz="160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統合PJと方針を同期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6519672" y="2560320"/>
            <a:ext cx="4800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Meiryo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Meiryo"/>
                <a:ea typeface="Meiryo"/>
                <a:cs typeface="Meiryo"/>
                <a:sym typeface="Meiryo"/>
              </a:rPr>
              <a:t>仕入先マスタ／商品マスタのCD採番・統合タイミングを商品マスタ統合PJと足並みを揃えて確定。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548640" y="3840480"/>
            <a:ext cx="5486400" cy="2148840"/>
          </a:xfrm>
          <a:prstGeom prst="roundRect">
            <a:avLst>
              <a:gd fmla="val 2553" name="adj"/>
            </a:avLst>
          </a:prstGeom>
          <a:solidFill>
            <a:srgbClr val="F5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2"/>
          <p:cNvSpPr/>
          <p:nvPr/>
        </p:nvSpPr>
        <p:spPr>
          <a:xfrm>
            <a:off x="868680" y="4160520"/>
            <a:ext cx="502920" cy="502920"/>
          </a:xfrm>
          <a:prstGeom prst="ellipse">
            <a:avLst/>
          </a:prstGeom>
          <a:solidFill>
            <a:srgbClr val="C589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2"/>
          <p:cNvSpPr/>
          <p:nvPr/>
        </p:nvSpPr>
        <p:spPr>
          <a:xfrm>
            <a:off x="868680" y="41605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Meiryo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1554480" y="4160520"/>
            <a:ext cx="4206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Meiryo"/>
              <a:buNone/>
            </a:pPr>
            <a:r>
              <a:rPr b="1" i="0" lang="en-US" sz="160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連携方式を一体で確定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2"/>
          <p:cNvSpPr/>
          <p:nvPr/>
        </p:nvSpPr>
        <p:spPr>
          <a:xfrm>
            <a:off x="914400" y="4892040"/>
            <a:ext cx="4800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Meiryo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Meiryo"/>
                <a:ea typeface="Meiryo"/>
                <a:cs typeface="Meiryo"/>
                <a:sym typeface="Meiryo"/>
              </a:rPr>
              <a:t>発注スケジュール（B6）と仕入先休日マスタ（B8）の要否・source of truthをセットで整理。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6153912" y="3840480"/>
            <a:ext cx="5486400" cy="2148840"/>
          </a:xfrm>
          <a:prstGeom prst="roundRect">
            <a:avLst>
              <a:gd fmla="val 2553" name="adj"/>
            </a:avLst>
          </a:prstGeom>
          <a:solidFill>
            <a:srgbClr val="F5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2"/>
          <p:cNvSpPr/>
          <p:nvPr/>
        </p:nvSpPr>
        <p:spPr>
          <a:xfrm>
            <a:off x="6473952" y="4160520"/>
            <a:ext cx="502920" cy="502920"/>
          </a:xfrm>
          <a:prstGeom prst="ellipse">
            <a:avLst/>
          </a:prstGeom>
          <a:solidFill>
            <a:srgbClr val="C589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2"/>
          <p:cNvSpPr/>
          <p:nvPr/>
        </p:nvSpPr>
        <p:spPr>
          <a:xfrm>
            <a:off x="6473952" y="41605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Meiryo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/>
          <p:nvPr/>
        </p:nvSpPr>
        <p:spPr>
          <a:xfrm>
            <a:off x="7159752" y="4160520"/>
            <a:ext cx="4206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Meiryo"/>
              <a:buNone/>
            </a:pPr>
            <a:r>
              <a:rPr b="1" i="0" lang="en-US" sz="1600" u="none" cap="none" strike="noStrike">
                <a:solidFill>
                  <a:srgbClr val="2B2B2B"/>
                </a:solidFill>
                <a:latin typeface="Meiryo"/>
                <a:ea typeface="Meiryo"/>
                <a:cs typeface="Meiryo"/>
                <a:sym typeface="Meiryo"/>
              </a:rPr>
              <a:t>残論点の起票・確定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6519672" y="4892040"/>
            <a:ext cx="4800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Meiryo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Meiryo"/>
                <a:ea typeface="Meiryo"/>
                <a:cs typeface="Meiryo"/>
                <a:sym typeface="Meiryo"/>
              </a:rPr>
              <a:t>カテゴリ桁変換ルール、仕入先/休日の新論点を課題管理表へ起票し、確定作業として並行処理。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3864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3"/>
          <p:cNvSpPr/>
          <p:nvPr/>
        </p:nvSpPr>
        <p:spPr>
          <a:xfrm>
            <a:off x="822960" y="246888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Meiryo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条件付きで詳細設計に着手可能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841248" y="329184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BD6"/>
              </a:buClr>
              <a:buSzPts val="1800"/>
              <a:buFont typeface="Meiryo"/>
              <a:buNone/>
            </a:pPr>
            <a:r>
              <a:rPr b="0" i="0" lang="en-US" sz="1800" u="none" cap="none" strike="noStrike">
                <a:solidFill>
                  <a:srgbClr val="AEBBD6"/>
                </a:solidFill>
                <a:latin typeface="Meiryo"/>
                <a:ea typeface="Meiryo"/>
                <a:cs typeface="Meiryo"/>
                <a:sym typeface="Meiryo"/>
              </a:rPr>
              <a:t>（Conditional GO）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859536" y="4114800"/>
            <a:ext cx="640080" cy="41148"/>
          </a:xfrm>
          <a:prstGeom prst="rect">
            <a:avLst/>
          </a:prstGeom>
          <a:solidFill>
            <a:srgbClr val="6E82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3"/>
          <p:cNvSpPr/>
          <p:nvPr/>
        </p:nvSpPr>
        <p:spPr>
          <a:xfrm>
            <a:off x="859536" y="4343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A"/>
              </a:buClr>
              <a:buSzPts val="1300"/>
              <a:buFont typeface="Meiryo"/>
              <a:buNone/>
            </a:pPr>
            <a:r>
              <a:rPr b="0" i="0" lang="en-US" sz="1300" u="none" cap="none" strike="noStrike">
                <a:solidFill>
                  <a:srgbClr val="CBD5EA"/>
                </a:solidFill>
                <a:latin typeface="Meiryo"/>
                <a:ea typeface="Meiryo"/>
                <a:cs typeface="Meiryo"/>
                <a:sym typeface="Meiryo"/>
              </a:rPr>
              <a:t>ブロッカーは集中討議での横断決着を前提に、方針判明済のテーマは詳細設計に着手します。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91B4"/>
              </a:buClr>
              <a:buSzPts val="1050"/>
              <a:buFont typeface="Meiryo"/>
              <a:buNone/>
            </a:pPr>
            <a:r>
              <a:rPr b="0" i="0" lang="en-US" sz="1050" u="none" cap="none" strike="noStrike">
                <a:solidFill>
                  <a:srgbClr val="8091B4"/>
                </a:solidFill>
                <a:latin typeface="Meiryo"/>
                <a:ea typeface="Meiryo"/>
                <a:cs typeface="Meiryo"/>
                <a:sym typeface="Meiryo"/>
              </a:rPr>
              <a:t>MD基幹統合PJ（Project West）／ 自動補充システム　基準日 2026-08-03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