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84C616-4428-46D9-B365-E2C1E4206B36}">
  <a:tblStyle styleId="{AA84C616-4428-46D9-B365-E2C1E4206B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36576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8400"/>
              <a:buFont typeface="Cambria"/>
              <a:buNone/>
            </a:pPr>
            <a:r>
              <a:rPr b="1" i="0" lang="en-US" sz="8400" u="none" cap="none" strike="noStrike">
                <a:solidFill>
                  <a:srgbClr val="141A47"/>
                </a:solidFill>
                <a:latin typeface="Cambria"/>
                <a:ea typeface="Cambria"/>
                <a:cs typeface="Cambria"/>
                <a:sym typeface="Cambria"/>
              </a:rPr>
              <a:t>2026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651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REPORT  ·  仕入先休日設定 調査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306324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TRIAL 仕入先休日設定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画面 ・ テーブル ・ データ仕様と懸念事項の整理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457200" y="585216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457200" y="5943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報告資料 / For Internal Discussion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本日の内容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554480"/>
            <a:ext cx="11247120" cy="749808"/>
          </a:xfrm>
          <a:prstGeom prst="roundRect">
            <a:avLst>
              <a:gd fmla="val 9756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160020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828800" y="164592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TRIAL側 画面仕様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828800" y="1975104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仕入先休日設定画面の構成要素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2423160"/>
            <a:ext cx="11247120" cy="749808"/>
          </a:xfrm>
          <a:prstGeom prst="roundRect">
            <a:avLst>
              <a:gd fmla="val 9756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640080" y="246888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828800" y="251460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テーブル設計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828800" y="2843784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std_supplierrest のスキーマ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3291840"/>
            <a:ext cx="11247120" cy="749808"/>
          </a:xfrm>
          <a:prstGeom prst="roundRect">
            <a:avLst>
              <a:gd fmla="val 9756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40080" y="333756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828800" y="338328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データ仕様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828800" y="3712464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Excel と DB の項目対応 ・ サンプルデータ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4160520"/>
            <a:ext cx="11247120" cy="749808"/>
          </a:xfrm>
          <a:prstGeom prst="roundRect">
            <a:avLst>
              <a:gd fmla="val 9756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640080" y="420624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828800" y="425196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懸念事項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828800" y="4581144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運用体制と将来展開に関する論点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5029200"/>
            <a:ext cx="11247120" cy="749808"/>
          </a:xfrm>
          <a:prstGeom prst="roundRect">
            <a:avLst>
              <a:gd fmla="val 9756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640080" y="50749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828800" y="512064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SEIYU 連携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828800" y="5449824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SEIYU側仕様と連携課題の詳細分析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  ·  画面仕様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TRIAL 仕入先休日設定 画面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508760"/>
            <a:ext cx="5486400" cy="2194560"/>
          </a:xfrm>
          <a:prstGeom prst="roundRect">
            <a:avLst>
              <a:gd fmla="val 2500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検索条件エリア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2057400"/>
            <a:ext cx="1280160" cy="2926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40080" y="20574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店舗選択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011680" y="20574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対象店舗を選択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40080" y="2441448"/>
            <a:ext cx="1280160" cy="2926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40080" y="244144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商品選択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2011680" y="244144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対象商品を選択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0080" y="2825496"/>
            <a:ext cx="1280160" cy="2926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40080" y="282549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期間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20116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開始日 〜 終了日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3209544"/>
            <a:ext cx="1280160" cy="29260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40080" y="320954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操作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2011680" y="32095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抽出 / 登録 / クリア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217920" y="1508760"/>
            <a:ext cx="5486400" cy="2194560"/>
          </a:xfrm>
          <a:prstGeom prst="roundRect">
            <a:avLst>
              <a:gd fmla="val 2500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6400800" y="16459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明細グリッド 列構成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0" y="20574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操作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772400" y="2057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削除 / 状態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00800" y="23682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店舗軸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7772400" y="23682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店舗CD / 店舗名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00800" y="26791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商品軸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7772400" y="26791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部門CD / 部門名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400800" y="29900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ベンダー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7772400" y="29900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ベンダーCD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400800" y="330098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期間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772400" y="3300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開始日 / 終了日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3931920"/>
            <a:ext cx="11247120" cy="219456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85800" y="40233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画面上のポイント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85800" y="448056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685800" y="4480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123444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「削除」「状態」列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85800" y="502920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画面には存在するが、DBテーブルには対応列がない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389120" y="448056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4389120" y="4480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93776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抽出/登録/クリア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389120" y="502920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1画面上で検索 → 編集 → 一括登録が可能な構造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092440" y="4480560"/>
            <a:ext cx="457200" cy="45720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092440" y="4480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641080" y="44805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多階層のキー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092440" y="5029200"/>
            <a:ext cx="35661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店舗 × 部門 × ベンダー × 期間 の組合せで管理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01  ·  画面仕様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画面キャプチャ ・ 実際の画面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1554480"/>
            <a:ext cx="6720840" cy="4892040"/>
          </a:xfrm>
          <a:prstGeom prst="roundRect">
            <a:avLst>
              <a:gd fmla="val 1121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.png" id="108" name="Google Shape;1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691640"/>
            <a:ext cx="6446520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457200" y="6446520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側「ベンダー休み」画面キャプチャ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452360" y="1554480"/>
            <a:ext cx="4251960" cy="2148840"/>
          </a:xfrm>
          <a:prstGeom prst="roundRect">
            <a:avLst>
              <a:gd fmla="val 2553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7635240" y="16916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画面上部 : 検索条件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635240" y="2148840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7863840" y="210312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「店舗選択」「商品選択」ボタン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7635240" y="2532888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7863840" y="248716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期間 (開始日 〜 終了日) 入力欄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635240" y="2916936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7863840" y="287121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抽出 / 登録 / クリア ボタン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452360" y="3840480"/>
            <a:ext cx="4251960" cy="260604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635240" y="39776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画面下部 : 明細グリッド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635240" y="443484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7863840" y="43891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行番号 1 〜 25 (ページ単位で表示)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635240" y="489204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7863840" y="48463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列: 削除 / 状態 / 店舗軸 / 商品軸 / ベンダー / 期間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7635240" y="534924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863840" y="53035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初期状態は空 → 抽出後に明細が表示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635240" y="580644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7863840" y="576072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編集後に「登録」で一括反映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02  ·  テーブル設計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setmaster.std_supplierrest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1508760"/>
            <a:ext cx="6858000" cy="4663440"/>
          </a:xfrm>
          <a:prstGeom prst="roundRect">
            <a:avLst>
              <a:gd fmla="val 1176" name="adj"/>
            </a:avLst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85800" y="16002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DDL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85800" y="1965960"/>
            <a:ext cx="6400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D3FC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setmaster.std_supplierrest 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branch_cd   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int4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DEFAULT 0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department_cd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int4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DEFAULT 0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supplier_cd 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int4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startdate   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enddate     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ins_usercd  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int4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ins_datetime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upd_usercd  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int4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upd_datetime    </a:t>
            </a:r>
            <a:r>
              <a:rPr b="1" i="0" lang="en-US" sz="1100" u="none" cap="none" strike="noStrike">
                <a:solidFill>
                  <a:srgbClr val="FBBF24"/>
                </a:solidFill>
                <a:latin typeface="Courier New"/>
                <a:ea typeface="Courier New"/>
                <a:cs typeface="Courier New"/>
                <a:sym typeface="Courier New"/>
              </a:rPr>
              <a:t>timestamp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NOT NULL,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100" u="none" cap="none" strike="noStrike">
                <a:solidFill>
                  <a:srgbClr val="7DD3FC"/>
                </a:solidFill>
                <a:latin typeface="Courier New"/>
                <a:ea typeface="Courier New"/>
                <a:cs typeface="Courier New"/>
                <a:sym typeface="Courier New"/>
              </a:rPr>
              <a:t>CONSTRAINT 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pk_std_supplierrest_branch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1100" u="none" cap="none" strike="noStrike">
                <a:solidFill>
                  <a:srgbClr val="F4A261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(branch_cd, department_cd,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supplier_cd, startdate)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589520" y="1508760"/>
            <a:ext cx="4114800" cy="2194560"/>
          </a:xfrm>
          <a:prstGeom prst="roundRect">
            <a:avLst>
              <a:gd fmla="val 2500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7772400" y="16459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主キー (PK)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772400" y="2057400"/>
            <a:ext cx="3749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7772400" y="205740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branch_cd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772400" y="2404872"/>
            <a:ext cx="3749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772400" y="240487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department_cd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772400" y="2752344"/>
            <a:ext cx="3749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772400" y="2752344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supplier_cd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772400" y="3099816"/>
            <a:ext cx="3749040" cy="2926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7772400" y="309981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startdate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589520" y="3886200"/>
            <a:ext cx="41148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772400" y="4023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設計上のポイント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772400" y="448056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8001000" y="44348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期間は startdate / enddate の timestamp 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772400" y="4864608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001000" y="481888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監査列: 登録者/登録時点/更新者/更新時点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772400" y="5248656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8001000" y="520293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同一の店×部門×ベンダーでも 開始日 が違えば別レコード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772400" y="5632704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001000" y="55869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論理削除フラグ・状態フラグは無し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  ·  データ仕様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Excel と DB の対応関係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8"/>
          <p:cNvGraphicFramePr/>
          <p:nvPr/>
        </p:nvGraphicFramePr>
        <p:xfrm>
          <a:off x="45720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{AA84C616-4428-46D9-B365-E2C1E4206B36}</a:tableStyleId>
              </a:tblPr>
              <a:tblGrid>
                <a:gridCol w="1828800"/>
                <a:gridCol w="2377450"/>
                <a:gridCol w="1828800"/>
                <a:gridCol w="1828800"/>
                <a:gridCol w="3383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 列名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 カラム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Excel 型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DB 型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備考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店CD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branch_cd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数値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店舗コード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部門CD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数値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部門コード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ベンダーCD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supplier_cd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数値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仕入先コード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開始日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startdate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YYYYMMDD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timestamp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型変換が必要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終了日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enddate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YYYYMMDD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timestamp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型変換が必要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登録者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ins_usercd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数値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監査列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登録時点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ins_datetime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YYYYMMDDHHMMSS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timestamp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型変換が必要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更新者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upd_usercd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数値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監査列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更新時点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upd_datetime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YYYYMMDDHHMMSS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timestamp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6F5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6F5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型変換が必要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8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fmla="val 7059" name="adj"/>
            </a:avLst>
          </a:prstGeom>
          <a:solidFill>
            <a:srgbClr val="FEF3E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85800" y="5669280"/>
            <a:ext cx="411480" cy="4114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85800" y="5669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234440" y="55778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注意点:  </a:t>
            </a: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Excel の日付は YYYYMMDD / YYYYMMDDHHMMSS の文字列-数値表現、DB は timestamp 型。取込時に必ず型変換処理が必要。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03  ·  データ仕様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サンプルデータ (抜粋)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Excel 仕入先休みデータより 8 件を抽出 (実データは 200+ 件)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9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{AA84C616-4428-46D9-B365-E2C1E4206B36}</a:tableStyleId>
              </a:tblPr>
              <a:tblGrid>
                <a:gridCol w="1097275"/>
                <a:gridCol w="1280150"/>
                <a:gridCol w="1645925"/>
                <a:gridCol w="1828800"/>
                <a:gridCol w="1828800"/>
                <a:gridCol w="1737350"/>
                <a:gridCol w="18288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店CD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部門CD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ベンダーCD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開始日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終了日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登録者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登録時点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9146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10214652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20260401172318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9127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20260510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10214652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20260408180253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519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10122958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20260423152858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319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10122960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20260409154653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1593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10214652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20260401172318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4801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20260511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10245161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20260420183810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10122960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20260416161349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8128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20260505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10245161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20260406183319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9"/>
          <p:cNvSpPr/>
          <p:nvPr/>
        </p:nvSpPr>
        <p:spPr>
          <a:xfrm>
            <a:off x="457200" y="4480560"/>
            <a:ext cx="5486400" cy="1828800"/>
          </a:xfrm>
          <a:prstGeom prst="roundRect">
            <a:avLst>
              <a:gd fmla="val 3000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0080" y="46177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データから読み取れる特徴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5074920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868680" y="502920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登録は GW 期間 (2026/04/24 〜 05/11) に集中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0080" y="5458968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868680" y="541324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期間は数日 〜 2週間程度でレコードごとに異なる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0080" y="5843016"/>
            <a:ext cx="128016" cy="128016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868680" y="5797296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同じ店 × 部門でも複数ベンダーが個別登録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217920" y="4480560"/>
            <a:ext cx="5486400" cy="1828800"/>
          </a:xfrm>
          <a:prstGeom prst="roundRect">
            <a:avLst>
              <a:gd fmla="val 3000" name="adj"/>
            </a:avLst>
          </a:prstGeom>
          <a:solidFill>
            <a:srgbClr val="FEF3E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6400800" y="46177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取込時の変換ポイント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0" y="50749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開始日 / 終了日: 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20260427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b="1" i="0" lang="en-US" sz="1100" u="none" cap="none" strike="noStrike">
                <a:solidFill>
                  <a:srgbClr val="F4A261"/>
                </a:solidFill>
                <a:latin typeface="Courier New"/>
                <a:ea typeface="Courier New"/>
                <a:cs typeface="Courier New"/>
                <a:sym typeface="Courier New"/>
              </a:rPr>
              <a:t>2026-04-27 00:00:00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0" y="5440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登録時点:  </a:t>
            </a:r>
            <a:r>
              <a:rPr b="0" i="0" lang="en-US" sz="11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20260401172318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00800" y="57607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                  →  </a:t>
            </a:r>
            <a:r>
              <a:rPr b="1" i="0" lang="en-US" sz="1100" u="none" cap="none" strike="noStrike">
                <a:solidFill>
                  <a:srgbClr val="F4A261"/>
                </a:solidFill>
                <a:latin typeface="Courier New"/>
                <a:ea typeface="Courier New"/>
                <a:cs typeface="Courier New"/>
                <a:sym typeface="Courier New"/>
              </a:rPr>
              <a:t>2026-04-01 17:23:18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  ·  懸念事項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① 運用体制 ─ SEIYU側 体制の明確化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57200" y="1508760"/>
            <a:ext cx="3657600" cy="4663440"/>
          </a:xfrm>
          <a:prstGeom prst="roundRect">
            <a:avLst>
              <a:gd fmla="val 2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640080" y="1737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ISSUE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40080" y="210312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40080" y="41148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SEIYU 側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運用体制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0"/>
          <p:cNvCxnSpPr/>
          <p:nvPr/>
        </p:nvCxnSpPr>
        <p:spPr>
          <a:xfrm>
            <a:off x="640080" y="576072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10"/>
          <p:cNvSpPr/>
          <p:nvPr/>
        </p:nvSpPr>
        <p:spPr>
          <a:xfrm>
            <a:off x="640080" y="58521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Operations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389120" y="1508760"/>
            <a:ext cx="7315200" cy="2194560"/>
          </a:xfrm>
          <a:prstGeom prst="roundRect">
            <a:avLst>
              <a:gd fmla="val 2500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4572000" y="164592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現状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0" y="2057400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本番データ確認より、現在は TRIAL 運用サポート課 が仕入先休日を登録している。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0" y="278892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SEIYU 側も同システムを使う場合、SEIYU 側の登録運用体制を明確化する必要がある。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389120" y="3886200"/>
            <a:ext cx="352044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4572000" y="4023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想定される影響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72000" y="4480560"/>
            <a:ext cx="128016" cy="128016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800600" y="443484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SEIYU側の登録責任部門が不明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572000" y="4892040"/>
            <a:ext cx="128016" cy="128016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800600" y="484632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TRIAL/SEIYU間の役割分担未定義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572000" y="5303520"/>
            <a:ext cx="128016" cy="128016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800600" y="525780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登録運用の遅延・漏れリスク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183880" y="3886200"/>
            <a:ext cx="352044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8366760" y="40233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要検討事項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366760" y="448056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595360" y="443484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SEIYU側 登録担当部門の特定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366760" y="489204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8595360" y="484632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TRIAL運用サポート課との連携範囲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366760" y="5303520"/>
            <a:ext cx="128016" cy="128016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8595360" y="525780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登録運用フロー・SLAの合意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04  ·  懸念事項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② 将来展開 ─ Retail-CIX切替後の登録運用継続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1508760"/>
            <a:ext cx="3657600" cy="4663440"/>
          </a:xfrm>
          <a:prstGeom prst="roundRect">
            <a:avLst>
              <a:gd fmla="val 2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40080" y="1737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ISSUE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40080" y="210312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0"/>
              <a:buFont typeface="Cambria"/>
              <a:buNone/>
            </a:pPr>
            <a:r>
              <a:rPr b="1" i="0" lang="en-US" sz="1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40080" y="4114800"/>
            <a:ext cx="3291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Retail-CIX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切替後は?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11"/>
          <p:cNvCxnSpPr/>
          <p:nvPr/>
        </p:nvCxnSpPr>
        <p:spPr>
          <a:xfrm>
            <a:off x="640080" y="5760720"/>
            <a:ext cx="1097280" cy="0"/>
          </a:xfrm>
          <a:prstGeom prst="straightConnector1">
            <a:avLst/>
          </a:prstGeom>
          <a:noFill/>
          <a:ln cap="flat" cmpd="sng" w="254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1"/>
          <p:cNvSpPr/>
          <p:nvPr/>
        </p:nvSpPr>
        <p:spPr>
          <a:xfrm>
            <a:off x="640080" y="58521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Migration Risk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389120" y="1508760"/>
            <a:ext cx="7315200" cy="2194560"/>
          </a:xfrm>
          <a:prstGeom prst="roundRect">
            <a:avLst>
              <a:gd fmla="val 2500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4572000" y="164592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情報ソース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572000" y="2057400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Retail-CIX 自動発注への切替予定あり。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572000" y="2514600"/>
            <a:ext cx="6949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→ 切替後、仕入先休日の登録運用が継続されるかどうか要明確化。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389120" y="3886200"/>
            <a:ext cx="7315200" cy="2286000"/>
          </a:xfrm>
          <a:prstGeom prst="roundRect">
            <a:avLst>
              <a:gd fmla="val 2400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4572000" y="402336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想定タイムライン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1"/>
          <p:cNvCxnSpPr/>
          <p:nvPr/>
        </p:nvCxnSpPr>
        <p:spPr>
          <a:xfrm>
            <a:off x="5669280" y="4937760"/>
            <a:ext cx="4754880" cy="0"/>
          </a:xfrm>
          <a:prstGeom prst="straightConnector1">
            <a:avLst/>
          </a:prstGeom>
          <a:noFill/>
          <a:ln cap="flat" cmpd="sng" w="254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1"/>
          <p:cNvSpPr/>
          <p:nvPr/>
        </p:nvSpPr>
        <p:spPr>
          <a:xfrm>
            <a:off x="5806440" y="4800600"/>
            <a:ext cx="274320" cy="274320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5029200" y="4297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現状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937760" y="51663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既存自動発注 + 仕入先休日 登録運用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7909560" y="4800600"/>
            <a:ext cx="274320" cy="27432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7132320" y="4297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切替時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7040880" y="51663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Retail-CIX へ移行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0012680" y="4800600"/>
            <a:ext cx="274320" cy="27432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9235440" y="42976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切替後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9144000" y="516636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登録運用の継続 ? (要明確化)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① SEIYU側 仕入先休日マスタ (IF仕様)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457200" y="1463040"/>
            <a:ext cx="11247120" cy="777240"/>
          </a:xfrm>
          <a:prstGeom prst="roundRect">
            <a:avLst>
              <a:gd fmla="val 7059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685800" y="1554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IF変換仕様書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85800" y="1783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仕入先休日設定  ─  基幹システムのデータベースより、仕入先休日を連携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8229600" y="1783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ourier New"/>
                <a:ea typeface="Courier New"/>
                <a:cs typeface="Courier New"/>
                <a:sym typeface="Courier New"/>
              </a:rPr>
              <a:t>【倉庫コード】sof.txt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 ·  TSV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12"/>
          <p:cNvGraphicFramePr/>
          <p:nvPr/>
        </p:nvGraphicFramePr>
        <p:xfrm>
          <a:off x="45720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{AA84C616-4428-46D9-B365-E2C1E4206B36}</a:tableStyleId>
              </a:tblPr>
              <a:tblGrid>
                <a:gridCol w="457200"/>
                <a:gridCol w="1828800"/>
                <a:gridCol w="2743200"/>
                <a:gridCol w="640075"/>
                <a:gridCol w="548650"/>
                <a:gridCol w="640075"/>
                <a:gridCol w="640075"/>
                <a:gridCol w="37490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W項目名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SEIYU側 項目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型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桁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必須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編集仕様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仕入先コード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仕入先マスタ.仕入先コード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文字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―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休日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仕入先マスタ.指定休日1〜15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整数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yyyymmdd (mmdd → yyyy 付与)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追加更新・削除フラグ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(固定値 1)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整数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―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追加更新=0 / 削除=1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  <p:sp>
        <p:nvSpPr>
          <p:cNvPr id="278" name="Google Shape;278;p12"/>
          <p:cNvSpPr/>
          <p:nvPr/>
        </p:nvSpPr>
        <p:spPr>
          <a:xfrm>
            <a:off x="457200" y="4663440"/>
            <a:ext cx="5486400" cy="1691640"/>
          </a:xfrm>
          <a:prstGeom prst="roundRect">
            <a:avLst>
              <a:gd fmla="val 3243" name="adj"/>
            </a:avLst>
          </a:prstGeom>
          <a:solidFill>
            <a:srgbClr val="FEF3E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40080" y="47548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15スロット構造の意味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40080" y="5166360"/>
            <a:ext cx="109728" cy="10972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822960" y="51206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仕入先ごとに 最大 15 日 分の休日を格納可能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40080" y="5532120"/>
            <a:ext cx="109728" cy="10972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822960" y="548640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期間ではなく 個別日付 を 1 レコード = 1 日 で持つ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640080" y="5897880"/>
            <a:ext cx="109728" cy="10972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822960" y="585216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16 日以上の連続休日は 1 仕入先に登録不可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217920" y="4663440"/>
            <a:ext cx="5486400" cy="1691640"/>
          </a:xfrm>
          <a:prstGeom prst="roundRect">
            <a:avLst>
              <a:gd fmla="val 3243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400800" y="47548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連携時の変換規則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400800" y="5166360"/>
            <a:ext cx="109728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583680" y="512064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mmdd で連携 → yyyy を自動付与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400800" y="5532120"/>
            <a:ext cx="109728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6583680" y="548640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MMDD が当日より過去なら 翌年 をセット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400800" y="5897880"/>
            <a:ext cx="109728" cy="109728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583680" y="585216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倉庫単位で TSV ファイル分割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② SEIYU側 TC / Sinops 設定分担マトリクス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休日/リードタイム設定は カテゴリ × システム で担当が分かれる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4" name="Google Shape;304;p13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{AA84C616-4428-46D9-B365-E2C1E4206B36}</a:tableStyleId>
              </a:tblPr>
              <a:tblGrid>
                <a:gridCol w="1828800"/>
                <a:gridCol w="2468875"/>
                <a:gridCol w="2468875"/>
                <a:gridCol w="2468875"/>
                <a:gridCol w="20116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カテゴリ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通過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定休日 / LT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在庫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定休日 / LT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発注停止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仕入先設定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ドライグロ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/ 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/ 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※アイテム単位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デイリー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/ 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 / 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※アイテム単位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住居衣料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3150" marB="73150" marR="73150" marL="73150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/ 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/ 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×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13"/>
          <p:cNvSpPr/>
          <p:nvPr/>
        </p:nvSpPr>
        <p:spPr>
          <a:xfrm>
            <a:off x="457200" y="42976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カテゴリ別の設定パターン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457200" y="4663440"/>
            <a:ext cx="1554480" cy="365760"/>
          </a:xfrm>
          <a:prstGeom prst="roundRect">
            <a:avLst>
              <a:gd fmla="val 15000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457200" y="466344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ドライグロ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148840" y="46634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全項目○  ─  TC(通過/在庫両方) + Sinops(アイテム単位発注停止) の 3 系統設定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57200" y="5257800"/>
            <a:ext cx="1554480" cy="365760"/>
          </a:xfrm>
          <a:prstGeom prst="roundRect">
            <a:avLst>
              <a:gd fmla="val 15000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457200" y="52578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デイリー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2148840" y="525780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定休日設定なし  ─  LT + Sinops 発注停止のみ  (仕入先マスタの休日は使わない)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57200" y="5852160"/>
            <a:ext cx="1554480" cy="365760"/>
          </a:xfrm>
          <a:prstGeom prst="roundRect">
            <a:avLst>
              <a:gd fmla="val 15000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57200" y="58521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住居衣料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2148840" y="58521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TC のみ  ─  Sinops 発注停止は使わない  (仕入先マスタで完結)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③ TC 仕入先マスタ登録 画面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1204125"/>
            <a:ext cx="11247000" cy="3934800"/>
          </a:xfrm>
          <a:prstGeom prst="roundRect">
            <a:avLst>
              <a:gd fmla="val 1558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cel_img_0.png" id="325" name="Google Shape;3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50" y="1280150"/>
            <a:ext cx="10972800" cy="380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/>
          <p:nvPr/>
        </p:nvSpPr>
        <p:spPr>
          <a:xfrm>
            <a:off x="457200" y="5212080"/>
            <a:ext cx="365760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457200" y="5212080"/>
            <a:ext cx="109728" cy="12344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85800" y="53035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定休日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685800" y="566928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月〜日の 曜日単位 で「営業/休業」を設定。恒常的な休みを表現。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4251960" y="5212080"/>
            <a:ext cx="365760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251960" y="5212080"/>
            <a:ext cx="109728" cy="123444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480560" y="53035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指定定休日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480560" y="566928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日付ベースで 個別の休日 を設定。SEIYU 側では 15 スロットに展開される。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8046720" y="5212080"/>
            <a:ext cx="3657600" cy="123444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8046720" y="5212080"/>
            <a:ext cx="109728" cy="123444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8275320" y="53035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リードタイム 1 〜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8275320" y="566928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発注 → 納品の日数を 曜日 × 5パターン で設定。休日と組み合わせて発注日を制御。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④ Sinops-W 発注停止 / 仕入先設定 画面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Sinops-W ではメニュー「設定 → 発注停止 / 仕入先設定」から アイテム単位 の発注停止を管理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457200" y="1783080"/>
            <a:ext cx="2194560" cy="3703320"/>
          </a:xfrm>
          <a:prstGeom prst="roundRect">
            <a:avLst>
              <a:gd fmla="val 2500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cel_img_1.png" id="349" name="Google Shape;3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965960"/>
            <a:ext cx="1920240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5"/>
          <p:cNvSpPr/>
          <p:nvPr/>
        </p:nvSpPr>
        <p:spPr>
          <a:xfrm>
            <a:off x="457200" y="534924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メニュー階層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2834640" y="1783080"/>
            <a:ext cx="8869680" cy="3703320"/>
          </a:xfrm>
          <a:prstGeom prst="roundRect">
            <a:avLst>
              <a:gd fmla="val 1481" name="adj"/>
            </a:avLst>
          </a:prstGeom>
          <a:solidFill>
            <a:srgbClr val="F3F4F6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xcel_img_2.png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71800" y="1874520"/>
            <a:ext cx="8595360" cy="346557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/>
          <p:nvPr/>
        </p:nvSpPr>
        <p:spPr>
          <a:xfrm>
            <a:off x="2834640" y="5349240"/>
            <a:ext cx="8869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仕入先設定 詳細画面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57200" y="5715000"/>
            <a:ext cx="11247120" cy="685800"/>
          </a:xfrm>
          <a:prstGeom prst="roundRect">
            <a:avLst>
              <a:gd fmla="val 6667" name="adj"/>
            </a:avLst>
          </a:prstGeom>
          <a:solidFill>
            <a:srgbClr val="FEF3E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685800" y="5852160"/>
            <a:ext cx="411480" cy="411480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685800" y="58521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!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1234440" y="576072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ポイント: </a:t>
            </a: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画面上部の「仕入先休日CSV」アップロードにより一括登録可能。TRIAL 側からの CSV 出力ロジックが必要となる。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6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⑤ 連携課題 ─ データ粒度の違い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457200" y="1463040"/>
            <a:ext cx="11247120" cy="457200"/>
          </a:xfrm>
          <a:prstGeom prst="roundRect">
            <a:avLst>
              <a:gd fmla="val 8000" name="adj"/>
            </a:avLst>
          </a:prstGeom>
          <a:solidFill>
            <a:srgbClr val="FEF3E5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731520" y="14630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TRIAL 側と SEIYU 側で休日設定の粒度が異なる</a:t>
            </a: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  ─  連携時に N:1 の集約が発生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57200" y="2103120"/>
            <a:ext cx="5303520" cy="4023360"/>
          </a:xfrm>
          <a:prstGeom prst="roundRect">
            <a:avLst>
              <a:gd fmla="val 1818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/>
          <p:nvPr/>
        </p:nvSpPr>
        <p:spPr>
          <a:xfrm>
            <a:off x="640080" y="22402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TRIAL 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457205" y="2606040"/>
            <a:ext cx="4937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店舗 × 部門 × ベンダー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640080" y="32004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+ 期間 (開始日 / 終了日)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640080" y="3703320"/>
            <a:ext cx="4937760" cy="1828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640080" y="384048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総レコード数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3749040" y="38404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80,026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640080" y="434340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ユニーク店舗数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3749040" y="43434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395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640080" y="484632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ユニーク部門数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3749040" y="48463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640080" y="53492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EFB"/>
                </a:solidFill>
                <a:latin typeface="Calibri"/>
                <a:ea typeface="Calibri"/>
                <a:cs typeface="Calibri"/>
                <a:sym typeface="Calibri"/>
              </a:rPr>
              <a:t>ユニークベンダー数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3749040" y="53492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5852160" y="3794760"/>
            <a:ext cx="548640" cy="5486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5623560" y="3383280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N :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5623560" y="43891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集約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6675120" y="2103120"/>
            <a:ext cx="5029200" cy="4023360"/>
          </a:xfrm>
          <a:prstGeom prst="roundRect">
            <a:avLst>
              <a:gd fmla="val 1818" name="adj"/>
            </a:avLst>
          </a:prstGeom>
          <a:solidFill>
            <a:srgbClr val="E8EEFB"/>
          </a:solidFill>
          <a:ln cap="flat" cmpd="sng" w="12700">
            <a:solidFill>
              <a:srgbClr val="E8EE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6858000" y="2240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SEIYU 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6858000" y="2606040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ベンダー のみ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6858000" y="3200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+ 個別日付 × 15 スロット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6858000" y="3703320"/>
            <a:ext cx="4663440" cy="1828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6"/>
          <p:cNvSpPr/>
          <p:nvPr/>
        </p:nvSpPr>
        <p:spPr>
          <a:xfrm>
            <a:off x="6858000" y="38404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最大でも 143 レコード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6858000" y="42062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→ 559:1 の圧縮率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6858000" y="470916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集約時に決めるべき点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6858000" y="5074920"/>
            <a:ext cx="109728" cy="10972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7040880" y="502920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同一ベンダーで期間が違う場合の統合方式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6858000" y="5440680"/>
            <a:ext cx="109728" cy="109728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7040880" y="539496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TRIAL で設定外の店×部門への波及可否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⑥ 連携課題 ─ データ不整合の実態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57200" y="1417320"/>
            <a:ext cx="3657600" cy="16459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640080" y="15087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80,026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640080" y="2240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総レコード数 (TRIAL)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64008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 SEIYU では 143 に圧縮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4251960" y="1417320"/>
            <a:ext cx="3657600" cy="16459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4434840" y="15087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E76F51"/>
                </a:solidFill>
                <a:latin typeface="Cambria"/>
                <a:ea typeface="Cambria"/>
                <a:cs typeface="Cambria"/>
                <a:sym typeface="Cambria"/>
              </a:rPr>
              <a:t>19 / 143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4434840" y="2240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期間が複数存在するベンダー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443484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13.3% で衝突が発生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8046720" y="1417320"/>
            <a:ext cx="3657600" cy="164592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8229600" y="1508760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4A261"/>
                </a:solidFill>
                <a:latin typeface="Cambria"/>
                <a:ea typeface="Cambria"/>
                <a:cs typeface="Cambria"/>
                <a:sym typeface="Cambria"/>
              </a:rPr>
              <a:t>72.5%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8229600" y="224028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平均カバレッジ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82296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設定外の店×部門が 27.5% 存在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457200" y="32918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期間衝突ベンダー例  ─  同一ベンダーでも (店×部門) により期間が異なる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9" name="Google Shape;419;p17"/>
          <p:cNvGraphicFramePr/>
          <p:nvPr/>
        </p:nvGraphicFramePr>
        <p:xfrm>
          <a:off x="457200" y="36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{AA84C616-4428-46D9-B365-E2C1E4206B36}</a:tableStyleId>
              </a:tblPr>
              <a:tblGrid>
                <a:gridCol w="1280150"/>
                <a:gridCol w="1188725"/>
                <a:gridCol w="3200400"/>
                <a:gridCol w="11887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ベンダーCD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パターン数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期間例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レコード数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1244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5/1〜5/6 / 5/2〜5/6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6,533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3645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4/27〜5/6 〜 5/1〜5/6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981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2296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4/21〜5/6 / 4/27〜5/6 / 4/28〜5/6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1,016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8128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5/2〜5/5 〜 5/3〜5/6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742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5/1〜5/6 〜 5/3〜5/7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00"/>
                        <a:buFont typeface="Courier New"/>
                        <a:buNone/>
                      </a:pPr>
                      <a:r>
                        <a:rPr lang="en-US" sz="1100" u="none" cap="none" strike="noStrike">
                          <a:solidFill>
                            <a:srgbClr val="1F2937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387</a:t>
                      </a:r>
                      <a:endParaRPr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54875" marB="54875" marR="54875" marL="54875" anchor="ctr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  <p:sp>
        <p:nvSpPr>
          <p:cNvPr id="420" name="Google Shape;420;p17"/>
          <p:cNvSpPr/>
          <p:nvPr/>
        </p:nvSpPr>
        <p:spPr>
          <a:xfrm>
            <a:off x="7589520" y="3611880"/>
            <a:ext cx="4114800" cy="2514600"/>
          </a:xfrm>
          <a:prstGeom prst="roundRect">
            <a:avLst>
              <a:gd fmla="val 2182" name="adj"/>
            </a:avLst>
          </a:prstGeom>
          <a:solidFill>
            <a:srgbClr val="FEE7E4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7772400" y="3703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想定される連携リスク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7772400" y="4160520"/>
            <a:ext cx="128016" cy="128016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8001000" y="411480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過剰停止: </a:t>
            </a: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設定外の店×部門にも休みが波及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7772400" y="4800600"/>
            <a:ext cx="128016" cy="128016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8001000" y="475488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期間の欠落/超過: </a:t>
            </a: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統合方式次第で発注可否が変わる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7772400" y="5440680"/>
            <a:ext cx="128016" cy="128016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8001000" y="5394960"/>
            <a:ext cx="3611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運用逆流の困難: </a:t>
            </a: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SEIYU→TRIAL の逆展開は情報不足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05  ·  SEIYU 連携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⑦ 連携課題 ─ 追加論点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SEIYU側仕様が判明したことで顕在化した 4 つの追加課題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457200" y="1783080"/>
            <a:ext cx="5623560" cy="210312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457200" y="1783080"/>
            <a:ext cx="502920" cy="2103120"/>
          </a:xfrm>
          <a:prstGeom prst="roundRect">
            <a:avLst>
              <a:gd fmla="val 10909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/>
          <p:nvPr/>
        </p:nvSpPr>
        <p:spPr>
          <a:xfrm>
            <a:off x="457200" y="18288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1143000" y="18928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期間 → 個別日付展開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1143000" y="228600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TRIALの (開始日〜終了日) を、SEIYUの指定休日1〜15 に展開する必要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1143000" y="29260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例: </a:t>
            </a: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20260427〜20260506 → 10 日分の個別日付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1143000" y="33832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影響: </a:t>
            </a:r>
            <a:r>
              <a:rPr b="0" i="1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80,026 件の期間レコード → 数十万件の日付レコードに膨張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6080760" y="1783080"/>
            <a:ext cx="5623560" cy="210312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6080760" y="1783080"/>
            <a:ext cx="502920" cy="2103120"/>
          </a:xfrm>
          <a:prstGeom prst="roundRect">
            <a:avLst>
              <a:gd fmla="val 10909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6080760" y="182880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6766560" y="18928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15スロット上限問題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6766560" y="2286000"/>
            <a:ext cx="4846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 仕入先あたり 最大 15 日 の休日しか格納できない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6766560" y="29260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例: </a:t>
            </a:r>
            <a:r>
              <a:rPr b="0" i="0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TRIAL データで期間 16 日以上: 2,138 件 (2.7%)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6766560" y="3383280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影響: </a:t>
            </a:r>
            <a:r>
              <a:rPr b="0" i="1" lang="en-US" sz="10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ベンダー単位で 15 日超過: 5 / 143 件 (最大 21 日)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16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9"/>
          <p:cNvSpPr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まとめ ・ 論点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457200" y="1508760"/>
            <a:ext cx="3749040" cy="466344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9"/>
          <p:cNvSpPr/>
          <p:nvPr/>
        </p:nvSpPr>
        <p:spPr>
          <a:xfrm>
            <a:off x="457200" y="1508760"/>
            <a:ext cx="3749040" cy="1188720"/>
          </a:xfrm>
          <a:prstGeom prst="roundRect">
            <a:avLst>
              <a:gd fmla="val 6154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"/>
          <p:cNvSpPr/>
          <p:nvPr/>
        </p:nvSpPr>
        <p:spPr>
          <a:xfrm>
            <a:off x="457200" y="2331720"/>
            <a:ext cx="3749040" cy="36576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9"/>
          <p:cNvSpPr/>
          <p:nvPr/>
        </p:nvSpPr>
        <p:spPr>
          <a:xfrm>
            <a:off x="731520" y="16002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/>
          <p:nvPr/>
        </p:nvSpPr>
        <p:spPr>
          <a:xfrm>
            <a:off x="731520" y="1965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仕様は確認済み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731520" y="2971800"/>
            <a:ext cx="164592" cy="16459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1005840" y="29260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TRIAL: 店×部門×ベンダー×期間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731520" y="3886200"/>
            <a:ext cx="164592" cy="16459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1005840" y="38404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SEIYU: ベンダー × 指定休日1〜15 (個別日付)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731520" y="4800600"/>
            <a:ext cx="164592" cy="164592"/>
          </a:xfrm>
          <a:prstGeom prst="ellipse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1005840" y="47548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TC / Sinops / カテゴリ別 の設定分担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4206240" y="1508760"/>
            <a:ext cx="3749040" cy="466344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4206240" y="1508760"/>
            <a:ext cx="3749040" cy="1188720"/>
          </a:xfrm>
          <a:prstGeom prst="roundRect">
            <a:avLst>
              <a:gd fmla="val 6154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4206240" y="2331720"/>
            <a:ext cx="3749040" cy="36576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4480560" y="16002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480560" y="1965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主要な連携課題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4480560" y="2971800"/>
            <a:ext cx="164592" cy="164592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"/>
          <p:cNvSpPr/>
          <p:nvPr/>
        </p:nvSpPr>
        <p:spPr>
          <a:xfrm>
            <a:off x="4754880" y="29260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粒度差異: 559:1 圧縮 / 13.3% 期間衝突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4480560" y="3886200"/>
            <a:ext cx="164592" cy="164592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4754880" y="38404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期間→個別日付展開 (15スロット上限)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4480560" y="4800600"/>
            <a:ext cx="164592" cy="164592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9"/>
          <p:cNvSpPr/>
          <p:nvPr/>
        </p:nvSpPr>
        <p:spPr>
          <a:xfrm>
            <a:off x="4754880" y="47548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通過/在庫・カテゴリ別振分 / Sinops連動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7955280" y="1508760"/>
            <a:ext cx="3749040" cy="4663440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7955280" y="1508760"/>
            <a:ext cx="3749040" cy="1188720"/>
          </a:xfrm>
          <a:prstGeom prst="roundRect">
            <a:avLst>
              <a:gd fmla="val 6154" name="adj"/>
            </a:avLst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7955280" y="2331720"/>
            <a:ext cx="3749040" cy="3657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"/>
          <p:cNvSpPr/>
          <p:nvPr/>
        </p:nvSpPr>
        <p:spPr>
          <a:xfrm>
            <a:off x="8229600" y="16002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8229600" y="196596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次のアクション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8229600" y="2971800"/>
            <a:ext cx="164592" cy="16459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8503920" y="29260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集約 &amp; 期間展開ルールの策定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8229600" y="3886200"/>
            <a:ext cx="164592" cy="16459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8503920" y="38404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SEIYU側 登録運用体制の明確化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8229600" y="4800600"/>
            <a:ext cx="164592" cy="164592"/>
          </a:xfrm>
          <a:prstGeom prst="ellipse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8503920" y="475488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Retail-CIX 切替後の登録継続確認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TRIAL 仕入先休日設定 調査報告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17 / 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