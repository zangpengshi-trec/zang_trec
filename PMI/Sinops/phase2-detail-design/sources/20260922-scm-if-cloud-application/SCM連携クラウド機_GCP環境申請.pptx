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62" r:id="rId3"/>
    <p:sldId id="261" r:id="rId4"/>
    <p:sldId id="256" r:id="rId5"/>
    <p:sldId id="257" r:id="rId7"/>
    <p:sldId id="258" r:id="rId8"/>
    <p:sldId id="259" r:id="rId9"/>
    <p:sldId id="260" r:id="rId10"/>
  </p:sldIdLst>
  <p:sldSz cx="12192000" cy="6858000"/>
  <p:notesSz cx="6858000" cy="12192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0000"/>
            <a:ext cx="9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Arial" panose="020B0604020202090204"/>
                <a:ea typeface="Yu Gothic"/>
              </a:rPr>
              <a:t>背景・なぜ新しいクラウド機を申請するか</a:t>
            </a:r>
            <a:endParaRPr sz="22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580000"/>
            <a:ext cx="996696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 panose="020B0604020202090204"/>
                <a:ea typeface="Yu Gothic"/>
              </a:rPr>
              <a:t>西友 MD 基幹統合／自動補充 Sinops 第2段階　—　TRIAL 側 Layer① の実行基盤が必要</a:t>
            </a:r>
            <a:endParaRPr sz="12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73968" y="220000"/>
            <a:ext cx="700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Arial" panose="020B0604020202090204"/>
                <a:ea typeface="Yu Gothic"/>
              </a:rPr>
              <a:t>1 / 7</a:t>
            </a:r>
            <a:endParaRPr sz="12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00000"/>
            <a:ext cx="112014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000"/>
            <a:ext cx="7000000" cy="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 panose="020B0604020202090204"/>
                <a:ea typeface="Yu Gothic"/>
              </a:rPr>
              <a:t>リージョン：東京 asia-northeast1　・　dev / stg / prod</a:t>
            </a:r>
            <a:endParaRPr sz="11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18120" y="980000"/>
            <a:ext cx="146304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2" y="940000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今回申請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69680" y="980000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9992" y="940000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常時稼働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921240" y="980000"/>
            <a:ext cx="146304" cy="146304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31552" y="940000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既存・外部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1220000"/>
            <a:ext cx="5400000" cy="2100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000" y="1300000"/>
            <a:ext cx="52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65911"/>
                </a:solidFill>
                <a:latin typeface="Arial" panose="020B0604020202090204"/>
                <a:ea typeface="Yu Gothic"/>
              </a:rPr>
              <a:t>いま起きていること（背景）</a:t>
            </a:r>
            <a:endParaRPr sz="1300" b="1">
              <a:solidFill>
                <a:srgbClr val="C65911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・西友×TRIAL の MD 基幹統合・自動補充（Sinops）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・集計系データ（大阪）を西友側へ日次で渡す必要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・会社間の正本連携経路は seiyu-trial-data-exchange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・型変換・共通化は TRIAL 側で吸収する方針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・課題ごとに PJ を割ると SCM 連携面が割れる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00000" y="1220000"/>
            <a:ext cx="5400000" cy="210000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000" y="1300000"/>
            <a:ext cx="52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75B5"/>
                </a:solidFill>
                <a:latin typeface="Arial" panose="020B0604020202090204"/>
                <a:ea typeface="Yu Gothic"/>
              </a:rPr>
              <a:t>だから必要なもの（目的）</a:t>
            </a:r>
            <a:endParaRPr sz="1300" b="1">
              <a:solidFill>
                <a:srgbClr val="2F75B5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・TRIAL GCP 上の SCM 連携機を 1 台に集約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・Layer①：取得・変換・配置（バッチ）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・付帯GCS（元データ）＋ Cloud Run（処理）を一体申請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・最終 TXT のみ seiyu-trial-data-exchange へ一方向納品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・既存の惣菜／MD-Link／Inunaki と並列の位置づけ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3500000"/>
            <a:ext cx="5400000" cy="2100000"/>
          </a:xfrm>
          <a:prstGeom prst="roundRect">
            <a:avLst>
              <a:gd name="adj" fmla="val 8000"/>
            </a:avLst>
          </a:prstGeom>
          <a:solidFill>
            <a:srgbClr val="E4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000" y="3580000"/>
            <a:ext cx="52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Arial" panose="020B0604020202090204"/>
                <a:ea typeface="Yu Gothic"/>
              </a:rPr>
              <a:t>役割分担（なぜ「新機」か）</a:t>
            </a:r>
            <a:endParaRPr sz="1300" b="1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1">
                <a:solidFill>
                  <a:srgbClr val="0F766E"/>
                </a:solidFill>
                <a:latin typeface="Arial" panose="020B0604020202090204"/>
                <a:ea typeface="Yu Gothic"/>
              </a:rPr>
              <a:t>・Layer①＝今回申請のクラウド機（TRIAL GCP）</a:t>
            </a:r>
            <a:endParaRPr sz="1200" b="1">
              <a:solidFill>
                <a:srgbClr val="0F766E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・Layer②③＝西友 Azure DataSpider（別 Spec）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・DSS は全フィールドを通過。変換は Layer①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・本機ディスクなし。永続は GCS のみ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・見積（Sinops 403 人日）の実行前提となる基盤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00000" y="3500000"/>
            <a:ext cx="5400000" cy="2100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000" y="3580000"/>
            <a:ext cx="52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rial" panose="020B0604020202090204"/>
                <a:ea typeface="Yu Gothic"/>
              </a:rPr>
              <a:t>今回申請する／しない</a:t>
            </a:r>
            <a:endParaRPr sz="1300" b="1">
              <a:solidFill>
                <a:srgbClr val="0F766E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1">
                <a:solidFill>
                  <a:srgbClr val="333333"/>
                </a:solidFill>
                <a:latin typeface="Arial" panose="020B0604020202090204"/>
                <a:ea typeface="Yu Gothic"/>
              </a:rPr>
              <a:t>申請する：1 PJ・Cloud Run Jobs・本PJ GCS</a:t>
            </a:r>
            <a:endParaRPr sz="1200" b="1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　　　　　Scheduler / Workflows / STS 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申請しない：GKE・本機永続ディスク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　　　　　　DataSpider・seiyu-trial-data-exchange 本体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100" b="0">
                <a:solidFill>
                  <a:srgbClr val="666666"/>
                </a:solidFill>
                <a:latin typeface="Arial" panose="020B0604020202090204"/>
                <a:ea typeface="Yu Gothic"/>
              </a:rPr>
              <a:t>　　　　　　（seiyu-trial-data-exchange は松尾さんへ別途申請）</a:t>
            </a:r>
            <a:endParaRPr sz="11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57200" y="5800000"/>
            <a:ext cx="11200000" cy="5000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000" y="5880000"/>
            <a:ext cx="110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Arial" panose="020B0604020202090204"/>
                <a:ea typeface="Yu Gothic"/>
              </a:rPr>
              <a:t>一言で言うと：会社間の自動補充連携を回すため、TRIAL 側に「変換付きの統一 IF 基盤」が要る。だから新規 1 プロジェクトの SCM連携クラウド機を申請する。</a:t>
            </a:r>
            <a:endParaRPr sz="13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11000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 panose="020B0604020202090204"/>
                <a:ea typeface="Yu Gothic"/>
              </a:rPr>
              <a:t>GCP 環境申請　／　背景・判断・構成・費用　／　元データ隔離・一方向納品</a:t>
            </a:r>
            <a:endParaRPr sz="10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50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33333"/>
                </a:solidFill>
                <a:latin typeface="Arial" panose="020B0604020202090204"/>
                <a:ea typeface="Yu Gothic"/>
              </a:rPr>
              <a:t>なぜ Cloud Run Jobs を採用するか</a:t>
            </a:r>
            <a:endParaRPr sz="24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9966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 panose="020B0604020202090204"/>
                <a:ea typeface="Yu Gothic"/>
              </a:rPr>
              <a:t>GKE ではなく Cloud Run を選ぶ判断基準（本件＝日次ファイル IF バッチ）</a:t>
            </a:r>
            <a:endParaRPr sz="12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73968" y="256032"/>
            <a:ext cx="700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Arial" panose="020B0604020202090204"/>
                <a:ea typeface="Yu Gothic"/>
              </a:rPr>
              <a:t>2 / 7</a:t>
            </a:r>
            <a:endParaRPr sz="12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014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33272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 panose="020B0604020202090204"/>
                <a:ea typeface="Yu Gothic"/>
              </a:rPr>
              <a:t>リージョン：東京 asia-northeast1　・　dev / stg / prod</a:t>
            </a:r>
            <a:endParaRPr sz="11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18120" y="1024128"/>
            <a:ext cx="146304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今回申請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69680" y="102412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999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常時稼働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921240" y="1024128"/>
            <a:ext cx="146304" cy="146304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3155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既存・外部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1280000"/>
            <a:ext cx="5400000" cy="2100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200" y="1340000"/>
            <a:ext cx="52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rial" panose="020B0604020202090204"/>
                <a:ea typeface="Yu Gothic"/>
              </a:rPr>
              <a:t>① 動き方</a:t>
            </a:r>
            <a:endParaRPr sz="1400" b="1">
              <a:solidFill>
                <a:srgbClr val="2F75B5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7200" y="1680000"/>
            <a:ext cx="52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rial" panose="020B0604020202090204"/>
                <a:ea typeface="Yu Gothic"/>
              </a:rPr>
              <a:t>Cloud Run Jobs（採用）</a:t>
            </a:r>
            <a:endParaRPr sz="1200" b="1">
              <a:solidFill>
                <a:srgbClr val="0F766E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時刻起動 → 処理 → 終了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遊休時は止められる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</a:p>
          <a:p>
            <a:pPr algn="l"/>
            <a:r>
              <a:rPr sz="1200" b="1">
                <a:solidFill>
                  <a:srgbClr val="C45C5C"/>
                </a:solidFill>
                <a:latin typeface="Arial" panose="020B0604020202090204"/>
                <a:ea typeface="Yu Gothic"/>
              </a:rPr>
              <a:t>GKE</a:t>
            </a:r>
            <a:endParaRPr sz="1200" b="1">
              <a:solidFill>
                <a:srgbClr val="C45C5C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クラスタ／ノードを常設しやすい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バッチには固定費が残りやすい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0000" y="1280000"/>
            <a:ext cx="5400000" cy="2100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0000" y="1340000"/>
            <a:ext cx="52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rial" panose="020B0604020202090204"/>
                <a:ea typeface="Yu Gothic"/>
              </a:rPr>
              <a:t>② 本機の仕事</a:t>
            </a:r>
            <a:endParaRPr sz="1400" b="1">
              <a:solidFill>
                <a:srgbClr val="2F75B5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80000" y="1680000"/>
            <a:ext cx="52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rial" panose="020B0604020202090204"/>
                <a:ea typeface="Yu Gothic"/>
              </a:rPr>
              <a:t>Cloud Run Jobs（採用）</a:t>
            </a:r>
            <a:endParaRPr sz="1200" b="1">
              <a:solidFill>
                <a:srgbClr val="0F766E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抽出・変換・GCS プッシュ／プル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日次バッチ変換機に適合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</a:p>
          <a:p>
            <a:pPr algn="l"/>
            <a:r>
              <a:rPr sz="1200" b="1">
                <a:solidFill>
                  <a:srgbClr val="C45C5C"/>
                </a:solidFill>
                <a:latin typeface="Arial" panose="020B0604020202090204"/>
                <a:ea typeface="Yu Gothic"/>
              </a:rPr>
              <a:t>GKE</a:t>
            </a:r>
            <a:endParaRPr sz="1200" b="1">
              <a:solidFill>
                <a:srgbClr val="C45C5C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向きはマイクロサービス／常時 API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本件の主用途ではない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7200" y="3600000"/>
            <a:ext cx="5400000" cy="2100000"/>
          </a:xfrm>
          <a:prstGeom prst="roundRect">
            <a:avLst>
              <a:gd name="adj" fmla="val 8000"/>
            </a:avLst>
          </a:prstGeom>
          <a:solidFill>
            <a:srgbClr val="E2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200" y="3660000"/>
            <a:ext cx="52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rial" panose="020B0604020202090204"/>
                <a:ea typeface="Yu Gothic"/>
              </a:rPr>
              <a:t>③ ストレージ方針</a:t>
            </a:r>
            <a:endParaRPr sz="1400" b="1">
              <a:solidFill>
                <a:srgbClr val="2F75B5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7200" y="4000000"/>
            <a:ext cx="52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rial" panose="020B0604020202090204"/>
                <a:ea typeface="Yu Gothic"/>
              </a:rPr>
              <a:t>Cloud Run Jobs（採用）</a:t>
            </a:r>
            <a:endParaRPr sz="1200" b="1">
              <a:solidFill>
                <a:srgbClr val="0F766E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ステートレス。正本は GCS のみ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本機ディスク／ステージングなし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</a:p>
          <a:p>
            <a:pPr algn="l"/>
            <a:r>
              <a:rPr sz="1200" b="1">
                <a:solidFill>
                  <a:srgbClr val="C45C5C"/>
                </a:solidFill>
                <a:latin typeface="Arial" panose="020B0604020202090204"/>
                <a:ea typeface="Yu Gothic"/>
              </a:rPr>
              <a:t>GKE</a:t>
            </a:r>
            <a:endParaRPr sz="1200" b="1">
              <a:solidFill>
                <a:srgbClr val="C45C5C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ノード・永続ボリューム運用前提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設計（GCS に集約）と齟齬しやすい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00000" y="3600000"/>
            <a:ext cx="5400000" cy="21000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0000" y="3660000"/>
            <a:ext cx="52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rial" panose="020B0604020202090204"/>
                <a:ea typeface="Yu Gothic"/>
              </a:rPr>
              <a:t>④ 運用・費用</a:t>
            </a:r>
            <a:endParaRPr sz="1400" b="1">
              <a:solidFill>
                <a:srgbClr val="2F75B5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80000" y="4000000"/>
            <a:ext cx="52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rial" panose="020B0604020202090204"/>
                <a:ea typeface="Yu Gothic"/>
              </a:rPr>
              <a:t>Cloud Run Jobs（採用）</a:t>
            </a:r>
            <a:endParaRPr sz="1200" b="1">
              <a:solidFill>
                <a:srgbClr val="0F766E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申請・運用が軽い。従量バッチ向き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SPEC 月約 ¥18,190（転送が大半）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</a:p>
          <a:p>
            <a:pPr algn="l"/>
            <a:r>
              <a:rPr sz="1200" b="1">
                <a:solidFill>
                  <a:srgbClr val="C45C5C"/>
                </a:solidFill>
                <a:latin typeface="Arial" panose="020B0604020202090204"/>
                <a:ea typeface="Yu Gothic"/>
              </a:rPr>
              <a:t>GKE</a:t>
            </a:r>
            <a:endParaRPr sz="1200" b="1">
              <a:solidFill>
                <a:srgbClr val="C45C5C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クラスタ費＋運用負荷が大きい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常駐案は月 +¥2万前後になり得る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7200" y="5850000"/>
            <a:ext cx="11200000" cy="480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000" y="5920000"/>
            <a:ext cx="110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rial" panose="020B0604020202090204"/>
                <a:ea typeface="Yu Gothic"/>
              </a:rPr>
              <a:t>結論：常時動かす基盤ではなく、必要なときだけ動くバッチなので Cloud Run Jobs。GKE は常設クラスタ前提で、今回の IF 機には過剰。</a:t>
            </a:r>
            <a:endParaRPr sz="1300" b="1">
              <a:solidFill>
                <a:srgbClr val="0F766E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11000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 panose="020B0604020202090204"/>
                <a:ea typeface="Yu Gothic"/>
              </a:rPr>
              <a:t>GCP 環境申請　／　元データ隔離・一方向納品　／　Cloud Run 採用理由・GKE比較込み</a:t>
            </a:r>
            <a:endParaRPr sz="10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365D"/>
                </a:solidFill>
                <a:latin typeface="Arial" panose="020B0604020202090204" charset="-128"/>
                <a:ea typeface="Yu Gothic" panose="02020609040205080304" charset="-128"/>
                <a:cs typeface="Aptos" pitchFamily="34" charset="-120"/>
              </a:rPr>
              <a:t>SCM連携クラウド機　申請構成図</a:t>
            </a:r>
            <a:endParaRPr lang="en-US" sz="23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9966960" cy="21031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B6573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日次データを大阪から本PJの東京GCSへコピーし、SMART で処理後、seiyu-trial-data-exchange へ最終 TXT のみ納品</a:t>
            </a:r>
            <a:endParaRPr lang="en-US" sz="9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73968" y="256032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Arial" panose="020B0604020202090204" charset="-128"/>
                <a:ea typeface="Yu Gothic" panose="02020609040205080304" charset="-128"/>
                <a:cs typeface="Aptos" pitchFamily="34" charset="-120"/>
              </a:rPr>
              <a:t>3 / 7</a:t>
            </a:r>
            <a:endParaRPr lang="en-US" sz="10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01400" cy="0"/>
          </a:xfrm>
          <a:prstGeom prst="line">
            <a:avLst/>
          </a:prstGeom>
          <a:noFill/>
          <a:ln w="15875">
            <a:solidFill>
              <a:srgbClr val="2F75B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03327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リージョン：東京 asia-northeast1　・　dev / stg / prod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18120" y="1024128"/>
            <a:ext cx="146304" cy="146304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28432" y="987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Arial" panose="020B0604020202090204" charset="-128"/>
                <a:ea typeface="MS Mincho" panose="02020609040205080304" charset="-128"/>
                <a:cs typeface="Aptos" pitchFamily="34" charset="-120"/>
              </a:rPr>
              <a:t>今回申請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869680" y="1024128"/>
            <a:ext cx="146304" cy="1463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079992" y="987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Arial" panose="020B0604020202090204" charset="-128"/>
                <a:ea typeface="MS Mincho" panose="02020609040205080304" charset="-128"/>
                <a:cs typeface="Aptos" pitchFamily="34" charset="-120"/>
              </a:rPr>
              <a:t>常時稼働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921240" y="1024128"/>
            <a:ext cx="146304" cy="146304"/>
          </a:xfrm>
          <a:prstGeom prst="rect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131552" y="98755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Arial" panose="020B0604020202090204" charset="-128"/>
                <a:ea typeface="MS Mincho" panose="02020609040205080304" charset="-128"/>
                <a:cs typeface="Aptos" pitchFamily="34" charset="-120"/>
              </a:rPr>
              <a:t>既存・外部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718096"/>
                </a:solidFill>
                <a:latin typeface="Arial" panose="020B0604020202090204" charset="-128"/>
                <a:ea typeface="Yu Gothic" panose="02020609040205080304" charset="-128"/>
                <a:cs typeface="MS Mincho" panose="02020609040205080304" charset="-128"/>
              </a:rPr>
              <a:t>GCP 環境申請　／　元データ隔離・一方向納品　／　費用・スペック込み</a:t>
            </a:r>
            <a:endParaRPr lang="en-US" sz="700" dirty="0">
              <a:solidFill>
                <a:srgbClr val="718096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00000" y="1240000"/>
            <a:ext cx="2300000" cy="1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B6573"/>
                </a:solidFill>
                <a:latin typeface="Arial" panose="020B0604020202090204"/>
              </a:rPr>
              <a:t>既存・外部（今回申請しない）</a:t>
            </a:r>
            <a:endParaRPr sz="1000" b="1">
              <a:solidFill>
                <a:srgbClr val="5B6573"/>
              </a:solidFill>
              <a:latin typeface="Arial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960000" y="1240000"/>
            <a:ext cx="6100000" cy="1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rial" panose="020B0604020202090204"/>
              </a:rPr>
              <a:t>GCP　東京（今回申請）</a:t>
            </a:r>
            <a:endParaRPr sz="1000" b="1">
              <a:solidFill>
                <a:srgbClr val="2F75B5"/>
              </a:solidFill>
              <a:latin typeface="Arial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520000" y="1240000"/>
            <a:ext cx="2350000" cy="1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B6573"/>
                </a:solidFill>
                <a:latin typeface="Arial" panose="020B0604020202090204"/>
              </a:rPr>
              <a:t>既存・相手先（バケット利用）</a:t>
            </a:r>
            <a:endParaRPr sz="1000" b="1">
              <a:solidFill>
                <a:srgbClr val="5B6573"/>
              </a:solidFill>
              <a:latin typeface="Arial" panose="020B0604020202090204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400000" y="1420000"/>
            <a:ext cx="2100000" cy="3000000"/>
          </a:xfrm>
          <a:prstGeom prst="roundRect">
            <a:avLst>
              <a:gd name="adj" fmla="val 5000"/>
            </a:avLst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7365D"/>
                </a:solidFill>
                <a:latin typeface="Arial" panose="020B0604020202090204"/>
              </a:rPr>
              <a:t>大阪　集計 GCS</a:t>
            </a:r>
            <a:endParaRPr sz="1300" b="1">
              <a:solidFill>
                <a:srgbClr val="17365D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Arial" panose="020B0604020202090204"/>
              </a:rPr>
              <a:t>asia-northeast2</a:t>
            </a:r>
            <a:endParaRPr sz="1000" b="0">
              <a:solidFill>
                <a:srgbClr val="5B6573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7365D"/>
                </a:solidFill>
                <a:latin typeface="Arial" panose="020B0604020202090204"/>
              </a:rPr>
              <a:t>日次データ + _READY</a:t>
            </a:r>
            <a:endParaRPr sz="1100" b="0">
              <a:solidFill>
                <a:srgbClr val="17365D"/>
              </a:solidFill>
              <a:latin typeface="Arial" panose="020B060402020209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2960000" y="1420000"/>
            <a:ext cx="6100000" cy="3000000"/>
          </a:xfrm>
          <a:prstGeom prst="roundRect">
            <a:avLst>
              <a:gd name="adj" fmla="val 5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lvl="0" algn="l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3100000" y="1540000"/>
            <a:ext cx="5820000" cy="200000"/>
          </a:xfrm>
          <a:prstGeom prst="roundRect">
            <a:avLst>
              <a:gd name="adj" fmla="val 5000"/>
            </a:avLst>
          </a:prstGeom>
          <a:solidFill>
            <a:srgbClr val="E2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F75B5"/>
                </a:solidFill>
                <a:latin typeface="Arial" panose="020B0604020202090204"/>
              </a:rPr>
              <a:t>本PJ GCP　asia-northeast1　／　暫定PJ ID：md-data-integration-prod</a:t>
            </a:r>
            <a:endParaRPr sz="1000" b="1">
              <a:solidFill>
                <a:srgbClr val="2F75B5"/>
              </a:solidFill>
              <a:latin typeface="Arial" panose="020B0604020202090204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100070" y="1779905"/>
            <a:ext cx="1444625" cy="254000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7365D"/>
                </a:solidFill>
                <a:latin typeface="Arial" panose="020B0604020202090204"/>
              </a:rPr>
              <a:t>Storage Transfer Service</a:t>
            </a:r>
            <a:endParaRPr sz="1200" b="1">
              <a:solidFill>
                <a:srgbClr val="17365D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Arial" panose="020B0604020202090204"/>
              </a:rPr>
              <a:t>manifest / prefix</a:t>
            </a:r>
            <a:endParaRPr sz="1000" b="0">
              <a:solidFill>
                <a:srgbClr val="5B6573"/>
              </a:solidFill>
              <a:latin typeface="Arial" panose="020B0604020202090204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980940" y="1913255"/>
            <a:ext cx="2099945" cy="995680"/>
          </a:xfrm>
          <a:prstGeom prst="roundRect">
            <a:avLst>
              <a:gd name="adj" fmla="val 5000"/>
            </a:avLst>
          </a:prstGeom>
          <a:solidFill>
            <a:srgbClr val="E2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7365D"/>
                </a:solidFill>
                <a:latin typeface="Arial" panose="020B0604020202090204"/>
              </a:rPr>
              <a:t>本PJ Cloud Storage</a:t>
            </a:r>
            <a:endParaRPr sz="1200" b="1">
              <a:solidFill>
                <a:srgbClr val="17365D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Arial" panose="020B0604020202090204"/>
              </a:rPr>
              <a:t>source-landing/YYYYMMDD/</a:t>
            </a:r>
            <a:endParaRPr sz="1000" b="0">
              <a:solidFill>
                <a:srgbClr val="5B6573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Arial" panose="020B0604020202090204"/>
              </a:rPr>
              <a:t>元データ（7日保管）</a:t>
            </a:r>
            <a:endParaRPr sz="1000" b="0">
              <a:solidFill>
                <a:srgbClr val="5B6573"/>
              </a:solidFill>
              <a:latin typeface="Arial" panose="020B0604020202090204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980305" y="3180715"/>
            <a:ext cx="2099945" cy="99441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7365D"/>
                </a:solidFill>
                <a:latin typeface="Arial" panose="020B0604020202090204"/>
              </a:rPr>
              <a:t>Cloud Run Job</a:t>
            </a:r>
            <a:endParaRPr sz="1200" b="1">
              <a:solidFill>
                <a:srgbClr val="17365D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Arial" panose="020B0604020202090204"/>
              </a:rPr>
              <a:t>SMART 日次処理</a:t>
            </a:r>
            <a:endParaRPr sz="1000" b="0">
              <a:solidFill>
                <a:srgbClr val="5B6573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Arial" panose="020B0604020202090204"/>
              </a:rPr>
              <a:t>4 vCPU / 16 GiB</a:t>
            </a:r>
            <a:endParaRPr sz="1000" b="0">
              <a:solidFill>
                <a:srgbClr val="5B6573"/>
              </a:solidFill>
              <a:latin typeface="Arial" panose="020B060402020209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474585" y="1774190"/>
            <a:ext cx="1445260" cy="2505710"/>
          </a:xfrm>
          <a:prstGeom prst="roundRect">
            <a:avLst>
              <a:gd name="adj" fmla="val 5000"/>
            </a:avLst>
          </a:prstGeom>
          <a:solidFill>
            <a:srgbClr val="E2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7365D"/>
                </a:solidFill>
                <a:latin typeface="Arial" panose="020B0604020202090204"/>
              </a:rPr>
              <a:t>resumable upload</a:t>
            </a:r>
            <a:endParaRPr sz="1200" b="1">
              <a:solidFill>
                <a:srgbClr val="17365D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Arial" panose="020B0604020202090204"/>
              </a:rPr>
              <a:t>最終 TXT のみ</a:t>
            </a:r>
            <a:endParaRPr sz="1000" b="0">
              <a:solidFill>
                <a:srgbClr val="5B6573"/>
              </a:solidFill>
              <a:latin typeface="Arial" panose="020B060402020209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520000" y="1420000"/>
            <a:ext cx="2350000" cy="3000000"/>
          </a:xfrm>
          <a:prstGeom prst="roundRect">
            <a:avLst>
              <a:gd name="adj" fmla="val 5000"/>
            </a:avLst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7365D"/>
                </a:solidFill>
                <a:latin typeface="Arial" panose="020B0604020202090204"/>
              </a:rPr>
              <a:t>seiyu-trial-data-exchange</a:t>
            </a:r>
            <a:endParaRPr sz="1100" b="1">
              <a:solidFill>
                <a:srgbClr val="17365D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Arial" panose="020B0604020202090204"/>
              </a:rPr>
              <a:t>東京 asia-northeast1</a:t>
            </a:r>
            <a:endParaRPr sz="1000" b="0">
              <a:solidFill>
                <a:srgbClr val="5B6573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Arial" panose="020B0604020202090204"/>
              </a:rPr>
              <a:t>result/YYYYMMDD/final.txt</a:t>
            </a:r>
            <a:endParaRPr sz="1000" b="0">
              <a:solidFill>
                <a:srgbClr val="5B6573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7365D"/>
                </a:solidFill>
                <a:latin typeface="Arial" panose="020B0604020202090204"/>
              </a:rPr>
              <a:t>_SUCCESS</a:t>
            </a:r>
            <a:endParaRPr sz="1100" b="0">
              <a:solidFill>
                <a:srgbClr val="17365D"/>
              </a:solidFill>
              <a:latin typeface="Arial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530475" y="2624455"/>
            <a:ext cx="459740" cy="240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800" b="1">
                <a:solidFill>
                  <a:srgbClr val="C65911"/>
                </a:solidFill>
                <a:latin typeface="Arial" panose="020B0604020202090204"/>
              </a:rPr>
              <a:t>読み取り</a:t>
            </a:r>
            <a:endParaRPr sz="800" b="1">
              <a:solidFill>
                <a:srgbClr val="C65911"/>
              </a:solidFill>
              <a:latin typeface="Arial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060180" y="2580005"/>
            <a:ext cx="459740" cy="2400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ja-JP" altLang="en-US" sz="800" b="1">
                <a:solidFill>
                  <a:srgbClr val="C65911"/>
                </a:solidFill>
                <a:latin typeface="Arial" panose="020B0604020202090204"/>
              </a:rPr>
              <a:t>出力</a:t>
            </a:r>
            <a:endParaRPr lang="ja-JP" altLang="en-US" sz="800" b="1">
              <a:solidFill>
                <a:srgbClr val="C65911"/>
              </a:solidFill>
              <a:latin typeface="Arial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00000" y="4580000"/>
            <a:ext cx="900000" cy="1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Arial" panose="020B0604020202090204"/>
              </a:rPr>
              <a:t>制御フロー</a:t>
            </a:r>
            <a:endParaRPr sz="1000" b="1">
              <a:solidFill>
                <a:srgbClr val="C9A227"/>
              </a:solidFill>
              <a:latin typeface="Arial" panose="020B0604020202090204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1400000" y="4530000"/>
            <a:ext cx="2300000" cy="43000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7365D"/>
                </a:solidFill>
                <a:latin typeface="Arial" panose="020B0604020202090204"/>
              </a:rPr>
              <a:t>Cloud Scheduler</a:t>
            </a:r>
            <a:endParaRPr sz="1200" b="1">
              <a:solidFill>
                <a:srgbClr val="17365D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Arial" panose="020B0604020202090204"/>
              </a:rPr>
              <a:t>毎日 指定時刻</a:t>
            </a:r>
            <a:endParaRPr sz="1000" b="0">
              <a:solidFill>
                <a:srgbClr val="5B6573"/>
              </a:solidFill>
              <a:latin typeface="Arial" panose="020B060402020209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750000" y="4600000"/>
            <a:ext cx="32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Arial" panose="020B0604020202090204"/>
              </a:rPr>
              <a:t>→</a:t>
            </a:r>
            <a:endParaRPr sz="1600" b="1">
              <a:solidFill>
                <a:srgbClr val="C9A227"/>
              </a:solidFill>
              <a:latin typeface="Arial" panose="020B0604020202090204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4100000" y="4530000"/>
            <a:ext cx="7770000" cy="43000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7365D"/>
                </a:solidFill>
                <a:latin typeface="Arial" panose="020B0604020202090204"/>
              </a:rPr>
              <a:t>Workflows</a:t>
            </a:r>
            <a:endParaRPr sz="1200" b="1">
              <a:solidFill>
                <a:srgbClr val="17365D"/>
              </a:solidFill>
              <a:latin typeface="Arial" panose="020B0604020202090204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Arial" panose="020B0604020202090204"/>
              </a:rPr>
              <a:t>READY → STS → Job → 検証</a:t>
            </a:r>
            <a:endParaRPr sz="1000" b="0">
              <a:solidFill>
                <a:srgbClr val="5B6573"/>
              </a:solidFill>
              <a:latin typeface="Arial" panose="020B0604020202090204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400050" y="5039995"/>
            <a:ext cx="5674995" cy="694055"/>
          </a:xfrm>
          <a:prstGeom prst="roundRect">
            <a:avLst>
              <a:gd name="adj" fmla="val 5000"/>
            </a:avLst>
          </a:prstGeom>
          <a:solidFill>
            <a:srgbClr val="F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00000"/>
                </a:solidFill>
                <a:latin typeface="Arial" panose="020B0604020202090204"/>
              </a:rPr>
              <a:t>安全境界</a:t>
            </a:r>
            <a:endParaRPr sz="1100" b="1">
              <a:solidFill>
                <a:srgbClr val="C00000"/>
              </a:solidFill>
              <a:latin typeface="Arial" panose="020B0604020202090204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7365D"/>
                </a:solidFill>
                <a:latin typeface="Arial" panose="020B0604020202090204"/>
              </a:rPr>
              <a:t>元データは seiyu-trial-data-exchange に入らない。</a:t>
            </a:r>
            <a:endParaRPr sz="1000" b="0">
              <a:solidFill>
                <a:srgbClr val="17365D"/>
              </a:solidFill>
              <a:latin typeface="Arial" panose="020B0604020202090204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7365D"/>
                </a:solidFill>
                <a:latin typeface="Arial" panose="020B0604020202090204"/>
              </a:rPr>
              <a:t>西友側は objectCreator のみ。</a:t>
            </a:r>
            <a:endParaRPr sz="1000" b="0">
              <a:solidFill>
                <a:srgbClr val="17365D"/>
              </a:solidFill>
              <a:latin typeface="Arial" panose="020B0604020202090204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6195060" y="5039995"/>
            <a:ext cx="5674995" cy="750570"/>
          </a:xfrm>
          <a:prstGeom prst="roundRect">
            <a:avLst>
              <a:gd name="adj" fmla="val 5000"/>
            </a:avLst>
          </a:prstGeom>
          <a:solidFill>
            <a:srgbClr val="E4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7030A0"/>
                </a:solidFill>
                <a:latin typeface="Arial" panose="020B0604020202090204"/>
              </a:rPr>
              <a:t>大容量 TXT</a:t>
            </a:r>
            <a:endParaRPr sz="1100" b="1">
              <a:solidFill>
                <a:srgbClr val="7030A0"/>
              </a:solidFill>
              <a:latin typeface="Arial" panose="020B0604020202090204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7365D"/>
                </a:solidFill>
                <a:latin typeface="Arial" panose="020B0604020202090204"/>
              </a:rPr>
              <a:t>メモリに全量保持せず、ストリーム + resumable upload。</a:t>
            </a:r>
            <a:endParaRPr sz="1000" b="0">
              <a:solidFill>
                <a:srgbClr val="17365D"/>
              </a:solidFill>
              <a:latin typeface="Arial" panose="020B0604020202090204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7365D"/>
                </a:solidFill>
                <a:latin typeface="Arial" panose="020B0604020202090204"/>
              </a:rPr>
              <a:t>必要時のみ ephemeral disk を外部ソート領域として使用。</a:t>
            </a:r>
            <a:endParaRPr sz="1000" b="0">
              <a:solidFill>
                <a:srgbClr val="17365D"/>
              </a:solidFill>
              <a:latin typeface="Arial" panose="020B0604020202090204"/>
            </a:endParaRPr>
          </a:p>
        </p:txBody>
      </p:sp>
      <p:cxnSp>
        <p:nvCxnSpPr>
          <p:cNvPr id="12" name="肘形连接符 11"/>
          <p:cNvCxnSpPr>
            <a:stCxn id="58" idx="3"/>
            <a:endCxn id="61" idx="1"/>
          </p:cNvCxnSpPr>
          <p:nvPr/>
        </p:nvCxnSpPr>
        <p:spPr>
          <a:xfrm>
            <a:off x="2499995" y="2919730"/>
            <a:ext cx="600075" cy="130175"/>
          </a:xfrm>
          <a:prstGeom prst="bentConnector3">
            <a:avLst>
              <a:gd name="adj1" fmla="val 50053"/>
            </a:avLst>
          </a:prstGeom>
          <a:ln w="31750" cap="rnd">
            <a:solidFill>
              <a:schemeClr val="accent2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61" idx="3"/>
            <a:endCxn id="62" idx="1"/>
          </p:cNvCxnSpPr>
          <p:nvPr/>
        </p:nvCxnSpPr>
        <p:spPr>
          <a:xfrm flipV="1">
            <a:off x="4544695" y="2411095"/>
            <a:ext cx="436245" cy="638810"/>
          </a:xfrm>
          <a:prstGeom prst="bentConnector3">
            <a:avLst>
              <a:gd name="adj1" fmla="val 50073"/>
            </a:avLst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64" idx="3"/>
            <a:endCxn id="65" idx="1"/>
          </p:cNvCxnSpPr>
          <p:nvPr/>
        </p:nvCxnSpPr>
        <p:spPr>
          <a:xfrm flipV="1">
            <a:off x="8919845" y="2919730"/>
            <a:ext cx="600075" cy="107315"/>
          </a:xfrm>
          <a:prstGeom prst="bentConnector3">
            <a:avLst>
              <a:gd name="adj1" fmla="val 50053"/>
            </a:avLst>
          </a:prstGeom>
          <a:ln w="31750" cap="rnd">
            <a:solidFill>
              <a:schemeClr val="accent2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63" idx="3"/>
            <a:endCxn id="64" idx="1"/>
          </p:cNvCxnSpPr>
          <p:nvPr/>
        </p:nvCxnSpPr>
        <p:spPr>
          <a:xfrm flipV="1">
            <a:off x="7080250" y="3027045"/>
            <a:ext cx="394335" cy="650875"/>
          </a:xfrm>
          <a:prstGeom prst="bentConnector3">
            <a:avLst>
              <a:gd name="adj1" fmla="val 50081"/>
            </a:avLst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62" idx="2"/>
            <a:endCxn id="63" idx="0"/>
          </p:cNvCxnSpPr>
          <p:nvPr/>
        </p:nvCxnSpPr>
        <p:spPr>
          <a:xfrm flipH="1">
            <a:off x="6030595" y="2908935"/>
            <a:ext cx="635" cy="27178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365D"/>
                </a:solidFill>
                <a:latin typeface="Arial" panose="020B0604020202090204" charset="-128"/>
                <a:ea typeface="Yu Gothic" panose="02020609040205080304" charset="-128"/>
                <a:cs typeface="Aptos" pitchFamily="34" charset="-120"/>
              </a:rPr>
              <a:t>日次実行フロー・権限・処理方針</a:t>
            </a:r>
            <a:endParaRPr lang="en-US" sz="23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9966960" cy="21031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B6573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SMART 処理、権限分離、保存範囲と費用試算の前提</a:t>
            </a:r>
            <a:endParaRPr lang="en-US" sz="9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73968" y="256032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Arial" panose="020B0604020202090204" charset="-128"/>
                <a:ea typeface="Yu Gothic" panose="02020609040205080304" charset="-128"/>
                <a:cs typeface="Aptos" pitchFamily="34" charset="-120"/>
              </a:rPr>
              <a:t>4 / 7</a:t>
            </a:r>
            <a:endParaRPr lang="en-US" sz="10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01400" cy="0"/>
          </a:xfrm>
          <a:prstGeom prst="line">
            <a:avLst/>
          </a:prstGeom>
          <a:noFill/>
          <a:ln w="12700">
            <a:solidFill>
              <a:srgbClr val="B0B8C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03327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リージョン：東京 asia-northeast1　・　dev / stg / prod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18120" y="1024128"/>
            <a:ext cx="146304" cy="14630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28432" y="987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Arial" panose="020B0604020202090204" charset="-128"/>
                <a:ea typeface="MS Mincho" panose="02020609040205080304" charset="-128"/>
                <a:cs typeface="Aptos" pitchFamily="34" charset="-120"/>
              </a:rPr>
              <a:t>今回申請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869680" y="1024128"/>
            <a:ext cx="146304" cy="1463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079992" y="987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Arial" panose="020B0604020202090204" charset="-128"/>
                <a:ea typeface="MS Mincho" panose="02020609040205080304" charset="-128"/>
                <a:cs typeface="Aptos" pitchFamily="34" charset="-120"/>
              </a:rPr>
              <a:t>常時稼働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921240" y="1024128"/>
            <a:ext cx="146304" cy="146304"/>
          </a:xfrm>
          <a:prstGeom prst="rect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131552" y="98755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Arial" panose="020B0604020202090204" charset="-128"/>
                <a:ea typeface="MS Mincho" panose="02020609040205080304" charset="-128"/>
                <a:cs typeface="Aptos" pitchFamily="34" charset="-120"/>
              </a:rPr>
              <a:t>既存・外部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135331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日次実行フロー（左 → 右）</a:t>
            </a:r>
            <a:endParaRPr lang="en-US" sz="14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FFF2CC"/>
          </a:solidFill>
          <a:ln>
            <a:noFill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1792" y="1792224"/>
            <a:ext cx="1453896" cy="73152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01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Scheduler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指定時刻に起動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404872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478024" y="1792224"/>
            <a:ext cx="1453896" cy="73152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02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READY / manifest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対象ファイル確定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61104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334256" y="1792224"/>
            <a:ext cx="1453896" cy="73152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03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STS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本PJ GCSへコピー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117336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90488" y="1792224"/>
            <a:ext cx="1453896" cy="73152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04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Cloud Run Job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SMART 店/JAN 処理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973568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046720" y="1792224"/>
            <a:ext cx="1453896" cy="73152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05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納品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最終 TXT を upload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829800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902952" y="1792224"/>
            <a:ext cx="1453896" cy="73152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06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_SUCCESS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検証後に作成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2920" y="296265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SMART コマンドによる処理チェーン</a:t>
            </a:r>
            <a:endParaRPr lang="en-US" sz="14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1792" y="3392424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解凍 / 索引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404872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478024" y="3392424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Aptos" pitchFamily="34" charset="-120"/>
              </a:rPr>
              <a:t>selcol / selrow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261104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334256" y="3392424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外部ソート / JOIN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117336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190488" y="3392424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Aptos" pitchFamily="34" charset="-120"/>
              </a:rPr>
              <a:t>groupby / sumup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973568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046720" y="3392424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Aptos" pitchFamily="34" charset="-120"/>
              </a:rPr>
              <a:t>scalc / format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829800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9902952" y="3392424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Aptos" pitchFamily="34" charset="-120"/>
              </a:rPr>
              <a:t>stream uploader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48640" y="4315968"/>
            <a:ext cx="3017520" cy="1115568"/>
          </a:xfrm>
          <a:prstGeom prst="roundRect">
            <a:avLst>
              <a:gd name="adj" fmla="val 3279"/>
            </a:avLst>
          </a:prstGeom>
          <a:solidFill>
            <a:srgbClr val="F3EEF8"/>
          </a:solidFill>
          <a:ln>
            <a:noFill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21792" y="4370832"/>
            <a:ext cx="2871216" cy="100584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大ファイル方針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Cloud Run の RAM に全量を載せない。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split_and_sort / exchsort で外部ソート。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4 vCPU / 16 GiB はストリーム処理の初期スペック。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3886200" y="4315968"/>
            <a:ext cx="3246120" cy="1115568"/>
          </a:xfrm>
          <a:prstGeom prst="roundRect">
            <a:avLst>
              <a:gd name="adj" fmla="val 3279"/>
            </a:avLst>
          </a:prstGeom>
          <a:solidFill>
            <a:srgbClr val="FCE4D6"/>
          </a:solidFill>
          <a:ln>
            <a:noFill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959352" y="4370832"/>
            <a:ext cx="3099816" cy="100584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権限方針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STS：大阪 read → 本PJ write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Job：本PJ objectViewer → seiyu-trial-data-exchange objectCreator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Scheduler：Workflows invoker のみ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452360" y="4315968"/>
            <a:ext cx="4023360" cy="1115568"/>
          </a:xfrm>
          <a:prstGeom prst="roundRect">
            <a:avLst>
              <a:gd name="adj" fmla="val 3279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525512" y="4370832"/>
            <a:ext cx="3877056" cy="100584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Arial" panose="020B0604020202090204" charset="-128"/>
                <a:ea typeface="Yu Gothic" panose="02020609040205080304" charset="-128"/>
                <a:cs typeface="MS Mincho" panose="02020609040205080304" charset="-128"/>
              </a:rPr>
              <a:t>容量・費用の入力値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r>
              <a:rPr sz="1100" b="0">
                <a:solidFill>
                  <a:srgbClr val="333333"/>
                </a:solidFill>
                <a:latin typeface="Arial" panose="020B0604020202090204"/>
                <a:ea typeface="Yu Gothic"/>
              </a:rPr>
              <a:t>本PJ GCSの元データ：約 251.6 GiB（7日）</a:t>
            </a:r>
            <a:endParaRPr sz="11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r>
              <a:rPr sz="1100" b="0">
                <a:solidFill>
                  <a:srgbClr val="333333"/>
                </a:solidFill>
                <a:latin typeface="Arial" panose="020B0604020202090204"/>
                <a:ea typeface="Yu Gothic"/>
              </a:rPr>
              <a:t>大阪→東京転送：約 1,078.4 GiB/月</a:t>
            </a:r>
            <a:endParaRPr sz="11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r>
              <a:rPr sz="1100" b="0">
                <a:solidFill>
                  <a:srgbClr val="333333"/>
                </a:solidFill>
                <a:latin typeface="Arial" panose="020B0604020202090204"/>
                <a:ea typeface="Yu Gothic"/>
              </a:rPr>
              <a:t>結果を本PJ GCSに重複保存しない</a:t>
            </a:r>
            <a:endParaRPr sz="11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r>
              <a:rPr sz="1100" b="1">
                <a:solidFill>
                  <a:srgbClr val="0F766E"/>
                </a:solidFill>
                <a:latin typeface="Arial" panose="020B0604020202090204"/>
                <a:ea typeface="Yu Gothic"/>
              </a:rPr>
              <a:t>Calculator 概算：月約 ¥18,190（転送が大半）→ 6枚目</a:t>
            </a:r>
            <a:endParaRPr sz="1100" b="1">
              <a:solidFill>
                <a:srgbClr val="0F766E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48640" y="5669280"/>
            <a:ext cx="4800600" cy="512064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21792" y="5724144"/>
            <a:ext cx="4654296" cy="402336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申請する主なサービス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Cloud Run Jobs / Cloud Storage / STS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Workflows / Cloud Scheduler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Artifact Registry / Logging / Monitoring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623560" y="5669280"/>
            <a:ext cx="5852160" cy="512064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>
            <a:noFill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696712" y="5724144"/>
            <a:ext cx="5705856" cy="402336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本構成の結論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新規 GKE は作らず、Cloud Run Job を採用。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anose="020B0604020202090204" charset="-128"/>
                <a:ea typeface="MS Mincho" panose="02020609040205080304" charset="-128"/>
                <a:cs typeface="MS Mincho" panose="02020609040205080304" charset="-128"/>
              </a:rPr>
              <a:t>source は本PJ GCS、result は seiyu-trial-data-exchange へ一方向で納品。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B0B8C0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718096"/>
                </a:solidFill>
                <a:latin typeface="Arial" panose="020B0604020202090204" charset="-128"/>
                <a:ea typeface="Yu Gothic" panose="02020609040205080304" charset="-128"/>
                <a:cs typeface="MS Mincho" panose="02020609040205080304" charset="-128"/>
              </a:rPr>
              <a:t>GCP 環境申請　／　元データ隔離・一方向納品　／　費用・スペック込み</a:t>
            </a:r>
            <a:endParaRPr lang="en-US" sz="700" dirty="0">
              <a:solidFill>
                <a:srgbClr val="718096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00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Arial" panose="020B0604020202090204"/>
                <a:ea typeface="Yu Gothic"/>
              </a:rPr>
              <a:t>申請スペック・構成一覧</a:t>
            </a:r>
            <a:endParaRPr sz="26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9966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 panose="020B0604020202090204"/>
                <a:ea typeface="Yu Gothic"/>
              </a:rPr>
              <a:t>プロジェクト／コンピュート／ストレージ／パス／環境の申請内容</a:t>
            </a:r>
            <a:endParaRPr sz="12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73968" y="256032"/>
            <a:ext cx="700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Arial" panose="020B0604020202090204"/>
                <a:ea typeface="Yu Gothic"/>
              </a:rPr>
              <a:t>5 / 7</a:t>
            </a:r>
            <a:endParaRPr sz="12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014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33272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 panose="020B0604020202090204"/>
                <a:ea typeface="Yu Gothic"/>
              </a:rPr>
              <a:t>リージョン：東京 asia-northeast1　・　dev / stg / prod</a:t>
            </a:r>
            <a:endParaRPr sz="11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18120" y="1024128"/>
            <a:ext cx="146304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今回申請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69680" y="102412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999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常時稼働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921240" y="1024128"/>
            <a:ext cx="146304" cy="146304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3155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既存・外部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1340000"/>
            <a:ext cx="5400000" cy="230000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000" y="1420000"/>
            <a:ext cx="5200000" cy="2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rial" panose="020B0604020202090204"/>
                <a:ea typeface="Yu Gothic"/>
              </a:rPr>
              <a:t>プロジェクト</a:t>
            </a:r>
            <a:endParaRPr sz="1400" b="1">
              <a:solidFill>
                <a:srgbClr val="2F75B5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名称：SCM連携クラウド機（Layer①）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1">
                <a:solidFill>
                  <a:srgbClr val="333333"/>
                </a:solidFill>
                <a:latin typeface="Arial" panose="020B0604020202090204"/>
                <a:ea typeface="Yu Gothic"/>
              </a:rPr>
              <a:t>GCP プロジェクト ID（暫定）：md-data-integration-prod</a:t>
            </a:r>
            <a:endParaRPr sz="1200" b="1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リージョン：asia-northeast1（東京）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環境：dev / stg / prod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実行基盤：Cloud Run Jobs（GKE は申請しない）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制御：Cloud Scheduler → Workflows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100" b="0">
                <a:solidFill>
                  <a:srgbClr val="666666"/>
                </a:solidFill>
                <a:latin typeface="Arial" panose="020B0604020202090204"/>
                <a:ea typeface="Yu Gothic"/>
              </a:rPr>
              <a:t>（Hinemos との役割分担は要突合）</a:t>
            </a:r>
            <a:endParaRPr sz="11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00000" y="1340000"/>
            <a:ext cx="5400000" cy="2300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000" y="1420000"/>
            <a:ext cx="5200000" cy="2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rial" panose="020B0604020202090204"/>
                <a:ea typeface="Yu Gothic"/>
              </a:rPr>
              <a:t>Cloud Run Job スペック</a:t>
            </a:r>
            <a:endParaRPr sz="1400" b="1">
              <a:solidFill>
                <a:srgbClr val="2F75B5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300" b="1">
                <a:solidFill>
                  <a:srgbClr val="333333"/>
                </a:solidFill>
                <a:latin typeface="Arial" panose="020B0604020202090204"/>
                <a:ea typeface="Yu Gothic"/>
              </a:rPr>
              <a:t>CPU：4 vCPU</a:t>
            </a:r>
            <a:endParaRPr sz="1300" b="1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300" b="1">
                <a:solidFill>
                  <a:srgbClr val="333333"/>
                </a:solidFill>
                <a:latin typeface="Arial" panose="020B0604020202090204"/>
                <a:ea typeface="Yu Gothic"/>
              </a:rPr>
              <a:t>Memory：16 GiB</a:t>
            </a:r>
            <a:endParaRPr sz="1300" b="1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処理：SMART 日次（店 / JAN）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大容量：ストリーム + resumable upload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外部ソート：ephemeral disk（必要時）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永続ディスク／本機ステージング：なし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3800000"/>
            <a:ext cx="5400000" cy="2400000"/>
          </a:xfrm>
          <a:prstGeom prst="roundRect">
            <a:avLst>
              <a:gd name="adj" fmla="val 8000"/>
            </a:avLst>
          </a:prstGeom>
          <a:solidFill>
            <a:srgbClr val="E2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000" y="3880000"/>
            <a:ext cx="5200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rial" panose="020B0604020202090204"/>
                <a:ea typeface="Yu Gothic"/>
              </a:rPr>
              <a:t>本PJ GCS（本PJ付帯＝landing）</a:t>
            </a:r>
            <a:endParaRPr sz="1400" b="1">
              <a:solidFill>
                <a:srgbClr val="2F75B5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1">
                <a:solidFill>
                  <a:srgbClr val="333333"/>
                </a:solidFill>
                <a:latin typeface="Arial" panose="020B0604020202090204"/>
                <a:ea typeface="Yu Gothic"/>
              </a:rPr>
              <a:t>パス：source-landing/YYYYMMDD/</a:t>
            </a:r>
            <a:endParaRPr sz="1200" b="1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用途：大阪から同期した元データ保管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保管期間：7 日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容量前提：約 251.6 GiB（試算入力 300）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ファイル末尾：_YYYYMMDDhhmmss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権限：STS write ／ Job objectViewer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00000" y="3800000"/>
            <a:ext cx="5400000" cy="2400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000" y="3880000"/>
            <a:ext cx="5200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rial" panose="020B0604020202090204"/>
                <a:ea typeface="Yu Gothic"/>
              </a:rPr>
              <a:t>seiyu-trial-data-exchange</a:t>
            </a:r>
            <a:endParaRPr sz="1400" b="1">
              <a:solidFill>
                <a:srgbClr val="0F766E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1">
                <a:solidFill>
                  <a:srgbClr val="333333"/>
                </a:solidFill>
                <a:latin typeface="Arial" panose="020B0604020202090204"/>
                <a:ea typeface="Yu Gothic"/>
              </a:rPr>
              <a:t>パス：result/YYYYMMDD/final.txt</a:t>
            </a:r>
            <a:endParaRPr sz="1200" b="1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完了マーカー：_SUCCESS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納品：最終 TXT のみ（一方向）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権限：objectCreator のみ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元データは入れない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結果の本PJ GCS 重複保存：なし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0000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 panose="020B0604020202090204"/>
                <a:ea typeface="Yu Gothic"/>
              </a:rPr>
              <a:t>GCP 環境申請　／　元データ隔離・一方向納品　／　費用・スペック込み</a:t>
            </a:r>
            <a:endParaRPr sz="10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00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Arial" panose="020B0604020202090204"/>
                <a:ea typeface="Yu Gothic"/>
              </a:rPr>
              <a:t>費用試算（GCP Pricing Calculator）</a:t>
            </a:r>
            <a:endParaRPr sz="26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9966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 panose="020B0604020202090204"/>
                <a:ea typeface="Yu Gothic"/>
              </a:rPr>
              <a:t>SPEC.xlsx　／　算定日 2026-09-22　／　議論用・非拘束の概算</a:t>
            </a:r>
            <a:endParaRPr sz="12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73968" y="256032"/>
            <a:ext cx="700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Arial" panose="020B0604020202090204"/>
                <a:ea typeface="Yu Gothic"/>
              </a:rPr>
              <a:t>6 / 7</a:t>
            </a:r>
            <a:endParaRPr sz="12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014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33272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 panose="020B0604020202090204"/>
                <a:ea typeface="Yu Gothic"/>
              </a:rPr>
              <a:t>リージョン：東京 asia-northeast1　・　dev / stg / prod</a:t>
            </a:r>
            <a:endParaRPr sz="11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18120" y="1024128"/>
            <a:ext cx="146304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今回申請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69680" y="102412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999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常時稼働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921240" y="1024128"/>
            <a:ext cx="146304" cy="146304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3155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既存・外部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1340000"/>
            <a:ext cx="110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Arial" panose="020B0604020202090204"/>
                <a:ea typeface="Yu Gothic"/>
              </a:rPr>
              <a:t>月額合計（概算）：約 ¥18,190　｜　年間合計（×12）：約 ¥218,280</a:t>
            </a:r>
            <a:endParaRPr sz="1300" b="1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r>
              <a:rPr sz="1100" b="0">
                <a:solidFill>
                  <a:srgbClr val="666666"/>
                </a:solidFill>
                <a:latin typeface="Arial" panose="020B0604020202090204"/>
                <a:ea typeface="Yu Gothic"/>
              </a:rPr>
              <a:t>議論用・非拘束　／　転送が大半（約84%）</a:t>
            </a:r>
            <a:endParaRPr sz="11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1680000"/>
            <a:ext cx="11200000" cy="370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750000"/>
            <a:ext cx="22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Arial" panose="020B0604020202090204"/>
                <a:ea typeface="Yu Gothic"/>
              </a:rPr>
              <a:t>サービス</a:t>
            </a:r>
            <a:endParaRPr sz="12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00000" y="1750000"/>
            <a:ext cx="3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Arial" panose="020B0604020202090204"/>
                <a:ea typeface="Yu Gothic"/>
              </a:rPr>
              <a:t>項目</a:t>
            </a:r>
            <a:endParaRPr sz="12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000" y="1750000"/>
            <a:ext cx="1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33333"/>
                </a:solidFill>
                <a:latin typeface="Arial" panose="020B0604020202090204"/>
                <a:ea typeface="Yu Gothic"/>
              </a:rPr>
              <a:t>数量</a:t>
            </a:r>
            <a:endParaRPr sz="12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0000" y="175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33333"/>
                </a:solidFill>
                <a:latin typeface="Arial" panose="020B0604020202090204"/>
                <a:ea typeface="Yu Gothic"/>
              </a:rPr>
              <a:t>リージョン</a:t>
            </a:r>
            <a:endParaRPr sz="12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00000" y="1750000"/>
            <a:ext cx="14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33333"/>
                </a:solidFill>
                <a:latin typeface="Arial" panose="020B0604020202090204"/>
                <a:ea typeface="Yu Gothic"/>
              </a:rPr>
              <a:t>月額 JPY</a:t>
            </a:r>
            <a:endParaRPr sz="12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2080000"/>
            <a:ext cx="11200000" cy="3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150000"/>
            <a:ext cx="22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Cloud Run Jobs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00000" y="2150000"/>
            <a:ext cx="3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Jobs CPU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000" y="2150000"/>
            <a:ext cx="1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7,200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00000" y="215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asia-northeast1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00000" y="2150000"/>
            <a:ext cx="14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1,239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57200" y="2480000"/>
            <a:ext cx="11200000" cy="3700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550000"/>
            <a:ext cx="22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Cloud Run Jobs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00000" y="2550000"/>
            <a:ext cx="3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Jobs Memory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000" y="2550000"/>
            <a:ext cx="1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28,800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00000" y="255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asia-northeast1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00000" y="2550000"/>
            <a:ext cx="14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551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57200" y="2880000"/>
            <a:ext cx="11200000" cy="3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950000"/>
            <a:ext cx="22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Cloud Storage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00000" y="2950000"/>
            <a:ext cx="3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Standard Storage Tokyo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000" y="2950000"/>
            <a:ext cx="1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300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00000" y="295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asia-northeast1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00000" y="2950000"/>
            <a:ext cx="14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1,100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57200" y="3280000"/>
            <a:ext cx="11200000" cy="370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350000"/>
            <a:ext cx="22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Cloud Storage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00000" y="3350000"/>
            <a:ext cx="3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Inter Region Transfer（Asia）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00000" y="3350000"/>
            <a:ext cx="1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1,200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00000" y="335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大阪→東京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000000" y="3350000"/>
            <a:ext cx="14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15,300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57200" y="3680000"/>
            <a:ext cx="11200000" cy="3700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750000"/>
            <a:ext cx="22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 panose="020B0604020202090204"/>
                <a:ea typeface="Yu Gothic"/>
              </a:rPr>
              <a:t>合計</a:t>
            </a:r>
            <a:endParaRPr sz="1200" b="1">
              <a:solidFill>
                <a:srgbClr val="FFFFFF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00000" y="3750000"/>
            <a:ext cx="3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 panose="020B0604020202090204"/>
                <a:ea typeface="Yu Gothic"/>
              </a:rPr>
              <a:t>—</a:t>
            </a:r>
            <a:endParaRPr sz="1200" b="1">
              <a:solidFill>
                <a:srgbClr val="FFFFFF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00000" y="3750000"/>
            <a:ext cx="15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 panose="020B0604020202090204"/>
                <a:ea typeface="Yu Gothic"/>
              </a:rPr>
              <a:t>—</a:t>
            </a:r>
            <a:endParaRPr sz="1200" b="1">
              <a:solidFill>
                <a:srgbClr val="FFFFFF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000000" y="375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 panose="020B0604020202090204"/>
                <a:ea typeface="Yu Gothic"/>
              </a:rPr>
              <a:t>—</a:t>
            </a:r>
            <a:endParaRPr sz="1200" b="1">
              <a:solidFill>
                <a:srgbClr val="FFFFFF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000000" y="3750000"/>
            <a:ext cx="14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 panose="020B0604020202090204"/>
                <a:ea typeface="Yu Gothic"/>
              </a:rPr>
              <a:t>18,190</a:t>
            </a:r>
            <a:endParaRPr sz="1200" b="1">
              <a:solidFill>
                <a:srgbClr val="FFFFFF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57200" y="4300000"/>
            <a:ext cx="5400000" cy="19000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000" y="4400000"/>
            <a:ext cx="52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45C5C"/>
                </a:solidFill>
                <a:latin typeface="Arial" panose="020B0604020202090204"/>
                <a:ea typeface="Yu Gothic"/>
              </a:rPr>
              <a:t>読み方・注意</a:t>
            </a:r>
            <a:endParaRPr sz="1300" b="1">
              <a:solidFill>
                <a:srgbClr val="C45C5C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・転送費が支配的（大阪 asia-northeast2 → 東京）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・Storage 300 ≒ 元データ 251.6 GiB（7日）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・転送 1,200 ≒ 月 1,078.4 GiB の概数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・CPU:Memory = 1:4 → 4 vCPU / 16 GiB と整合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・Calculator 見積は議論用・非拘束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r>
              <a:rPr sz="1200">
                <a:solidFill>
                  <a:srgbClr val="333333"/>
                </a:solidFill>
                <a:latin typeface="Arial" panose="020B0604020202090204"/>
                <a:ea typeface="Yu Gothic"/>
              </a:rPr>
              <a:t>・年間は月額×12 ≒ ¥218,280（単純換算）</a:t>
            </a:r>
            <a:endParaRPr sz="120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200000" y="4300000"/>
            <a:ext cx="5400000" cy="1900000"/>
          </a:xfrm>
          <a:prstGeom prst="roundRect">
            <a:avLst>
              <a:gd name="adj" fmla="val 8000"/>
            </a:avLst>
          </a:prstGeom>
          <a:solidFill>
            <a:srgbClr val="E4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0000" y="4400000"/>
            <a:ext cx="52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Arial" panose="020B0604020202090204"/>
                <a:ea typeface="Yu Gothic"/>
              </a:rPr>
              <a:t>本シート未計上（別途確認）</a:t>
            </a:r>
            <a:endParaRPr sz="1300" b="1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・Storage Transfer Service 自体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・Workflows / Cloud Scheduler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・Artifact Registry / Logging / Monitoring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・seiyu-trial-data-exchange の保管・egress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100" b="0">
                <a:solidFill>
                  <a:srgbClr val="666666"/>
                </a:solidFill>
                <a:latin typeface="Arial" panose="020B0604020202090204"/>
                <a:ea typeface="Yu Gothic"/>
              </a:rPr>
              <a:t>出典：20260922-gcp-spec-estimate/SPEC.xlsx</a:t>
            </a:r>
            <a:endParaRPr sz="11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6492240"/>
            <a:ext cx="10000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 panose="020B0604020202090204"/>
                <a:ea typeface="Yu Gothic"/>
              </a:rPr>
              <a:t>GCP 環境申請　／　元データ隔離・一方向納品　／　費用・スペック込み</a:t>
            </a:r>
            <a:endParaRPr sz="10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57200" y="3980000"/>
            <a:ext cx="11200000" cy="280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000" y="4020000"/>
            <a:ext cx="11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Arial" panose="020B0604020202090204"/>
                <a:ea typeface="Yu Gothic"/>
              </a:rPr>
              <a:t>年間試算：¥18,190 × 12 ≒ ¥218,280／年（議論用・非拘束。転送量で上下）</a:t>
            </a:r>
            <a:endParaRPr sz="1300" b="1">
              <a:solidFill>
                <a:srgbClr val="0F766E"/>
              </a:solidFill>
              <a:latin typeface="Arial" panose="020B0604020202090204"/>
              <a:ea typeface="Yu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50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33333"/>
                </a:solidFill>
                <a:latin typeface="Arial" panose="020B0604020202090204"/>
                <a:ea typeface="Yu Gothic"/>
              </a:rPr>
              <a:t>費用比較：Cloud Run Jobs　vs　GKE</a:t>
            </a:r>
            <a:endParaRPr sz="24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9966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 panose="020B0604020202090204"/>
                <a:ea typeface="Yu Gothic"/>
              </a:rPr>
              <a:t>同一前提（4 vCPU / 16 GiB・日次約30h/月・Storage300・転送1200）。議論用概算・非拘束</a:t>
            </a:r>
            <a:endParaRPr sz="1200" b="0">
              <a:solidFill>
                <a:srgbClr val="666666"/>
              </a:solidFill>
              <a:latin typeface="Arial" panose="020B0604020202090204"/>
              <a:ea typeface="Yu Gothic"/>
            </a:endParaRPr>
          </a:p>
          <a:p>
            <a:r>
              <a:rPr sz="1200" b="1">
                <a:solidFill>
                  <a:srgbClr val="0F766E"/>
                </a:solidFill>
                <a:latin typeface="Arial" panose="020B0604020202090204"/>
                <a:ea typeface="Yu Gothic"/>
              </a:rPr>
              <a:t>参考年間：本件 Cloud Run ≒ ¥218,280／年（月額×12）</a:t>
            </a:r>
            <a:endParaRPr sz="1200" b="1">
              <a:solidFill>
                <a:srgbClr val="0F766E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73968" y="256032"/>
            <a:ext cx="700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Arial" panose="020B0604020202090204"/>
                <a:ea typeface="Yu Gothic"/>
              </a:rPr>
              <a:t>7 / 7</a:t>
            </a:r>
            <a:endParaRPr sz="12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014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33272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 panose="020B0604020202090204"/>
                <a:ea typeface="Yu Gothic"/>
              </a:rPr>
              <a:t>リージョン：東京 asia-northeast1　・　dev / stg / prod</a:t>
            </a:r>
            <a:endParaRPr sz="11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18120" y="1024128"/>
            <a:ext cx="146304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今回申請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69680" y="102412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999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常時稼働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921240" y="1024128"/>
            <a:ext cx="146304" cy="146304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31552" y="987552"/>
            <a:ext cx="90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 panose="020B0604020202090204"/>
                <a:ea typeface="Yu Gothic"/>
              </a:rPr>
              <a:t>既存・外部</a:t>
            </a:r>
            <a:endParaRPr sz="10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280000"/>
            <a:ext cx="112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Arial" panose="020B0604020202090204"/>
                <a:ea typeface="Yu Gothic"/>
              </a:rPr>
              <a:t>GCS 保管＋大阪→東京転送（約 ¥16,400）は共通。差が出るのは計算基盤とクラスタ管理費。</a:t>
            </a:r>
            <a:endParaRPr sz="13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1550000"/>
            <a:ext cx="11200000" cy="355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00" y="1610000"/>
            <a:ext cx="36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Arial" panose="020B0604020202090204"/>
                <a:ea typeface="Yu Gothic"/>
              </a:rPr>
              <a:t>構成</a:t>
            </a:r>
            <a:endParaRPr sz="12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00000" y="161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Arial" panose="020B0604020202090204"/>
                <a:ea typeface="Yu Gothic"/>
              </a:rPr>
              <a:t>計算費</a:t>
            </a:r>
            <a:endParaRPr sz="11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00000" y="161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Arial" panose="020B0604020202090204"/>
                <a:ea typeface="Yu Gothic"/>
              </a:rPr>
              <a:t>クラスタ管理</a:t>
            </a:r>
            <a:endParaRPr sz="11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00000" y="1610000"/>
            <a:ext cx="17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Arial" panose="020B0604020202090204"/>
                <a:ea typeface="Yu Gothic"/>
              </a:rPr>
              <a:t>GCS+転送</a:t>
            </a:r>
            <a:endParaRPr sz="11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00000" y="1610000"/>
            <a:ext cx="16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Arial" panose="020B0604020202090204"/>
                <a:ea typeface="Yu Gothic"/>
              </a:rPr>
              <a:t>月合計 概算</a:t>
            </a:r>
            <a:endParaRPr sz="11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1930000"/>
            <a:ext cx="11200000" cy="355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00" y="1990000"/>
            <a:ext cx="36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Arial" panose="020B0604020202090204"/>
                <a:ea typeface="Yu Gothic"/>
              </a:rPr>
              <a:t>Cloud Run Jobs（本件 SPEC）</a:t>
            </a:r>
            <a:endParaRPr sz="12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0000" y="199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Arial" panose="020B0604020202090204"/>
                <a:ea typeface="Yu Gothic"/>
              </a:rPr>
              <a:t>¥1,790</a:t>
            </a:r>
            <a:endParaRPr sz="11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00000" y="199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Arial" panose="020B0604020202090204"/>
                <a:ea typeface="Yu Gothic"/>
              </a:rPr>
              <a:t>—</a:t>
            </a:r>
            <a:endParaRPr sz="11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00000" y="1990000"/>
            <a:ext cx="17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Arial" panose="020B0604020202090204"/>
                <a:ea typeface="Yu Gothic"/>
              </a:rPr>
              <a:t>¥16,400</a:t>
            </a:r>
            <a:endParaRPr sz="11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00000" y="1990000"/>
            <a:ext cx="16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0F766E"/>
                </a:solidFill>
                <a:latin typeface="Arial" panose="020B0604020202090204"/>
                <a:ea typeface="Yu Gothic"/>
              </a:rPr>
              <a:t>¥18,190</a:t>
            </a:r>
            <a:endParaRPr sz="1100" b="1">
              <a:solidFill>
                <a:srgbClr val="0F766E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57200" y="2310000"/>
            <a:ext cx="11200000" cy="35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00" y="2370000"/>
            <a:ext cx="36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GKE Autopilot（管理費あり）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00000" y="237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Arial" panose="020B0604020202090204"/>
                <a:ea typeface="Yu Gothic"/>
              </a:rPr>
              <a:t>~¥1,200</a:t>
            </a:r>
            <a:endParaRPr sz="11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00000" y="237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Arial" panose="020B0604020202090204"/>
                <a:ea typeface="Yu Gothic"/>
              </a:rPr>
              <a:t>~¥11,500</a:t>
            </a:r>
            <a:endParaRPr sz="11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00000" y="2370000"/>
            <a:ext cx="17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Arial" panose="020B0604020202090204"/>
                <a:ea typeface="Yu Gothic"/>
              </a:rPr>
              <a:t>¥16,400</a:t>
            </a:r>
            <a:endParaRPr sz="11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00000" y="2370000"/>
            <a:ext cx="16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Arial" panose="020B0604020202090204"/>
                <a:ea typeface="Yu Gothic"/>
              </a:rPr>
              <a:t>~¥29,000</a:t>
            </a:r>
            <a:endParaRPr sz="11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57200" y="2690000"/>
            <a:ext cx="11200000" cy="3550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00" y="2750000"/>
            <a:ext cx="36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GKE Standard 常駐 e2-standard-4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0000" y="275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Arial" panose="020B0604020202090204"/>
                <a:ea typeface="Yu Gothic"/>
              </a:rPr>
              <a:t>~¥20,000</a:t>
            </a:r>
            <a:endParaRPr sz="11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00000" y="2750000"/>
            <a:ext cx="19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Arial" panose="020B0604020202090204"/>
                <a:ea typeface="Yu Gothic"/>
              </a:rPr>
              <a:t>0〜¥11,500</a:t>
            </a:r>
            <a:endParaRPr sz="11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00000" y="2750000"/>
            <a:ext cx="17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Arial" panose="020B0604020202090204"/>
                <a:ea typeface="Yu Gothic"/>
              </a:rPr>
              <a:t>¥16,400</a:t>
            </a:r>
            <a:endParaRPr sz="11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00000" y="2750000"/>
            <a:ext cx="16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Arial" panose="020B0604020202090204"/>
                <a:ea typeface="Yu Gothic"/>
              </a:rPr>
              <a:t>~¥36,000〜48,000</a:t>
            </a:r>
            <a:endParaRPr sz="1100" b="0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57200" y="3220000"/>
            <a:ext cx="5400000" cy="2600000"/>
          </a:xfrm>
          <a:prstGeom prst="roundRect">
            <a:avLst>
              <a:gd name="adj" fmla="val 8000"/>
            </a:avLst>
          </a:prstGeom>
          <a:solidFill>
            <a:srgbClr val="E4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000" y="3320000"/>
            <a:ext cx="5200000" cy="2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Arial" panose="020B0604020202090204"/>
                <a:ea typeface="Yu Gothic"/>
              </a:rPr>
              <a:t>読み方</a:t>
            </a:r>
            <a:endParaRPr sz="1300" b="1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・転送費はどちらも同じ（約84%の主因）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・差は主にクラスタ管理費（常駐）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・Autopilot でも管理費が残りやすい（約 +¥11,500／月 程度）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・常駐ノード案は本件バッチに対して過剰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C45C5C"/>
                </a:solidFill>
                <a:latin typeface="Arial" panose="020B0604020202090204"/>
                <a:ea typeface="Yu Gothic"/>
              </a:rPr>
              <a:t>・本件は Cloud Run Jobs（クラスタ不要）</a:t>
            </a:r>
            <a:endParaRPr sz="1200" b="0">
              <a:solidFill>
                <a:srgbClr val="C45C5C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200000" y="3220000"/>
            <a:ext cx="5400000" cy="2600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0000" y="3320000"/>
            <a:ext cx="5200000" cy="2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Arial" panose="020B0604020202090204"/>
                <a:ea typeface="Yu Gothic"/>
              </a:rPr>
              <a:t>前提・注意（概算）</a:t>
            </a:r>
            <a:endParaRPr sz="1300" b="1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・日次バッチ ≈ 30h/月 × 4vCPU/16GiB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・為替 ≈ ¥159/USD（転送単価から逆算）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・GKE 行は Calculator 未出力の机上試算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Arial" panose="020B0604020202090204"/>
                <a:ea typeface="Yu Gothic"/>
              </a:rPr>
              <a:t>・Logging / LB / 永続ディスク等は未計上</a:t>
            </a:r>
            <a:endParaRPr sz="1200" b="0">
              <a:solidFill>
                <a:srgbClr val="333333"/>
              </a:solidFill>
              <a:latin typeface="Arial" panose="020B0604020202090204"/>
              <a:ea typeface="Yu Gothic"/>
            </a:endParaRPr>
          </a:p>
          <a:p>
            <a:pPr algn="l"/>
            <a:r>
              <a:rPr sz="1100" b="0">
                <a:solidFill>
                  <a:srgbClr val="666666"/>
                </a:solidFill>
                <a:latin typeface="Arial" panose="020B0604020202090204"/>
                <a:ea typeface="Yu Gothic"/>
              </a:rPr>
              <a:t>・正式比較は Pricing Calculator で要再出力</a:t>
            </a:r>
            <a:endParaRPr sz="11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" y="606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112240"/>
            <a:ext cx="11000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 panose="020B0604020202090204"/>
                <a:ea typeface="Yu Gothic"/>
              </a:rPr>
              <a:t>GCP 環境申請　／　元データ隔離・一方向納品　／　Cloud Run 採用理由・GKE比較込み</a:t>
            </a:r>
            <a:endParaRPr sz="1000" b="0">
              <a:solidFill>
                <a:srgbClr val="666666"/>
              </a:solidFill>
              <a:latin typeface="Arial" panose="020B0604020202090204"/>
              <a:ea typeface="Yu Gothic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57200" y="5400000"/>
            <a:ext cx="11200000" cy="2800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000" y="5440000"/>
            <a:ext cx="11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33333"/>
                </a:solidFill>
                <a:latin typeface="Arial" panose="020B0604020202090204"/>
                <a:ea typeface="Yu Gothic"/>
              </a:rPr>
              <a:t>年間換算の目安（月額×12）：Cloud Run ≈ ¥218,280／年 ｜ Autopilot ≈ ¥348,000／年 ｜ Standard常駐 ≈ ¥432,000〜576,000／年</a:t>
            </a:r>
            <a:endParaRPr sz="1100" b="1">
              <a:solidFill>
                <a:srgbClr val="333333"/>
              </a:solidFill>
              <a:latin typeface="Arial" panose="020B0604020202090204"/>
              <a:ea typeface="Yu Gothic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MwZjU5OTQyYWRhNzIxMjM4YzhlZDJlZmMzMzJmOW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5647</Words>
  <Application>WPS 演示</Application>
  <PresentationFormat>On-screen Show (16:9)</PresentationFormat>
  <Paragraphs>476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4" baseType="lpstr">
      <vt:lpstr>Arial</vt:lpstr>
      <vt:lpstr>宋体</vt:lpstr>
      <vt:lpstr>Wingdings</vt:lpstr>
      <vt:lpstr>Arial</vt:lpstr>
      <vt:lpstr>Yu Gothic</vt:lpstr>
      <vt:lpstr>Thonburi</vt:lpstr>
      <vt:lpstr>Arial</vt:lpstr>
      <vt:lpstr>Yu Gothic</vt:lpstr>
      <vt:lpstr>Aptos</vt:lpstr>
      <vt:lpstr>MS Mincho</vt:lpstr>
      <vt:lpstr>Helvetica Neue</vt:lpstr>
      <vt:lpstr>宋体</vt:lpstr>
      <vt:lpstr>汉仪书宋二KW</vt:lpstr>
      <vt:lpstr>MS PGothic</vt:lpstr>
      <vt:lpstr>苹方-简</vt:lpstr>
      <vt:lpstr>微软雅黑</vt:lpstr>
      <vt:lpstr>方正雅意黑 GB18030L2</vt:lpstr>
      <vt:lpstr>Arial Unicode MS</vt:lpstr>
      <vt:lpstr>等线</vt:lpstr>
      <vt:lpstr>汉仪中等线KW</vt:lpstr>
      <vt:lpstr>Calibri</vt:lpstr>
      <vt:lpstr>Hiragino Sans</vt:lpstr>
      <vt:lpstr>Aptos</vt:lpstr>
      <vt:lpstr>MS Mincho</vt:lpstr>
      <vt:lpstr>Yu Gothic</vt:lpstr>
      <vt:lpstr>游ゴシック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申請対象の構成図</dc:title>
  <dc:creator>OpenAI</dc:creator>
  <dc:subject>大阪集計 GCS から東京 SMART 処理・Seiyu GCS 納品</dc:subject>
  <cp:lastModifiedBy>空之翼1394263635</cp:lastModifiedBy>
  <cp:revision>4</cp:revision>
  <dcterms:created xsi:type="dcterms:W3CDTF">2026-09-23T01:22:23Z</dcterms:created>
  <dcterms:modified xsi:type="dcterms:W3CDTF">2026-09-23T01:22:23Z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A9475B56DA174B11B9C965567602C371_12</vt:lpwstr>
  </property>
  <property fmtid="{D5CDD505-2E9C-101B-9397-08002B2CF9AE}" pid="3" name="KSOProductBuildVer">
    <vt:lpwstr>2052-12.1.26055.26055</vt:lpwstr>
  </property>
</Properties>
</file>