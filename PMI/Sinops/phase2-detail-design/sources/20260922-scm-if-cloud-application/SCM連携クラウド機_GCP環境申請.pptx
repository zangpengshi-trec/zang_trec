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6858000" cx="12192000"/>
  <p:notesSz cx="6858000" cy="12192000"/>
  <p:embeddedFontLst>
    <p:embeddedFont>
      <p:font typeface="BIZ UDMincho"/>
      <p:regular r:id="rId12"/>
      <p:bold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4" roundtripDataSignature="AMtx7mg3vGw0Zmi8iOtibSTv33WYlpPK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font" Target="fonts/BIZUDMincho-regular.fntdata"/><Relationship Id="rId13" Type="http://schemas.openxmlformats.org/officeDocument/2006/relationships/font" Target="fonts/BIZUDMincho-bold.fntdata"/><Relationship Id="rId1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6" name="Google Shape;16;p1"/>
          <p:cNvSpPr txBox="1"/>
          <p:nvPr/>
        </p:nvSpPr>
        <p:spPr>
          <a:xfrm>
            <a:off x="457200" y="180000"/>
            <a:ext cx="98001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背景・なぜ新しいクラウド機を申請するか</a:t>
            </a:r>
            <a:endParaRPr b="1" i="0" sz="2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7" name="Google Shape;17;p1"/>
          <p:cNvSpPr txBox="1"/>
          <p:nvPr/>
        </p:nvSpPr>
        <p:spPr>
          <a:xfrm>
            <a:off x="475488" y="580000"/>
            <a:ext cx="9966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西友 MD 基幹統合／PMI 課題 Phase2　—　TRIAL 側 Layer① の実行基盤が必要</a:t>
            </a:r>
            <a:endParaRPr i="0" sz="1200" u="none" cap="none" strike="noStrike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11173968" y="220000"/>
            <a:ext cx="6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1 / 7</a:t>
            </a:r>
            <a:endParaRPr i="0" sz="1200" u="none" cap="none" strike="noStrike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900000"/>
            <a:ext cx="11201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0" name="Google Shape;20;p1"/>
          <p:cNvSpPr txBox="1"/>
          <p:nvPr/>
        </p:nvSpPr>
        <p:spPr>
          <a:xfrm>
            <a:off x="457200" y="960000"/>
            <a:ext cx="69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100" u="none" cap="none" strike="noStrike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リージョン：東京 asia-northeast1　・　dev / stg / prod</a:t>
            </a:r>
            <a:endParaRPr i="0" sz="1100" u="none" cap="none" strike="noStrike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818120" y="980000"/>
            <a:ext cx="146304" cy="146304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2" name="Google Shape;22;p1"/>
          <p:cNvSpPr txBox="1"/>
          <p:nvPr/>
        </p:nvSpPr>
        <p:spPr>
          <a:xfrm>
            <a:off x="8028432" y="940000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0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今回申請</a:t>
            </a:r>
            <a:endParaRPr i="0" sz="10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8869680" y="980000"/>
            <a:ext cx="146304" cy="1463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4" name="Google Shape;24;p1"/>
          <p:cNvSpPr txBox="1"/>
          <p:nvPr/>
        </p:nvSpPr>
        <p:spPr>
          <a:xfrm>
            <a:off x="9079992" y="940000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0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常時稼働</a:t>
            </a:r>
            <a:endParaRPr i="0" sz="10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9921240" y="980000"/>
            <a:ext cx="146304" cy="146304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6" name="Google Shape;26;p1"/>
          <p:cNvSpPr txBox="1"/>
          <p:nvPr/>
        </p:nvSpPr>
        <p:spPr>
          <a:xfrm>
            <a:off x="10131552" y="940000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0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既存・外部</a:t>
            </a:r>
            <a:endParaRPr i="0" sz="10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457200" y="1220000"/>
            <a:ext cx="5400000" cy="2100000"/>
          </a:xfrm>
          <a:prstGeom prst="roundRect">
            <a:avLst>
              <a:gd fmla="val 8000" name="adj"/>
            </a:avLst>
          </a:prstGeom>
          <a:solidFill>
            <a:srgbClr val="FCE4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8" name="Google Shape;28;p1"/>
          <p:cNvSpPr txBox="1"/>
          <p:nvPr/>
        </p:nvSpPr>
        <p:spPr>
          <a:xfrm>
            <a:off x="530000" y="1300000"/>
            <a:ext cx="5199900" cy="12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65911"/>
                </a:solidFill>
                <a:latin typeface="BIZ UDMincho"/>
                <a:ea typeface="BIZ UDMincho"/>
                <a:cs typeface="BIZ UDMincho"/>
                <a:sym typeface="BIZ UDMincho"/>
              </a:rPr>
              <a:t>いま起きていること（背景）</a:t>
            </a:r>
            <a:endParaRPr b="1" i="0" sz="1300" u="none" cap="none" strike="noStrike">
              <a:solidFill>
                <a:srgbClr val="C6591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・西友×TRIAL の MD 基幹統合・PMI 課題 Phase2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・集計系データ（大阪）を西友側へ日次で渡す必要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・TRIAL と西友の間の正本連携経路は seiyu-trial-data-exchange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・型変換・共通化は TRIAL 側で吸収する方針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・課題ごとに PJ を割ると SCM 連携面が割れる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6200000" y="1220000"/>
            <a:ext cx="5400000" cy="2100000"/>
          </a:xfrm>
          <a:prstGeom prst="roundRect">
            <a:avLst>
              <a:gd fmla="val 8000" name="adj"/>
            </a:avLst>
          </a:prstGeom>
          <a:solidFill>
            <a:srgbClr val="F5F9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0" name="Google Shape;30;p1"/>
          <p:cNvSpPr txBox="1"/>
          <p:nvPr/>
        </p:nvSpPr>
        <p:spPr>
          <a:xfrm>
            <a:off x="6300000" y="1300000"/>
            <a:ext cx="5199900" cy="12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F75B5"/>
                </a:solidFill>
                <a:latin typeface="BIZ UDMincho"/>
                <a:ea typeface="BIZ UDMincho"/>
                <a:cs typeface="BIZ UDMincho"/>
                <a:sym typeface="BIZ UDMincho"/>
              </a:rPr>
              <a:t>だから必要なもの（目的）</a:t>
            </a:r>
            <a:endParaRPr b="1" i="0" sz="1300" u="none" cap="none" strike="noStrike">
              <a:solidFill>
                <a:srgbClr val="2F75B5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・TRIAL GCP 上の SCM 連携機を 1 台に集約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・Layer①：取得・変換・配置（バッチ）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・付帯GCS（元データ）＋ Cloud Run（処理）を一体申請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・最終 TXT のみ seiyu-trial-data-exchange へ一方向納品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・既存の惣菜／MD-Link／Inunaki と並列の位置づけ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57200" y="3500000"/>
            <a:ext cx="5400000" cy="2100000"/>
          </a:xfrm>
          <a:prstGeom prst="roundRect">
            <a:avLst>
              <a:gd fmla="val 8000" name="adj"/>
            </a:avLst>
          </a:prstGeom>
          <a:solidFill>
            <a:srgbClr val="E4DF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2" name="Google Shape;32;p1"/>
          <p:cNvSpPr txBox="1"/>
          <p:nvPr/>
        </p:nvSpPr>
        <p:spPr>
          <a:xfrm>
            <a:off x="530000" y="3580000"/>
            <a:ext cx="5199900" cy="12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役割分担（なぜ「新機」か）</a:t>
            </a:r>
            <a:endParaRPr b="1" i="0" sz="13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766E"/>
                </a:solidFill>
                <a:latin typeface="BIZ UDMincho"/>
                <a:ea typeface="BIZ UDMincho"/>
                <a:cs typeface="BIZ UDMincho"/>
                <a:sym typeface="BIZ UDMincho"/>
              </a:rPr>
              <a:t>・Layer①＝今回申請のクラウド機（TRIAL GCP）</a:t>
            </a:r>
            <a:endParaRPr b="1" i="0" sz="1200" u="none" cap="none" strike="noStrike">
              <a:solidFill>
                <a:srgbClr val="0F766E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・Layer②③＝西友 Azure の既存 DataSpider を使用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・DSS は全フィールドを通過。変換は Layer①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・本機ディスクなし。永続は GCS のみ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・PMI 課題 Phase2 の実行基盤前提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6200000" y="3500000"/>
            <a:ext cx="5400000" cy="2100000"/>
          </a:xfrm>
          <a:prstGeom prst="roundRect">
            <a:avLst>
              <a:gd fmla="val 8000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4" name="Google Shape;34;p1"/>
          <p:cNvSpPr txBox="1"/>
          <p:nvPr/>
        </p:nvSpPr>
        <p:spPr>
          <a:xfrm>
            <a:off x="6300000" y="3580000"/>
            <a:ext cx="51999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BIZ UDMincho"/>
                <a:ea typeface="BIZ UDMincho"/>
                <a:cs typeface="BIZ UDMincho"/>
                <a:sym typeface="BIZ UDMincho"/>
              </a:rPr>
              <a:t>今回申請する／しない</a:t>
            </a:r>
            <a:endParaRPr b="1" i="0" sz="1300" u="none" cap="none" strike="noStrike">
              <a:solidFill>
                <a:srgbClr val="0F766E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申請する：1 PJ・Cloud Run Jobs・本PJ GCS</a:t>
            </a:r>
            <a:endParaRPr b="1"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　　　　　Scheduler / Workflows / STS 等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申請しない：GKE・本機永続ディスク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　　　　　　DataSpider・seiyu-trial-data-exchange 本体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100" u="none" cap="none" strike="noStrike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　　　　　　（seiyu-trial-data-exchange は松尾さんへ別途申請）</a:t>
            </a:r>
            <a:endParaRPr i="0" sz="1100" u="none" cap="none" strike="noStrike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457200" y="5800000"/>
            <a:ext cx="11200000" cy="500000"/>
          </a:xfrm>
          <a:prstGeom prst="roundRect">
            <a:avLst>
              <a:gd fmla="val 8000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6" name="Google Shape;36;p1"/>
          <p:cNvSpPr txBox="1"/>
          <p:nvPr/>
        </p:nvSpPr>
        <p:spPr>
          <a:xfrm>
            <a:off x="530000" y="5847291"/>
            <a:ext cx="110001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一言で言うと：TRIAL と西友の間のデータ連携を回すため、TRIAL 側に「変換付きの統一 IF 基盤」が要る。だから新規 1 プロジェクトの SCM連携クラウド機を申請する。</a:t>
            </a:r>
            <a:endParaRPr b="1" i="0" sz="13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457200" y="6446520"/>
            <a:ext cx="1124712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8" name="Google Shape;38;p1"/>
          <p:cNvSpPr txBox="1"/>
          <p:nvPr/>
        </p:nvSpPr>
        <p:spPr>
          <a:xfrm>
            <a:off x="502920" y="6492240"/>
            <a:ext cx="110001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000" u="none" cap="none" strike="noStrike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GCP 環境申請　／　背景・判断・構成・費用　／　元データ隔離・一方向納品</a:t>
            </a:r>
            <a:endParaRPr i="0" sz="1000" u="none" cap="none" strike="noStrike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44" name="Google Shape;44;p2"/>
          <p:cNvSpPr txBox="1"/>
          <p:nvPr/>
        </p:nvSpPr>
        <p:spPr>
          <a:xfrm>
            <a:off x="457200" y="201168"/>
            <a:ext cx="9500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なぜ Cloud Run Jobs を採用するか</a:t>
            </a:r>
            <a:endParaRPr b="1" i="0" sz="24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45" name="Google Shape;45;p2"/>
          <p:cNvSpPr txBox="1"/>
          <p:nvPr/>
        </p:nvSpPr>
        <p:spPr>
          <a:xfrm>
            <a:off x="475488" y="658368"/>
            <a:ext cx="9966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GKE ではなく Cloud Run を選ぶ判断基準（本件＝日次ファイル IF バッチ）</a:t>
            </a:r>
            <a:endParaRPr i="0" sz="1200" u="none" cap="none" strike="noStrike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46" name="Google Shape;46;p2"/>
          <p:cNvSpPr txBox="1"/>
          <p:nvPr/>
        </p:nvSpPr>
        <p:spPr>
          <a:xfrm>
            <a:off x="11173968" y="256032"/>
            <a:ext cx="6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2 / 7</a:t>
            </a:r>
            <a:endParaRPr i="0" sz="1200" u="none" cap="none" strike="noStrike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457200" y="960120"/>
            <a:ext cx="11201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48" name="Google Shape;48;p2"/>
          <p:cNvSpPr txBox="1"/>
          <p:nvPr/>
        </p:nvSpPr>
        <p:spPr>
          <a:xfrm>
            <a:off x="457200" y="1033272"/>
            <a:ext cx="6583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100" u="none" cap="none" strike="noStrike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リージョン：東京 asia-northeast1　・　dev / stg / prod</a:t>
            </a:r>
            <a:endParaRPr i="0" sz="1100" u="none" cap="none" strike="noStrike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7818120" y="1024128"/>
            <a:ext cx="146304" cy="146304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50" name="Google Shape;50;p2"/>
          <p:cNvSpPr txBox="1"/>
          <p:nvPr/>
        </p:nvSpPr>
        <p:spPr>
          <a:xfrm>
            <a:off x="8028432" y="987552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0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今回申請</a:t>
            </a:r>
            <a:endParaRPr i="0" sz="10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8869680" y="1024128"/>
            <a:ext cx="146304" cy="1463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52" name="Google Shape;52;p2"/>
          <p:cNvSpPr txBox="1"/>
          <p:nvPr/>
        </p:nvSpPr>
        <p:spPr>
          <a:xfrm>
            <a:off x="9079992" y="987552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0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常時稼働</a:t>
            </a:r>
            <a:endParaRPr i="0" sz="10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9921240" y="1024128"/>
            <a:ext cx="146304" cy="146304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54" name="Google Shape;54;p2"/>
          <p:cNvSpPr txBox="1"/>
          <p:nvPr/>
        </p:nvSpPr>
        <p:spPr>
          <a:xfrm>
            <a:off x="10131552" y="987552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0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既存・外部</a:t>
            </a:r>
            <a:endParaRPr i="0" sz="10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457200" y="1280000"/>
            <a:ext cx="5400000" cy="2100000"/>
          </a:xfrm>
          <a:prstGeom prst="roundRect">
            <a:avLst>
              <a:gd fmla="val 8000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56" name="Google Shape;56;p2"/>
          <p:cNvSpPr txBox="1"/>
          <p:nvPr/>
        </p:nvSpPr>
        <p:spPr>
          <a:xfrm>
            <a:off x="537200" y="1340000"/>
            <a:ext cx="5199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F75B5"/>
                </a:solidFill>
                <a:latin typeface="BIZ UDMincho"/>
                <a:ea typeface="BIZ UDMincho"/>
                <a:cs typeface="BIZ UDMincho"/>
                <a:sym typeface="BIZ UDMincho"/>
              </a:rPr>
              <a:t>① 動き方</a:t>
            </a:r>
            <a:endParaRPr b="1" i="0" sz="1400" u="none" cap="none" strike="noStrike">
              <a:solidFill>
                <a:srgbClr val="2F75B5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57" name="Google Shape;57;p2"/>
          <p:cNvSpPr txBox="1"/>
          <p:nvPr/>
        </p:nvSpPr>
        <p:spPr>
          <a:xfrm>
            <a:off x="537200" y="1680000"/>
            <a:ext cx="51999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766E"/>
                </a:solidFill>
                <a:latin typeface="BIZ UDMincho"/>
                <a:ea typeface="BIZ UDMincho"/>
                <a:cs typeface="BIZ UDMincho"/>
                <a:sym typeface="BIZ UDMincho"/>
              </a:rPr>
              <a:t>Cloud Run Jobs（採用）</a:t>
            </a:r>
            <a:endParaRPr b="1" i="0" sz="1200" u="none" cap="none" strike="noStrike">
              <a:solidFill>
                <a:srgbClr val="0F766E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時刻起動 → 処理 → 終了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遊休時は止められる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45C5C"/>
                </a:solidFill>
                <a:latin typeface="BIZ UDMincho"/>
                <a:ea typeface="BIZ UDMincho"/>
                <a:cs typeface="BIZ UDMincho"/>
                <a:sym typeface="BIZ UDMincho"/>
              </a:rPr>
              <a:t>GKE</a:t>
            </a:r>
            <a:endParaRPr b="1" i="0" sz="1200" u="none" cap="none" strike="noStrike">
              <a:solidFill>
                <a:srgbClr val="C45C5C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クラスタ／ノードを常設しやすい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バッチには固定費が残りやすい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6200000" y="1280000"/>
            <a:ext cx="5400000" cy="2100000"/>
          </a:xfrm>
          <a:prstGeom prst="roundRect">
            <a:avLst>
              <a:gd fmla="val 8000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59" name="Google Shape;59;p2"/>
          <p:cNvSpPr txBox="1"/>
          <p:nvPr/>
        </p:nvSpPr>
        <p:spPr>
          <a:xfrm>
            <a:off x="6280000" y="1340000"/>
            <a:ext cx="5199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F75B5"/>
                </a:solidFill>
                <a:latin typeface="BIZ UDMincho"/>
                <a:ea typeface="BIZ UDMincho"/>
                <a:cs typeface="BIZ UDMincho"/>
                <a:sym typeface="BIZ UDMincho"/>
              </a:rPr>
              <a:t>② 本機の仕事</a:t>
            </a:r>
            <a:endParaRPr b="1" i="0" sz="1400" u="none" cap="none" strike="noStrike">
              <a:solidFill>
                <a:srgbClr val="2F75B5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60" name="Google Shape;60;p2"/>
          <p:cNvSpPr txBox="1"/>
          <p:nvPr/>
        </p:nvSpPr>
        <p:spPr>
          <a:xfrm>
            <a:off x="6280000" y="1680000"/>
            <a:ext cx="51999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766E"/>
                </a:solidFill>
                <a:latin typeface="BIZ UDMincho"/>
                <a:ea typeface="BIZ UDMincho"/>
                <a:cs typeface="BIZ UDMincho"/>
                <a:sym typeface="BIZ UDMincho"/>
              </a:rPr>
              <a:t>Cloud Run Jobs（採用）</a:t>
            </a:r>
            <a:endParaRPr b="1" i="0" sz="1200" u="none" cap="none" strike="noStrike">
              <a:solidFill>
                <a:srgbClr val="0F766E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抽出・変換・GCS プッシュ／プル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日次バッチ変換機に適合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45C5C"/>
                </a:solidFill>
                <a:latin typeface="BIZ UDMincho"/>
                <a:ea typeface="BIZ UDMincho"/>
                <a:cs typeface="BIZ UDMincho"/>
                <a:sym typeface="BIZ UDMincho"/>
              </a:rPr>
              <a:t>GKE</a:t>
            </a:r>
            <a:endParaRPr b="1" i="0" sz="1200" u="none" cap="none" strike="noStrike">
              <a:solidFill>
                <a:srgbClr val="C45C5C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向きはマイクロサービス／常時 API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本件の主用途ではない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457200" y="3600000"/>
            <a:ext cx="5400000" cy="2100000"/>
          </a:xfrm>
          <a:prstGeom prst="roundRect">
            <a:avLst>
              <a:gd fmla="val 8000" name="adj"/>
            </a:avLst>
          </a:prstGeom>
          <a:solidFill>
            <a:srgbClr val="E2F0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62" name="Google Shape;62;p2"/>
          <p:cNvSpPr txBox="1"/>
          <p:nvPr/>
        </p:nvSpPr>
        <p:spPr>
          <a:xfrm>
            <a:off x="537200" y="3660000"/>
            <a:ext cx="5199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F75B5"/>
                </a:solidFill>
                <a:latin typeface="BIZ UDMincho"/>
                <a:ea typeface="BIZ UDMincho"/>
                <a:cs typeface="BIZ UDMincho"/>
                <a:sym typeface="BIZ UDMincho"/>
              </a:rPr>
              <a:t>③ ストレージ方針</a:t>
            </a:r>
            <a:endParaRPr b="1" i="0" sz="1400" u="none" cap="none" strike="noStrike">
              <a:solidFill>
                <a:srgbClr val="2F75B5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63" name="Google Shape;63;p2"/>
          <p:cNvSpPr txBox="1"/>
          <p:nvPr/>
        </p:nvSpPr>
        <p:spPr>
          <a:xfrm>
            <a:off x="537200" y="4000000"/>
            <a:ext cx="51999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766E"/>
                </a:solidFill>
                <a:latin typeface="BIZ UDMincho"/>
                <a:ea typeface="BIZ UDMincho"/>
                <a:cs typeface="BIZ UDMincho"/>
                <a:sym typeface="BIZ UDMincho"/>
              </a:rPr>
              <a:t>Cloud Run Jobs（採用）</a:t>
            </a:r>
            <a:endParaRPr b="1" i="0" sz="1200" u="none" cap="none" strike="noStrike">
              <a:solidFill>
                <a:srgbClr val="0F766E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ステートレス。正本は GCS のみ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本機ディスク／ステージングなし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45C5C"/>
                </a:solidFill>
                <a:latin typeface="BIZ UDMincho"/>
                <a:ea typeface="BIZ UDMincho"/>
                <a:cs typeface="BIZ UDMincho"/>
                <a:sym typeface="BIZ UDMincho"/>
              </a:rPr>
              <a:t>GKE</a:t>
            </a:r>
            <a:endParaRPr b="1" i="0" sz="1200" u="none" cap="none" strike="noStrike">
              <a:solidFill>
                <a:srgbClr val="C45C5C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ノード・永続ボリューム運用前提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設計（GCS に集約）と齟齬しやすい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6200000" y="3600000"/>
            <a:ext cx="5400000" cy="2100000"/>
          </a:xfrm>
          <a:prstGeom prst="roundRect">
            <a:avLst>
              <a:gd fmla="val 8000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65" name="Google Shape;65;p2"/>
          <p:cNvSpPr txBox="1"/>
          <p:nvPr/>
        </p:nvSpPr>
        <p:spPr>
          <a:xfrm>
            <a:off x="6280000" y="3660000"/>
            <a:ext cx="5199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F75B5"/>
                </a:solidFill>
                <a:latin typeface="BIZ UDMincho"/>
                <a:ea typeface="BIZ UDMincho"/>
                <a:cs typeface="BIZ UDMincho"/>
                <a:sym typeface="BIZ UDMincho"/>
              </a:rPr>
              <a:t>④ 運用・費用</a:t>
            </a:r>
            <a:endParaRPr b="1" i="0" sz="1400" u="none" cap="none" strike="noStrike">
              <a:solidFill>
                <a:srgbClr val="2F75B5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66" name="Google Shape;66;p2"/>
          <p:cNvSpPr txBox="1"/>
          <p:nvPr/>
        </p:nvSpPr>
        <p:spPr>
          <a:xfrm>
            <a:off x="6280000" y="4000000"/>
            <a:ext cx="51999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766E"/>
                </a:solidFill>
                <a:latin typeface="BIZ UDMincho"/>
                <a:ea typeface="BIZ UDMincho"/>
                <a:cs typeface="BIZ UDMincho"/>
                <a:sym typeface="BIZ UDMincho"/>
              </a:rPr>
              <a:t>Cloud Run Jobs（採用）</a:t>
            </a:r>
            <a:endParaRPr b="1" i="0" sz="1200" u="none" cap="none" strike="noStrike">
              <a:solidFill>
                <a:srgbClr val="0F766E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申請・運用が軽い。従量バッチ向き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SPEC 月約 ¥18,190（転送が大半）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45C5C"/>
                </a:solidFill>
                <a:latin typeface="BIZ UDMincho"/>
                <a:ea typeface="BIZ UDMincho"/>
                <a:cs typeface="BIZ UDMincho"/>
                <a:sym typeface="BIZ UDMincho"/>
              </a:rPr>
              <a:t>GKE</a:t>
            </a:r>
            <a:endParaRPr b="1" i="0" sz="1200" u="none" cap="none" strike="noStrike">
              <a:solidFill>
                <a:srgbClr val="C45C5C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クラスタ費＋運用負荷が大きい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200" u="none" cap="none" strike="noStrike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常駐案は月 +¥2万前後になり得る</a:t>
            </a:r>
            <a:endParaRPr i="0" sz="1200" u="none" cap="none" strike="noStrike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457200" y="5850000"/>
            <a:ext cx="11200000" cy="480000"/>
          </a:xfrm>
          <a:prstGeom prst="roundRect">
            <a:avLst>
              <a:gd fmla="val 8000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68" name="Google Shape;68;p2"/>
          <p:cNvSpPr txBox="1"/>
          <p:nvPr/>
        </p:nvSpPr>
        <p:spPr>
          <a:xfrm>
            <a:off x="530000" y="5920000"/>
            <a:ext cx="11000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BIZ UDMincho"/>
                <a:ea typeface="BIZ UDMincho"/>
                <a:cs typeface="BIZ UDMincho"/>
                <a:sym typeface="BIZ UDMincho"/>
              </a:rPr>
              <a:t>結論：常時動かす基盤ではなく、必要なときだけ動くバッチなので Cloud Run Jobs。GKE は常設クラスタ前提で、今回の IF 機には過剰。</a:t>
            </a:r>
            <a:endParaRPr b="1" i="0" sz="1300" u="none" cap="none" strike="noStrike">
              <a:solidFill>
                <a:srgbClr val="0F766E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57200" y="6446520"/>
            <a:ext cx="1124712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70" name="Google Shape;70;p2"/>
          <p:cNvSpPr txBox="1"/>
          <p:nvPr/>
        </p:nvSpPr>
        <p:spPr>
          <a:xfrm>
            <a:off x="502920" y="6492240"/>
            <a:ext cx="110001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000" u="none" cap="none" strike="noStrike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GCP 環境申請　／　元データ隔離・一方向納品　／　Cloud Run 採用理由・GKE比較込み</a:t>
            </a:r>
            <a:endParaRPr i="0" sz="1000" u="none" cap="none" strike="noStrike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227"/>
          </a:solidFill>
          <a:ln cap="flat" cmpd="sng" w="12700">
            <a:solidFill>
              <a:srgbClr val="C9A2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457200" y="201168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SCM連携クラウド機　申請構成図</a:t>
            </a:r>
            <a:endParaRPr b="1" sz="23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475488" y="658368"/>
            <a:ext cx="99669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573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日次データを大阪から本PJの東京GCSへコピーし、SMART で処理後、seiyu-trial-data-exchange へ最終 TXT のみ納品</a:t>
            </a:r>
            <a:endParaRPr sz="9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11173968" y="256032"/>
            <a:ext cx="54864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573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573"/>
                </a:solidFill>
                <a:latin typeface="Arial"/>
                <a:ea typeface="Arial"/>
                <a:cs typeface="Arial"/>
                <a:sym typeface="Arial"/>
              </a:rPr>
              <a:t>3 / 7</a:t>
            </a:r>
            <a:endParaRPr sz="1000">
              <a:solidFill>
                <a:srgbClr val="5B6573"/>
              </a:solidFill>
              <a:latin typeface="MS Mincho"/>
              <a:ea typeface="MS Mincho"/>
              <a:cs typeface="MS Mincho"/>
              <a:sym typeface="MS Mincho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457200" y="960120"/>
            <a:ext cx="11201400" cy="0"/>
          </a:xfrm>
          <a:prstGeom prst="straightConnector1">
            <a:avLst/>
          </a:prstGeom>
          <a:noFill/>
          <a:ln cap="flat" cmpd="sng" w="15875">
            <a:solidFill>
              <a:srgbClr val="2F75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3"/>
          <p:cNvSpPr/>
          <p:nvPr/>
        </p:nvSpPr>
        <p:spPr>
          <a:xfrm>
            <a:off x="457200" y="1033272"/>
            <a:ext cx="6583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573"/>
              </a:buClr>
              <a:buSzPts val="800"/>
              <a:buFont typeface="Arial"/>
              <a:buNone/>
            </a:pPr>
            <a:r>
              <a:rPr lang="en-US" sz="8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リージョン：東京 asia-northeast1　・　dev / stg / prod</a:t>
            </a:r>
            <a:endParaRPr sz="8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7818120" y="1024128"/>
            <a:ext cx="146304" cy="146304"/>
          </a:xfrm>
          <a:prstGeom prst="rect">
            <a:avLst/>
          </a:prstGeom>
          <a:gradFill>
            <a:gsLst>
              <a:gs pos="0">
                <a:srgbClr val="A6B6DE"/>
              </a:gs>
              <a:gs pos="50000">
                <a:srgbClr val="98AAD9"/>
              </a:gs>
              <a:gs pos="100000">
                <a:srgbClr val="859CD7"/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8028432" y="987552"/>
            <a:ext cx="6583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573"/>
              </a:buClr>
              <a:buSzPts val="800"/>
              <a:buFont typeface="Arial"/>
              <a:buNone/>
            </a:pPr>
            <a:r>
              <a:rPr lang="en-US" sz="8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今回申請</a:t>
            </a:r>
            <a:endParaRPr sz="8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8869680" y="1024128"/>
            <a:ext cx="146304" cy="146304"/>
          </a:xfrm>
          <a:prstGeom prst="rect">
            <a:avLst/>
          </a:prstGeom>
          <a:solidFill>
            <a:srgbClr val="C9A227"/>
          </a:solidFill>
          <a:ln cap="flat" cmpd="sng" w="12700">
            <a:solidFill>
              <a:srgbClr val="C9A2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9079992" y="987552"/>
            <a:ext cx="6583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573"/>
              </a:buClr>
              <a:buSzPts val="800"/>
              <a:buFont typeface="Arial"/>
              <a:buNone/>
            </a:pPr>
            <a:r>
              <a:rPr lang="en-US" sz="8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常時稼働</a:t>
            </a:r>
            <a:endParaRPr sz="8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9921240" y="1024128"/>
            <a:ext cx="146304" cy="146304"/>
          </a:xfrm>
          <a:prstGeom prst="rect">
            <a:avLst/>
          </a:prstGeom>
          <a:solidFill>
            <a:srgbClr val="C65911"/>
          </a:solidFill>
          <a:ln cap="flat" cmpd="sng" w="12700">
            <a:solidFill>
              <a:srgbClr val="C659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10131552" y="98755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573"/>
              </a:buClr>
              <a:buSzPts val="800"/>
              <a:buFont typeface="Arial"/>
              <a:buNone/>
            </a:pPr>
            <a:r>
              <a:rPr lang="en-US" sz="8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既存・外部</a:t>
            </a:r>
            <a:endParaRPr sz="8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cxnSp>
        <p:nvCxnSpPr>
          <p:cNvPr id="88" name="Google Shape;88;p3"/>
          <p:cNvCxnSpPr/>
          <p:nvPr/>
        </p:nvCxnSpPr>
        <p:spPr>
          <a:xfrm>
            <a:off x="457200" y="6446520"/>
            <a:ext cx="11247120" cy="0"/>
          </a:xfrm>
          <a:prstGeom prst="straightConnector1">
            <a:avLst/>
          </a:prstGeom>
          <a:noFill/>
          <a:ln cap="flat" cmpd="sng" w="10150">
            <a:solidFill>
              <a:srgbClr val="D7DE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" name="Google Shape;89;p3"/>
          <p:cNvSpPr/>
          <p:nvPr/>
        </p:nvSpPr>
        <p:spPr>
          <a:xfrm>
            <a:off x="502920" y="6492240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18096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718096"/>
                </a:solidFill>
                <a:latin typeface="BIZ UDMincho"/>
                <a:ea typeface="BIZ UDMincho"/>
                <a:cs typeface="BIZ UDMincho"/>
                <a:sym typeface="BIZ UDMincho"/>
              </a:rPr>
              <a:t>GCP 環境申請　／　元データ隔離・一方向納品　／　費用・スペック込み</a:t>
            </a:r>
            <a:endParaRPr sz="700">
              <a:solidFill>
                <a:srgbClr val="71809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90" name="Google Shape;90;p3"/>
          <p:cNvSpPr txBox="1"/>
          <p:nvPr/>
        </p:nvSpPr>
        <p:spPr>
          <a:xfrm>
            <a:off x="400000" y="1479866"/>
            <a:ext cx="23001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既存・外部（今回申請しない）</a:t>
            </a:r>
            <a:endParaRPr b="1"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91" name="Google Shape;91;p3"/>
          <p:cNvSpPr txBox="1"/>
          <p:nvPr/>
        </p:nvSpPr>
        <p:spPr>
          <a:xfrm>
            <a:off x="2960000" y="1479866"/>
            <a:ext cx="60999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F75B5"/>
                </a:solidFill>
                <a:latin typeface="BIZ UDMincho"/>
                <a:ea typeface="BIZ UDMincho"/>
                <a:cs typeface="BIZ UDMincho"/>
                <a:sym typeface="BIZ UDMincho"/>
              </a:rPr>
              <a:t>GCP　東京（今回申請）</a:t>
            </a:r>
            <a:endParaRPr b="1" sz="1000">
              <a:solidFill>
                <a:srgbClr val="2F75B5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92" name="Google Shape;92;p3"/>
          <p:cNvSpPr txBox="1"/>
          <p:nvPr/>
        </p:nvSpPr>
        <p:spPr>
          <a:xfrm>
            <a:off x="9520000" y="1479866"/>
            <a:ext cx="23499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既存・相手先（バケット利用）</a:t>
            </a:r>
            <a:endParaRPr b="1"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400000" y="1801606"/>
            <a:ext cx="2100000" cy="3000000"/>
          </a:xfrm>
          <a:prstGeom prst="roundRect">
            <a:avLst>
              <a:gd fmla="val 5000" name="adj"/>
            </a:avLst>
          </a:prstGeom>
          <a:solidFill>
            <a:srgbClr val="FCE4D6"/>
          </a:solidFill>
          <a:ln>
            <a:noFill/>
          </a:ln>
        </p:spPr>
        <p:txBody>
          <a:bodyPr anchorCtr="0" anchor="ctr" bIns="76200" lIns="101600" spcFirstLastPara="1" rIns="101600" wrap="square" tIns="762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大阪　集計 GCS</a:t>
            </a:r>
            <a:endParaRPr b="1" sz="13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asia-northeast2</a:t>
            </a:r>
            <a:endParaRPr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日次データ + _READY</a:t>
            </a:r>
            <a:endParaRPr sz="11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2960000" y="1801606"/>
            <a:ext cx="6099900" cy="3000000"/>
          </a:xfrm>
          <a:prstGeom prst="roundRect">
            <a:avLst>
              <a:gd fmla="val 5000" name="adj"/>
            </a:avLst>
          </a:prstGeom>
          <a:gradFill>
            <a:gsLst>
              <a:gs pos="0">
                <a:srgbClr val="A6B6DE"/>
              </a:gs>
              <a:gs pos="50000">
                <a:srgbClr val="98AAD9"/>
              </a:gs>
              <a:gs pos="100000">
                <a:srgbClr val="859CD7"/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3100000" y="1921606"/>
            <a:ext cx="5820000" cy="200100"/>
          </a:xfrm>
          <a:prstGeom prst="roundRect">
            <a:avLst>
              <a:gd fmla="val 5000" name="adj"/>
            </a:avLst>
          </a:prstGeom>
          <a:solidFill>
            <a:srgbClr val="E2F0F8"/>
          </a:solidFill>
          <a:ln>
            <a:noFill/>
          </a:ln>
        </p:spPr>
        <p:txBody>
          <a:bodyPr anchorCtr="0" anchor="ctr" bIns="76200" lIns="101600" spcFirstLastPara="1" rIns="101600" wrap="square" tIns="762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F75B5"/>
                </a:solidFill>
                <a:latin typeface="BIZ UDMincho"/>
                <a:ea typeface="BIZ UDMincho"/>
                <a:cs typeface="BIZ UDMincho"/>
                <a:sym typeface="BIZ UDMincho"/>
              </a:rPr>
              <a:t>本PJ GCP　asia-northeast1　／　暫定PJ ID：md-data-integration-prod</a:t>
            </a:r>
            <a:endParaRPr b="1" sz="1000">
              <a:solidFill>
                <a:srgbClr val="2F75B5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3100070" y="2161511"/>
            <a:ext cx="1444500" cy="2540100"/>
          </a:xfrm>
          <a:prstGeom prst="roundRect">
            <a:avLst>
              <a:gd fmla="val 5000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ctr" bIns="76200" lIns="101600" spcFirstLastPara="1" rIns="101600" wrap="square" tIns="762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Storage Transfer Service</a:t>
            </a:r>
            <a:endParaRPr b="1" sz="12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manifest / prefix</a:t>
            </a:r>
            <a:endParaRPr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4980940" y="2294861"/>
            <a:ext cx="2100000" cy="995700"/>
          </a:xfrm>
          <a:prstGeom prst="roundRect">
            <a:avLst>
              <a:gd fmla="val 5000" name="adj"/>
            </a:avLst>
          </a:prstGeom>
          <a:solidFill>
            <a:srgbClr val="E2F0F8"/>
          </a:solidFill>
          <a:ln>
            <a:noFill/>
          </a:ln>
        </p:spPr>
        <p:txBody>
          <a:bodyPr anchorCtr="0" anchor="ctr" bIns="76200" lIns="101600" spcFirstLastPara="1" rIns="101600" wrap="square" tIns="762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本PJ Cloud Storage</a:t>
            </a:r>
            <a:endParaRPr b="1" sz="12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source-landing/YYYYMMDD/</a:t>
            </a:r>
            <a:endParaRPr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元データ（7日保管）</a:t>
            </a:r>
            <a:endParaRPr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4980305" y="3562321"/>
            <a:ext cx="2100000" cy="994500"/>
          </a:xfrm>
          <a:prstGeom prst="roundRect">
            <a:avLst>
              <a:gd fmla="val 5000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ctr" bIns="76200" lIns="101600" spcFirstLastPara="1" rIns="101600" wrap="square" tIns="762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Cloud Run Job</a:t>
            </a:r>
            <a:endParaRPr b="1" sz="12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SMART 日次処理</a:t>
            </a:r>
            <a:endParaRPr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4 vCPU / 16 GiB</a:t>
            </a:r>
            <a:endParaRPr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99" name="Google Shape;99;p3"/>
          <p:cNvSpPr/>
          <p:nvPr/>
        </p:nvSpPr>
        <p:spPr>
          <a:xfrm>
            <a:off x="7474575" y="2710638"/>
            <a:ext cx="1445400" cy="1188000"/>
          </a:xfrm>
          <a:prstGeom prst="roundRect">
            <a:avLst>
              <a:gd fmla="val 5000" name="adj"/>
            </a:avLst>
          </a:prstGeom>
          <a:solidFill>
            <a:srgbClr val="E2F0F8"/>
          </a:solidFill>
          <a:ln>
            <a:noFill/>
          </a:ln>
        </p:spPr>
        <p:txBody>
          <a:bodyPr anchorCtr="0" anchor="ctr" bIns="76200" lIns="101600" spcFirstLastPara="1" rIns="101600" wrap="square" tIns="762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大容量：resumable</a:t>
            </a:r>
            <a:endParaRPr b="1" sz="12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通常：直接アップロード</a:t>
            </a:r>
            <a:endParaRPr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9520000" y="1801606"/>
            <a:ext cx="2349900" cy="3000000"/>
          </a:xfrm>
          <a:prstGeom prst="roundRect">
            <a:avLst>
              <a:gd fmla="val 5000" name="adj"/>
            </a:avLst>
          </a:prstGeom>
          <a:solidFill>
            <a:srgbClr val="FCE4D6"/>
          </a:solidFill>
          <a:ln>
            <a:noFill/>
          </a:ln>
        </p:spPr>
        <p:txBody>
          <a:bodyPr anchorCtr="0" anchor="ctr" bIns="76200" lIns="101600" spcFirstLastPara="1" rIns="101600" wrap="square" tIns="762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seiyu-trial-data-exchange</a:t>
            </a:r>
            <a:endParaRPr b="1" sz="11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東京 asia-northeast1</a:t>
            </a:r>
            <a:endParaRPr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result/YYYYMMDD/final.txt</a:t>
            </a:r>
            <a:endParaRPr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_SUCCESS</a:t>
            </a:r>
            <a:endParaRPr sz="11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01" name="Google Shape;101;p3"/>
          <p:cNvSpPr txBox="1"/>
          <p:nvPr/>
        </p:nvSpPr>
        <p:spPr>
          <a:xfrm>
            <a:off x="2530475" y="3006061"/>
            <a:ext cx="459600" cy="24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C65911"/>
                </a:solidFill>
                <a:latin typeface="BIZ UDMincho"/>
                <a:ea typeface="BIZ UDMincho"/>
                <a:cs typeface="BIZ UDMincho"/>
                <a:sym typeface="BIZ UDMincho"/>
              </a:rPr>
              <a:t>読み取り</a:t>
            </a:r>
            <a:endParaRPr b="1" sz="800">
              <a:solidFill>
                <a:srgbClr val="C6591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02" name="Google Shape;102;p3"/>
          <p:cNvSpPr txBox="1"/>
          <p:nvPr/>
        </p:nvSpPr>
        <p:spPr>
          <a:xfrm>
            <a:off x="9092850" y="3442330"/>
            <a:ext cx="394200" cy="2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C65911"/>
                </a:solidFill>
                <a:latin typeface="BIZ UDMincho"/>
                <a:ea typeface="BIZ UDMincho"/>
                <a:cs typeface="BIZ UDMincho"/>
                <a:sym typeface="BIZ UDMincho"/>
              </a:rPr>
              <a:t>出力</a:t>
            </a:r>
            <a:endParaRPr b="1" sz="800">
              <a:solidFill>
                <a:srgbClr val="C6591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03" name="Google Shape;103;p3"/>
          <p:cNvSpPr txBox="1"/>
          <p:nvPr/>
        </p:nvSpPr>
        <p:spPr>
          <a:xfrm>
            <a:off x="400000" y="4961606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9A227"/>
                </a:solidFill>
                <a:latin typeface="BIZ UDMincho"/>
                <a:ea typeface="BIZ UDMincho"/>
                <a:cs typeface="BIZ UDMincho"/>
                <a:sym typeface="BIZ UDMincho"/>
              </a:rPr>
              <a:t>制御フロー</a:t>
            </a:r>
            <a:endParaRPr b="1" sz="1000">
              <a:solidFill>
                <a:srgbClr val="C9A227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1400000" y="4911606"/>
            <a:ext cx="2300100" cy="429900"/>
          </a:xfrm>
          <a:prstGeom prst="roundRect">
            <a:avLst>
              <a:gd fmla="val 5000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76200" lIns="101600" spcFirstLastPara="1" rIns="101600" wrap="square" tIns="762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Cloud Scheduler</a:t>
            </a:r>
            <a:endParaRPr b="1" sz="12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毎日 指定時刻</a:t>
            </a:r>
            <a:endParaRPr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3750000" y="4981606"/>
            <a:ext cx="320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1" sz="1600">
              <a:solidFill>
                <a:srgbClr val="C9A22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4100000" y="4911606"/>
            <a:ext cx="7770000" cy="429900"/>
          </a:xfrm>
          <a:prstGeom prst="roundRect">
            <a:avLst>
              <a:gd fmla="val 5000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76200" lIns="101600" spcFirstLastPara="1" rIns="101600" wrap="square" tIns="762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Workflows</a:t>
            </a:r>
            <a:endParaRPr b="1" sz="12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READY → STS → Job → 検証</a:t>
            </a:r>
            <a:endParaRPr sz="10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400050" y="5421606"/>
            <a:ext cx="5675100" cy="750600"/>
          </a:xfrm>
          <a:prstGeom prst="roundRect">
            <a:avLst>
              <a:gd fmla="val 5000" name="adj"/>
            </a:avLst>
          </a:prstGeom>
          <a:solidFill>
            <a:srgbClr val="FFF7F7"/>
          </a:solidFill>
          <a:ln>
            <a:noFill/>
          </a:ln>
        </p:spPr>
        <p:txBody>
          <a:bodyPr anchorCtr="0" anchor="t" bIns="76200" lIns="101600" spcFirstLastPara="1" rIns="101600" wrap="square" tIns="762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C00000"/>
                </a:solidFill>
                <a:latin typeface="BIZ UDMincho"/>
                <a:ea typeface="BIZ UDMincho"/>
                <a:cs typeface="BIZ UDMincho"/>
                <a:sym typeface="BIZ UDMincho"/>
              </a:rPr>
              <a:t>安全境界</a:t>
            </a:r>
            <a:endParaRPr b="1" sz="1100">
              <a:solidFill>
                <a:srgbClr val="C00000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元データは seiyu-trial-data-exchange に入らない。</a:t>
            </a:r>
            <a:endParaRPr sz="10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西友側は objectCreator のみ。</a:t>
            </a:r>
            <a:endParaRPr sz="10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6195060" y="5421601"/>
            <a:ext cx="5675100" cy="750600"/>
          </a:xfrm>
          <a:prstGeom prst="roundRect">
            <a:avLst>
              <a:gd fmla="val 5000" name="adj"/>
            </a:avLst>
          </a:prstGeom>
          <a:solidFill>
            <a:srgbClr val="E4DFEC"/>
          </a:solidFill>
          <a:ln>
            <a:noFill/>
          </a:ln>
        </p:spPr>
        <p:txBody>
          <a:bodyPr anchorCtr="0" anchor="t" bIns="76200" lIns="101600" spcFirstLastPara="1" rIns="101600" wrap="square" tIns="762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7030A0"/>
                </a:solidFill>
                <a:latin typeface="BIZ UDMincho"/>
                <a:ea typeface="BIZ UDMincho"/>
                <a:cs typeface="BIZ UDMincho"/>
                <a:sym typeface="BIZ UDMincho"/>
              </a:rPr>
              <a:t>アップロード方針</a:t>
            </a:r>
            <a:endParaRPr b="1" sz="1100">
              <a:solidFill>
                <a:srgbClr val="7030A0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大容量：ストリーム + resumable upload。</a:t>
            </a:r>
            <a:endParaRPr sz="10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通常：Cloud Run 処理後、seiyu-trial-data-exchange へ直接アップロード。</a:t>
            </a:r>
            <a:endParaRPr sz="10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cxnSp>
        <p:nvCxnSpPr>
          <p:cNvPr id="109" name="Google Shape;109;p3"/>
          <p:cNvCxnSpPr>
            <a:stCxn id="93" idx="3"/>
            <a:endCxn id="96" idx="1"/>
          </p:cNvCxnSpPr>
          <p:nvPr/>
        </p:nvCxnSpPr>
        <p:spPr>
          <a:xfrm>
            <a:off x="2500000" y="3301606"/>
            <a:ext cx="600000" cy="129900"/>
          </a:xfrm>
          <a:prstGeom prst="bentConnector3">
            <a:avLst>
              <a:gd fmla="val 50058" name="adj1"/>
            </a:avLst>
          </a:prstGeom>
          <a:noFill/>
          <a:ln cap="rnd" cmpd="sng" w="317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0" name="Google Shape;110;p3"/>
          <p:cNvCxnSpPr>
            <a:stCxn id="96" idx="3"/>
            <a:endCxn id="97" idx="1"/>
          </p:cNvCxnSpPr>
          <p:nvPr/>
        </p:nvCxnSpPr>
        <p:spPr>
          <a:xfrm flipH="1" rot="10800000">
            <a:off x="4544570" y="2792561"/>
            <a:ext cx="436500" cy="639000"/>
          </a:xfrm>
          <a:prstGeom prst="bentConnector3">
            <a:avLst>
              <a:gd fmla="val 50078" name="adj1"/>
            </a:avLst>
          </a:prstGeom>
          <a:noFill/>
          <a:ln cap="flat" cmpd="sng" w="12700">
            <a:solidFill>
              <a:schemeClr val="accent2"/>
            </a:solidFill>
            <a:prstDash val="solid"/>
            <a:miter lim="8000"/>
            <a:headEnd len="med" w="med" type="stealth"/>
            <a:tailEnd len="med" w="med" type="stealth"/>
          </a:ln>
        </p:spPr>
      </p:cxnSp>
      <p:cxnSp>
        <p:nvCxnSpPr>
          <p:cNvPr id="111" name="Google Shape;111;p3"/>
          <p:cNvCxnSpPr>
            <a:stCxn id="99" idx="3"/>
            <a:endCxn id="100" idx="1"/>
          </p:cNvCxnSpPr>
          <p:nvPr/>
        </p:nvCxnSpPr>
        <p:spPr>
          <a:xfrm flipH="1" rot="10800000">
            <a:off x="8919975" y="3301638"/>
            <a:ext cx="600000" cy="3000"/>
          </a:xfrm>
          <a:prstGeom prst="bentConnector3">
            <a:avLst>
              <a:gd fmla="val 50002" name="adj1"/>
            </a:avLst>
          </a:prstGeom>
          <a:noFill/>
          <a:ln cap="rnd" cmpd="sng" w="317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2" name="Google Shape;112;p3"/>
          <p:cNvCxnSpPr>
            <a:stCxn id="98" idx="3"/>
            <a:endCxn id="99" idx="1"/>
          </p:cNvCxnSpPr>
          <p:nvPr/>
        </p:nvCxnSpPr>
        <p:spPr>
          <a:xfrm flipH="1" rot="10800000">
            <a:off x="7080305" y="3304771"/>
            <a:ext cx="394200" cy="754800"/>
          </a:xfrm>
          <a:prstGeom prst="bentConnector3">
            <a:avLst>
              <a:gd fmla="val 50009" name="adj1"/>
            </a:avLst>
          </a:prstGeom>
          <a:noFill/>
          <a:ln cap="flat" cmpd="sng" w="12700">
            <a:solidFill>
              <a:schemeClr val="accent2"/>
            </a:solidFill>
            <a:prstDash val="solid"/>
            <a:miter lim="8000"/>
            <a:headEnd len="med" w="med" type="stealth"/>
            <a:tailEnd len="med" w="med" type="stealth"/>
          </a:ln>
        </p:spPr>
      </p:cxnSp>
      <p:cxnSp>
        <p:nvCxnSpPr>
          <p:cNvPr id="113" name="Google Shape;113;p3"/>
          <p:cNvCxnSpPr>
            <a:stCxn id="97" idx="2"/>
            <a:endCxn id="98" idx="0"/>
          </p:cNvCxnSpPr>
          <p:nvPr/>
        </p:nvCxnSpPr>
        <p:spPr>
          <a:xfrm flipH="1">
            <a:off x="6030340" y="3290561"/>
            <a:ext cx="600" cy="27180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miter lim="8000"/>
            <a:headEnd len="med" w="med" type="stealth"/>
            <a:tailEnd len="med" w="med" type="stealth"/>
          </a:ln>
        </p:spPr>
      </p:cxnSp>
      <p:cxnSp>
        <p:nvCxnSpPr>
          <p:cNvPr id="114" name="Google Shape;114;p3"/>
          <p:cNvCxnSpPr>
            <a:stCxn id="98" idx="3"/>
          </p:cNvCxnSpPr>
          <p:nvPr/>
        </p:nvCxnSpPr>
        <p:spPr>
          <a:xfrm flipH="1" rot="10800000">
            <a:off x="7080305" y="4055971"/>
            <a:ext cx="2427000" cy="3600"/>
          </a:xfrm>
          <a:prstGeom prst="bentConnector3">
            <a:avLst>
              <a:gd fmla="val 50000" name="adj1"/>
            </a:avLst>
          </a:prstGeom>
          <a:noFill/>
          <a:ln cap="rnd" cmpd="sng" w="317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227"/>
          </a:solidFill>
          <a:ln cap="flat" cmpd="sng" w="12700">
            <a:solidFill>
              <a:srgbClr val="C9A2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457200" y="201168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日次実行フロー・権限・処理方針</a:t>
            </a:r>
            <a:endParaRPr b="1" sz="23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475488" y="658368"/>
            <a:ext cx="99669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573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SMART 処理、権限分離、保存範囲と費用試算の前提</a:t>
            </a:r>
            <a:endParaRPr sz="9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1173968" y="256032"/>
            <a:ext cx="54864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573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573"/>
                </a:solidFill>
                <a:latin typeface="Arial"/>
                <a:ea typeface="Arial"/>
                <a:cs typeface="Arial"/>
                <a:sym typeface="Arial"/>
              </a:rPr>
              <a:t>4 / 7</a:t>
            </a:r>
            <a:endParaRPr sz="1000">
              <a:solidFill>
                <a:srgbClr val="5B6573"/>
              </a:solidFill>
              <a:latin typeface="MS Mincho"/>
              <a:ea typeface="MS Mincho"/>
              <a:cs typeface="MS Mincho"/>
              <a:sym typeface="MS Mincho"/>
            </a:endParaRPr>
          </a:p>
        </p:txBody>
      </p:sp>
      <p:cxnSp>
        <p:nvCxnSpPr>
          <p:cNvPr id="124" name="Google Shape;124;p4"/>
          <p:cNvCxnSpPr/>
          <p:nvPr/>
        </p:nvCxnSpPr>
        <p:spPr>
          <a:xfrm>
            <a:off x="457200" y="960120"/>
            <a:ext cx="11201400" cy="0"/>
          </a:xfrm>
          <a:prstGeom prst="straightConnector1">
            <a:avLst/>
          </a:prstGeom>
          <a:noFill/>
          <a:ln cap="flat" cmpd="sng" w="12700">
            <a:solidFill>
              <a:srgbClr val="B0B8C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5" name="Google Shape;125;p4"/>
          <p:cNvSpPr/>
          <p:nvPr/>
        </p:nvSpPr>
        <p:spPr>
          <a:xfrm>
            <a:off x="457200" y="1033272"/>
            <a:ext cx="6583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573"/>
              </a:buClr>
              <a:buSzPts val="800"/>
              <a:buFont typeface="Arial"/>
              <a:buNone/>
            </a:pPr>
            <a:r>
              <a:rPr lang="en-US" sz="8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リージョン：東京 asia-northeast1　・　dev / stg / prod</a:t>
            </a:r>
            <a:endParaRPr sz="8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7818120" y="1024128"/>
            <a:ext cx="146304" cy="146304"/>
          </a:xfrm>
          <a:prstGeom prst="rect">
            <a:avLst/>
          </a:prstGeom>
          <a:solidFill>
            <a:srgbClr val="2F75B5"/>
          </a:solidFill>
          <a:ln cap="flat" cmpd="sng" w="12700">
            <a:solidFill>
              <a:srgbClr val="2F75B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8028432" y="987552"/>
            <a:ext cx="6583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573"/>
              </a:buClr>
              <a:buSzPts val="800"/>
              <a:buFont typeface="Arial"/>
              <a:buNone/>
            </a:pPr>
            <a:r>
              <a:rPr lang="en-US" sz="8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今回申請</a:t>
            </a:r>
            <a:endParaRPr sz="8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8869680" y="1024128"/>
            <a:ext cx="146304" cy="146304"/>
          </a:xfrm>
          <a:prstGeom prst="rect">
            <a:avLst/>
          </a:prstGeom>
          <a:solidFill>
            <a:srgbClr val="C9A227"/>
          </a:solidFill>
          <a:ln cap="flat" cmpd="sng" w="12700">
            <a:solidFill>
              <a:srgbClr val="C9A2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9079992" y="987552"/>
            <a:ext cx="6583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573"/>
              </a:buClr>
              <a:buSzPts val="800"/>
              <a:buFont typeface="Arial"/>
              <a:buNone/>
            </a:pPr>
            <a:r>
              <a:rPr lang="en-US" sz="8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常時稼働</a:t>
            </a:r>
            <a:endParaRPr sz="8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9921240" y="1024128"/>
            <a:ext cx="146304" cy="146304"/>
          </a:xfrm>
          <a:prstGeom prst="rect">
            <a:avLst/>
          </a:prstGeom>
          <a:solidFill>
            <a:srgbClr val="C65911"/>
          </a:solidFill>
          <a:ln cap="flat" cmpd="sng" w="12700">
            <a:solidFill>
              <a:srgbClr val="C659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10131552" y="98755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573"/>
              </a:buClr>
              <a:buSzPts val="800"/>
              <a:buFont typeface="Arial"/>
              <a:buNone/>
            </a:pPr>
            <a:r>
              <a:rPr lang="en-US" sz="800">
                <a:solidFill>
                  <a:srgbClr val="5B6573"/>
                </a:solidFill>
                <a:latin typeface="BIZ UDMincho"/>
                <a:ea typeface="BIZ UDMincho"/>
                <a:cs typeface="BIZ UDMincho"/>
                <a:sym typeface="BIZ UDMincho"/>
              </a:rPr>
              <a:t>既存・外部</a:t>
            </a:r>
            <a:endParaRPr sz="800">
              <a:solidFill>
                <a:srgbClr val="5B657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502920" y="1353312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日次実行フロー（左 → 右）</a:t>
            </a:r>
            <a:endParaRPr b="1" sz="14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548640" y="1737360"/>
            <a:ext cx="1600200" cy="841248"/>
          </a:xfrm>
          <a:prstGeom prst="roundRect">
            <a:avLst>
              <a:gd fmla="val 4348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621792" y="1792224"/>
            <a:ext cx="1453896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01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Scheduler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指定時刻に起動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2404872" y="1737360"/>
            <a:ext cx="1600200" cy="841248"/>
          </a:xfrm>
          <a:prstGeom prst="roundRect">
            <a:avLst>
              <a:gd fmla="val 4348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2478024" y="1792224"/>
            <a:ext cx="1453896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02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READY / manifest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対象ファイル確定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4261104" y="1737360"/>
            <a:ext cx="1600200" cy="841248"/>
          </a:xfrm>
          <a:prstGeom prst="roundRect">
            <a:avLst>
              <a:gd fmla="val 4348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4334256" y="1792224"/>
            <a:ext cx="1453896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03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STS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本PJ GCSへコピー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117336" y="1737360"/>
            <a:ext cx="1600200" cy="841248"/>
          </a:xfrm>
          <a:prstGeom prst="roundRect">
            <a:avLst>
              <a:gd fmla="val 4348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6190488" y="1792224"/>
            <a:ext cx="1453896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04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Cloud Run Job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SMART 店/JAN 処理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7973568" y="1737360"/>
            <a:ext cx="1600200" cy="841248"/>
          </a:xfrm>
          <a:prstGeom prst="roundRect">
            <a:avLst>
              <a:gd fmla="val 4348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8046720" y="1792224"/>
            <a:ext cx="1453896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05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納品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直送／resumable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9829800" y="1737360"/>
            <a:ext cx="1600200" cy="841248"/>
          </a:xfrm>
          <a:prstGeom prst="roundRect">
            <a:avLst>
              <a:gd fmla="val 4348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9902952" y="1792224"/>
            <a:ext cx="1453896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06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_SUCCESS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検証後に作成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502920" y="2962656"/>
            <a:ext cx="3749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SMART コマンドによる処理チェーン</a:t>
            </a:r>
            <a:endParaRPr b="1" sz="14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548640" y="3337560"/>
            <a:ext cx="1600200" cy="566928"/>
          </a:xfrm>
          <a:prstGeom prst="roundRect">
            <a:avLst>
              <a:gd fmla="val 6452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621792" y="3392424"/>
            <a:ext cx="145389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解凍 / 索引</a:t>
            </a:r>
            <a:endParaRPr b="1" sz="10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2404872" y="3337560"/>
            <a:ext cx="1600200" cy="566928"/>
          </a:xfrm>
          <a:prstGeom prst="roundRect">
            <a:avLst>
              <a:gd fmla="val 6452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2478024" y="3392424"/>
            <a:ext cx="145389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selcol / selrow</a:t>
            </a:r>
            <a:endParaRPr b="1" sz="10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4261104" y="3337560"/>
            <a:ext cx="1600200" cy="566928"/>
          </a:xfrm>
          <a:prstGeom prst="roundRect">
            <a:avLst>
              <a:gd fmla="val 6452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4334256" y="3392424"/>
            <a:ext cx="145389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外部ソート / JOIN</a:t>
            </a:r>
            <a:endParaRPr b="1" sz="10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6117336" y="3337560"/>
            <a:ext cx="1600200" cy="566928"/>
          </a:xfrm>
          <a:prstGeom prst="roundRect">
            <a:avLst>
              <a:gd fmla="val 6452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6190488" y="3392424"/>
            <a:ext cx="145389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groupby / sumup</a:t>
            </a:r>
            <a:endParaRPr b="1" sz="10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7973568" y="3337560"/>
            <a:ext cx="1600200" cy="566928"/>
          </a:xfrm>
          <a:prstGeom prst="roundRect">
            <a:avLst>
              <a:gd fmla="val 6452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8046720" y="3392424"/>
            <a:ext cx="145389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scalc / format</a:t>
            </a:r>
            <a:endParaRPr b="1" sz="10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9829800" y="3337560"/>
            <a:ext cx="1600200" cy="566928"/>
          </a:xfrm>
          <a:prstGeom prst="roundRect">
            <a:avLst>
              <a:gd fmla="val 6452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57" name="Google Shape;157;p4"/>
          <p:cNvSpPr/>
          <p:nvPr/>
        </p:nvSpPr>
        <p:spPr>
          <a:xfrm>
            <a:off x="9902952" y="3392424"/>
            <a:ext cx="145389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uploader（直送／resumable）</a:t>
            </a:r>
            <a:endParaRPr b="1" sz="1000">
              <a:solidFill>
                <a:srgbClr val="17365D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548640" y="4315968"/>
            <a:ext cx="3017520" cy="1115568"/>
          </a:xfrm>
          <a:prstGeom prst="roundRect">
            <a:avLst>
              <a:gd fmla="val 3279" name="adj"/>
            </a:avLst>
          </a:prstGeom>
          <a:solidFill>
            <a:srgbClr val="F3EE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621792" y="4370832"/>
            <a:ext cx="2871216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アップロード方針</a:t>
            </a:r>
            <a:endParaRPr sz="11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大容量：resumable upload（RAM に全量を載せない）。</a:t>
            </a:r>
            <a:endParaRPr sz="11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通常：Cloud Run 処理後、seiyu-trial-data-exchange へ直接アップロード。</a:t>
            </a:r>
            <a:endParaRPr sz="11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必要時のみ split_and_sort / exchsort（外部ソート）。</a:t>
            </a:r>
            <a:endParaRPr sz="11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3886200" y="4315968"/>
            <a:ext cx="3246120" cy="1115568"/>
          </a:xfrm>
          <a:prstGeom prst="roundRect">
            <a:avLst>
              <a:gd fmla="val 3279" name="adj"/>
            </a:avLst>
          </a:prstGeom>
          <a:solidFill>
            <a:srgbClr val="FCE4D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61" name="Google Shape;161;p4"/>
          <p:cNvSpPr/>
          <p:nvPr/>
        </p:nvSpPr>
        <p:spPr>
          <a:xfrm>
            <a:off x="3959352" y="4370832"/>
            <a:ext cx="3099816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権限方針</a:t>
            </a:r>
            <a:endParaRPr sz="11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STS：大阪 read → 本PJ write</a:t>
            </a:r>
            <a:endParaRPr sz="11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Job：本PJ objectViewer → seiyu-trial-data-exchange objectCreator</a:t>
            </a:r>
            <a:endParaRPr sz="11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Scheduler：Workflows invoker のみ</a:t>
            </a:r>
            <a:endParaRPr sz="11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7452360" y="4315968"/>
            <a:ext cx="4023360" cy="1115568"/>
          </a:xfrm>
          <a:prstGeom prst="roundRect">
            <a:avLst>
              <a:gd fmla="val 3279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63" name="Google Shape;163;p4"/>
          <p:cNvSpPr/>
          <p:nvPr/>
        </p:nvSpPr>
        <p:spPr>
          <a:xfrm>
            <a:off x="7525512" y="4370832"/>
            <a:ext cx="3877056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容量・費用の入力値</a:t>
            </a:r>
            <a:endParaRPr sz="11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本PJ GCSの元データ：約 251.6 GiB（7日）</a:t>
            </a:r>
            <a:endParaRPr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大阪→東京転送：約 1,078.4 GiB/月</a:t>
            </a:r>
            <a:endParaRPr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結果を本PJ GCSに重複保存しない</a:t>
            </a:r>
            <a:endParaRPr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F766E"/>
                </a:solidFill>
                <a:latin typeface="BIZ UDMincho"/>
                <a:ea typeface="BIZ UDMincho"/>
                <a:cs typeface="BIZ UDMincho"/>
                <a:sym typeface="BIZ UDMincho"/>
              </a:rPr>
              <a:t>Calculator 概算：月約 ¥18,190（転送が大半）→ 6枚目</a:t>
            </a:r>
            <a:endParaRPr b="1" sz="1100">
              <a:solidFill>
                <a:srgbClr val="0F766E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548640" y="5669280"/>
            <a:ext cx="4800600" cy="512064"/>
          </a:xfrm>
          <a:prstGeom prst="roundRect">
            <a:avLst>
              <a:gd fmla="val 7143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65" name="Google Shape;165;p4"/>
          <p:cNvSpPr/>
          <p:nvPr/>
        </p:nvSpPr>
        <p:spPr>
          <a:xfrm>
            <a:off x="621792" y="5724144"/>
            <a:ext cx="465429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申請する主なサービス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Cloud Run Jobs / Cloud Storage / STS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Workflows / Cloud Scheduler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Artifact Registry / Logging / Monitoring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66" name="Google Shape;166;p4"/>
          <p:cNvSpPr/>
          <p:nvPr/>
        </p:nvSpPr>
        <p:spPr>
          <a:xfrm>
            <a:off x="5623560" y="5669280"/>
            <a:ext cx="5852160" cy="512064"/>
          </a:xfrm>
          <a:prstGeom prst="roundRect">
            <a:avLst>
              <a:gd fmla="val 7143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67" name="Google Shape;167;p4"/>
          <p:cNvSpPr/>
          <p:nvPr/>
        </p:nvSpPr>
        <p:spPr>
          <a:xfrm>
            <a:off x="5696712" y="5724144"/>
            <a:ext cx="5705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本構成の結論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新規 GKE は作らず、Cloud Run Job を採用。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17365D"/>
                </a:solidFill>
                <a:latin typeface="BIZ UDMincho"/>
                <a:ea typeface="BIZ UDMincho"/>
                <a:cs typeface="BIZ UDMincho"/>
                <a:sym typeface="BIZ UDMincho"/>
              </a:rPr>
              <a:t>source は本PJ GCS、result は seiyu-trial-data-exchange へ一方向で納品。</a:t>
            </a:r>
            <a:endParaRPr sz="10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cxnSp>
        <p:nvCxnSpPr>
          <p:cNvPr id="168" name="Google Shape;168;p4"/>
          <p:cNvCxnSpPr/>
          <p:nvPr/>
        </p:nvCxnSpPr>
        <p:spPr>
          <a:xfrm>
            <a:off x="457200" y="6446520"/>
            <a:ext cx="11247120" cy="0"/>
          </a:xfrm>
          <a:prstGeom prst="straightConnector1">
            <a:avLst/>
          </a:prstGeom>
          <a:noFill/>
          <a:ln cap="flat" cmpd="sng" w="12700">
            <a:solidFill>
              <a:srgbClr val="B0B8C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4"/>
          <p:cNvSpPr/>
          <p:nvPr/>
        </p:nvSpPr>
        <p:spPr>
          <a:xfrm>
            <a:off x="502920" y="6492240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18096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718096"/>
                </a:solidFill>
                <a:latin typeface="BIZ UDMincho"/>
                <a:ea typeface="BIZ UDMincho"/>
                <a:cs typeface="BIZ UDMincho"/>
                <a:sym typeface="BIZ UDMincho"/>
              </a:rPr>
              <a:t>GCP 環境申請　／　元データ隔離・一方向納品　／　費用・スペック込み</a:t>
            </a:r>
            <a:endParaRPr sz="700">
              <a:solidFill>
                <a:srgbClr val="71809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457200" y="201168"/>
            <a:ext cx="9000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申請スペック・構成一覧</a:t>
            </a:r>
            <a:endParaRPr b="1" sz="26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76" name="Google Shape;176;p5"/>
          <p:cNvSpPr txBox="1"/>
          <p:nvPr/>
        </p:nvSpPr>
        <p:spPr>
          <a:xfrm>
            <a:off x="475488" y="658368"/>
            <a:ext cx="9966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プロジェクト／コンピュート／ストレージ／パス／環境の申請内容</a:t>
            </a:r>
            <a:endParaRPr sz="12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77" name="Google Shape;177;p5"/>
          <p:cNvSpPr txBox="1"/>
          <p:nvPr/>
        </p:nvSpPr>
        <p:spPr>
          <a:xfrm>
            <a:off x="11173968" y="256032"/>
            <a:ext cx="6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5 / 7</a:t>
            </a:r>
            <a:endParaRPr sz="12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78" name="Google Shape;178;p5"/>
          <p:cNvSpPr/>
          <p:nvPr/>
        </p:nvSpPr>
        <p:spPr>
          <a:xfrm>
            <a:off x="457200" y="960120"/>
            <a:ext cx="11201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79" name="Google Shape;179;p5"/>
          <p:cNvSpPr txBox="1"/>
          <p:nvPr/>
        </p:nvSpPr>
        <p:spPr>
          <a:xfrm>
            <a:off x="457200" y="1033272"/>
            <a:ext cx="6583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リージョン：東京 asia-northeast1　・　dev / stg / prod</a:t>
            </a:r>
            <a:endParaRPr sz="11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7818120" y="1024128"/>
            <a:ext cx="146304" cy="146304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81" name="Google Shape;181;p5"/>
          <p:cNvSpPr txBox="1"/>
          <p:nvPr/>
        </p:nvSpPr>
        <p:spPr>
          <a:xfrm>
            <a:off x="8028432" y="987552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今回申請</a:t>
            </a:r>
            <a:endParaRPr sz="10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8869680" y="1024128"/>
            <a:ext cx="146304" cy="1463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83" name="Google Shape;183;p5"/>
          <p:cNvSpPr txBox="1"/>
          <p:nvPr/>
        </p:nvSpPr>
        <p:spPr>
          <a:xfrm>
            <a:off x="9079992" y="987552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常時稼働</a:t>
            </a:r>
            <a:endParaRPr sz="10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9921240" y="1024128"/>
            <a:ext cx="146304" cy="146304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85" name="Google Shape;185;p5"/>
          <p:cNvSpPr txBox="1"/>
          <p:nvPr/>
        </p:nvSpPr>
        <p:spPr>
          <a:xfrm>
            <a:off x="10131552" y="987552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既存・外部</a:t>
            </a:r>
            <a:endParaRPr sz="10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457200" y="1340000"/>
            <a:ext cx="5400000" cy="2300000"/>
          </a:xfrm>
          <a:prstGeom prst="roundRect">
            <a:avLst>
              <a:gd fmla="val 8000" name="adj"/>
            </a:avLst>
          </a:prstGeom>
          <a:solidFill>
            <a:srgbClr val="F5F9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87" name="Google Shape;187;p5"/>
          <p:cNvSpPr txBox="1"/>
          <p:nvPr/>
        </p:nvSpPr>
        <p:spPr>
          <a:xfrm>
            <a:off x="530000" y="1736188"/>
            <a:ext cx="5199900" cy="15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2F75B5"/>
                </a:solidFill>
                <a:latin typeface="BIZ UDMincho"/>
                <a:ea typeface="BIZ UDMincho"/>
                <a:cs typeface="BIZ UDMincho"/>
                <a:sym typeface="BIZ UDMincho"/>
              </a:rPr>
              <a:t>プロジェクト</a:t>
            </a:r>
            <a:endParaRPr b="1" sz="1400">
              <a:solidFill>
                <a:srgbClr val="2F75B5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名称：SCM連携クラウド機（Layer①）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GCP プロジェクト ID（暫定）：md-data-integration-prod</a:t>
            </a:r>
            <a:endParaRPr b="1"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リージョン：asia-northeast1（東京）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環境：dev / stg / prod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実行基盤：Cloud Run Jobs（GKE は申請しない）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制御：Cloud Scheduler → Workflows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（将来 Hinemos 起動の可能性あり／要突合）</a:t>
            </a:r>
            <a:endParaRPr sz="11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6200000" y="1340000"/>
            <a:ext cx="5400000" cy="2300000"/>
          </a:xfrm>
          <a:prstGeom prst="roundRect">
            <a:avLst>
              <a:gd fmla="val 8000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89" name="Google Shape;189;p5"/>
          <p:cNvSpPr txBox="1"/>
          <p:nvPr/>
        </p:nvSpPr>
        <p:spPr>
          <a:xfrm>
            <a:off x="6300000" y="1736188"/>
            <a:ext cx="51999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2F75B5"/>
                </a:solidFill>
                <a:latin typeface="BIZ UDMincho"/>
                <a:ea typeface="BIZ UDMincho"/>
                <a:cs typeface="BIZ UDMincho"/>
                <a:sym typeface="BIZ UDMincho"/>
              </a:rPr>
              <a:t>Cloud Run Job スペック</a:t>
            </a:r>
            <a:endParaRPr b="1" sz="1400">
              <a:solidFill>
                <a:srgbClr val="2F75B5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CPU：4 vCPU</a:t>
            </a:r>
            <a:endParaRPr b="1" sz="13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Memory：16 GiB</a:t>
            </a:r>
            <a:endParaRPr b="1" sz="13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処理：SMART 日次（店 / JAN）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大容量：resumable upload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通常：処理後に直接アップロード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外部ソート：ephemeral disk（必要時）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r>
              <a:t>永続ディスク／本機ステージング：なし</a:t>
            </a:r>
          </a:p>
        </p:txBody>
      </p:sp>
      <p:sp>
        <p:nvSpPr>
          <p:cNvPr id="190" name="Google Shape;190;p5"/>
          <p:cNvSpPr/>
          <p:nvPr/>
        </p:nvSpPr>
        <p:spPr>
          <a:xfrm>
            <a:off x="457200" y="3800000"/>
            <a:ext cx="5400000" cy="2400000"/>
          </a:xfrm>
          <a:prstGeom prst="roundRect">
            <a:avLst>
              <a:gd fmla="val 8000" name="adj"/>
            </a:avLst>
          </a:prstGeom>
          <a:solidFill>
            <a:srgbClr val="E2F0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91" name="Google Shape;191;p5"/>
          <p:cNvSpPr txBox="1"/>
          <p:nvPr/>
        </p:nvSpPr>
        <p:spPr>
          <a:xfrm>
            <a:off x="530000" y="4196188"/>
            <a:ext cx="51999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2F75B5"/>
                </a:solidFill>
                <a:latin typeface="BIZ UDMincho"/>
                <a:ea typeface="BIZ UDMincho"/>
                <a:cs typeface="BIZ UDMincho"/>
                <a:sym typeface="BIZ UDMincho"/>
              </a:rPr>
              <a:t>本PJ GCS（本PJ付帯＝landing）</a:t>
            </a:r>
            <a:endParaRPr b="1" sz="1400">
              <a:solidFill>
                <a:srgbClr val="2F75B5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パス：source-landing/YYYYMMDD/</a:t>
            </a:r>
            <a:endParaRPr b="1"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用途：大阪から同期した元データ保管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保管期間：7 日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容量前提：約 251.6 GiB（試算入力 300）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ファイル末尾：_YYYYMMDDhhmmss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権限：STS write ／ Job objectViewer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6200000" y="3800000"/>
            <a:ext cx="5400000" cy="2400000"/>
          </a:xfrm>
          <a:prstGeom prst="roundRect">
            <a:avLst>
              <a:gd fmla="val 8000" name="adj"/>
            </a:avLst>
          </a:prstGeom>
          <a:solidFill>
            <a:srgbClr val="FCE4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93" name="Google Shape;193;p5"/>
          <p:cNvSpPr txBox="1"/>
          <p:nvPr/>
        </p:nvSpPr>
        <p:spPr>
          <a:xfrm>
            <a:off x="6300000" y="4196188"/>
            <a:ext cx="51999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F766E"/>
                </a:solidFill>
                <a:latin typeface="BIZ UDMincho"/>
                <a:ea typeface="BIZ UDMincho"/>
                <a:cs typeface="BIZ UDMincho"/>
                <a:sym typeface="BIZ UDMincho"/>
              </a:rPr>
              <a:t>seiyu-trial-data-exchange</a:t>
            </a:r>
            <a:endParaRPr b="1" sz="1400">
              <a:solidFill>
                <a:srgbClr val="0F766E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パス：result/YYYYMMDD/final.txt</a:t>
            </a:r>
            <a:endParaRPr b="1"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完了マーカー：_SUCCESS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納品：最終 TXT のみ（一方向）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権限：objectCreator のみ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元データは入れない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結果の本PJ GCS 重複保存：なし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457200" y="6446520"/>
            <a:ext cx="1124712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195" name="Google Shape;195;p5"/>
          <p:cNvSpPr txBox="1"/>
          <p:nvPr/>
        </p:nvSpPr>
        <p:spPr>
          <a:xfrm>
            <a:off x="502920" y="6492240"/>
            <a:ext cx="99999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GCP 環境申請　／　元データ隔離・一方向納品　／　費用・スペック込み</a:t>
            </a:r>
            <a:endParaRPr sz="10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6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01" name="Google Shape;201;p6"/>
          <p:cNvSpPr txBox="1"/>
          <p:nvPr/>
        </p:nvSpPr>
        <p:spPr>
          <a:xfrm>
            <a:off x="457200" y="201168"/>
            <a:ext cx="9000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費用試算（GCP Pricing Calculator）</a:t>
            </a:r>
            <a:endParaRPr b="1" sz="26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02" name="Google Shape;202;p6"/>
          <p:cNvSpPr txBox="1"/>
          <p:nvPr/>
        </p:nvSpPr>
        <p:spPr>
          <a:xfrm>
            <a:off x="475488" y="658368"/>
            <a:ext cx="9966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SPEC.xlsx　／　算定日 2026-09-22　／　議論用・非拘束の概算</a:t>
            </a:r>
            <a:endParaRPr sz="12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03" name="Google Shape;203;p6"/>
          <p:cNvSpPr txBox="1"/>
          <p:nvPr/>
        </p:nvSpPr>
        <p:spPr>
          <a:xfrm>
            <a:off x="11173968" y="256032"/>
            <a:ext cx="6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6 / 7</a:t>
            </a:r>
            <a:endParaRPr sz="12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457200" y="960120"/>
            <a:ext cx="11201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05" name="Google Shape;205;p6"/>
          <p:cNvSpPr txBox="1"/>
          <p:nvPr/>
        </p:nvSpPr>
        <p:spPr>
          <a:xfrm>
            <a:off x="457200" y="1033272"/>
            <a:ext cx="6583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リージョン：東京 asia-northeast1　・　dev / stg / prod</a:t>
            </a:r>
            <a:endParaRPr sz="11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7818120" y="1024128"/>
            <a:ext cx="146304" cy="146304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8028432" y="987552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今回申請</a:t>
            </a:r>
            <a:endParaRPr sz="10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8869680" y="1024128"/>
            <a:ext cx="146304" cy="1463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09" name="Google Shape;209;p6"/>
          <p:cNvSpPr txBox="1"/>
          <p:nvPr/>
        </p:nvSpPr>
        <p:spPr>
          <a:xfrm>
            <a:off x="9079992" y="987552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常時稼働</a:t>
            </a:r>
            <a:endParaRPr sz="10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9921240" y="1024128"/>
            <a:ext cx="146304" cy="146304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11" name="Google Shape;211;p6"/>
          <p:cNvSpPr txBox="1"/>
          <p:nvPr/>
        </p:nvSpPr>
        <p:spPr>
          <a:xfrm>
            <a:off x="10131552" y="987552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既存・外部</a:t>
            </a:r>
            <a:endParaRPr sz="10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12" name="Google Shape;212;p6"/>
          <p:cNvSpPr txBox="1"/>
          <p:nvPr/>
        </p:nvSpPr>
        <p:spPr>
          <a:xfrm>
            <a:off x="502920" y="1394515"/>
            <a:ext cx="11000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月額合計（概算）：約 ¥18,190　｜　年間合計（×12）：約 ¥218,280</a:t>
            </a:r>
            <a:endParaRPr b="1" sz="13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議論用・非拘束　／　転送が大半（約84%）</a:t>
            </a:r>
            <a:endParaRPr sz="11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457200" y="1832642"/>
            <a:ext cx="11199900" cy="369900"/>
          </a:xfrm>
          <a:prstGeom prst="roundRect">
            <a:avLst>
              <a:gd fmla="val 8000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14" name="Google Shape;214;p6"/>
          <p:cNvSpPr txBox="1"/>
          <p:nvPr/>
        </p:nvSpPr>
        <p:spPr>
          <a:xfrm>
            <a:off x="502920" y="1902642"/>
            <a:ext cx="21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サービス</a:t>
            </a:r>
            <a:endParaRPr b="1"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15" name="Google Shape;215;p6"/>
          <p:cNvSpPr txBox="1"/>
          <p:nvPr/>
        </p:nvSpPr>
        <p:spPr>
          <a:xfrm>
            <a:off x="2800000" y="1902642"/>
            <a:ext cx="35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項目</a:t>
            </a:r>
            <a:endParaRPr b="1"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16" name="Google Shape;216;p6"/>
          <p:cNvSpPr txBox="1"/>
          <p:nvPr/>
        </p:nvSpPr>
        <p:spPr>
          <a:xfrm>
            <a:off x="6400000" y="1902642"/>
            <a:ext cx="15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数量</a:t>
            </a:r>
            <a:endParaRPr b="1"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17" name="Google Shape;217;p6"/>
          <p:cNvSpPr txBox="1"/>
          <p:nvPr/>
        </p:nvSpPr>
        <p:spPr>
          <a:xfrm>
            <a:off x="8000000" y="1902642"/>
            <a:ext cx="18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リージョン</a:t>
            </a:r>
            <a:endParaRPr b="1"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18" name="Google Shape;218;p6"/>
          <p:cNvSpPr txBox="1"/>
          <p:nvPr/>
        </p:nvSpPr>
        <p:spPr>
          <a:xfrm>
            <a:off x="10000000" y="1902642"/>
            <a:ext cx="14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月額 JPY</a:t>
            </a:r>
            <a:endParaRPr b="1"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457200" y="2232642"/>
            <a:ext cx="11199900" cy="3699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20" name="Google Shape;220;p6"/>
          <p:cNvSpPr txBox="1"/>
          <p:nvPr/>
        </p:nvSpPr>
        <p:spPr>
          <a:xfrm>
            <a:off x="502920" y="2302642"/>
            <a:ext cx="21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Cloud Run Jobs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21" name="Google Shape;221;p6"/>
          <p:cNvSpPr txBox="1"/>
          <p:nvPr/>
        </p:nvSpPr>
        <p:spPr>
          <a:xfrm>
            <a:off x="2800000" y="2302642"/>
            <a:ext cx="35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Jobs CPU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22" name="Google Shape;222;p6"/>
          <p:cNvSpPr txBox="1"/>
          <p:nvPr/>
        </p:nvSpPr>
        <p:spPr>
          <a:xfrm>
            <a:off x="6400000" y="2302642"/>
            <a:ext cx="15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7,200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23" name="Google Shape;223;p6"/>
          <p:cNvSpPr txBox="1"/>
          <p:nvPr/>
        </p:nvSpPr>
        <p:spPr>
          <a:xfrm>
            <a:off x="8000000" y="2302642"/>
            <a:ext cx="18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asia-northeast1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24" name="Google Shape;224;p6"/>
          <p:cNvSpPr txBox="1"/>
          <p:nvPr/>
        </p:nvSpPr>
        <p:spPr>
          <a:xfrm>
            <a:off x="10000000" y="2302642"/>
            <a:ext cx="14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1,239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457200" y="2632642"/>
            <a:ext cx="11199900" cy="369900"/>
          </a:xfrm>
          <a:prstGeom prst="roundRect">
            <a:avLst>
              <a:gd fmla="val 8000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26" name="Google Shape;226;p6"/>
          <p:cNvSpPr txBox="1"/>
          <p:nvPr/>
        </p:nvSpPr>
        <p:spPr>
          <a:xfrm>
            <a:off x="502920" y="2702642"/>
            <a:ext cx="21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Cloud Run Jobs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27" name="Google Shape;227;p6"/>
          <p:cNvSpPr txBox="1"/>
          <p:nvPr/>
        </p:nvSpPr>
        <p:spPr>
          <a:xfrm>
            <a:off x="2800000" y="2702642"/>
            <a:ext cx="35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Jobs Memory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28" name="Google Shape;228;p6"/>
          <p:cNvSpPr txBox="1"/>
          <p:nvPr/>
        </p:nvSpPr>
        <p:spPr>
          <a:xfrm>
            <a:off x="6400000" y="2702642"/>
            <a:ext cx="15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28,800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29" name="Google Shape;229;p6"/>
          <p:cNvSpPr txBox="1"/>
          <p:nvPr/>
        </p:nvSpPr>
        <p:spPr>
          <a:xfrm>
            <a:off x="8000000" y="2702642"/>
            <a:ext cx="18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asia-northeast1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30" name="Google Shape;230;p6"/>
          <p:cNvSpPr txBox="1"/>
          <p:nvPr/>
        </p:nvSpPr>
        <p:spPr>
          <a:xfrm>
            <a:off x="10000000" y="2702642"/>
            <a:ext cx="14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551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457200" y="3032642"/>
            <a:ext cx="11199900" cy="3699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32" name="Google Shape;232;p6"/>
          <p:cNvSpPr txBox="1"/>
          <p:nvPr/>
        </p:nvSpPr>
        <p:spPr>
          <a:xfrm>
            <a:off x="502920" y="3102642"/>
            <a:ext cx="21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Cloud Storage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33" name="Google Shape;233;p6"/>
          <p:cNvSpPr txBox="1"/>
          <p:nvPr/>
        </p:nvSpPr>
        <p:spPr>
          <a:xfrm>
            <a:off x="2800000" y="3102642"/>
            <a:ext cx="35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Standard Storage Tokyo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6400000" y="3102642"/>
            <a:ext cx="15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300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8000000" y="3102642"/>
            <a:ext cx="18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asia-northeast1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36" name="Google Shape;236;p6"/>
          <p:cNvSpPr txBox="1"/>
          <p:nvPr/>
        </p:nvSpPr>
        <p:spPr>
          <a:xfrm>
            <a:off x="10000000" y="3102642"/>
            <a:ext cx="14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1,100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457200" y="3432642"/>
            <a:ext cx="11199900" cy="369900"/>
          </a:xfrm>
          <a:prstGeom prst="roundRect">
            <a:avLst>
              <a:gd fmla="val 8000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38" name="Google Shape;238;p6"/>
          <p:cNvSpPr txBox="1"/>
          <p:nvPr/>
        </p:nvSpPr>
        <p:spPr>
          <a:xfrm>
            <a:off x="502920" y="3502642"/>
            <a:ext cx="21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Cloud Storage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39" name="Google Shape;239;p6"/>
          <p:cNvSpPr txBox="1"/>
          <p:nvPr/>
        </p:nvSpPr>
        <p:spPr>
          <a:xfrm>
            <a:off x="2800000" y="3502642"/>
            <a:ext cx="35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Inter Region Transfer（Asia）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40" name="Google Shape;240;p6"/>
          <p:cNvSpPr txBox="1"/>
          <p:nvPr/>
        </p:nvSpPr>
        <p:spPr>
          <a:xfrm>
            <a:off x="6400000" y="3502642"/>
            <a:ext cx="15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1,200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41" name="Google Shape;241;p6"/>
          <p:cNvSpPr txBox="1"/>
          <p:nvPr/>
        </p:nvSpPr>
        <p:spPr>
          <a:xfrm>
            <a:off x="8000000" y="3502642"/>
            <a:ext cx="18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大阪→東京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42" name="Google Shape;242;p6"/>
          <p:cNvSpPr txBox="1"/>
          <p:nvPr/>
        </p:nvSpPr>
        <p:spPr>
          <a:xfrm>
            <a:off x="10000000" y="3502642"/>
            <a:ext cx="14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15,300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43" name="Google Shape;243;p6"/>
          <p:cNvSpPr/>
          <p:nvPr/>
        </p:nvSpPr>
        <p:spPr>
          <a:xfrm>
            <a:off x="457200" y="3832642"/>
            <a:ext cx="11199900" cy="369900"/>
          </a:xfrm>
          <a:prstGeom prst="roundRect">
            <a:avLst>
              <a:gd fmla="val 8000" name="adj"/>
            </a:avLst>
          </a:prstGeom>
          <a:solidFill>
            <a:srgbClr val="C9A2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44" name="Google Shape;244;p6"/>
          <p:cNvSpPr txBox="1"/>
          <p:nvPr/>
        </p:nvSpPr>
        <p:spPr>
          <a:xfrm>
            <a:off x="502920" y="3902642"/>
            <a:ext cx="21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BIZ UDMincho"/>
                <a:ea typeface="BIZ UDMincho"/>
                <a:cs typeface="BIZ UDMincho"/>
                <a:sym typeface="BIZ UDMincho"/>
              </a:rPr>
              <a:t>合計</a:t>
            </a:r>
            <a:endParaRPr b="1" sz="1200">
              <a:solidFill>
                <a:srgbClr val="FFFFFF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45" name="Google Shape;245;p6"/>
          <p:cNvSpPr txBox="1"/>
          <p:nvPr/>
        </p:nvSpPr>
        <p:spPr>
          <a:xfrm>
            <a:off x="2800000" y="3902642"/>
            <a:ext cx="35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BIZ UDMincho"/>
                <a:ea typeface="BIZ UDMincho"/>
                <a:cs typeface="BIZ UDMincho"/>
                <a:sym typeface="BIZ UDMincho"/>
              </a:rPr>
              <a:t>—</a:t>
            </a:r>
            <a:endParaRPr b="1" sz="1200">
              <a:solidFill>
                <a:srgbClr val="FFFFFF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46" name="Google Shape;246;p6"/>
          <p:cNvSpPr txBox="1"/>
          <p:nvPr/>
        </p:nvSpPr>
        <p:spPr>
          <a:xfrm>
            <a:off x="6400000" y="3902642"/>
            <a:ext cx="15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BIZ UDMincho"/>
                <a:ea typeface="BIZ UDMincho"/>
                <a:cs typeface="BIZ UDMincho"/>
                <a:sym typeface="BIZ UDMincho"/>
              </a:rPr>
              <a:t>—</a:t>
            </a:r>
            <a:endParaRPr b="1" sz="1200">
              <a:solidFill>
                <a:srgbClr val="FFFFFF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47" name="Google Shape;247;p6"/>
          <p:cNvSpPr txBox="1"/>
          <p:nvPr/>
        </p:nvSpPr>
        <p:spPr>
          <a:xfrm>
            <a:off x="8000000" y="3902642"/>
            <a:ext cx="18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BIZ UDMincho"/>
                <a:ea typeface="BIZ UDMincho"/>
                <a:cs typeface="BIZ UDMincho"/>
                <a:sym typeface="BIZ UDMincho"/>
              </a:rPr>
              <a:t>—</a:t>
            </a:r>
            <a:endParaRPr b="1" sz="1200">
              <a:solidFill>
                <a:srgbClr val="FFFFFF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48" name="Google Shape;248;p6"/>
          <p:cNvSpPr txBox="1"/>
          <p:nvPr/>
        </p:nvSpPr>
        <p:spPr>
          <a:xfrm>
            <a:off x="10000000" y="3902642"/>
            <a:ext cx="1400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BIZ UDMincho"/>
                <a:ea typeface="BIZ UDMincho"/>
                <a:cs typeface="BIZ UDMincho"/>
                <a:sym typeface="BIZ UDMincho"/>
              </a:rPr>
              <a:t>18,190</a:t>
            </a:r>
            <a:endParaRPr b="1" sz="1200">
              <a:solidFill>
                <a:srgbClr val="FFFFFF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49" name="Google Shape;249;p6"/>
          <p:cNvSpPr/>
          <p:nvPr/>
        </p:nvSpPr>
        <p:spPr>
          <a:xfrm>
            <a:off x="457200" y="4452642"/>
            <a:ext cx="5400000" cy="1899900"/>
          </a:xfrm>
          <a:prstGeom prst="roundRect">
            <a:avLst>
              <a:gd fmla="val 8000" name="adj"/>
            </a:avLst>
          </a:prstGeom>
          <a:solidFill>
            <a:srgbClr val="FFF7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50" name="Google Shape;250;p6"/>
          <p:cNvSpPr txBox="1"/>
          <p:nvPr/>
        </p:nvSpPr>
        <p:spPr>
          <a:xfrm>
            <a:off x="530000" y="4552642"/>
            <a:ext cx="5199900" cy="14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C45C5C"/>
                </a:solidFill>
                <a:latin typeface="BIZ UDMincho"/>
                <a:ea typeface="BIZ UDMincho"/>
                <a:cs typeface="BIZ UDMincho"/>
                <a:sym typeface="BIZ UDMincho"/>
              </a:rPr>
              <a:t>読み方・注意</a:t>
            </a:r>
            <a:endParaRPr b="1" sz="1300">
              <a:solidFill>
                <a:srgbClr val="C45C5C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・転送費が支配的（大阪 asia-northeast2 → 東京）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・Storage 300 ≒ 元データ 251.6 GiB（7日）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・転送 1,200 ≒ 月 1,078.4 GiB の概数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・CPU:Memory = 1:4 → 4 vCPU / 16 GiB と整合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・Calculator 見積は議論用・非拘束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・年間は月額×12 ≒ ¥218,280（単純換算）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51" name="Google Shape;251;p6"/>
          <p:cNvSpPr/>
          <p:nvPr/>
        </p:nvSpPr>
        <p:spPr>
          <a:xfrm>
            <a:off x="6200000" y="4452642"/>
            <a:ext cx="5400000" cy="1899900"/>
          </a:xfrm>
          <a:prstGeom prst="roundRect">
            <a:avLst>
              <a:gd fmla="val 8000" name="adj"/>
            </a:avLst>
          </a:prstGeom>
          <a:solidFill>
            <a:srgbClr val="E4DF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52" name="Google Shape;252;p6"/>
          <p:cNvSpPr txBox="1"/>
          <p:nvPr/>
        </p:nvSpPr>
        <p:spPr>
          <a:xfrm>
            <a:off x="6300000" y="4552642"/>
            <a:ext cx="51999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本シート未計上（別途確認）</a:t>
            </a:r>
            <a:endParaRPr b="1" sz="13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・Storage Transfer Service 自体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・Workflows / Cloud Scheduler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・Artifact Registry / Logging / Monitoring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・seiyu-trial-data-exchange の保管・egress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出典：20260922-gcp-spec-estimate/SPEC.xlsx</a:t>
            </a:r>
            <a:endParaRPr sz="11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53" name="Google Shape;253;p6"/>
          <p:cNvSpPr/>
          <p:nvPr/>
        </p:nvSpPr>
        <p:spPr>
          <a:xfrm>
            <a:off x="457200" y="6446520"/>
            <a:ext cx="1124712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54" name="Google Shape;254;p6"/>
          <p:cNvSpPr txBox="1"/>
          <p:nvPr/>
        </p:nvSpPr>
        <p:spPr>
          <a:xfrm>
            <a:off x="502920" y="6492240"/>
            <a:ext cx="99999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GCP 環境申請　／　元データ隔離・一方向納品　／　費用・スペック込み</a:t>
            </a:r>
            <a:endParaRPr sz="10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55" name="Google Shape;255;p6"/>
          <p:cNvSpPr/>
          <p:nvPr/>
        </p:nvSpPr>
        <p:spPr>
          <a:xfrm>
            <a:off x="457200" y="4132642"/>
            <a:ext cx="11199900" cy="279900"/>
          </a:xfrm>
          <a:prstGeom prst="roundRect">
            <a:avLst>
              <a:gd fmla="val 8000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56" name="Google Shape;256;p6"/>
          <p:cNvSpPr txBox="1"/>
          <p:nvPr/>
        </p:nvSpPr>
        <p:spPr>
          <a:xfrm>
            <a:off x="530000" y="4172642"/>
            <a:ext cx="11000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F766E"/>
                </a:solidFill>
                <a:latin typeface="BIZ UDMincho"/>
                <a:ea typeface="BIZ UDMincho"/>
                <a:cs typeface="BIZ UDMincho"/>
                <a:sym typeface="BIZ UDMincho"/>
              </a:rPr>
              <a:t>年間試算：¥18,190 × 12 ≒ ¥218,280／年（議論用・非拘束。転送量で上下）</a:t>
            </a:r>
            <a:endParaRPr b="1" sz="1300">
              <a:solidFill>
                <a:srgbClr val="0F766E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457200" y="201168"/>
            <a:ext cx="9500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費用比較：Cloud Run Jobs　vs　GKE</a:t>
            </a:r>
            <a:endParaRPr b="1" sz="24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63" name="Google Shape;263;p7"/>
          <p:cNvSpPr txBox="1"/>
          <p:nvPr/>
        </p:nvSpPr>
        <p:spPr>
          <a:xfrm>
            <a:off x="475488" y="603853"/>
            <a:ext cx="996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同一前提（4 vCPU / 16 GiB・日次約30h/月・Storage300・転送1200）。議論用概算・非拘束</a:t>
            </a:r>
            <a:endParaRPr sz="12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766E"/>
                </a:solidFill>
                <a:latin typeface="BIZ UDMincho"/>
                <a:ea typeface="BIZ UDMincho"/>
                <a:cs typeface="BIZ UDMincho"/>
                <a:sym typeface="BIZ UDMincho"/>
              </a:rPr>
              <a:t>参考年間：本件 Cloud Run ≒ ¥218,280／年（月額×12）</a:t>
            </a:r>
            <a:endParaRPr b="1" sz="1200">
              <a:solidFill>
                <a:srgbClr val="0F766E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64" name="Google Shape;264;p7"/>
          <p:cNvSpPr txBox="1"/>
          <p:nvPr/>
        </p:nvSpPr>
        <p:spPr>
          <a:xfrm>
            <a:off x="11173968" y="256032"/>
            <a:ext cx="699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7 / 7</a:t>
            </a:r>
            <a:endParaRPr sz="12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457200" y="1069150"/>
            <a:ext cx="11201400" cy="126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66" name="Google Shape;266;p7"/>
          <p:cNvSpPr txBox="1"/>
          <p:nvPr/>
        </p:nvSpPr>
        <p:spPr>
          <a:xfrm>
            <a:off x="457200" y="1142302"/>
            <a:ext cx="6583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リージョン：東京 asia-northeast1　・　dev / stg / prod</a:t>
            </a:r>
            <a:endParaRPr sz="11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7818120" y="1133158"/>
            <a:ext cx="146400" cy="14640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68" name="Google Shape;268;p7"/>
          <p:cNvSpPr txBox="1"/>
          <p:nvPr/>
        </p:nvSpPr>
        <p:spPr>
          <a:xfrm>
            <a:off x="8028432" y="1096582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今回申請</a:t>
            </a:r>
            <a:endParaRPr sz="10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69" name="Google Shape;269;p7"/>
          <p:cNvSpPr/>
          <p:nvPr/>
        </p:nvSpPr>
        <p:spPr>
          <a:xfrm>
            <a:off x="8869680" y="1133158"/>
            <a:ext cx="146400" cy="146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70" name="Google Shape;270;p7"/>
          <p:cNvSpPr txBox="1"/>
          <p:nvPr/>
        </p:nvSpPr>
        <p:spPr>
          <a:xfrm>
            <a:off x="9079992" y="1096582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常時稼働</a:t>
            </a:r>
            <a:endParaRPr sz="10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71" name="Google Shape;271;p7"/>
          <p:cNvSpPr/>
          <p:nvPr/>
        </p:nvSpPr>
        <p:spPr>
          <a:xfrm>
            <a:off x="9921240" y="1133158"/>
            <a:ext cx="146400" cy="146400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72" name="Google Shape;272;p7"/>
          <p:cNvSpPr txBox="1"/>
          <p:nvPr/>
        </p:nvSpPr>
        <p:spPr>
          <a:xfrm>
            <a:off x="10131552" y="1096582"/>
            <a:ext cx="9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既存・外部</a:t>
            </a:r>
            <a:endParaRPr sz="10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73" name="Google Shape;273;p7"/>
          <p:cNvSpPr txBox="1"/>
          <p:nvPr/>
        </p:nvSpPr>
        <p:spPr>
          <a:xfrm>
            <a:off x="457200" y="1410836"/>
            <a:ext cx="111999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GCS 保管＋大阪→東京転送（約 ¥16,400）は共通。差が出るのは計算基盤とクラスタ管理費。</a:t>
            </a:r>
            <a:endParaRPr b="1" sz="13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74" name="Google Shape;274;p7"/>
          <p:cNvSpPr/>
          <p:nvPr/>
        </p:nvSpPr>
        <p:spPr>
          <a:xfrm>
            <a:off x="457200" y="1680836"/>
            <a:ext cx="11199900" cy="354900"/>
          </a:xfrm>
          <a:prstGeom prst="roundRect">
            <a:avLst>
              <a:gd fmla="val 8000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75" name="Google Shape;275;p7"/>
          <p:cNvSpPr txBox="1"/>
          <p:nvPr/>
        </p:nvSpPr>
        <p:spPr>
          <a:xfrm>
            <a:off x="480000" y="1740836"/>
            <a:ext cx="36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構成</a:t>
            </a:r>
            <a:endParaRPr b="1"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76" name="Google Shape;276;p7"/>
          <p:cNvSpPr txBox="1"/>
          <p:nvPr/>
        </p:nvSpPr>
        <p:spPr>
          <a:xfrm>
            <a:off x="4200000" y="1740836"/>
            <a:ext cx="18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計算費</a:t>
            </a:r>
            <a:endParaRPr b="1"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77" name="Google Shape;277;p7"/>
          <p:cNvSpPr txBox="1"/>
          <p:nvPr/>
        </p:nvSpPr>
        <p:spPr>
          <a:xfrm>
            <a:off x="6200000" y="1740836"/>
            <a:ext cx="18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クラスタ管理</a:t>
            </a:r>
            <a:endParaRPr b="1"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78" name="Google Shape;278;p7"/>
          <p:cNvSpPr txBox="1"/>
          <p:nvPr/>
        </p:nvSpPr>
        <p:spPr>
          <a:xfrm>
            <a:off x="8200000" y="1740836"/>
            <a:ext cx="1700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GCS+転送</a:t>
            </a:r>
            <a:endParaRPr b="1"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79" name="Google Shape;279;p7"/>
          <p:cNvSpPr txBox="1"/>
          <p:nvPr/>
        </p:nvSpPr>
        <p:spPr>
          <a:xfrm>
            <a:off x="10000000" y="1740836"/>
            <a:ext cx="15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月合計 概算</a:t>
            </a:r>
            <a:endParaRPr b="1"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457200" y="2060836"/>
            <a:ext cx="11199900" cy="354900"/>
          </a:xfrm>
          <a:prstGeom prst="roundRect">
            <a:avLst>
              <a:gd fmla="val 8000" name="adj"/>
            </a:avLst>
          </a:prstGeom>
          <a:solidFill>
            <a:srgbClr val="EAF2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81" name="Google Shape;281;p7"/>
          <p:cNvSpPr txBox="1"/>
          <p:nvPr/>
        </p:nvSpPr>
        <p:spPr>
          <a:xfrm>
            <a:off x="480000" y="2120836"/>
            <a:ext cx="36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Cloud Run Jobs（本件 SPEC）</a:t>
            </a:r>
            <a:endParaRPr b="1"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82" name="Google Shape;282;p7"/>
          <p:cNvSpPr txBox="1"/>
          <p:nvPr/>
        </p:nvSpPr>
        <p:spPr>
          <a:xfrm>
            <a:off x="4200000" y="2120836"/>
            <a:ext cx="18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¥1,790</a:t>
            </a:r>
            <a:endParaRPr b="1"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83" name="Google Shape;283;p7"/>
          <p:cNvSpPr txBox="1"/>
          <p:nvPr/>
        </p:nvSpPr>
        <p:spPr>
          <a:xfrm>
            <a:off x="6200000" y="2120836"/>
            <a:ext cx="18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—</a:t>
            </a:r>
            <a:endParaRPr b="1"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84" name="Google Shape;284;p7"/>
          <p:cNvSpPr txBox="1"/>
          <p:nvPr/>
        </p:nvSpPr>
        <p:spPr>
          <a:xfrm>
            <a:off x="8200000" y="2120836"/>
            <a:ext cx="1700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¥16,400</a:t>
            </a:r>
            <a:endParaRPr b="1"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85" name="Google Shape;285;p7"/>
          <p:cNvSpPr txBox="1"/>
          <p:nvPr/>
        </p:nvSpPr>
        <p:spPr>
          <a:xfrm>
            <a:off x="10000000" y="2120836"/>
            <a:ext cx="15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F766E"/>
                </a:solidFill>
                <a:latin typeface="BIZ UDMincho"/>
                <a:ea typeface="BIZ UDMincho"/>
                <a:cs typeface="BIZ UDMincho"/>
                <a:sym typeface="BIZ UDMincho"/>
              </a:rPr>
              <a:t>¥18,190</a:t>
            </a:r>
            <a:endParaRPr b="1" sz="1100">
              <a:solidFill>
                <a:srgbClr val="0F766E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86" name="Google Shape;286;p7"/>
          <p:cNvSpPr/>
          <p:nvPr/>
        </p:nvSpPr>
        <p:spPr>
          <a:xfrm>
            <a:off x="457200" y="2440836"/>
            <a:ext cx="11199900" cy="3549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87" name="Google Shape;287;p7"/>
          <p:cNvSpPr txBox="1"/>
          <p:nvPr/>
        </p:nvSpPr>
        <p:spPr>
          <a:xfrm>
            <a:off x="480000" y="2500836"/>
            <a:ext cx="36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GKE Autopilot（管理費あり）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88" name="Google Shape;288;p7"/>
          <p:cNvSpPr txBox="1"/>
          <p:nvPr/>
        </p:nvSpPr>
        <p:spPr>
          <a:xfrm>
            <a:off x="4200000" y="2500836"/>
            <a:ext cx="18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~¥1,200</a:t>
            </a:r>
            <a:endParaRPr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89" name="Google Shape;289;p7"/>
          <p:cNvSpPr txBox="1"/>
          <p:nvPr/>
        </p:nvSpPr>
        <p:spPr>
          <a:xfrm>
            <a:off x="6200000" y="2500836"/>
            <a:ext cx="18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~¥11,500</a:t>
            </a:r>
            <a:endParaRPr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90" name="Google Shape;290;p7"/>
          <p:cNvSpPr txBox="1"/>
          <p:nvPr/>
        </p:nvSpPr>
        <p:spPr>
          <a:xfrm>
            <a:off x="8200000" y="2500836"/>
            <a:ext cx="1700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¥16,400</a:t>
            </a:r>
            <a:endParaRPr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91" name="Google Shape;291;p7"/>
          <p:cNvSpPr txBox="1"/>
          <p:nvPr/>
        </p:nvSpPr>
        <p:spPr>
          <a:xfrm>
            <a:off x="10000000" y="2500836"/>
            <a:ext cx="15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~¥29,000</a:t>
            </a:r>
            <a:endParaRPr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92" name="Google Shape;292;p7"/>
          <p:cNvSpPr/>
          <p:nvPr/>
        </p:nvSpPr>
        <p:spPr>
          <a:xfrm>
            <a:off x="457200" y="2820836"/>
            <a:ext cx="11199900" cy="354900"/>
          </a:xfrm>
          <a:prstGeom prst="roundRect">
            <a:avLst>
              <a:gd fmla="val 8000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93" name="Google Shape;293;p7"/>
          <p:cNvSpPr txBox="1"/>
          <p:nvPr/>
        </p:nvSpPr>
        <p:spPr>
          <a:xfrm>
            <a:off x="480000" y="2880836"/>
            <a:ext cx="36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GKE Standard 常駐 e2-standard-4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94" name="Google Shape;294;p7"/>
          <p:cNvSpPr txBox="1"/>
          <p:nvPr/>
        </p:nvSpPr>
        <p:spPr>
          <a:xfrm>
            <a:off x="4200000" y="2880836"/>
            <a:ext cx="18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~¥20,000</a:t>
            </a:r>
            <a:endParaRPr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95" name="Google Shape;295;p7"/>
          <p:cNvSpPr txBox="1"/>
          <p:nvPr/>
        </p:nvSpPr>
        <p:spPr>
          <a:xfrm>
            <a:off x="6200000" y="2880836"/>
            <a:ext cx="18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0〜¥11,500</a:t>
            </a:r>
            <a:endParaRPr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96" name="Google Shape;296;p7"/>
          <p:cNvSpPr txBox="1"/>
          <p:nvPr/>
        </p:nvSpPr>
        <p:spPr>
          <a:xfrm>
            <a:off x="8200000" y="2880836"/>
            <a:ext cx="1700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¥16,400</a:t>
            </a:r>
            <a:endParaRPr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97" name="Google Shape;297;p7"/>
          <p:cNvSpPr txBox="1"/>
          <p:nvPr/>
        </p:nvSpPr>
        <p:spPr>
          <a:xfrm>
            <a:off x="10000000" y="2880836"/>
            <a:ext cx="1599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~¥36,000〜48,000</a:t>
            </a:r>
            <a:endParaRPr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98" name="Google Shape;298;p7"/>
          <p:cNvSpPr/>
          <p:nvPr/>
        </p:nvSpPr>
        <p:spPr>
          <a:xfrm>
            <a:off x="457200" y="3350825"/>
            <a:ext cx="5400000" cy="1987500"/>
          </a:xfrm>
          <a:prstGeom prst="roundRect">
            <a:avLst>
              <a:gd fmla="val 8000" name="adj"/>
            </a:avLst>
          </a:prstGeom>
          <a:solidFill>
            <a:srgbClr val="E4DF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299" name="Google Shape;299;p7"/>
          <p:cNvSpPr txBox="1"/>
          <p:nvPr/>
        </p:nvSpPr>
        <p:spPr>
          <a:xfrm>
            <a:off x="530000" y="3450836"/>
            <a:ext cx="5199900" cy="12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読み方</a:t>
            </a:r>
            <a:endParaRPr b="1" sz="13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・転送費はどちらも同じ（約84%の主因）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・差は主にクラスタ管理費（常駐）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・Autopilot でも管理費が残りやすい（約 +¥11,500／月 程度）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・常駐ノード案は本件バッチに対して過剰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45C5C"/>
                </a:solidFill>
                <a:latin typeface="BIZ UDMincho"/>
                <a:ea typeface="BIZ UDMincho"/>
                <a:cs typeface="BIZ UDMincho"/>
                <a:sym typeface="BIZ UDMincho"/>
              </a:rPr>
              <a:t>・本件は Cloud Run Jobs（クラスタ不要）</a:t>
            </a:r>
            <a:endParaRPr sz="1200">
              <a:solidFill>
                <a:srgbClr val="C45C5C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00" name="Google Shape;300;p7"/>
          <p:cNvSpPr/>
          <p:nvPr/>
        </p:nvSpPr>
        <p:spPr>
          <a:xfrm>
            <a:off x="6200000" y="3350825"/>
            <a:ext cx="5400000" cy="1987500"/>
          </a:xfrm>
          <a:prstGeom prst="roundRect">
            <a:avLst>
              <a:gd fmla="val 8000" name="adj"/>
            </a:avLst>
          </a:prstGeom>
          <a:solidFill>
            <a:srgbClr val="FCE4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01" name="Google Shape;301;p7"/>
          <p:cNvSpPr txBox="1"/>
          <p:nvPr/>
        </p:nvSpPr>
        <p:spPr>
          <a:xfrm>
            <a:off x="6300000" y="3450836"/>
            <a:ext cx="51999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前提・注意（概算）</a:t>
            </a:r>
            <a:endParaRPr b="1" sz="13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・日次バッチ ≈ 30h/月 × 4vCPU/16GiB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・為替 ≈ ¥159/USD（転送単価から逆算）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・GKE 行は Calculator 未出力の机上試算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・Logging / LB / 永続ディスク等は未計上</a:t>
            </a:r>
            <a:endParaRPr sz="12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・正式比較は Pricing Calculator で要再出力</a:t>
            </a:r>
            <a:endParaRPr sz="11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02" name="Google Shape;302;p7"/>
          <p:cNvSpPr/>
          <p:nvPr/>
        </p:nvSpPr>
        <p:spPr>
          <a:xfrm>
            <a:off x="457200" y="6066520"/>
            <a:ext cx="1124712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03" name="Google Shape;303;p7"/>
          <p:cNvSpPr txBox="1"/>
          <p:nvPr/>
        </p:nvSpPr>
        <p:spPr>
          <a:xfrm>
            <a:off x="502920" y="6112240"/>
            <a:ext cx="110001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666666"/>
                </a:solidFill>
                <a:latin typeface="BIZ UDMincho"/>
                <a:ea typeface="BIZ UDMincho"/>
                <a:cs typeface="BIZ UDMincho"/>
                <a:sym typeface="BIZ UDMincho"/>
              </a:rPr>
              <a:t>GCP 環境申請　／　元データ隔離・一方向納品　／　Cloud Run 採用理由・GKE比較込み</a:t>
            </a:r>
            <a:endParaRPr sz="1000">
              <a:solidFill>
                <a:srgbClr val="666666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04" name="Google Shape;304;p7"/>
          <p:cNvSpPr/>
          <p:nvPr/>
        </p:nvSpPr>
        <p:spPr>
          <a:xfrm>
            <a:off x="457200" y="5564426"/>
            <a:ext cx="11142600" cy="246300"/>
          </a:xfrm>
          <a:prstGeom prst="roundRect">
            <a:avLst>
              <a:gd fmla="val 8000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  <p:sp>
        <p:nvSpPr>
          <p:cNvPr id="305" name="Google Shape;305;p7"/>
          <p:cNvSpPr txBox="1"/>
          <p:nvPr/>
        </p:nvSpPr>
        <p:spPr>
          <a:xfrm>
            <a:off x="530000" y="5570836"/>
            <a:ext cx="11000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333333"/>
                </a:solidFill>
                <a:latin typeface="BIZ UDMincho"/>
                <a:ea typeface="BIZ UDMincho"/>
                <a:cs typeface="BIZ UDMincho"/>
                <a:sym typeface="BIZ UDMincho"/>
              </a:rPr>
              <a:t>年間換算の目安（月額×12）：Cloud Run ≈ ¥218,280／年 ｜ Autopilot ≈ ¥348,000／年 ｜ Standard常駐 ≈ ¥432,000〜576,000／年</a:t>
            </a:r>
            <a:endParaRPr b="1" sz="1100">
              <a:solidFill>
                <a:srgbClr val="333333"/>
              </a:solidFill>
              <a:latin typeface="BIZ UDMincho"/>
              <a:ea typeface="BIZ UDMincho"/>
              <a:cs typeface="BIZ UDMincho"/>
              <a:sym typeface="BIZ UDMinch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2026-09-23T01:22:23Z</dcterms:created>
  <dc:creator>OpenAI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A9475B56DA174B11B9C965567602C371_12</vt:lpwstr>
  </property>
  <property fmtid="{D5CDD505-2E9C-101B-9397-08002B2CF9AE}" pid="3" name="KSOProductBuildVer">
    <vt:lpwstr>2052-12.1.26055.26055</vt:lpwstr>
  </property>
</Properties>
</file>