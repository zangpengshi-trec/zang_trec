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62" r:id="rId14"/>
    <p:sldId id="261" r:id="rId13"/>
    <p:sldId id="256" r:id="rId3"/>
    <p:sldId id="257" r:id="rId5"/>
    <p:sldId id="258" r:id="rId10"/>
    <p:sldId id="259" r:id="rId11"/>
    <p:sldId id="260" r:id="rId12"/>
  </p:sldIdLst>
  <p:sldSz cx="12192000" cy="6858000"/>
  <p:notesSz cx="6858000" cy="12192000"/>
  <p:custDataLst>
    <p:tags r:id="rId9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3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ableStyles" Target="tableStyles.xml"/><Relationship Id="rId9" Type="http://schemas.openxmlformats.org/officeDocument/2006/relationships/tags" Target="tags/tag1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2.xml"/><Relationship Id="rId14" Type="http://schemas.openxmlformats.org/officeDocument/2006/relationships/slide" Target="slides/slide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0000"/>
            <a:ext cx="980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Arial"/>
                <a:ea typeface="Yu Gothic"/>
              </a:rPr>
              <a:t>背景・なぜ新しいクラウド機を申請するか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580000"/>
            <a:ext cx="996696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Yu Gothic"/>
              </a:rPr>
              <a:t>西友 MD 基幹統合／自動補充 Sinops 第2段階　—　TRIAL 側 Layer① の実行基盤が必要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73968" y="220000"/>
            <a:ext cx="700000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Arial"/>
                <a:ea typeface="Yu Gothic"/>
              </a:rPr>
              <a:t>1 / 7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00000"/>
            <a:ext cx="1120140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60000"/>
            <a:ext cx="7000000" cy="1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Arial"/>
                <a:ea typeface="Yu Gothic"/>
              </a:rPr>
              <a:t>リージョン：東京 asia-northeast1　・　dev / stg / prod</a:t>
            </a:r>
          </a:p>
        </p:txBody>
      </p:sp>
      <p:sp>
        <p:nvSpPr>
          <p:cNvPr id="8" name="Rectangle 7"/>
          <p:cNvSpPr/>
          <p:nvPr/>
        </p:nvSpPr>
        <p:spPr>
          <a:xfrm>
            <a:off x="7818120" y="980000"/>
            <a:ext cx="146304" cy="146304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28432" y="940000"/>
            <a:ext cx="90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Arial"/>
                <a:ea typeface="Yu Gothic"/>
              </a:rPr>
              <a:t>今回申請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69680" y="980000"/>
            <a:ext cx="146304" cy="14630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79992" y="940000"/>
            <a:ext cx="90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Arial"/>
                <a:ea typeface="Yu Gothic"/>
              </a:rPr>
              <a:t>常時稼働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921240" y="980000"/>
            <a:ext cx="146304" cy="146304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31552" y="940000"/>
            <a:ext cx="90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Arial"/>
                <a:ea typeface="Yu Gothic"/>
              </a:rPr>
              <a:t>予測フロー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91088" y="980000"/>
            <a:ext cx="146304" cy="146304"/>
          </a:xfrm>
          <a:prstGeom prst="rect">
            <a:avLst/>
          </a:prstGeom>
          <a:solidFill>
            <a:srgbClr val="C659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201400" y="940000"/>
            <a:ext cx="90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Arial"/>
                <a:ea typeface="Yu Gothic"/>
              </a:rPr>
              <a:t>既存・外部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1220000"/>
            <a:ext cx="5400000" cy="2100000"/>
          </a:xfrm>
          <a:prstGeom prst="roundRect">
            <a:avLst>
              <a:gd name="adj" fmla="val 8000"/>
            </a:avLst>
          </a:prstGeom>
          <a:solidFill>
            <a:srgbClr val="FCE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000" y="1300000"/>
            <a:ext cx="52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65911"/>
                </a:solidFill>
                <a:latin typeface="Arial"/>
                <a:ea typeface="Yu Gothic"/>
              </a:rPr>
              <a:t>いま起きていること（背景）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・西友×TRIAL の MD 基幹統合・自動補充（Sinops）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・集計系データ（大阪）を西友側へ日次で渡す必要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・会社間の正本通路は西友連携 GCS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・型変換・共通化は TRIAL 側で吸収する方針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・課題ごとに PJ を割ると SCM 連携面が割れる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0000" y="1220000"/>
            <a:ext cx="5400000" cy="2100000"/>
          </a:xfrm>
          <a:prstGeom prst="roundRect">
            <a:avLst>
              <a:gd name="adj" fmla="val 8000"/>
            </a:avLst>
          </a:prstGeom>
          <a:solidFill>
            <a:srgbClr val="F5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0000" y="1300000"/>
            <a:ext cx="52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F75B5"/>
                </a:solidFill>
                <a:latin typeface="Arial"/>
                <a:ea typeface="Yu Gothic"/>
              </a:rPr>
              <a:t>だから必要なもの（目的）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・TRIAL GCP 上の SCM 連携機を 1 台に集約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・Layer①：取得・変換・配置（バッチ）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・附帯 GCS（源）＋ Cloud Run（処理）を一体申請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・最終 TXT のみ Seiyu GCS へ単方向納品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・既存の惣菜／MD-Link／Inunaki と並列の位置づけ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500000"/>
            <a:ext cx="5400000" cy="2100000"/>
          </a:xfrm>
          <a:prstGeom prst="roundRect">
            <a:avLst>
              <a:gd name="adj" fmla="val 8000"/>
            </a:avLst>
          </a:prstGeom>
          <a:solidFill>
            <a:srgbClr val="E4D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000" y="3580000"/>
            <a:ext cx="52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Arial"/>
                <a:ea typeface="Yu Gothic"/>
              </a:rPr>
              <a:t>役割分担（なぜ「新機」か）</a:t>
            </a:r>
          </a:p>
          <a:p>
            <a:pPr algn="l"/>
            <a:r>
              <a:rPr sz="1200" b="1">
                <a:solidFill>
                  <a:srgbClr val="0F766E"/>
                </a:solidFill>
                <a:latin typeface="Arial"/>
                <a:ea typeface="Yu Gothic"/>
              </a:rPr>
              <a:t>・Layer①＝今回申請のクラウド機（TRIAL GCP）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・Layer②③＝西友 Azure DataSpider（別 Spec）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・DSS は全フィールド通過。変換は Layer①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・本機ディスクなし。永続は GCS のみ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・見積（Sinops 403 人日）の実行前提となる基盤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0000" y="3500000"/>
            <a:ext cx="5400000" cy="2100000"/>
          </a:xfrm>
          <a:prstGeom prst="roundRect">
            <a:avLst>
              <a:gd name="adj" fmla="val 8000"/>
            </a:avLst>
          </a:prstGeom>
          <a:solidFill>
            <a:srgbClr val="E2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0000" y="3580000"/>
            <a:ext cx="52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766E"/>
                </a:solidFill>
                <a:latin typeface="Arial"/>
                <a:ea typeface="Yu Gothic"/>
              </a:rPr>
              <a:t>今回申請する／しない</a:t>
            </a:r>
          </a:p>
          <a:p>
            <a:pPr algn="l"/>
            <a:r>
              <a:rPr sz="1200" b="1">
                <a:solidFill>
                  <a:srgbClr val="333333"/>
                </a:solidFill>
                <a:latin typeface="Arial"/>
                <a:ea typeface="Yu Gothic"/>
              </a:rPr>
              <a:t>申請する：1 PJ・Cloud Run Jobs・自有 GCS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　　　　　Scheduler / Workflows / STS 等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申請しない：GKE・本機永続ディスク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　　　　　　DataSpider・西友連携 GCS 本体</a:t>
            </a:r>
          </a:p>
          <a:p>
            <a:pPr algn="l"/>
            <a:r>
              <a:rPr sz="1100" b="0">
                <a:solidFill>
                  <a:srgbClr val="666666"/>
                </a:solidFill>
                <a:latin typeface="Arial"/>
                <a:ea typeface="Yu Gothic"/>
              </a:rPr>
              <a:t>　　　　　　（連携 GCS は松尾さんへ別途申請）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800000"/>
            <a:ext cx="11200000" cy="5000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000" y="5880000"/>
            <a:ext cx="1100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Arial"/>
                <a:ea typeface="Yu Gothic"/>
              </a:rPr>
              <a:t>一句话：会社間の自動補充連携を回すため、TRIAL 側に「変換付きの統一 IF 基盤」が要る。だから新規 1 プロジェクトの SCM連携クラウド機を申請する。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6446520"/>
            <a:ext cx="1124712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492240"/>
            <a:ext cx="110000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Arial"/>
                <a:ea typeface="Yu Gothic"/>
              </a:rPr>
              <a:t>GCP 環境申請　／　背景・判断・構成・費用　／　源データ隔離・単方向納品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9500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Arial"/>
                <a:ea typeface="Yu Gothic"/>
              </a:rPr>
              <a:t>なぜ Cloud Run Jobs を採用するか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58368"/>
            <a:ext cx="9966960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Yu Gothic"/>
              </a:rPr>
              <a:t>GKE ではなく Cloud Run を選ぶ判断基準（本件＝日次ファイル IF バッチ）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73968" y="256032"/>
            <a:ext cx="700000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Arial"/>
                <a:ea typeface="Yu Gothic"/>
              </a:rPr>
              <a:t>2 / 7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0140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33272"/>
            <a:ext cx="65836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Arial"/>
                <a:ea typeface="Yu Gothic"/>
              </a:rPr>
              <a:t>リージョン：東京 asia-northeast1　・　dev / stg / prod</a:t>
            </a:r>
          </a:p>
        </p:txBody>
      </p:sp>
      <p:sp>
        <p:nvSpPr>
          <p:cNvPr id="8" name="Rectangle 7"/>
          <p:cNvSpPr/>
          <p:nvPr/>
        </p:nvSpPr>
        <p:spPr>
          <a:xfrm>
            <a:off x="7818120" y="1024128"/>
            <a:ext cx="146304" cy="146304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28432" y="987552"/>
            <a:ext cx="90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Arial"/>
                <a:ea typeface="Yu Gothic"/>
              </a:rPr>
              <a:t>今回申請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69680" y="1024128"/>
            <a:ext cx="146304" cy="14630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79992" y="987552"/>
            <a:ext cx="90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Arial"/>
                <a:ea typeface="Yu Gothic"/>
              </a:rPr>
              <a:t>常時稼働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921240" y="1024128"/>
            <a:ext cx="146304" cy="146304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31552" y="987552"/>
            <a:ext cx="90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Arial"/>
                <a:ea typeface="Yu Gothic"/>
              </a:rPr>
              <a:t>予測フロー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91088" y="1024128"/>
            <a:ext cx="146304" cy="146304"/>
          </a:xfrm>
          <a:prstGeom prst="rect">
            <a:avLst/>
          </a:prstGeom>
          <a:solidFill>
            <a:srgbClr val="C659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201400" y="987552"/>
            <a:ext cx="90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Arial"/>
                <a:ea typeface="Yu Gothic"/>
              </a:rPr>
              <a:t>既存・外部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1280000"/>
            <a:ext cx="5400000" cy="2100000"/>
          </a:xfrm>
          <a:prstGeom prst="roundRect">
            <a:avLst>
              <a:gd name="adj" fmla="val 8000"/>
            </a:avLst>
          </a:prstGeom>
          <a:solidFill>
            <a:srgbClr val="E2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7200" y="1340000"/>
            <a:ext cx="52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75B5"/>
                </a:solidFill>
                <a:latin typeface="Arial"/>
                <a:ea typeface="Yu Gothic"/>
              </a:rPr>
              <a:t>① 動き方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7200" y="1680000"/>
            <a:ext cx="5200000" cy="1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F766E"/>
                </a:solidFill>
                <a:latin typeface="Arial"/>
                <a:ea typeface="Yu Gothic"/>
              </a:rPr>
              <a:t>Cloud Run Jobs（採用）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時刻起動 → 処理 → 終了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遊休時は止められる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Arial"/>
                <a:ea typeface="Yu Gothic"/>
              </a:rPr>
              <a:t/>
            </a:r>
          </a:p>
          <a:p>
            <a:pPr algn="l"/>
            <a:r>
              <a:rPr sz="1200" b="1">
                <a:solidFill>
                  <a:srgbClr val="C45C5C"/>
                </a:solidFill>
                <a:latin typeface="Arial"/>
                <a:ea typeface="Yu Gothic"/>
              </a:rPr>
              <a:t>GKE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クラスタ／ノードを常設しやすい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バッチには固定費が残りやすい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0000" y="1280000"/>
            <a:ext cx="5400000" cy="21000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80000" y="1340000"/>
            <a:ext cx="52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75B5"/>
                </a:solidFill>
                <a:latin typeface="Arial"/>
                <a:ea typeface="Yu Gothic"/>
              </a:rPr>
              <a:t>② 本機の仕事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80000" y="1680000"/>
            <a:ext cx="5200000" cy="1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F766E"/>
                </a:solidFill>
                <a:latin typeface="Arial"/>
                <a:ea typeface="Yu Gothic"/>
              </a:rPr>
              <a:t>Cloud Run Jobs（採用）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抽出・変換・GCS プッシュ／プル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日次バッチ変換機に適合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Arial"/>
                <a:ea typeface="Yu Gothic"/>
              </a:rPr>
              <a:t/>
            </a:r>
          </a:p>
          <a:p>
            <a:pPr algn="l"/>
            <a:r>
              <a:rPr sz="1200" b="1">
                <a:solidFill>
                  <a:srgbClr val="C45C5C"/>
                </a:solidFill>
                <a:latin typeface="Arial"/>
                <a:ea typeface="Yu Gothic"/>
              </a:rPr>
              <a:t>GKE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向きはマイクロサービス／常時 API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本件の主用途ではない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600000"/>
            <a:ext cx="5400000" cy="2100000"/>
          </a:xfrm>
          <a:prstGeom prst="roundRect">
            <a:avLst>
              <a:gd name="adj" fmla="val 8000"/>
            </a:avLst>
          </a:prstGeom>
          <a:solidFill>
            <a:srgbClr val="E2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7200" y="3660000"/>
            <a:ext cx="52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75B5"/>
                </a:solidFill>
                <a:latin typeface="Arial"/>
                <a:ea typeface="Yu Gothic"/>
              </a:rPr>
              <a:t>③ ストレージ方針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7200" y="4000000"/>
            <a:ext cx="5200000" cy="1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F766E"/>
                </a:solidFill>
                <a:latin typeface="Arial"/>
                <a:ea typeface="Yu Gothic"/>
              </a:rPr>
              <a:t>Cloud Run Jobs（採用）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無状態。正本は GCS のみ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本機ディスク／ステージングなし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Arial"/>
                <a:ea typeface="Yu Gothic"/>
              </a:rPr>
              <a:t/>
            </a:r>
          </a:p>
          <a:p>
            <a:pPr algn="l"/>
            <a:r>
              <a:rPr sz="1200" b="1">
                <a:solidFill>
                  <a:srgbClr val="C45C5C"/>
                </a:solidFill>
                <a:latin typeface="Arial"/>
                <a:ea typeface="Yu Gothic"/>
              </a:rPr>
              <a:t>GKE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ノード・永続ボリューム運用前提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設計（GCS 一本）と齟齬しやすい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00000" y="3600000"/>
            <a:ext cx="5400000" cy="21000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0000" y="3660000"/>
            <a:ext cx="52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75B5"/>
                </a:solidFill>
                <a:latin typeface="Arial"/>
                <a:ea typeface="Yu Gothic"/>
              </a:rPr>
              <a:t>④ 運用・費用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80000" y="4000000"/>
            <a:ext cx="5200000" cy="1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F766E"/>
                </a:solidFill>
                <a:latin typeface="Arial"/>
                <a:ea typeface="Yu Gothic"/>
              </a:rPr>
              <a:t>Cloud Run Jobs（採用）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申請・運用が軽い。従量バッチ向き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SPEC 月約 ¥18,190（転送が大半）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Arial"/>
                <a:ea typeface="Yu Gothic"/>
              </a:rPr>
              <a:t/>
            </a:r>
          </a:p>
          <a:p>
            <a:pPr algn="l"/>
            <a:r>
              <a:rPr sz="1200" b="1">
                <a:solidFill>
                  <a:srgbClr val="C45C5C"/>
                </a:solidFill>
                <a:latin typeface="Arial"/>
                <a:ea typeface="Yu Gothic"/>
              </a:rPr>
              <a:t>GKE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クラスタ費＋運用負荷が大きい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常駐案は月 +¥2万前後になり得る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850000"/>
            <a:ext cx="11200000" cy="480000"/>
          </a:xfrm>
          <a:prstGeom prst="roundRect">
            <a:avLst>
              <a:gd name="adj" fmla="val 8000"/>
            </a:avLst>
          </a:prstGeom>
          <a:solidFill>
            <a:srgbClr val="E2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000" y="5920000"/>
            <a:ext cx="1100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766E"/>
                </a:solidFill>
                <a:latin typeface="Arial"/>
                <a:ea typeface="Yu Gothic"/>
              </a:rPr>
              <a:t>結論：常時動かす基盤ではなく、必要なときだけ動くバッチなので Cloud Run Jobs。GKE は常設クラスタ前提で、今回の IF 機には過剰。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6446520"/>
            <a:ext cx="1124712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492240"/>
            <a:ext cx="110000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Arial"/>
                <a:ea typeface="Yu Gothic"/>
              </a:rPr>
              <a:t>GCP 環境申請　／　源データ隔離・単方向納品　／　Cloud Run 採用理由・GKE比較込み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201168"/>
            <a:ext cx="5120640" cy="384048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17365D"/>
                </a:solidFill>
                <a:latin typeface="Arial" panose="02020609040205080304" charset="-128"/>
                <a:ea typeface="Yu Gothic" panose="02020609040205080304" charset="-128"/>
                <a:cs typeface="Aptos" pitchFamily="34" charset="-120"/>
              </a:rPr>
              <a:t>SCM連携クラウド機　申請構成図</a:t>
            </a:r>
            <a:endParaRPr lang="en-US" sz="2300" b="1" dirty="0">
              <a:solidFill>
                <a:srgbClr val="17365D"/>
              </a:solidFill>
              <a:latin typeface="MS Mincho" panose="02020609040205080304" charset="-128"/>
              <a:ea typeface="MS Mincho" panose="02020609040205080304" charset="-128"/>
              <a:cs typeface="Aptos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75488" y="658368"/>
            <a:ext cx="9966960" cy="210312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5B6573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日次データを大阪から自有東京 GCS へバックアップし、SMART で処理後、Seiyu GCS へ最終 TXT のみ交付</a:t>
            </a:r>
            <a:endParaRPr lang="en-US" sz="900" dirty="0">
              <a:solidFill>
                <a:srgbClr val="5B6573"/>
              </a:solidFill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173968" y="256032"/>
            <a:ext cx="548640" cy="210312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5B6573"/>
                </a:solidFill>
                <a:latin typeface="Arial" panose="02020609040205080304" charset="-128"/>
                <a:ea typeface="Yu Gothic" panose="02020609040205080304" charset="-128"/>
                <a:cs typeface="Aptos" pitchFamily="34" charset="-120"/>
              </a:rPr>
              <a:t>3 / 7</a:t>
            </a:r>
            <a:endParaRPr lang="en-US" sz="1000" dirty="0">
              <a:solidFill>
                <a:srgbClr val="5B6573"/>
              </a:solidFill>
              <a:latin typeface="MS Mincho" panose="02020609040205080304" charset="-128"/>
              <a:ea typeface="MS Mincho" panose="02020609040205080304" charset="-128"/>
              <a:cs typeface="Aptos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11201400" cy="0"/>
          </a:xfrm>
          <a:prstGeom prst="line">
            <a:avLst/>
          </a:prstGeom>
          <a:noFill/>
          <a:ln w="15875">
            <a:solidFill>
              <a:srgbClr val="2F75B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57200" y="1033272"/>
            <a:ext cx="6583680" cy="182880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5B6573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リージョン：東京 asia-northeast1　・　dev / stg / prod</a:t>
            </a:r>
            <a:endParaRPr lang="en-US" sz="800" dirty="0">
              <a:solidFill>
                <a:srgbClr val="5B6573"/>
              </a:solidFill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818120" y="1024128"/>
            <a:ext cx="146304" cy="146304"/>
          </a:xfrm>
          <a:prstGeom prst="rect">
            <a:avLst/>
          </a:prstGeom>
          <a:solidFill>
            <a:srgbClr val="2F75B5"/>
          </a:solidFill>
          <a:ln w="12700">
            <a:solidFill>
              <a:srgbClr val="2F75B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028432" y="987552"/>
            <a:ext cx="658368" cy="201168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5B6573"/>
                </a:solidFill>
                <a:latin typeface="MS Mincho" panose="02020609040205080304" charset="-128"/>
                <a:ea typeface="MS Mincho" panose="02020609040205080304" charset="-128"/>
                <a:cs typeface="Aptos" pitchFamily="34" charset="-120"/>
              </a:rPr>
              <a:t>今回申請</a:t>
            </a:r>
            <a:endParaRPr lang="en-US" sz="800" dirty="0">
              <a:solidFill>
                <a:srgbClr val="5B6573"/>
              </a:solidFill>
              <a:latin typeface="MS Mincho" panose="02020609040205080304" charset="-128"/>
              <a:ea typeface="MS Mincho" panose="02020609040205080304" charset="-128"/>
              <a:cs typeface="Aptos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869680" y="1024128"/>
            <a:ext cx="146304" cy="14630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079992" y="987552"/>
            <a:ext cx="658368" cy="201168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5B6573"/>
                </a:solidFill>
                <a:latin typeface="MS Mincho" panose="02020609040205080304" charset="-128"/>
                <a:ea typeface="MS Mincho" panose="02020609040205080304" charset="-128"/>
                <a:cs typeface="Aptos" pitchFamily="34" charset="-120"/>
              </a:rPr>
              <a:t>常時稼働</a:t>
            </a:r>
            <a:endParaRPr lang="en-US" sz="800" dirty="0">
              <a:solidFill>
                <a:srgbClr val="5B6573"/>
              </a:solidFill>
              <a:latin typeface="MS Mincho" panose="02020609040205080304" charset="-128"/>
              <a:ea typeface="MS Mincho" panose="02020609040205080304" charset="-128"/>
              <a:cs typeface="Aptos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9921240" y="1024128"/>
            <a:ext cx="146304" cy="14630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0131552" y="987552"/>
            <a:ext cx="731520" cy="201168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5B6573"/>
                </a:solidFill>
                <a:latin typeface="MS Mincho" panose="02020609040205080304" charset="-128"/>
                <a:ea typeface="MS Mincho" panose="02020609040205080304" charset="-128"/>
                <a:cs typeface="Aptos" pitchFamily="34" charset="-120"/>
              </a:rPr>
              <a:t>予測フロー</a:t>
            </a:r>
            <a:endParaRPr lang="en-US" sz="800" dirty="0">
              <a:solidFill>
                <a:srgbClr val="5B6573"/>
              </a:solidFill>
              <a:latin typeface="MS Mincho" panose="02020609040205080304" charset="-128"/>
              <a:ea typeface="MS Mincho" panose="02020609040205080304" charset="-128"/>
              <a:cs typeface="Aptos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10991088" y="1024128"/>
            <a:ext cx="146304" cy="146304"/>
          </a:xfrm>
          <a:prstGeom prst="rect">
            <a:avLst/>
          </a:prstGeom>
          <a:solidFill>
            <a:srgbClr val="C65911"/>
          </a:solidFill>
          <a:ln w="12700">
            <a:solidFill>
              <a:srgbClr val="C6591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1201400" y="987552"/>
            <a:ext cx="731520" cy="201168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5B6573"/>
                </a:solidFill>
                <a:latin typeface="MS Mincho" panose="02020609040205080304" charset="-128"/>
                <a:ea typeface="MS Mincho" panose="02020609040205080304" charset="-128"/>
                <a:cs typeface="Aptos" pitchFamily="34" charset="-120"/>
              </a:rPr>
              <a:t>既存・外部</a:t>
            </a:r>
            <a:endParaRPr lang="en-US" sz="800" dirty="0">
              <a:solidFill>
                <a:srgbClr val="5B6573"/>
              </a:solidFill>
              <a:latin typeface="MS Mincho" panose="02020609040205080304" charset="-128"/>
              <a:ea typeface="MS Mincho" panose="02020609040205080304" charset="-128"/>
              <a:cs typeface="Aptos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502920" y="1344168"/>
            <a:ext cx="2377440" cy="201168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5B6573"/>
                </a:solidFill>
                <a:latin typeface="MS Mincho" panose="02020609040205080304" charset="-128"/>
                <a:ea typeface="MS Mincho" panose="02020609040205080304" charset="-128"/>
                <a:cs typeface="Aptos" pitchFamily="34" charset="-120"/>
              </a:rPr>
              <a:t>既存・外部（今回申請しない）</a:t>
            </a:r>
            <a:endParaRPr lang="en-US" sz="1000" b="1" dirty="0">
              <a:solidFill>
                <a:srgbClr val="5B6573"/>
              </a:solidFill>
              <a:latin typeface="MS Mincho" panose="02020609040205080304" charset="-128"/>
              <a:ea typeface="MS Mincho" panose="02020609040205080304" charset="-128"/>
              <a:cs typeface="Aptos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02920" y="1664208"/>
            <a:ext cx="2148840" cy="1097280"/>
          </a:xfrm>
          <a:prstGeom prst="roundRect">
            <a:avLst>
              <a:gd name="adj" fmla="val 3333"/>
            </a:avLst>
          </a:prstGeom>
          <a:solidFill>
            <a:srgbClr val="FCE4D6"/>
          </a:solidFill>
          <a:ln w="15240">
            <a:solidFill>
              <a:srgbClr val="C65911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76072" y="1719072"/>
            <a:ext cx="2002536" cy="987552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大阪　集計 GCS</a:t>
            </a:r>
            <a:endParaRPr lang="en-US" sz="13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  <a:p>
            <a:pPr marL="0" indent="0" algn="l">
              <a:buNone/>
            </a:pPr>
            <a:r>
              <a:rPr lang="en-US" sz="13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asia-northeast2</a:t>
            </a:r>
            <a:endParaRPr lang="en-US" sz="13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  <a:p>
            <a:pPr marL="0" indent="0" algn="l">
              <a:buNone/>
            </a:pPr>
            <a:r>
              <a:rPr lang="en-US" sz="13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日次データ + _READY</a:t>
            </a:r>
            <a:endParaRPr lang="en-US" sz="13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2907792" y="1344168"/>
            <a:ext cx="2743200" cy="201168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GCP　東京（今回申請）</a:t>
            </a:r>
            <a:endParaRPr lang="en-US" sz="1200" b="1" dirty="0">
              <a:solidFill>
                <a:srgbClr val="17365D"/>
              </a:solidFill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2834640" y="1536192"/>
            <a:ext cx="6355080" cy="3063240"/>
          </a:xfrm>
          <a:prstGeom prst="roundRect">
            <a:avLst>
              <a:gd name="adj" fmla="val 2388"/>
            </a:avLst>
          </a:prstGeom>
          <a:solidFill>
            <a:srgbClr val="F5F9FD"/>
          </a:solidFill>
          <a:ln w="19050">
            <a:solidFill>
              <a:srgbClr val="2F75B5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3063240" y="1664208"/>
            <a:ext cx="3200400" cy="210312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F75B5"/>
                </a:solidFill>
                <a:latin typeface="Arial" panose="02020609040205080304" charset="-128"/>
                <a:ea typeface="Yu Gothic" panose="02020609040205080304" charset="-128"/>
                <a:cs typeface="MS Mincho" panose="02020609040205080304" charset="-128"/>
              </a:rPr>
              <a:t>自有 GCP　asia-northeast1</a:t>
            </a:r>
            <a:endParaRPr lang="en-US" sz="1100" b="1" dirty="0">
              <a:solidFill>
                <a:srgbClr val="2F75B5"/>
              </a:solidFill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  <a:p>
            <a:r>
              <a:rPr sz="1000">
                <a:solidFill>
                  <a:srgbClr val="666666"/>
                </a:solidFill>
                <a:latin typeface="Arial"/>
                <a:ea typeface="Yu Gothic"/>
              </a:rPr>
              <a:t>PJ暫定：md-data-integration-prod</a:t>
            </a:r>
          </a:p>
        </p:txBody>
      </p:sp>
      <p:sp>
        <p:nvSpPr>
          <p:cNvPr id="22" name="Shape 20"/>
          <p:cNvSpPr/>
          <p:nvPr/>
        </p:nvSpPr>
        <p:spPr>
          <a:xfrm>
            <a:off x="3154680" y="2057400"/>
            <a:ext cx="1554480" cy="658368"/>
          </a:xfrm>
          <a:prstGeom prst="roundRect">
            <a:avLst>
              <a:gd name="adj" fmla="val 5556"/>
            </a:avLst>
          </a:prstGeom>
          <a:solidFill>
            <a:srgbClr val="EAF2F8"/>
          </a:solidFill>
          <a:ln w="15240">
            <a:solidFill>
              <a:srgbClr val="2F75B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227832" y="2112264"/>
            <a:ext cx="1408176" cy="548640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Aptos" pitchFamily="34" charset="-120"/>
              </a:rPr>
              <a:t>Storage Transfer Service</a:t>
            </a:r>
            <a:endParaRPr lang="en-US" sz="1000" dirty="0">
              <a:latin typeface="MS Mincho" panose="02020609040205080304" charset="-128"/>
              <a:ea typeface="MS Mincho" panose="02020609040205080304" charset="-128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Aptos" pitchFamily="34" charset="-120"/>
              </a:rPr>
              <a:t>manifest / prefix</a:t>
            </a:r>
            <a:endParaRPr lang="en-US" sz="1000" dirty="0">
              <a:latin typeface="MS Mincho" panose="02020609040205080304" charset="-128"/>
              <a:ea typeface="MS Mincho" panose="02020609040205080304" charset="-128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074920" y="1965960"/>
            <a:ext cx="2148840" cy="841248"/>
          </a:xfrm>
          <a:prstGeom prst="roundRect">
            <a:avLst>
              <a:gd name="adj" fmla="val 4348"/>
            </a:avLst>
          </a:prstGeom>
          <a:solidFill>
            <a:srgbClr val="E2F0F8"/>
          </a:solidFill>
          <a:ln w="15240">
            <a:solidFill>
              <a:srgbClr val="2F75B5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148072" y="2020824"/>
            <a:ext cx="2002536" cy="731520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自有 Cloud Storage</a:t>
            </a:r>
            <a:endParaRPr lang="en-US" sz="11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  <a:p>
            <a:pPr marL="0" indent="0" algn="ctr">
              <a:buNone/>
            </a:pPr>
            <a:r>
              <a:rPr lang="en-US" sz="11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source-landing/YYYYMMDD/</a:t>
            </a:r>
            <a:endParaRPr lang="en-US" sz="11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  <a:p>
            <a:pPr marL="0" indent="0" algn="ctr">
              <a:buNone/>
            </a:pPr>
            <a:r>
              <a:rPr lang="en-US" sz="11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源データ 7日保管</a:t>
            </a:r>
            <a:endParaRPr lang="en-US" sz="11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074920" y="3218688"/>
            <a:ext cx="2148840" cy="841248"/>
          </a:xfrm>
          <a:prstGeom prst="roundRect">
            <a:avLst>
              <a:gd name="adj" fmla="val 4348"/>
            </a:avLst>
          </a:prstGeom>
          <a:solidFill>
            <a:srgbClr val="EAF2F8"/>
          </a:solidFill>
          <a:ln w="15240">
            <a:solidFill>
              <a:srgbClr val="2F75B5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148072" y="3273552"/>
            <a:ext cx="2002536" cy="731520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Cloud Run Job</a:t>
            </a:r>
            <a:endParaRPr lang="en-US" sz="11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  <a:p>
            <a:pPr marL="0" indent="0" algn="ctr">
              <a:buNone/>
            </a:pPr>
            <a:r>
              <a:rPr lang="en-US" sz="11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SMART 日次処理</a:t>
            </a:r>
            <a:endParaRPr lang="en-US" sz="11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  <a:p>
            <a:pPr marL="0" indent="0" algn="ctr">
              <a:buNone/>
            </a:pPr>
            <a:r>
              <a:rPr lang="en-US" sz="11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4 vCPU / 16 GiB</a:t>
            </a:r>
            <a:endParaRPr lang="en-US" sz="11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543800" y="3227832"/>
            <a:ext cx="1353312" cy="822960"/>
          </a:xfrm>
          <a:prstGeom prst="roundRect">
            <a:avLst>
              <a:gd name="adj" fmla="val 4444"/>
            </a:avLst>
          </a:prstGeom>
          <a:solidFill>
            <a:srgbClr val="E2F0D9"/>
          </a:solidFill>
          <a:ln w="15240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616952" y="3282696"/>
            <a:ext cx="1207008" cy="713232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resumable upload</a:t>
            </a:r>
            <a:endParaRPr lang="en-US" sz="10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最終 TXT のみ</a:t>
            </a:r>
            <a:endParaRPr lang="en-US" sz="10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2647950" y="2386330"/>
            <a:ext cx="506730" cy="635"/>
          </a:xfrm>
          <a:prstGeom prst="line">
            <a:avLst/>
          </a:prstGeom>
          <a:noFill/>
          <a:ln w="24130">
            <a:solidFill>
              <a:srgbClr val="C65911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4709160" y="2386584"/>
            <a:ext cx="365760" cy="0"/>
          </a:xfrm>
          <a:prstGeom prst="line">
            <a:avLst/>
          </a:prstGeom>
          <a:noFill/>
          <a:ln w="24130">
            <a:solidFill>
              <a:srgbClr val="2F75B5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144768" y="2807208"/>
            <a:ext cx="0" cy="411480"/>
          </a:xfrm>
          <a:prstGeom prst="line">
            <a:avLst/>
          </a:prstGeom>
          <a:noFill/>
          <a:ln w="24130">
            <a:solidFill>
              <a:srgbClr val="2F75B5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7223760" y="3639312"/>
            <a:ext cx="320040" cy="0"/>
          </a:xfrm>
          <a:prstGeom prst="line">
            <a:avLst/>
          </a:prstGeom>
          <a:noFill/>
          <a:ln w="24130">
            <a:solidFill>
              <a:srgbClr val="0F766E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2697480" y="2011680"/>
            <a:ext cx="438912" cy="164592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C65911"/>
                </a:solidFill>
                <a:latin typeface="MS Mincho" panose="02020609040205080304" charset="-128"/>
                <a:ea typeface="MS Mincho" panose="02020609040205080304" charset="-128"/>
                <a:cs typeface="Aptos" pitchFamily="34" charset="-120"/>
              </a:rPr>
              <a:t>読み取り</a:t>
            </a:r>
            <a:endParaRPr lang="en-US" sz="800" b="1" dirty="0">
              <a:solidFill>
                <a:srgbClr val="C65911"/>
              </a:solidFill>
              <a:latin typeface="MS Mincho" panose="02020609040205080304" charset="-128"/>
              <a:ea typeface="MS Mincho" panose="02020609040205080304" charset="-128"/>
              <a:cs typeface="Aptos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4690872" y="2176272"/>
            <a:ext cx="502920" cy="164592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F75B5"/>
                </a:solidFill>
                <a:latin typeface="MS Mincho" panose="02020609040205080304" charset="-128"/>
                <a:ea typeface="MS Mincho" panose="02020609040205080304" charset="-128"/>
                <a:cs typeface="Aptos" pitchFamily="34" charset="-120"/>
              </a:rPr>
              <a:t>原本保管</a:t>
            </a:r>
            <a:endParaRPr lang="en-US" sz="800" b="1" dirty="0">
              <a:solidFill>
                <a:srgbClr val="2F75B5"/>
              </a:solidFill>
              <a:latin typeface="MS Mincho" panose="02020609040205080304" charset="-128"/>
              <a:ea typeface="MS Mincho" panose="02020609040205080304" charset="-128"/>
              <a:cs typeface="Aptos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6245352" y="2889504"/>
            <a:ext cx="594360" cy="164592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2F75B5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SMART 読取</a:t>
            </a:r>
            <a:endParaRPr lang="en-US" sz="800" b="1" dirty="0">
              <a:solidFill>
                <a:srgbClr val="2F75B5"/>
              </a:solidFill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9372600" y="1344168"/>
            <a:ext cx="2194560" cy="201168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5B6573"/>
                </a:solidFill>
                <a:latin typeface="MS Mincho" panose="02020609040205080304" charset="-128"/>
                <a:ea typeface="MS Mincho" panose="02020609040205080304" charset="-128"/>
                <a:cs typeface="Aptos" pitchFamily="34" charset="-120"/>
              </a:rPr>
              <a:t>既存・相手先（容量利用）</a:t>
            </a:r>
            <a:endParaRPr lang="en-US" sz="1000" b="1" dirty="0">
              <a:solidFill>
                <a:srgbClr val="5B6573"/>
              </a:solidFill>
              <a:latin typeface="MS Mincho" panose="02020609040205080304" charset="-128"/>
              <a:ea typeface="MS Mincho" panose="02020609040205080304" charset="-128"/>
              <a:cs typeface="Aptos" pitchFamily="34" charset="-120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9605772" y="2950845"/>
            <a:ext cx="2331720" cy="1261872"/>
          </a:xfrm>
          <a:prstGeom prst="roundRect">
            <a:avLst>
              <a:gd name="adj" fmla="val 2899"/>
            </a:avLst>
          </a:prstGeom>
          <a:solidFill>
            <a:srgbClr val="E2F0D9"/>
          </a:solidFill>
          <a:ln w="15240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9678924" y="3005709"/>
            <a:ext cx="2185416" cy="1152144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Seiyu 専用 GCS</a:t>
            </a:r>
            <a:endParaRPr lang="en-US" sz="12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東京 asia-northeast1</a:t>
            </a:r>
            <a:endParaRPr lang="en-US" sz="12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result/YYYYMMDD/final.txt</a:t>
            </a:r>
            <a:endParaRPr lang="en-US" sz="12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_SUCCESS</a:t>
            </a:r>
            <a:endParaRPr lang="en-US" sz="12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</p:txBody>
      </p:sp>
      <p:sp>
        <p:nvSpPr>
          <p:cNvPr id="40" name="Shape 38"/>
          <p:cNvSpPr/>
          <p:nvPr/>
        </p:nvSpPr>
        <p:spPr>
          <a:xfrm rot="16200000">
            <a:off x="9289415" y="3331845"/>
            <a:ext cx="11430" cy="577850"/>
          </a:xfrm>
          <a:prstGeom prst="line">
            <a:avLst/>
          </a:prstGeom>
          <a:noFill/>
          <a:ln w="24130">
            <a:solidFill>
              <a:srgbClr val="0F766E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548640" y="4270248"/>
            <a:ext cx="1554480" cy="201168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9A227"/>
                </a:solidFill>
                <a:latin typeface="MS Mincho" panose="02020609040205080304" charset="-128"/>
                <a:ea typeface="MS Mincho" panose="02020609040205080304" charset="-128"/>
                <a:cs typeface="Aptos" pitchFamily="34" charset="-120"/>
              </a:rPr>
              <a:t>Cloud Scheduler</a:t>
            </a:r>
            <a:endParaRPr lang="en-US" sz="900" b="1" dirty="0">
              <a:solidFill>
                <a:srgbClr val="C9A227"/>
              </a:solidFill>
              <a:latin typeface="MS Mincho" panose="02020609040205080304" charset="-128"/>
              <a:ea typeface="MS Mincho" panose="02020609040205080304" charset="-128"/>
              <a:cs typeface="Aptos" pitchFamily="34" charset="-120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502920" y="4553712"/>
            <a:ext cx="1691640" cy="530352"/>
          </a:xfrm>
          <a:prstGeom prst="roundRect">
            <a:avLst>
              <a:gd name="adj" fmla="val 6897"/>
            </a:avLst>
          </a:prstGeom>
          <a:solidFill>
            <a:srgbClr val="FFF2CC"/>
          </a:solidFill>
          <a:ln w="1524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576072" y="4608576"/>
            <a:ext cx="1545336" cy="420624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毎日 指定時刻</a:t>
            </a:r>
            <a:endParaRPr lang="en-US" sz="1100" b="1" dirty="0">
              <a:solidFill>
                <a:srgbClr val="17365D"/>
              </a:solidFill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3154680" y="4416298"/>
            <a:ext cx="2240280" cy="768096"/>
          </a:xfrm>
          <a:prstGeom prst="roundRect">
            <a:avLst>
              <a:gd name="adj" fmla="val 4762"/>
            </a:avLst>
          </a:prstGeom>
          <a:solidFill>
            <a:srgbClr val="FFF2CC"/>
          </a:solidFill>
          <a:ln w="1524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3227832" y="4471162"/>
            <a:ext cx="2093976" cy="658368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Workflows</a:t>
            </a:r>
            <a:endParaRPr lang="en-US" sz="11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  <a:p>
            <a:pPr marL="0" indent="0" algn="ctr">
              <a:buNone/>
            </a:pPr>
            <a:r>
              <a:rPr lang="en-US" sz="11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READY → STS → Job → 検証</a:t>
            </a:r>
            <a:endParaRPr lang="en-US" sz="11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</p:txBody>
      </p:sp>
      <p:sp>
        <p:nvSpPr>
          <p:cNvPr id="46" name="Shape 44"/>
          <p:cNvSpPr/>
          <p:nvPr/>
        </p:nvSpPr>
        <p:spPr>
          <a:xfrm rot="300000" flipV="1">
            <a:off x="2197735" y="4839335"/>
            <a:ext cx="942975" cy="69850"/>
          </a:xfrm>
          <a:prstGeom prst="line">
            <a:avLst/>
          </a:prstGeom>
          <a:noFill/>
          <a:ln w="20320">
            <a:solidFill>
              <a:srgbClr val="C9A227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2395728" y="4633722"/>
            <a:ext cx="566928" cy="164592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C9A227"/>
                </a:solidFill>
                <a:latin typeface="MS Mincho" panose="02020609040205080304" charset="-128"/>
                <a:ea typeface="MS Mincho" panose="02020609040205080304" charset="-128"/>
                <a:cs typeface="Aptos" pitchFamily="34" charset="-120"/>
              </a:rPr>
              <a:t>制御フロー</a:t>
            </a:r>
            <a:endParaRPr lang="en-US" sz="800" b="1" dirty="0">
              <a:solidFill>
                <a:srgbClr val="C9A227"/>
              </a:solidFill>
              <a:latin typeface="MS Mincho" panose="02020609040205080304" charset="-128"/>
              <a:ea typeface="MS Mincho" panose="02020609040205080304" charset="-128"/>
              <a:cs typeface="Aptos" pitchFamily="34" charset="-120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502920" y="5532120"/>
            <a:ext cx="4800600" cy="566928"/>
          </a:xfrm>
          <a:prstGeom prst="roundRect">
            <a:avLst>
              <a:gd name="adj" fmla="val 6452"/>
            </a:avLst>
          </a:prstGeom>
          <a:solidFill>
            <a:srgbClr val="FFF7F7"/>
          </a:solidFill>
          <a:ln w="15240">
            <a:solidFill>
              <a:srgbClr val="D99694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576072" y="5586984"/>
            <a:ext cx="4654296" cy="457200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00000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安全境界</a:t>
            </a:r>
            <a:endParaRPr lang="en-US" sz="9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  <a:p>
            <a:pPr marL="0" indent="0" algn="l">
              <a:buNone/>
            </a:pPr>
            <a:r>
              <a:rPr lang="en-US" sz="900" b="1" dirty="0">
                <a:solidFill>
                  <a:srgbClr val="C00000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源データは Seiyu GCS に入らない。</a:t>
            </a:r>
            <a:endParaRPr lang="en-US" sz="9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  <a:p>
            <a:pPr marL="0" indent="0" algn="l">
              <a:buNone/>
            </a:pPr>
            <a:r>
              <a:rPr lang="en-US" sz="900" b="1" dirty="0">
                <a:solidFill>
                  <a:srgbClr val="C00000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Seiyu 側は objectCreator のみ。</a:t>
            </a:r>
            <a:endParaRPr lang="en-US" sz="9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</p:txBody>
      </p:sp>
      <p:sp>
        <p:nvSpPr>
          <p:cNvPr id="51" name="Shape 49"/>
          <p:cNvSpPr/>
          <p:nvPr/>
        </p:nvSpPr>
        <p:spPr>
          <a:xfrm>
            <a:off x="5623560" y="5532120"/>
            <a:ext cx="5897880" cy="566928"/>
          </a:xfrm>
          <a:prstGeom prst="roundRect">
            <a:avLst>
              <a:gd name="adj" fmla="val 6452"/>
            </a:avLst>
          </a:prstGeom>
          <a:solidFill>
            <a:srgbClr val="E4DFEC"/>
          </a:solidFill>
          <a:ln w="15240">
            <a:solidFill>
              <a:srgbClr val="7030A0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5696712" y="5586984"/>
            <a:ext cx="5751576" cy="457200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7030A0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大容量 TXT</a:t>
            </a:r>
            <a:endParaRPr lang="en-US" sz="9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  <a:p>
            <a:pPr marL="0" indent="0" algn="l">
              <a:buNone/>
            </a:pPr>
            <a:r>
              <a:rPr lang="en-US" sz="900" b="1" dirty="0">
                <a:solidFill>
                  <a:srgbClr val="7030A0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メモリに全量保持せず、ストリーム + resumable upload。</a:t>
            </a:r>
            <a:endParaRPr lang="en-US" sz="9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  <a:p>
            <a:pPr marL="0" indent="0" algn="l">
              <a:buNone/>
            </a:pPr>
            <a:r>
              <a:rPr lang="en-US" sz="900" b="1" dirty="0">
                <a:solidFill>
                  <a:srgbClr val="7030A0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必要時だけ ephemeral disk を外排に使用。</a:t>
            </a:r>
            <a:endParaRPr lang="en-US" sz="9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</p:txBody>
      </p:sp>
      <p:sp>
        <p:nvSpPr>
          <p:cNvPr id="53" name="Shape 51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10160">
            <a:solidFill>
              <a:srgbClr val="D7DEE8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502920" y="6492240"/>
            <a:ext cx="4572000" cy="164592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700" dirty="0">
                <a:solidFill>
                  <a:srgbClr val="718096"/>
                </a:solidFill>
                <a:latin typeface="Arial" panose="02020609040205080304" charset="-128"/>
                <a:ea typeface="Yu Gothic" panose="02020609040205080304" charset="-128"/>
                <a:cs typeface="MS Mincho" panose="02020609040205080304" charset="-128"/>
              </a:rPr>
              <a:t>GCP 環境申請　／　源データ隔離・単方向納品　／　費用・スペック込み</a:t>
            </a:r>
            <a:endParaRPr lang="en-US" sz="700" dirty="0">
              <a:solidFill>
                <a:srgbClr val="718096"/>
              </a:solidFill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201168"/>
            <a:ext cx="5120640" cy="384048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17365D"/>
                </a:solidFill>
                <a:latin typeface="Arial" panose="02020609040205080304" charset="-128"/>
                <a:ea typeface="Yu Gothic" panose="02020609040205080304" charset="-128"/>
                <a:cs typeface="Aptos" pitchFamily="34" charset="-120"/>
              </a:rPr>
              <a:t>日次実行フロー・権限・処理方針</a:t>
            </a:r>
            <a:endParaRPr lang="en-US" sz="2300" b="1" dirty="0">
              <a:solidFill>
                <a:srgbClr val="17365D"/>
              </a:solidFill>
              <a:latin typeface="MS Mincho" panose="02020609040205080304" charset="-128"/>
              <a:ea typeface="MS Mincho" panose="02020609040205080304" charset="-128"/>
              <a:cs typeface="Aptos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75488" y="658368"/>
            <a:ext cx="9966960" cy="210312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5B6573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SMART 処理、権限分離、保存範囲と費用試算の前提</a:t>
            </a:r>
            <a:endParaRPr lang="en-US" sz="900" dirty="0">
              <a:solidFill>
                <a:srgbClr val="5B6573"/>
              </a:solidFill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173968" y="256032"/>
            <a:ext cx="548640" cy="210312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5B6573"/>
                </a:solidFill>
                <a:latin typeface="Arial" panose="02020609040205080304" charset="-128"/>
                <a:ea typeface="Yu Gothic" panose="02020609040205080304" charset="-128"/>
                <a:cs typeface="Aptos" pitchFamily="34" charset="-120"/>
              </a:rPr>
              <a:t>4 / 7</a:t>
            </a:r>
            <a:endParaRPr lang="en-US" sz="1000" dirty="0">
              <a:solidFill>
                <a:srgbClr val="5B6573"/>
              </a:solidFill>
              <a:latin typeface="MS Mincho" panose="02020609040205080304" charset="-128"/>
              <a:ea typeface="MS Mincho" panose="02020609040205080304" charset="-128"/>
              <a:cs typeface="Aptos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11201400" cy="0"/>
          </a:xfrm>
          <a:prstGeom prst="line">
            <a:avLst/>
          </a:prstGeom>
          <a:noFill/>
          <a:ln w="15875">
            <a:solidFill>
              <a:srgbClr val="2F75B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57200" y="1033272"/>
            <a:ext cx="6583680" cy="182880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5B6573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リージョン：東京 asia-northeast1　・　dev / stg / prod</a:t>
            </a:r>
            <a:endParaRPr lang="en-US" sz="800" dirty="0">
              <a:solidFill>
                <a:srgbClr val="5B6573"/>
              </a:solidFill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818120" y="1024128"/>
            <a:ext cx="146304" cy="146304"/>
          </a:xfrm>
          <a:prstGeom prst="rect">
            <a:avLst/>
          </a:prstGeom>
          <a:solidFill>
            <a:srgbClr val="2F75B5"/>
          </a:solidFill>
          <a:ln w="12700">
            <a:solidFill>
              <a:srgbClr val="2F75B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028432" y="987552"/>
            <a:ext cx="658368" cy="201168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5B6573"/>
                </a:solidFill>
                <a:latin typeface="MS Mincho" panose="02020609040205080304" charset="-128"/>
                <a:ea typeface="MS Mincho" panose="02020609040205080304" charset="-128"/>
                <a:cs typeface="Aptos" pitchFamily="34" charset="-120"/>
              </a:rPr>
              <a:t>今回申請</a:t>
            </a:r>
            <a:endParaRPr lang="en-US" sz="800" dirty="0">
              <a:solidFill>
                <a:srgbClr val="5B6573"/>
              </a:solidFill>
              <a:latin typeface="MS Mincho" panose="02020609040205080304" charset="-128"/>
              <a:ea typeface="MS Mincho" panose="02020609040205080304" charset="-128"/>
              <a:cs typeface="Aptos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869680" y="1024128"/>
            <a:ext cx="146304" cy="14630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079992" y="987552"/>
            <a:ext cx="658368" cy="201168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5B6573"/>
                </a:solidFill>
                <a:latin typeface="MS Mincho" panose="02020609040205080304" charset="-128"/>
                <a:ea typeface="MS Mincho" panose="02020609040205080304" charset="-128"/>
                <a:cs typeface="Aptos" pitchFamily="34" charset="-120"/>
              </a:rPr>
              <a:t>常時稼働</a:t>
            </a:r>
            <a:endParaRPr lang="en-US" sz="800" dirty="0">
              <a:solidFill>
                <a:srgbClr val="5B6573"/>
              </a:solidFill>
              <a:latin typeface="MS Mincho" panose="02020609040205080304" charset="-128"/>
              <a:ea typeface="MS Mincho" panose="02020609040205080304" charset="-128"/>
              <a:cs typeface="Aptos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9921240" y="1024128"/>
            <a:ext cx="146304" cy="14630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0131552" y="987552"/>
            <a:ext cx="731520" cy="201168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5B6573"/>
                </a:solidFill>
                <a:latin typeface="MS Mincho" panose="02020609040205080304" charset="-128"/>
                <a:ea typeface="MS Mincho" panose="02020609040205080304" charset="-128"/>
                <a:cs typeface="Aptos" pitchFamily="34" charset="-120"/>
              </a:rPr>
              <a:t>予測フロー</a:t>
            </a:r>
            <a:endParaRPr lang="en-US" sz="800" dirty="0">
              <a:solidFill>
                <a:srgbClr val="5B6573"/>
              </a:solidFill>
              <a:latin typeface="MS Mincho" panose="02020609040205080304" charset="-128"/>
              <a:ea typeface="MS Mincho" panose="02020609040205080304" charset="-128"/>
              <a:cs typeface="Aptos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10991088" y="1024128"/>
            <a:ext cx="146304" cy="146304"/>
          </a:xfrm>
          <a:prstGeom prst="rect">
            <a:avLst/>
          </a:prstGeom>
          <a:solidFill>
            <a:srgbClr val="C65911"/>
          </a:solidFill>
          <a:ln w="12700">
            <a:solidFill>
              <a:srgbClr val="C6591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1201400" y="987552"/>
            <a:ext cx="731520" cy="201168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5B6573"/>
                </a:solidFill>
                <a:latin typeface="MS Mincho" panose="02020609040205080304" charset="-128"/>
                <a:ea typeface="MS Mincho" panose="02020609040205080304" charset="-128"/>
                <a:cs typeface="Aptos" pitchFamily="34" charset="-120"/>
              </a:rPr>
              <a:t>既存・外部</a:t>
            </a:r>
            <a:endParaRPr lang="en-US" sz="800" dirty="0">
              <a:solidFill>
                <a:srgbClr val="5B6573"/>
              </a:solidFill>
              <a:latin typeface="MS Mincho" panose="02020609040205080304" charset="-128"/>
              <a:ea typeface="MS Mincho" panose="02020609040205080304" charset="-128"/>
              <a:cs typeface="Aptos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502920" y="1353312"/>
            <a:ext cx="2926080" cy="228600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日次実行フロー（左 → 右）</a:t>
            </a:r>
            <a:endParaRPr lang="en-US" sz="1400" b="1" dirty="0">
              <a:solidFill>
                <a:srgbClr val="17365D"/>
              </a:solidFill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48640" y="1737360"/>
            <a:ext cx="1600200" cy="841248"/>
          </a:xfrm>
          <a:prstGeom prst="roundRect">
            <a:avLst>
              <a:gd name="adj" fmla="val 4348"/>
            </a:avLst>
          </a:prstGeom>
          <a:solidFill>
            <a:srgbClr val="FFF2CC"/>
          </a:solidFill>
          <a:ln w="1524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21792" y="1792224"/>
            <a:ext cx="1453896" cy="731520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01</a:t>
            </a:r>
            <a:endParaRPr lang="en-US" sz="10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Scheduler</a:t>
            </a:r>
            <a:endParaRPr lang="en-US" sz="10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指定時刻に起動</a:t>
            </a:r>
            <a:endParaRPr lang="en-US" sz="10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2148840" y="2157984"/>
            <a:ext cx="219456" cy="0"/>
          </a:xfrm>
          <a:prstGeom prst="line">
            <a:avLst/>
          </a:prstGeom>
          <a:noFill/>
          <a:ln w="19050">
            <a:solidFill>
              <a:srgbClr val="C9A227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2404872" y="1737360"/>
            <a:ext cx="1600200" cy="841248"/>
          </a:xfrm>
          <a:prstGeom prst="roundRect">
            <a:avLst>
              <a:gd name="adj" fmla="val 4348"/>
            </a:avLst>
          </a:prstGeom>
          <a:solidFill>
            <a:srgbClr val="FFF2CC"/>
          </a:solidFill>
          <a:ln w="1524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478024" y="1792224"/>
            <a:ext cx="1453896" cy="731520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02</a:t>
            </a:r>
            <a:endParaRPr lang="en-US" sz="10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READY / manifest</a:t>
            </a:r>
            <a:endParaRPr lang="en-US" sz="10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対象ファイル確定</a:t>
            </a:r>
            <a:endParaRPr lang="en-US" sz="10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005072" y="2157984"/>
            <a:ext cx="219456" cy="0"/>
          </a:xfrm>
          <a:prstGeom prst="line">
            <a:avLst/>
          </a:prstGeom>
          <a:noFill/>
          <a:ln w="19050">
            <a:solidFill>
              <a:srgbClr val="C9A227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261104" y="1737360"/>
            <a:ext cx="1600200" cy="841248"/>
          </a:xfrm>
          <a:prstGeom prst="roundRect">
            <a:avLst>
              <a:gd name="adj" fmla="val 4348"/>
            </a:avLst>
          </a:prstGeom>
          <a:solidFill>
            <a:srgbClr val="FFF2CC"/>
          </a:solidFill>
          <a:ln w="1524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334256" y="1792224"/>
            <a:ext cx="1453896" cy="731520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03</a:t>
            </a:r>
            <a:endParaRPr lang="en-US" sz="10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STS</a:t>
            </a:r>
            <a:endParaRPr lang="en-US" sz="10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自有 GCS へコピー</a:t>
            </a:r>
            <a:endParaRPr lang="en-US" sz="10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861304" y="2157984"/>
            <a:ext cx="219456" cy="0"/>
          </a:xfrm>
          <a:prstGeom prst="line">
            <a:avLst/>
          </a:prstGeom>
          <a:noFill/>
          <a:ln w="19050">
            <a:solidFill>
              <a:srgbClr val="C9A227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6117336" y="1737360"/>
            <a:ext cx="1600200" cy="841248"/>
          </a:xfrm>
          <a:prstGeom prst="roundRect">
            <a:avLst>
              <a:gd name="adj" fmla="val 4348"/>
            </a:avLst>
          </a:prstGeom>
          <a:solidFill>
            <a:srgbClr val="EAF2F8"/>
          </a:solidFill>
          <a:ln w="15240">
            <a:solidFill>
              <a:srgbClr val="2F75B5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190488" y="1792224"/>
            <a:ext cx="1453896" cy="731520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04</a:t>
            </a:r>
            <a:endParaRPr lang="en-US" sz="10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Cloud Run Job</a:t>
            </a:r>
            <a:endParaRPr lang="en-US" sz="10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SMART 店/JAN 処理</a:t>
            </a:r>
            <a:endParaRPr lang="en-US" sz="10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717536" y="2157984"/>
            <a:ext cx="219456" cy="0"/>
          </a:xfrm>
          <a:prstGeom prst="line">
            <a:avLst/>
          </a:prstGeom>
          <a:noFill/>
          <a:ln w="19050">
            <a:solidFill>
              <a:srgbClr val="2F75B5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7973568" y="1737360"/>
            <a:ext cx="1600200" cy="841248"/>
          </a:xfrm>
          <a:prstGeom prst="roundRect">
            <a:avLst>
              <a:gd name="adj" fmla="val 4348"/>
            </a:avLst>
          </a:prstGeom>
          <a:solidFill>
            <a:srgbClr val="EAF2F8"/>
          </a:solidFill>
          <a:ln w="15240">
            <a:solidFill>
              <a:srgbClr val="2F75B5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8046720" y="1792224"/>
            <a:ext cx="1453896" cy="731520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05</a:t>
            </a:r>
            <a:endParaRPr lang="en-US" sz="10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納品</a:t>
            </a:r>
            <a:endParaRPr lang="en-US" sz="10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最終 TXT を upload</a:t>
            </a:r>
            <a:endParaRPr lang="en-US" sz="10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9573768" y="2157984"/>
            <a:ext cx="219456" cy="0"/>
          </a:xfrm>
          <a:prstGeom prst="line">
            <a:avLst/>
          </a:prstGeom>
          <a:noFill/>
          <a:ln w="19050">
            <a:solidFill>
              <a:srgbClr val="2F75B5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9829800" y="1737360"/>
            <a:ext cx="1600200" cy="841248"/>
          </a:xfrm>
          <a:prstGeom prst="roundRect">
            <a:avLst>
              <a:gd name="adj" fmla="val 4348"/>
            </a:avLst>
          </a:prstGeom>
          <a:solidFill>
            <a:srgbClr val="E2F0D9"/>
          </a:solidFill>
          <a:ln w="15240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9902952" y="1792224"/>
            <a:ext cx="1453896" cy="731520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06</a:t>
            </a:r>
            <a:endParaRPr lang="en-US" sz="10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_SUCCESS</a:t>
            </a:r>
            <a:endParaRPr lang="en-US" sz="10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検証後に作成</a:t>
            </a:r>
            <a:endParaRPr lang="en-US" sz="10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502920" y="2962656"/>
            <a:ext cx="3749040" cy="228600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SMART skills による処理チェーン</a:t>
            </a:r>
            <a:endParaRPr lang="en-US" sz="1400" b="1" dirty="0">
              <a:solidFill>
                <a:srgbClr val="17365D"/>
              </a:solidFill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548640" y="3337560"/>
            <a:ext cx="1600200" cy="566928"/>
          </a:xfrm>
          <a:prstGeom prst="roundRect">
            <a:avLst>
              <a:gd name="adj" fmla="val 6452"/>
            </a:avLst>
          </a:prstGeom>
          <a:solidFill>
            <a:srgbClr val="E2F0F8"/>
          </a:solidFill>
          <a:ln w="15240">
            <a:solidFill>
              <a:srgbClr val="2F75B5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21792" y="3392424"/>
            <a:ext cx="1453896" cy="457200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解凍 / 索引</a:t>
            </a:r>
            <a:endParaRPr lang="en-US" sz="1000" b="1" dirty="0">
              <a:solidFill>
                <a:srgbClr val="17365D"/>
              </a:solidFill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2148840" y="3621024"/>
            <a:ext cx="219456" cy="0"/>
          </a:xfrm>
          <a:prstGeom prst="line">
            <a:avLst/>
          </a:prstGeom>
          <a:noFill/>
          <a:ln w="16510">
            <a:solidFill>
              <a:srgbClr val="2F75B5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2404872" y="3337560"/>
            <a:ext cx="1600200" cy="566928"/>
          </a:xfrm>
          <a:prstGeom prst="roundRect">
            <a:avLst>
              <a:gd name="adj" fmla="val 6452"/>
            </a:avLst>
          </a:prstGeom>
          <a:solidFill>
            <a:srgbClr val="E2F0F8"/>
          </a:solidFill>
          <a:ln w="15240">
            <a:solidFill>
              <a:srgbClr val="2F75B5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2478024" y="3392424"/>
            <a:ext cx="1453896" cy="457200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Aptos" pitchFamily="34" charset="-120"/>
              </a:rPr>
              <a:t>selcol / selrow</a:t>
            </a:r>
            <a:endParaRPr lang="en-US" sz="1000" b="1" dirty="0">
              <a:solidFill>
                <a:srgbClr val="17365D"/>
              </a:solidFill>
              <a:latin typeface="MS Mincho" panose="02020609040205080304" charset="-128"/>
              <a:ea typeface="MS Mincho" panose="02020609040205080304" charset="-128"/>
              <a:cs typeface="Aptos" pitchFamily="34" charset="-12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4005072" y="3621024"/>
            <a:ext cx="219456" cy="0"/>
          </a:xfrm>
          <a:prstGeom prst="line">
            <a:avLst/>
          </a:prstGeom>
          <a:noFill/>
          <a:ln w="16510">
            <a:solidFill>
              <a:srgbClr val="2F75B5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4261104" y="3337560"/>
            <a:ext cx="1600200" cy="566928"/>
          </a:xfrm>
          <a:prstGeom prst="roundRect">
            <a:avLst>
              <a:gd name="adj" fmla="val 6452"/>
            </a:avLst>
          </a:prstGeom>
          <a:solidFill>
            <a:srgbClr val="E2F0F8"/>
          </a:solidFill>
          <a:ln w="15240">
            <a:solidFill>
              <a:srgbClr val="2F75B5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4334256" y="3392424"/>
            <a:ext cx="1453896" cy="457200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外排 / JOIN</a:t>
            </a:r>
            <a:endParaRPr lang="en-US" sz="1000" b="1" dirty="0">
              <a:solidFill>
                <a:srgbClr val="17365D"/>
              </a:solidFill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5861304" y="3621024"/>
            <a:ext cx="219456" cy="0"/>
          </a:xfrm>
          <a:prstGeom prst="line">
            <a:avLst/>
          </a:prstGeom>
          <a:noFill/>
          <a:ln w="16510">
            <a:solidFill>
              <a:srgbClr val="2F75B5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6117336" y="3337560"/>
            <a:ext cx="1600200" cy="566928"/>
          </a:xfrm>
          <a:prstGeom prst="roundRect">
            <a:avLst>
              <a:gd name="adj" fmla="val 6452"/>
            </a:avLst>
          </a:prstGeom>
          <a:solidFill>
            <a:srgbClr val="E2F0F8"/>
          </a:solidFill>
          <a:ln w="15240">
            <a:solidFill>
              <a:srgbClr val="2F75B5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6190488" y="3392424"/>
            <a:ext cx="1453896" cy="457200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Aptos" pitchFamily="34" charset="-120"/>
              </a:rPr>
              <a:t>groupby / sumup</a:t>
            </a:r>
            <a:endParaRPr lang="en-US" sz="1000" b="1" dirty="0">
              <a:solidFill>
                <a:srgbClr val="17365D"/>
              </a:solidFill>
              <a:latin typeface="MS Mincho" panose="02020609040205080304" charset="-128"/>
              <a:ea typeface="MS Mincho" panose="02020609040205080304" charset="-128"/>
              <a:cs typeface="Aptos" pitchFamily="34" charset="-120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7717536" y="3621024"/>
            <a:ext cx="219456" cy="0"/>
          </a:xfrm>
          <a:prstGeom prst="line">
            <a:avLst/>
          </a:prstGeom>
          <a:noFill/>
          <a:ln w="16510">
            <a:solidFill>
              <a:srgbClr val="2F75B5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7973568" y="3337560"/>
            <a:ext cx="1600200" cy="566928"/>
          </a:xfrm>
          <a:prstGeom prst="roundRect">
            <a:avLst>
              <a:gd name="adj" fmla="val 6452"/>
            </a:avLst>
          </a:prstGeom>
          <a:solidFill>
            <a:srgbClr val="E2F0F8"/>
          </a:solidFill>
          <a:ln w="15240">
            <a:solidFill>
              <a:srgbClr val="2F75B5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8046720" y="3392424"/>
            <a:ext cx="1453896" cy="457200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Aptos" pitchFamily="34" charset="-120"/>
              </a:rPr>
              <a:t>scalc / format</a:t>
            </a:r>
            <a:endParaRPr lang="en-US" sz="1000" b="1" dirty="0">
              <a:solidFill>
                <a:srgbClr val="17365D"/>
              </a:solidFill>
              <a:latin typeface="MS Mincho" panose="02020609040205080304" charset="-128"/>
              <a:ea typeface="MS Mincho" panose="02020609040205080304" charset="-128"/>
              <a:cs typeface="Aptos" pitchFamily="34" charset="-120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9573768" y="3621024"/>
            <a:ext cx="219456" cy="0"/>
          </a:xfrm>
          <a:prstGeom prst="line">
            <a:avLst/>
          </a:prstGeom>
          <a:noFill/>
          <a:ln w="16510">
            <a:solidFill>
              <a:srgbClr val="2F75B5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9829800" y="3337560"/>
            <a:ext cx="1600200" cy="566928"/>
          </a:xfrm>
          <a:prstGeom prst="roundRect">
            <a:avLst>
              <a:gd name="adj" fmla="val 6452"/>
            </a:avLst>
          </a:prstGeom>
          <a:solidFill>
            <a:srgbClr val="E2F0D9"/>
          </a:solidFill>
          <a:ln w="15240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9902952" y="3392424"/>
            <a:ext cx="1453896" cy="457200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Aptos" pitchFamily="34" charset="-120"/>
              </a:rPr>
              <a:t>stream uploader</a:t>
            </a:r>
            <a:endParaRPr lang="en-US" sz="1000" b="1" dirty="0">
              <a:solidFill>
                <a:srgbClr val="17365D"/>
              </a:solidFill>
              <a:latin typeface="MS Mincho" panose="02020609040205080304" charset="-128"/>
              <a:ea typeface="MS Mincho" panose="02020609040205080304" charset="-128"/>
              <a:cs typeface="Aptos" pitchFamily="34" charset="-120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548640" y="4315968"/>
            <a:ext cx="3017520" cy="1115568"/>
          </a:xfrm>
          <a:prstGeom prst="roundRect">
            <a:avLst>
              <a:gd name="adj" fmla="val 3279"/>
            </a:avLst>
          </a:prstGeom>
          <a:solidFill>
            <a:srgbClr val="E4DFEC"/>
          </a:solidFill>
          <a:ln w="15240">
            <a:solidFill>
              <a:srgbClr val="7030A0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621792" y="4370832"/>
            <a:ext cx="2871216" cy="1005840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大ファイル方針</a:t>
            </a:r>
            <a:endParaRPr lang="en-US" sz="11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  <a:p>
            <a:pPr marL="0" indent="0" algn="l">
              <a:buNone/>
            </a:pPr>
            <a:r>
              <a:rPr lang="en-US" sz="11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Cloud Run の RAM に全量を載せない。</a:t>
            </a:r>
            <a:endParaRPr lang="en-US" sz="11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  <a:p>
            <a:pPr marL="0" indent="0" algn="l">
              <a:buNone/>
            </a:pPr>
            <a:r>
              <a:rPr lang="en-US" sz="11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split_and_sort / exchsort で外排。</a:t>
            </a:r>
            <a:endParaRPr lang="en-US" sz="11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  <a:p>
            <a:pPr marL="0" indent="0" algn="l">
              <a:buNone/>
            </a:pPr>
            <a:r>
              <a:rPr lang="en-US" sz="11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4 vCPU / 16 GiB は流式処理の初期値。</a:t>
            </a:r>
            <a:endParaRPr lang="en-US" sz="11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</p:txBody>
      </p:sp>
      <p:sp>
        <p:nvSpPr>
          <p:cNvPr id="54" name="Shape 52"/>
          <p:cNvSpPr/>
          <p:nvPr/>
        </p:nvSpPr>
        <p:spPr>
          <a:xfrm>
            <a:off x="3886200" y="4315968"/>
            <a:ext cx="3246120" cy="1115568"/>
          </a:xfrm>
          <a:prstGeom prst="roundRect">
            <a:avLst>
              <a:gd name="adj" fmla="val 3279"/>
            </a:avLst>
          </a:prstGeom>
          <a:solidFill>
            <a:srgbClr val="FCE4D6"/>
          </a:solidFill>
          <a:ln w="15240">
            <a:solidFill>
              <a:srgbClr val="C65911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3959352" y="4370832"/>
            <a:ext cx="3099816" cy="1005840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権限方針</a:t>
            </a:r>
            <a:endParaRPr lang="en-US" sz="11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  <a:p>
            <a:pPr marL="0" indent="0" algn="l">
              <a:buNone/>
            </a:pPr>
            <a:r>
              <a:rPr lang="en-US" sz="11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STS：大阪 read → 自有 write</a:t>
            </a:r>
            <a:endParaRPr lang="en-US" sz="11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  <a:p>
            <a:pPr marL="0" indent="0" algn="l">
              <a:buNone/>
            </a:pPr>
            <a:r>
              <a:rPr lang="en-US" sz="11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Job：自有 objectViewer → Seiyu objectCreator</a:t>
            </a:r>
            <a:endParaRPr lang="en-US" sz="11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  <a:p>
            <a:pPr marL="0" indent="0" algn="l">
              <a:buNone/>
            </a:pPr>
            <a:r>
              <a:rPr lang="en-US" sz="11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Scheduler：Workflows invoker のみ</a:t>
            </a:r>
            <a:endParaRPr lang="en-US" sz="11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</p:txBody>
      </p:sp>
      <p:sp>
        <p:nvSpPr>
          <p:cNvPr id="56" name="Shape 54"/>
          <p:cNvSpPr/>
          <p:nvPr/>
        </p:nvSpPr>
        <p:spPr>
          <a:xfrm>
            <a:off x="7452360" y="4315968"/>
            <a:ext cx="4023360" cy="1115568"/>
          </a:xfrm>
          <a:prstGeom prst="roundRect">
            <a:avLst>
              <a:gd name="adj" fmla="val 3279"/>
            </a:avLst>
          </a:prstGeom>
          <a:solidFill>
            <a:srgbClr val="E2F0D9"/>
          </a:solidFill>
          <a:ln w="15240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7525512" y="4370832"/>
            <a:ext cx="3877056" cy="1005840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33333"/>
                </a:solidFill>
                <a:latin typeface="Arial" panose="02020609040205080304" charset="-128"/>
                <a:ea typeface="Yu Gothic" panose="02020609040205080304" charset="-128"/>
                <a:cs typeface="MS Mincho" panose="02020609040205080304" charset="-128"/>
              </a:rPr>
              <a:t>容量・費用の入力値</a:t>
            </a:r>
            <a:endParaRPr lang="en-US" sz="11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  <a:p>
            <a:r>
              <a:rPr sz="1100" b="0">
                <a:solidFill>
                  <a:srgbClr val="333333"/>
                </a:solidFill>
                <a:latin typeface="Arial"/>
                <a:ea typeface="Yu Gothic"/>
              </a:rPr>
              <a:t>自有 GCS 源データ：約 251.6 GiB（7日）</a:t>
            </a:r>
          </a:p>
          <a:p>
            <a:r>
              <a:rPr sz="1100" b="0">
                <a:solidFill>
                  <a:srgbClr val="333333"/>
                </a:solidFill>
                <a:latin typeface="Arial"/>
                <a:ea typeface="Yu Gothic"/>
              </a:rPr>
              <a:t>大阪→東京転送：約 1,078.4 GiB/月</a:t>
            </a:r>
          </a:p>
          <a:p>
            <a:r>
              <a:rPr sz="1100" b="0">
                <a:solidFill>
                  <a:srgbClr val="333333"/>
                </a:solidFill>
                <a:latin typeface="Arial"/>
                <a:ea typeface="Yu Gothic"/>
              </a:rPr>
              <a:t>結果を自有 GCS に重複保存しない</a:t>
            </a:r>
          </a:p>
          <a:p>
            <a:r>
              <a:rPr sz="1100" b="1">
                <a:solidFill>
                  <a:srgbClr val="0F766E"/>
                </a:solidFill>
                <a:latin typeface="Arial"/>
                <a:ea typeface="Yu Gothic"/>
              </a:rPr>
              <a:t>Calculator 概算：月約 ¥18,190（転送が大半）→ 4枚目</a:t>
            </a:r>
          </a:p>
        </p:txBody>
      </p:sp>
      <p:sp>
        <p:nvSpPr>
          <p:cNvPr id="58" name="Shape 56"/>
          <p:cNvSpPr/>
          <p:nvPr/>
        </p:nvSpPr>
        <p:spPr>
          <a:xfrm>
            <a:off x="548640" y="5669280"/>
            <a:ext cx="4800600" cy="512064"/>
          </a:xfrm>
          <a:prstGeom prst="roundRect">
            <a:avLst>
              <a:gd name="adj" fmla="val 7143"/>
            </a:avLst>
          </a:prstGeom>
          <a:solidFill>
            <a:srgbClr val="EAF2F8"/>
          </a:solidFill>
          <a:ln w="15240">
            <a:solidFill>
              <a:srgbClr val="2F75B5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621792" y="5724144"/>
            <a:ext cx="4654296" cy="402336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申請する主なサービス</a:t>
            </a:r>
            <a:endParaRPr lang="en-US" sz="10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  <a:p>
            <a:pPr marL="0" indent="0" algn="l">
              <a:buNone/>
            </a:pPr>
            <a:r>
              <a:rPr lang="en-US" sz="10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Cloud Run Jobs / Cloud Storage / STS</a:t>
            </a:r>
            <a:endParaRPr lang="en-US" sz="10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  <a:p>
            <a:pPr marL="0" indent="0" algn="l">
              <a:buNone/>
            </a:pPr>
            <a:r>
              <a:rPr lang="en-US" sz="10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Workflows / Cloud Scheduler</a:t>
            </a:r>
            <a:endParaRPr lang="en-US" sz="10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  <a:p>
            <a:pPr marL="0" indent="0" algn="l">
              <a:buNone/>
            </a:pPr>
            <a:r>
              <a:rPr lang="en-US" sz="10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Artifact Registry / Logging / Monitoring</a:t>
            </a:r>
            <a:endParaRPr lang="en-US" sz="10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</p:txBody>
      </p:sp>
      <p:sp>
        <p:nvSpPr>
          <p:cNvPr id="60" name="Shape 58"/>
          <p:cNvSpPr/>
          <p:nvPr/>
        </p:nvSpPr>
        <p:spPr>
          <a:xfrm>
            <a:off x="5623560" y="5669280"/>
            <a:ext cx="5852160" cy="512064"/>
          </a:xfrm>
          <a:prstGeom prst="roundRect">
            <a:avLst>
              <a:gd name="adj" fmla="val 7143"/>
            </a:avLst>
          </a:prstGeom>
          <a:solidFill>
            <a:srgbClr val="E2F0D9"/>
          </a:solidFill>
          <a:ln w="15240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5696712" y="5724144"/>
            <a:ext cx="5705856" cy="402336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本構成の結論</a:t>
            </a:r>
            <a:endParaRPr lang="en-US" sz="10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  <a:p>
            <a:pPr marL="0" indent="0" algn="l">
              <a:buNone/>
            </a:pPr>
            <a:r>
              <a:rPr lang="en-US" sz="10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新規 GKE は作らず、Cloud Run Job を採用。</a:t>
            </a:r>
            <a:endParaRPr lang="en-US" sz="10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  <a:p>
            <a:pPr marL="0" indent="0" algn="l">
              <a:buNone/>
            </a:pPr>
            <a:r>
              <a:rPr lang="en-US" sz="1000" b="1" dirty="0">
                <a:solidFill>
                  <a:srgbClr val="17365D"/>
                </a:solidFill>
                <a:latin typeface="MS Mincho" panose="02020609040205080304" charset="-128"/>
                <a:ea typeface="MS Mincho" panose="02020609040205080304" charset="-128"/>
                <a:cs typeface="MS Mincho" panose="02020609040205080304" charset="-128"/>
              </a:rPr>
              <a:t>source は自有 GCS、result は Seiyu GCS へ単方向交付。</a:t>
            </a:r>
            <a:endParaRPr lang="en-US" sz="1000" dirty="0"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</p:txBody>
      </p:sp>
      <p:sp>
        <p:nvSpPr>
          <p:cNvPr id="62" name="Shape 60"/>
          <p:cNvSpPr/>
          <p:nvPr/>
        </p:nvSpPr>
        <p:spPr>
          <a:xfrm>
            <a:off x="457200" y="6446520"/>
            <a:ext cx="11247120" cy="0"/>
          </a:xfrm>
          <a:prstGeom prst="line">
            <a:avLst/>
          </a:prstGeom>
          <a:noFill/>
          <a:ln w="10160">
            <a:solidFill>
              <a:srgbClr val="D7DEE8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502920" y="6492240"/>
            <a:ext cx="4572000" cy="164592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700" dirty="0">
                <a:solidFill>
                  <a:srgbClr val="718096"/>
                </a:solidFill>
                <a:latin typeface="Arial" panose="02020609040205080304" charset="-128"/>
                <a:ea typeface="Yu Gothic" panose="02020609040205080304" charset="-128"/>
                <a:cs typeface="MS Mincho" panose="02020609040205080304" charset="-128"/>
              </a:rPr>
              <a:t>GCP 環境申請　／　源データ隔離・単方向納品　／　費用・スペック込み</a:t>
            </a:r>
            <a:endParaRPr lang="en-US" sz="700" dirty="0">
              <a:solidFill>
                <a:srgbClr val="718096"/>
              </a:solidFill>
              <a:latin typeface="MS Mincho" panose="02020609040205080304" charset="-128"/>
              <a:ea typeface="MS Mincho" panose="02020609040205080304" charset="-128"/>
              <a:cs typeface="MS Mincho" panose="02020609040205080304" charset="-128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9000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333333"/>
                </a:solidFill>
                <a:latin typeface="Arial"/>
                <a:ea typeface="Yu Gothic"/>
              </a:rPr>
              <a:t>申請スペック・構成一覧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58368"/>
            <a:ext cx="9966960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Yu Gothic"/>
              </a:rPr>
              <a:t>プロジェクト／コンピュート／ストレージ／パス／環境の申請内容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73968" y="256032"/>
            <a:ext cx="700000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Arial"/>
                <a:ea typeface="Yu Gothic"/>
              </a:rPr>
              <a:t>5 / 7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0140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33272"/>
            <a:ext cx="65836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Arial"/>
                <a:ea typeface="Yu Gothic"/>
              </a:rPr>
              <a:t>リージョン：東京 asia-northeast1　・　dev / stg / prod</a:t>
            </a:r>
          </a:p>
        </p:txBody>
      </p:sp>
      <p:sp>
        <p:nvSpPr>
          <p:cNvPr id="8" name="Rectangle 7"/>
          <p:cNvSpPr/>
          <p:nvPr/>
        </p:nvSpPr>
        <p:spPr>
          <a:xfrm>
            <a:off x="7818120" y="1024128"/>
            <a:ext cx="146304" cy="146304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28432" y="987552"/>
            <a:ext cx="90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Arial"/>
                <a:ea typeface="Yu Gothic"/>
              </a:rPr>
              <a:t>今回申請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69680" y="1024128"/>
            <a:ext cx="146304" cy="14630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79992" y="987552"/>
            <a:ext cx="90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Arial"/>
                <a:ea typeface="Yu Gothic"/>
              </a:rPr>
              <a:t>常時稼働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921240" y="1024128"/>
            <a:ext cx="146304" cy="146304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31552" y="987552"/>
            <a:ext cx="90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Arial"/>
                <a:ea typeface="Yu Gothic"/>
              </a:rPr>
              <a:t>予測フロー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91088" y="1024128"/>
            <a:ext cx="146304" cy="146304"/>
          </a:xfrm>
          <a:prstGeom prst="rect">
            <a:avLst/>
          </a:prstGeom>
          <a:solidFill>
            <a:srgbClr val="C659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201400" y="987552"/>
            <a:ext cx="90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Arial"/>
                <a:ea typeface="Yu Gothic"/>
              </a:rPr>
              <a:t>既存・外部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1340000"/>
            <a:ext cx="5400000" cy="2300000"/>
          </a:xfrm>
          <a:prstGeom prst="roundRect">
            <a:avLst>
              <a:gd name="adj" fmla="val 8000"/>
            </a:avLst>
          </a:prstGeom>
          <a:solidFill>
            <a:srgbClr val="F5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000" y="1420000"/>
            <a:ext cx="5200000" cy="2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75B5"/>
                </a:solidFill>
                <a:latin typeface="Arial"/>
                <a:ea typeface="Yu Gothic"/>
              </a:rPr>
              <a:t>プロジェクト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名称：SCM連携クラウド機（Layer①）</a:t>
            </a:r>
          </a:p>
          <a:p>
            <a:pPr algn="l"/>
            <a:r>
              <a:rPr sz="1200" b="1">
                <a:solidFill>
                  <a:srgbClr val="333333"/>
                </a:solidFill>
                <a:latin typeface="Arial"/>
                <a:ea typeface="Yu Gothic"/>
              </a:rPr>
              <a:t>GCP プロジェクト ID（暫定）：md-data-integration-prod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リージョン：asia-northeast1（東京）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環境：dev / stg / prod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実行基盤：Cloud Run Jobs（GKE は申請しない）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制御：Cloud Scheduler → Workflows</a:t>
            </a:r>
          </a:p>
          <a:p>
            <a:pPr algn="l"/>
            <a:r>
              <a:rPr sz="1100" b="0">
                <a:solidFill>
                  <a:srgbClr val="666666"/>
                </a:solidFill>
                <a:latin typeface="Arial"/>
                <a:ea typeface="Yu Gothic"/>
              </a:rPr>
              <a:t>（Hinemos との役割分担は要突合）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0000" y="1340000"/>
            <a:ext cx="5400000" cy="23000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0000" y="1420000"/>
            <a:ext cx="5200000" cy="2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75B5"/>
                </a:solidFill>
                <a:latin typeface="Arial"/>
                <a:ea typeface="Yu Gothic"/>
              </a:rPr>
              <a:t>Cloud Run Job スペック</a:t>
            </a:r>
          </a:p>
          <a:p>
            <a:pPr algn="l"/>
            <a:r>
              <a:rPr sz="1300" b="1">
                <a:solidFill>
                  <a:srgbClr val="333333"/>
                </a:solidFill>
                <a:latin typeface="Arial"/>
                <a:ea typeface="Yu Gothic"/>
              </a:rPr>
              <a:t>CPU：4 vCPU</a:t>
            </a:r>
          </a:p>
          <a:p>
            <a:pPr algn="l"/>
            <a:r>
              <a:rPr sz="1300" b="1">
                <a:solidFill>
                  <a:srgbClr val="333333"/>
                </a:solidFill>
                <a:latin typeface="Arial"/>
                <a:ea typeface="Yu Gothic"/>
              </a:rPr>
              <a:t>Memory：16 GiB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処理：SMART 日次（店 / JAN）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大容量：ストリーム + resumable upload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外排：ephemeral disk（必要時）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永続ディスク／本機ステージング：なし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800000"/>
            <a:ext cx="5400000" cy="2400000"/>
          </a:xfrm>
          <a:prstGeom prst="roundRect">
            <a:avLst>
              <a:gd name="adj" fmla="val 8000"/>
            </a:avLst>
          </a:prstGeom>
          <a:solidFill>
            <a:srgbClr val="E2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000" y="3880000"/>
            <a:ext cx="5200000" cy="2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75B5"/>
                </a:solidFill>
                <a:latin typeface="Arial"/>
                <a:ea typeface="Yu Gothic"/>
              </a:rPr>
              <a:t>自有 GCS（本PJ附帯＝landing）</a:t>
            </a:r>
          </a:p>
          <a:p>
            <a:pPr algn="l"/>
            <a:r>
              <a:rPr sz="1200" b="1">
                <a:solidFill>
                  <a:srgbClr val="333333"/>
                </a:solidFill>
                <a:latin typeface="Arial"/>
                <a:ea typeface="Yu Gothic"/>
              </a:rPr>
              <a:t>パス：source-landing/YYYYMMDD/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用途：大阪から同期した源データ保管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保管期間：7 日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容量前提：約 251.6 GiB（試算入力 300）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ファイル末尾：_YYYYMMDDhhmmss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権限：STS write ／ Job objectViewer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0000" y="3800000"/>
            <a:ext cx="5400000" cy="2400000"/>
          </a:xfrm>
          <a:prstGeom prst="roundRect">
            <a:avLst>
              <a:gd name="adj" fmla="val 8000"/>
            </a:avLst>
          </a:prstGeom>
          <a:solidFill>
            <a:srgbClr val="E2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0000" y="3880000"/>
            <a:ext cx="5200000" cy="2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Arial"/>
                <a:ea typeface="Yu Gothic"/>
              </a:rPr>
              <a:t>Seiyu 専用 GCS（西友連携＝output）</a:t>
            </a:r>
          </a:p>
          <a:p>
            <a:pPr algn="l"/>
            <a:r>
              <a:rPr sz="1200" b="1">
                <a:solidFill>
                  <a:srgbClr val="333333"/>
                </a:solidFill>
                <a:latin typeface="Arial"/>
                <a:ea typeface="Yu Gothic"/>
              </a:rPr>
              <a:t>パス：result/YYYYMMDD/final.txt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完了印：_SUCCESS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納品：最終 TXT のみ（単方向）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権限：objectCreator のみ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源データは入れない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結果の自有 GCS 重複保存：なし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6446520"/>
            <a:ext cx="1124712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492240"/>
            <a:ext cx="100000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Arial"/>
                <a:ea typeface="Yu Gothic"/>
              </a:rPr>
              <a:t>GCP 環境申請　／　源データ隔離・単方向納品　／　費用・スペック込み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9000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333333"/>
                </a:solidFill>
                <a:latin typeface="Arial"/>
                <a:ea typeface="Yu Gothic"/>
              </a:rPr>
              <a:t>費用試算（GCP Pricing Calculator）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58368"/>
            <a:ext cx="9966960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Yu Gothic"/>
              </a:rPr>
              <a:t>SPEC.xlsx　／　有効日時 2026-09-22　／　議論用・非拘束の概算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73968" y="256032"/>
            <a:ext cx="700000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Arial"/>
                <a:ea typeface="Yu Gothic"/>
              </a:rPr>
              <a:t>6 / 7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0140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33272"/>
            <a:ext cx="65836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Arial"/>
                <a:ea typeface="Yu Gothic"/>
              </a:rPr>
              <a:t>リージョン：東京 asia-northeast1　・　dev / stg / prod</a:t>
            </a:r>
          </a:p>
        </p:txBody>
      </p:sp>
      <p:sp>
        <p:nvSpPr>
          <p:cNvPr id="8" name="Rectangle 7"/>
          <p:cNvSpPr/>
          <p:nvPr/>
        </p:nvSpPr>
        <p:spPr>
          <a:xfrm>
            <a:off x="7818120" y="1024128"/>
            <a:ext cx="146304" cy="146304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28432" y="987552"/>
            <a:ext cx="90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Arial"/>
                <a:ea typeface="Yu Gothic"/>
              </a:rPr>
              <a:t>今回申請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69680" y="1024128"/>
            <a:ext cx="146304" cy="14630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79992" y="987552"/>
            <a:ext cx="90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Arial"/>
                <a:ea typeface="Yu Gothic"/>
              </a:rPr>
              <a:t>常時稼働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921240" y="1024128"/>
            <a:ext cx="146304" cy="146304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31552" y="987552"/>
            <a:ext cx="90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Arial"/>
                <a:ea typeface="Yu Gothic"/>
              </a:rPr>
              <a:t>予測フロー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91088" y="1024128"/>
            <a:ext cx="146304" cy="146304"/>
          </a:xfrm>
          <a:prstGeom prst="rect">
            <a:avLst/>
          </a:prstGeom>
          <a:solidFill>
            <a:srgbClr val="C659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201400" y="987552"/>
            <a:ext cx="90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Arial"/>
                <a:ea typeface="Yu Gothic"/>
              </a:rPr>
              <a:t>既存・外部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1340000"/>
            <a:ext cx="11000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  <a:ea typeface="Yu Gothic"/>
              </a:rPr>
              <a:t>月額合計（概算）：約 ¥18,190　｜　うち大阪→東京 Inter-region 転送 約 ¥15,300（約 84%）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1680000"/>
            <a:ext cx="11200000" cy="3700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1750000"/>
            <a:ext cx="22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Arial"/>
                <a:ea typeface="Yu Gothic"/>
              </a:rPr>
              <a:t>サービス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00000" y="1750000"/>
            <a:ext cx="35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Arial"/>
                <a:ea typeface="Yu Gothic"/>
              </a:rPr>
              <a:t>項目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000" y="1750000"/>
            <a:ext cx="15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333333"/>
                </a:solidFill>
                <a:latin typeface="Arial"/>
                <a:ea typeface="Yu Gothic"/>
              </a:rPr>
              <a:t>数量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000" y="1750000"/>
            <a:ext cx="19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333333"/>
                </a:solidFill>
                <a:latin typeface="Arial"/>
                <a:ea typeface="Yu Gothic"/>
              </a:rPr>
              <a:t>リージョン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00000" y="1750000"/>
            <a:ext cx="14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333333"/>
                </a:solidFill>
                <a:latin typeface="Arial"/>
                <a:ea typeface="Yu Gothic"/>
              </a:rPr>
              <a:t>月額 JPY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2080000"/>
            <a:ext cx="11200000" cy="3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2150000"/>
            <a:ext cx="22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Cloud Run Jobs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00000" y="2150000"/>
            <a:ext cx="35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Jobs CPU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000" y="2150000"/>
            <a:ext cx="15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7,200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0000" y="2150000"/>
            <a:ext cx="19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asia-northeast1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00000" y="2150000"/>
            <a:ext cx="14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1,239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2480000"/>
            <a:ext cx="11200000" cy="3700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2550000"/>
            <a:ext cx="22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Cloud Run Jobs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0000" y="2550000"/>
            <a:ext cx="35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Jobs Memory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000" y="2550000"/>
            <a:ext cx="15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28,800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0000" y="2550000"/>
            <a:ext cx="19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asia-northeast1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00000" y="2550000"/>
            <a:ext cx="14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551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2880000"/>
            <a:ext cx="11200000" cy="3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2950000"/>
            <a:ext cx="22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Cloud Storage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00000" y="2950000"/>
            <a:ext cx="35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Standard Storage Tokyo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000" y="2950000"/>
            <a:ext cx="15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300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0000" y="2950000"/>
            <a:ext cx="19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asia-northeast1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00000" y="2950000"/>
            <a:ext cx="14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1,100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3280000"/>
            <a:ext cx="11200000" cy="370000"/>
          </a:xfrm>
          <a:prstGeom prst="roundRect">
            <a:avLst>
              <a:gd name="adj" fmla="val 8000"/>
            </a:avLst>
          </a:prstGeom>
          <a:solidFill>
            <a:srgbClr val="E2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" y="3350000"/>
            <a:ext cx="22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Cloud Storage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00000" y="3350000"/>
            <a:ext cx="35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Inter Region Transfer（Asia）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000" y="3350000"/>
            <a:ext cx="15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1,200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0" y="3350000"/>
            <a:ext cx="19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大阪→東京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00000" y="3350000"/>
            <a:ext cx="14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15,300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7200" y="3680000"/>
            <a:ext cx="11200000" cy="370000"/>
          </a:xfrm>
          <a:prstGeom prst="roundRect">
            <a:avLst>
              <a:gd name="adj" fmla="val 8000"/>
            </a:avLst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3750000"/>
            <a:ext cx="22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  <a:ea typeface="Yu Gothic"/>
              </a:rPr>
              <a:t>合計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00000" y="3750000"/>
            <a:ext cx="35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  <a:ea typeface="Yu Gothic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000" y="3750000"/>
            <a:ext cx="15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Arial"/>
                <a:ea typeface="Yu Gothic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00000" y="3750000"/>
            <a:ext cx="19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Arial"/>
                <a:ea typeface="Yu Gothic"/>
              </a:rPr>
              <a:t>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00000" y="3750000"/>
            <a:ext cx="14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Arial"/>
                <a:ea typeface="Yu Gothic"/>
              </a:rPr>
              <a:t>18,190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4300000"/>
            <a:ext cx="5400000" cy="190000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30000" y="4400000"/>
            <a:ext cx="5200000" cy="1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45C5C"/>
                </a:solidFill>
                <a:latin typeface="Arial"/>
                <a:ea typeface="Yu Gothic"/>
              </a:rPr>
              <a:t>読み方・注意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・転送費が支配的（大阪 asia-northeast2 → 東京）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・Storage 300 ≒ 源データ 251.6 GiB（7日）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・転送 1,200 ≒ 月 1,078.4 GiB の概数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・CPU:Memory = 1:4 → 4 vCPU / 16 GiB と整合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・Calculator 見積は議論用・非拘束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200000" y="4300000"/>
            <a:ext cx="5400000" cy="1900000"/>
          </a:xfrm>
          <a:prstGeom prst="roundRect">
            <a:avLst>
              <a:gd name="adj" fmla="val 8000"/>
            </a:avLst>
          </a:prstGeom>
          <a:solidFill>
            <a:srgbClr val="E4D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0000" y="4400000"/>
            <a:ext cx="5200000" cy="1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Arial"/>
                <a:ea typeface="Yu Gothic"/>
              </a:rPr>
              <a:t>本シート未計上（別途確認）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・Storage Transfer Service 自体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・Workflows / Cloud Scheduler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・Artifact Registry / Logging / Monitoring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・Seiyu 専用 GCS の保管・egress</a:t>
            </a:r>
          </a:p>
          <a:p>
            <a:pPr algn="l"/>
            <a:r>
              <a:rPr sz="1100" b="0">
                <a:solidFill>
                  <a:srgbClr val="666666"/>
                </a:solidFill>
                <a:latin typeface="Arial"/>
                <a:ea typeface="Yu Gothic"/>
              </a:rPr>
              <a:t>出典：20260922-gcp-spec-estimate/SPEC.xlsx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7200" y="6446520"/>
            <a:ext cx="1124712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920" y="6492240"/>
            <a:ext cx="100000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Arial"/>
                <a:ea typeface="Yu Gothic"/>
              </a:rPr>
              <a:t>GCP 環境申請　／　源データ隔離・単方向納品　／　費用・スペック込み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9500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Arial"/>
                <a:ea typeface="Yu Gothic"/>
              </a:rPr>
              <a:t>費用比較：Cloud Run Jobs　vs　GKE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58368"/>
            <a:ext cx="9966960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Yu Gothic"/>
              </a:rPr>
              <a:t>同一前提（4 vCPU / 16 GiB・日次約30h/月・Storage300・転送1200）。議論用概算・非拘束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73968" y="256032"/>
            <a:ext cx="700000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Arial"/>
                <a:ea typeface="Yu Gothic"/>
              </a:rPr>
              <a:t>7 / 7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0140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33272"/>
            <a:ext cx="65836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Arial"/>
                <a:ea typeface="Yu Gothic"/>
              </a:rPr>
              <a:t>リージョン：東京 asia-northeast1　・　dev / stg / prod</a:t>
            </a:r>
          </a:p>
        </p:txBody>
      </p:sp>
      <p:sp>
        <p:nvSpPr>
          <p:cNvPr id="8" name="Rectangle 7"/>
          <p:cNvSpPr/>
          <p:nvPr/>
        </p:nvSpPr>
        <p:spPr>
          <a:xfrm>
            <a:off x="7818120" y="1024128"/>
            <a:ext cx="146304" cy="146304"/>
          </a:xfrm>
          <a:prstGeom prst="rect">
            <a:avLst/>
          </a:prstGeom>
          <a:solidFill>
            <a:srgbClr val="2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28432" y="987552"/>
            <a:ext cx="90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Arial"/>
                <a:ea typeface="Yu Gothic"/>
              </a:rPr>
              <a:t>今回申請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69680" y="1024128"/>
            <a:ext cx="146304" cy="14630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79992" y="987552"/>
            <a:ext cx="90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Arial"/>
                <a:ea typeface="Yu Gothic"/>
              </a:rPr>
              <a:t>常時稼働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921240" y="1024128"/>
            <a:ext cx="146304" cy="146304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31552" y="987552"/>
            <a:ext cx="90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Arial"/>
                <a:ea typeface="Yu Gothic"/>
              </a:rPr>
              <a:t>予測フロー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91088" y="1024128"/>
            <a:ext cx="146304" cy="146304"/>
          </a:xfrm>
          <a:prstGeom prst="rect">
            <a:avLst/>
          </a:prstGeom>
          <a:solidFill>
            <a:srgbClr val="C659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201400" y="987552"/>
            <a:ext cx="90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Arial"/>
                <a:ea typeface="Yu Gothic"/>
              </a:rPr>
              <a:t>既存・外部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280000"/>
            <a:ext cx="11200000" cy="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Arial"/>
                <a:ea typeface="Yu Gothic"/>
              </a:rPr>
              <a:t>GCS 保管＋大阪→東京転送（約 ¥16,400）は共通。差が出るのは計算基盤とクラスタ管理費。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1550000"/>
            <a:ext cx="11200000" cy="3550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0000" y="1610000"/>
            <a:ext cx="36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Arial"/>
                <a:ea typeface="Yu Gothic"/>
              </a:rPr>
              <a:t>構成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0000" y="1610000"/>
            <a:ext cx="19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333333"/>
                </a:solidFill>
                <a:latin typeface="Arial"/>
                <a:ea typeface="Yu Gothic"/>
              </a:rPr>
              <a:t>計算費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00000" y="1610000"/>
            <a:ext cx="19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333333"/>
                </a:solidFill>
                <a:latin typeface="Arial"/>
                <a:ea typeface="Yu Gothic"/>
              </a:rPr>
              <a:t>クラスタ管理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0000" y="1610000"/>
            <a:ext cx="17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333333"/>
                </a:solidFill>
                <a:latin typeface="Arial"/>
                <a:ea typeface="Yu Gothic"/>
              </a:rPr>
              <a:t>GCS+転送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00000" y="1610000"/>
            <a:ext cx="16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333333"/>
                </a:solidFill>
                <a:latin typeface="Arial"/>
                <a:ea typeface="Yu Gothic"/>
              </a:rPr>
              <a:t>月合計 概算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1930000"/>
            <a:ext cx="11200000" cy="355000"/>
          </a:xfrm>
          <a:prstGeom prst="roundRect">
            <a:avLst>
              <a:gd name="adj" fmla="val 8000"/>
            </a:avLst>
          </a:prstGeom>
          <a:solidFill>
            <a:srgbClr val="E2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0000" y="1990000"/>
            <a:ext cx="36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Arial"/>
                <a:ea typeface="Yu Gothic"/>
              </a:rPr>
              <a:t>Cloud Run Jobs（本件 SPEC）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0000" y="1990000"/>
            <a:ext cx="19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333333"/>
                </a:solidFill>
                <a:latin typeface="Arial"/>
                <a:ea typeface="Yu Gothic"/>
              </a:rPr>
              <a:t>¥1,790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0000" y="1990000"/>
            <a:ext cx="19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333333"/>
                </a:solidFill>
                <a:latin typeface="Arial"/>
                <a:ea typeface="Yu Gothic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0000" y="1990000"/>
            <a:ext cx="17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333333"/>
                </a:solidFill>
                <a:latin typeface="Arial"/>
                <a:ea typeface="Yu Gothic"/>
              </a:rPr>
              <a:t>¥16,400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00000" y="1990000"/>
            <a:ext cx="16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0F766E"/>
                </a:solidFill>
                <a:latin typeface="Arial"/>
                <a:ea typeface="Yu Gothic"/>
              </a:rPr>
              <a:t>¥18,190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2310000"/>
            <a:ext cx="11200000" cy="35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0000" y="2370000"/>
            <a:ext cx="36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GKE Autopilot（Job時のみ＋Free tier）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0000" y="2370000"/>
            <a:ext cx="19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333333"/>
                </a:solidFill>
                <a:latin typeface="Arial"/>
                <a:ea typeface="Yu Gothic"/>
              </a:rPr>
              <a:t>~¥1,200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0000" y="2370000"/>
            <a:ext cx="19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333333"/>
                </a:solidFill>
                <a:latin typeface="Arial"/>
                <a:ea typeface="Yu Gothic"/>
              </a:rPr>
              <a:t>¥0（抵当）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0000" y="2370000"/>
            <a:ext cx="17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333333"/>
                </a:solidFill>
                <a:latin typeface="Arial"/>
                <a:ea typeface="Yu Gothic"/>
              </a:rPr>
              <a:t>¥16,400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00000" y="2370000"/>
            <a:ext cx="16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333333"/>
                </a:solidFill>
                <a:latin typeface="Arial"/>
                <a:ea typeface="Yu Gothic"/>
              </a:rPr>
              <a:t>~¥17,600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2690000"/>
            <a:ext cx="11200000" cy="3550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0000" y="2750000"/>
            <a:ext cx="36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GKE Autopilot（Free tier なし）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00000" y="2750000"/>
            <a:ext cx="19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333333"/>
                </a:solidFill>
                <a:latin typeface="Arial"/>
                <a:ea typeface="Yu Gothic"/>
              </a:rPr>
              <a:t>~¥1,200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00000" y="2750000"/>
            <a:ext cx="19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333333"/>
                </a:solidFill>
                <a:latin typeface="Arial"/>
                <a:ea typeface="Yu Gothic"/>
              </a:rPr>
              <a:t>~¥11,500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00000" y="2750000"/>
            <a:ext cx="17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333333"/>
                </a:solidFill>
                <a:latin typeface="Arial"/>
                <a:ea typeface="Yu Gothic"/>
              </a:rPr>
              <a:t>¥16,400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00000" y="2750000"/>
            <a:ext cx="16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333333"/>
                </a:solidFill>
                <a:latin typeface="Arial"/>
                <a:ea typeface="Yu Gothic"/>
              </a:rPr>
              <a:t>~¥29,000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3070000"/>
            <a:ext cx="11200000" cy="35500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0000" y="3130000"/>
            <a:ext cx="36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GKE Standard 常駐 e2-standard-4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00000" y="3130000"/>
            <a:ext cx="19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333333"/>
                </a:solidFill>
                <a:latin typeface="Arial"/>
                <a:ea typeface="Yu Gothic"/>
              </a:rPr>
              <a:t>~¥20,000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0000" y="3130000"/>
            <a:ext cx="19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333333"/>
                </a:solidFill>
                <a:latin typeface="Arial"/>
                <a:ea typeface="Yu Gothic"/>
              </a:rPr>
              <a:t>0〜¥11,500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00000" y="3130000"/>
            <a:ext cx="17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333333"/>
                </a:solidFill>
                <a:latin typeface="Arial"/>
                <a:ea typeface="Yu Gothic"/>
              </a:rPr>
              <a:t>¥16,400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00000" y="3130000"/>
            <a:ext cx="1600000" cy="2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C45C5C"/>
                </a:solidFill>
                <a:latin typeface="Arial"/>
                <a:ea typeface="Yu Gothic"/>
              </a:rPr>
              <a:t>~¥36,000〜48,000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7200" y="3600000"/>
            <a:ext cx="5400000" cy="2600000"/>
          </a:xfrm>
          <a:prstGeom prst="roundRect">
            <a:avLst>
              <a:gd name="adj" fmla="val 8000"/>
            </a:avLst>
          </a:prstGeom>
          <a:solidFill>
            <a:srgbClr val="E4D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0000" y="3700000"/>
            <a:ext cx="5200000" cy="2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Arial"/>
                <a:ea typeface="Yu Gothic"/>
              </a:rPr>
              <a:t>読み方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・転送費はどちらも同じ（約84%の主因）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・Autopilot の Job 本体は Run と同程度になり得る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・差は主に Cluster management（$0.10/h）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・TRIAL で Free tier 済の場合、+約 ¥11,500/月</a:t>
            </a:r>
          </a:p>
          <a:p>
            <a:pPr algn="l"/>
            <a:r>
              <a:rPr sz="1200" b="0">
                <a:solidFill>
                  <a:srgbClr val="C45C5C"/>
                </a:solidFill>
                <a:latin typeface="Arial"/>
                <a:ea typeface="Yu Gothic"/>
              </a:rPr>
              <a:t>・常駐ノード案は本件バッチに対して過剰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00000" y="3600000"/>
            <a:ext cx="5400000" cy="2600000"/>
          </a:xfrm>
          <a:prstGeom prst="roundRect">
            <a:avLst>
              <a:gd name="adj" fmla="val 8000"/>
            </a:avLst>
          </a:prstGeom>
          <a:solidFill>
            <a:srgbClr val="FCE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0000" y="3700000"/>
            <a:ext cx="5200000" cy="2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Arial"/>
                <a:ea typeface="Yu Gothic"/>
              </a:rPr>
              <a:t>前提・注意（概算）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・日次バッチ ≈ 30h/月 × 4vCPU/16GiB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・為替 ≈ ¥159/USD（転送単価から逆算）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・GKE 行は Calculator 未出力の机上試算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Arial"/>
                <a:ea typeface="Yu Gothic"/>
              </a:rPr>
              <a:t>・Logging / LB / 永続ディスク等は未計上</a:t>
            </a:r>
          </a:p>
          <a:p>
            <a:pPr algn="l"/>
            <a:r>
              <a:rPr sz="1100" b="0">
                <a:solidFill>
                  <a:srgbClr val="666666"/>
                </a:solidFill>
                <a:latin typeface="Arial"/>
                <a:ea typeface="Yu Gothic"/>
              </a:rPr>
              <a:t>・正式比較は Pricing Calculator で要再出力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6446520"/>
            <a:ext cx="1124712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" y="6492240"/>
            <a:ext cx="110000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Arial"/>
                <a:ea typeface="Yu Gothic"/>
              </a:rPr>
              <a:t>GCP 環境申請　／　源データ隔離・単方向納品　／　Cloud Run 採用理由・GKE比較込み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commondata" val="eyJoZGlkIjoiYTMwZjU5OTQyYWRhNzIxMjM4YzhlZDJlZmMzMzJmOWYifQ==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1479</Words>
  <Application>WPS 演示</Application>
  <PresentationFormat>On-screen Show (16:9)</PresentationFormat>
  <Paragraphs>154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7" baseType="lpstr">
      <vt:lpstr>Arial</vt:lpstr>
      <vt:lpstr>宋体</vt:lpstr>
      <vt:lpstr>Wingdings</vt:lpstr>
      <vt:lpstr>Aptos</vt:lpstr>
      <vt:lpstr>Segoe Print</vt:lpstr>
      <vt:lpstr>Aptos</vt:lpstr>
      <vt:lpstr>Aptos</vt:lpstr>
      <vt:lpstr>MS PGothic</vt:lpstr>
      <vt:lpstr>微软雅黑</vt:lpstr>
      <vt:lpstr>Arial Unicode MS</vt:lpstr>
      <vt:lpstr>等线</vt:lpstr>
      <vt:lpstr>Calibri</vt:lpstr>
      <vt:lpstr>MingLiU-ExtB</vt:lpstr>
      <vt:lpstr>MS Mincho</vt:lpstr>
      <vt:lpstr>Office Theme</vt:lpstr>
      <vt:lpstr>PowerPoint 演示文稿</vt:lpstr>
      <vt:lpstr>PowerPoint 演示文稿</vt:lpstr>
    </vt:vector>
  </TitlesOfParts>
  <Company>OpenAI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申請対象の構成図</dc:title>
  <dc:creator>OpenAI</dc:creator>
  <dc:subject>大阪集計 GCS から東京 SMART 処理・Seiyu GCS 納品</dc:subject>
  <cp:lastModifiedBy>10225132</cp:lastModifiedBy>
  <cp:revision>2</cp:revision>
  <dcterms:created xsi:type="dcterms:W3CDTF">2026-09-22T06:21:00Z</dcterms:created>
  <dcterms:modified xsi:type="dcterms:W3CDTF">2026-09-22T07:25:39Z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A9475B56DA174B11B9C965567602C371_12</vt:lpwstr>
  </property>
  <property fmtid="{D5CDD505-2E9C-101B-9397-08002B2CF9AE}" pid="3" name="KSOProductBuildVer">
    <vt:lpwstr>2052-12.1.0.18276</vt:lpwstr>
  </property>
</Properties>
</file>