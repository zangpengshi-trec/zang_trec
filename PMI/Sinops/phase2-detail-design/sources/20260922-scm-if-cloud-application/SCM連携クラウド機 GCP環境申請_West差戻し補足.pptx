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63" r:id="rId15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embeddedFontLst>
    <p:embeddedFont>
      <p:font typeface="Noto Sans JP" panose="020B0200000000000000" charset="-12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A66BF64-D2FC-4761-AEA6-D4DDCA1AC9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構成は社内標準の「Google Cloud Official Icons and Solution Architectures」の作図ルール（Project Zone #F6F6F6、論理グループ #E3F2FD、外部データソース #FFF8E1、主経路＝青 #4284F3、二次経路＝灰 #9E9E9E、オプション＝青破線、機能名＋製品名の Product Card、タイトルバー）に合わせています。 データの流れ：大阪の集計 GCS（asia-northeast2、既存）から Storage Transfer Service で本PJの Cloud Storage（source-landing/MD_DATA/YYYYMMDD/、元データ7日保管）へコピーし、Cloud Run Jobs（SMART 日次処理、4 vCPU / 16 GiB）が読み取って処理します。最終 TXT のみ seiyu-trial-data-exchange（ods-seiyu-prod / stg / dev）へ一方向で納品し、検証後に _SUCCESS を作成します。Layer②③は西友 Azure の既存 DataSpider が取り込みます。 制御：Cloud Scheduler（毎日指定時刻）→ Workflows（READY → STS → Job → 検証）。将来 Hinemos から起動する可能性があり、要突合です。 運用・監視・権限：ジョブのコンテナイメージは Artifact Registry、ログ・監視は Cloud Logging / Cloud Monitoring、権限は IAM でサービスごとに分離します。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申請する主なサービス：Cloud Run Jobs / Cloud Storage / STS / Workflows / Cloud Scheduler / Artifact Registry / Logging / Monitoring。費用の詳細は6枚目を参照してください。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Google Shape;16;p1"/>
          <p:cNvSpPr>
            <a:spLocks noGrp="1"/>
          </p:cNvSpPr>
          <p:nvPr/>
        </p:nvSpPr>
        <p:spPr>
          <a:xfrm>
            <a:off x="812800" y="433575"/>
            <a:ext cx="8097000" cy="10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背景：なぜ新しいクラウド機を申請するか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1"/>
          <p:cNvSpPr>
            <a:spLocks noGrp="1"/>
          </p:cNvSpPr>
          <p:nvPr/>
        </p:nvSpPr>
        <p:spPr>
          <a:xfrm>
            <a:off x="812800" y="1435993"/>
            <a:ext cx="10883392" cy="262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339"/>
              <a:buFont typeface="Noto Sans JP" panose="020B0200000000000000" charset="-122"/>
              <a:buNone/>
            </a:pPr>
            <a:r>
              <a:rPr sz="134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 MD 基幹統合／PMI 課題 Phase2 ― TRIAL 側 Layer① の実行基盤が必要です</a:t>
            </a:r>
            <a:endParaRPr sz="134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1"/>
          <p:cNvSpPr>
            <a:spLocks noGrp="1"/>
          </p:cNvSpPr>
          <p:nvPr/>
        </p:nvSpPr>
        <p:spPr>
          <a:xfrm>
            <a:off x="815975" y="1828304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1"/>
          <p:cNvSpPr>
            <a:spLocks noGrp="1"/>
          </p:cNvSpPr>
          <p:nvPr/>
        </p:nvSpPr>
        <p:spPr>
          <a:xfrm>
            <a:off x="996950" y="1971179"/>
            <a:ext cx="499694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34"/>
              <a:buFont typeface="Noto Sans JP" panose="020B0200000000000000" charset="-122"/>
              <a:buNone/>
            </a:pPr>
            <a:r>
              <a:rPr sz="143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いま起きていること（背景）</a:t>
            </a:r>
            <a:endParaRPr sz="143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/>
          <p:cNvSpPr>
            <a:spLocks noGrp="1"/>
          </p:cNvSpPr>
          <p:nvPr/>
        </p:nvSpPr>
        <p:spPr>
          <a:xfrm>
            <a:off x="996950" y="2249289"/>
            <a:ext cx="4996942" cy="106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西友×TRIAL の MD 基幹統合・PMI 課題 Phase2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集計系データ（大阪）を西友側へ日次で渡す必要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正本連携経路は seiyu-trial-data-exchange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型変換・共通化は TRIAL 側で吸収する方針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課題ごとに PJ を割ると SCM 連携面が割れる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/>
          <p:cNvSpPr>
            <a:spLocks noGrp="1"/>
          </p:cNvSpPr>
          <p:nvPr/>
        </p:nvSpPr>
        <p:spPr>
          <a:xfrm>
            <a:off x="6162675" y="1828304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1"/>
          <p:cNvSpPr>
            <a:spLocks noGrp="1"/>
          </p:cNvSpPr>
          <p:nvPr/>
        </p:nvSpPr>
        <p:spPr>
          <a:xfrm>
            <a:off x="6343650" y="1971179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だから必要なもの（目的）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1"/>
          <p:cNvSpPr>
            <a:spLocks noGrp="1"/>
          </p:cNvSpPr>
          <p:nvPr/>
        </p:nvSpPr>
        <p:spPr>
          <a:xfrm>
            <a:off x="6343650" y="2263279"/>
            <a:ext cx="4996942" cy="90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 GCP 上の SCM 連携機を 1 台に集約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Layer①：取得・変換・配置（バッチ）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付帯 GCS（元データ）＋ Cloud Run（処理）を一体申請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最終 TXT のみ seiyu-trial-data-exchange へ一方向納品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/>
          <p:cNvSpPr>
            <a:spLocks noGrp="1"/>
          </p:cNvSpPr>
          <p:nvPr/>
        </p:nvSpPr>
        <p:spPr>
          <a:xfrm>
            <a:off x="815975" y="3562548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1"/>
          <p:cNvSpPr>
            <a:spLocks noGrp="1"/>
          </p:cNvSpPr>
          <p:nvPr/>
        </p:nvSpPr>
        <p:spPr>
          <a:xfrm>
            <a:off x="996950" y="3705423"/>
            <a:ext cx="499694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34"/>
              <a:buFont typeface="Noto Sans JP" panose="020B0200000000000000" charset="-122"/>
              <a:buNone/>
            </a:pPr>
            <a:r>
              <a:rPr sz="143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役割分担（なぜ「新機」か）</a:t>
            </a:r>
            <a:endParaRPr sz="143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1"/>
          <p:cNvSpPr>
            <a:spLocks noGrp="1"/>
          </p:cNvSpPr>
          <p:nvPr/>
        </p:nvSpPr>
        <p:spPr>
          <a:xfrm>
            <a:off x="996950" y="3983534"/>
            <a:ext cx="4996942" cy="106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Layer①＝今回申請のクラウド機（TRIAL GCP）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Layer②③＝西友 Azure の既存 DataSpider を使用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DSS は全フィールドを通過。変換は Layer①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本機ディスクなし。永続は GCS のみ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6129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25"/>
              <a:buFont typeface="Noto Sans JP" panose="020B0200000000000000" charset="-122"/>
              <a:buChar char="•"/>
            </a:pPr>
            <a:r>
              <a:rPr sz="112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PMI 課題 Phase2 の実行基盤前提</a:t>
            </a:r>
            <a:endParaRPr sz="11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1"/>
          <p:cNvSpPr>
            <a:spLocks noGrp="1"/>
          </p:cNvSpPr>
          <p:nvPr/>
        </p:nvSpPr>
        <p:spPr>
          <a:xfrm>
            <a:off x="6162675" y="3562548"/>
            <a:ext cx="5213350" cy="1600895"/>
          </a:xfrm>
          <a:prstGeom prst="roundRect">
            <a:avLst>
              <a:gd name="adj" fmla="val 376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1"/>
          <p:cNvSpPr>
            <a:spLocks noGrp="1"/>
          </p:cNvSpPr>
          <p:nvPr/>
        </p:nvSpPr>
        <p:spPr>
          <a:xfrm>
            <a:off x="6343650" y="3705423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今回申請する／しない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1"/>
          <p:cNvSpPr>
            <a:spLocks noGrp="1"/>
          </p:cNvSpPr>
          <p:nvPr/>
        </p:nvSpPr>
        <p:spPr>
          <a:xfrm>
            <a:off x="6343650" y="4022923"/>
            <a:ext cx="7874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1"/>
          <p:cNvSpPr>
            <a:spLocks noGrp="1"/>
          </p:cNvSpPr>
          <p:nvPr/>
        </p:nvSpPr>
        <p:spPr>
          <a:xfrm>
            <a:off x="6432550" y="4048323"/>
            <a:ext cx="6604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申請する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Google Shape;31;p1"/>
          <p:cNvSpPr>
            <a:spLocks noGrp="1"/>
          </p:cNvSpPr>
          <p:nvPr/>
        </p:nvSpPr>
        <p:spPr>
          <a:xfrm>
            <a:off x="7232650" y="4022923"/>
            <a:ext cx="4081272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 PJ・Cloud Run Jobs・本PJ GCS・Scheduler / Workflows / STS 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1"/>
          <p:cNvSpPr>
            <a:spLocks noGrp="1"/>
          </p:cNvSpPr>
          <p:nvPr/>
        </p:nvSpPr>
        <p:spPr>
          <a:xfrm>
            <a:off x="6343650" y="4553744"/>
            <a:ext cx="9398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"/>
          <p:cNvSpPr>
            <a:spLocks noGrp="1"/>
          </p:cNvSpPr>
          <p:nvPr/>
        </p:nvSpPr>
        <p:spPr>
          <a:xfrm>
            <a:off x="6432550" y="4579144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申請しない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1"/>
          <p:cNvSpPr>
            <a:spLocks noGrp="1"/>
          </p:cNvSpPr>
          <p:nvPr/>
        </p:nvSpPr>
        <p:spPr>
          <a:xfrm>
            <a:off x="7385050" y="4553744"/>
            <a:ext cx="3924300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GKE・本機永続ディスク・DataSpider・seiyu-trial-data-exchange 本体（松尾さんへ別途申請）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1"/>
          <p:cNvSpPr>
            <a:spLocks noGrp="1"/>
          </p:cNvSpPr>
          <p:nvPr/>
        </p:nvSpPr>
        <p:spPr>
          <a:xfrm>
            <a:off x="812800" y="5319018"/>
            <a:ext cx="10566400" cy="726182"/>
          </a:xfrm>
          <a:prstGeom prst="roundRect">
            <a:avLst>
              <a:gd name="adj" fmla="val 8744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1"/>
          <p:cNvSpPr>
            <a:spLocks noGrp="1"/>
          </p:cNvSpPr>
          <p:nvPr/>
        </p:nvSpPr>
        <p:spPr>
          <a:xfrm>
            <a:off x="1016000" y="5446018"/>
            <a:ext cx="10464800" cy="497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39"/>
              <a:buFont typeface="Noto Sans JP" panose="020B0200000000000000" charset="-122"/>
              <a:buNone/>
            </a:pPr>
            <a:r>
              <a:rPr sz="124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一言で言うと：</a:t>
            </a:r>
            <a:r>
              <a:rPr sz="124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 と西友の間のデータ連携を回すため、TRIAL 側に「変換付きの統一 IF 基盤」が要ります。だから新規 1 プロジェクトの SCM連携クラウド機を申請します。</a:t>
            </a:r>
            <a:endParaRPr sz="124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1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1"/>
          <p:cNvSpPr>
            <a:spLocks noGrp="1"/>
          </p:cNvSpPr>
          <p:nvPr/>
        </p:nvSpPr>
        <p:spPr>
          <a:xfrm>
            <a:off x="8550809" y="553045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1"/>
          <p:cNvSpPr>
            <a:spLocks noGrp="1"/>
          </p:cNvSpPr>
          <p:nvPr/>
        </p:nvSpPr>
        <p:spPr>
          <a:xfrm>
            <a:off x="8680984" y="594320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Google Shape;45;p2"/>
          <p:cNvSpPr>
            <a:spLocks noGrp="1"/>
          </p:cNvSpPr>
          <p:nvPr/>
        </p:nvSpPr>
        <p:spPr>
          <a:xfrm>
            <a:off x="812800" y="457200"/>
            <a:ext cx="6725984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なぜ Cloud Run Jobs を採用するか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2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2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2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 ではなく Cloud Run を選ぶ判断基準（本件＝日次ファイル IF バッチ）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2"/>
          <p:cNvSpPr>
            <a:spLocks noGrp="1"/>
          </p:cNvSpPr>
          <p:nvPr/>
        </p:nvSpPr>
        <p:spPr>
          <a:xfrm>
            <a:off x="815975" y="140007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2"/>
          <p:cNvSpPr>
            <a:spLocks noGrp="1"/>
          </p:cNvSpPr>
          <p:nvPr/>
        </p:nvSpPr>
        <p:spPr>
          <a:xfrm>
            <a:off x="996950" y="154295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① 動き方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2"/>
          <p:cNvSpPr>
            <a:spLocks noGrp="1"/>
          </p:cNvSpPr>
          <p:nvPr/>
        </p:nvSpPr>
        <p:spPr>
          <a:xfrm>
            <a:off x="996950" y="186045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2"/>
          <p:cNvSpPr>
            <a:spLocks noGrp="1"/>
          </p:cNvSpPr>
          <p:nvPr/>
        </p:nvSpPr>
        <p:spPr>
          <a:xfrm>
            <a:off x="1085850" y="188585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2"/>
          <p:cNvSpPr>
            <a:spLocks noGrp="1"/>
          </p:cNvSpPr>
          <p:nvPr/>
        </p:nvSpPr>
        <p:spPr>
          <a:xfrm>
            <a:off x="3003550" y="186045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時刻起動 → 処理 → 終了。遊休時は止められる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2"/>
          <p:cNvSpPr>
            <a:spLocks noGrp="1"/>
          </p:cNvSpPr>
          <p:nvPr/>
        </p:nvSpPr>
        <p:spPr>
          <a:xfrm>
            <a:off x="996950" y="239127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2"/>
          <p:cNvSpPr>
            <a:spLocks noGrp="1"/>
          </p:cNvSpPr>
          <p:nvPr/>
        </p:nvSpPr>
        <p:spPr>
          <a:xfrm>
            <a:off x="1085850" y="241667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2"/>
          <p:cNvSpPr>
            <a:spLocks noGrp="1"/>
          </p:cNvSpPr>
          <p:nvPr/>
        </p:nvSpPr>
        <p:spPr>
          <a:xfrm>
            <a:off x="3003550" y="239127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クラスタ／ノードを常設しやすく、バッチには固定費が残りやすい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2"/>
          <p:cNvSpPr>
            <a:spLocks noGrp="1"/>
          </p:cNvSpPr>
          <p:nvPr/>
        </p:nvSpPr>
        <p:spPr>
          <a:xfrm>
            <a:off x="6162675" y="140007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2"/>
          <p:cNvSpPr>
            <a:spLocks noGrp="1"/>
          </p:cNvSpPr>
          <p:nvPr/>
        </p:nvSpPr>
        <p:spPr>
          <a:xfrm>
            <a:off x="6343650" y="154295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② 本機の仕事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2"/>
          <p:cNvSpPr>
            <a:spLocks noGrp="1"/>
          </p:cNvSpPr>
          <p:nvPr/>
        </p:nvSpPr>
        <p:spPr>
          <a:xfrm>
            <a:off x="6343650" y="186045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2"/>
          <p:cNvSpPr>
            <a:spLocks noGrp="1"/>
          </p:cNvSpPr>
          <p:nvPr/>
        </p:nvSpPr>
        <p:spPr>
          <a:xfrm>
            <a:off x="6432550" y="188585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2"/>
          <p:cNvSpPr>
            <a:spLocks noGrp="1"/>
          </p:cNvSpPr>
          <p:nvPr/>
        </p:nvSpPr>
        <p:spPr>
          <a:xfrm>
            <a:off x="8350250" y="186045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抽出・変換・GCS プッシュ／プル。日次バッチ変換機に適合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2"/>
          <p:cNvSpPr>
            <a:spLocks noGrp="1"/>
          </p:cNvSpPr>
          <p:nvPr/>
        </p:nvSpPr>
        <p:spPr>
          <a:xfrm>
            <a:off x="6343650" y="239127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2"/>
          <p:cNvSpPr>
            <a:spLocks noGrp="1"/>
          </p:cNvSpPr>
          <p:nvPr/>
        </p:nvSpPr>
        <p:spPr>
          <a:xfrm>
            <a:off x="6432550" y="241667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2"/>
          <p:cNvSpPr>
            <a:spLocks noGrp="1"/>
          </p:cNvSpPr>
          <p:nvPr/>
        </p:nvSpPr>
        <p:spPr>
          <a:xfrm>
            <a:off x="8350250" y="239127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向きはマイクロサービス／常時 API。本件の主用途ではない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2"/>
          <p:cNvSpPr>
            <a:spLocks noGrp="1"/>
          </p:cNvSpPr>
          <p:nvPr/>
        </p:nvSpPr>
        <p:spPr>
          <a:xfrm>
            <a:off x="815975" y="310941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2"/>
          <p:cNvSpPr>
            <a:spLocks noGrp="1"/>
          </p:cNvSpPr>
          <p:nvPr/>
        </p:nvSpPr>
        <p:spPr>
          <a:xfrm>
            <a:off x="996950" y="325229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③ ストレージ方針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2"/>
          <p:cNvSpPr>
            <a:spLocks noGrp="1"/>
          </p:cNvSpPr>
          <p:nvPr/>
        </p:nvSpPr>
        <p:spPr>
          <a:xfrm>
            <a:off x="996950" y="356979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2"/>
          <p:cNvSpPr>
            <a:spLocks noGrp="1"/>
          </p:cNvSpPr>
          <p:nvPr/>
        </p:nvSpPr>
        <p:spPr>
          <a:xfrm>
            <a:off x="1085850" y="359519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2"/>
          <p:cNvSpPr>
            <a:spLocks noGrp="1"/>
          </p:cNvSpPr>
          <p:nvPr/>
        </p:nvSpPr>
        <p:spPr>
          <a:xfrm>
            <a:off x="3003550" y="356979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ステートレス。正本は GCS のみ。本機ディスク／ステージングなし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2"/>
          <p:cNvSpPr>
            <a:spLocks noGrp="1"/>
          </p:cNvSpPr>
          <p:nvPr/>
        </p:nvSpPr>
        <p:spPr>
          <a:xfrm>
            <a:off x="996950" y="4100612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2"/>
          <p:cNvSpPr>
            <a:spLocks noGrp="1"/>
          </p:cNvSpPr>
          <p:nvPr/>
        </p:nvSpPr>
        <p:spPr>
          <a:xfrm>
            <a:off x="1085850" y="4126012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2"/>
          <p:cNvSpPr>
            <a:spLocks noGrp="1"/>
          </p:cNvSpPr>
          <p:nvPr/>
        </p:nvSpPr>
        <p:spPr>
          <a:xfrm>
            <a:off x="3003550" y="4100612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ノード・永続ボリューム運用前提。GCS 集約の設計と齟齬しやすい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2"/>
          <p:cNvSpPr>
            <a:spLocks noGrp="1"/>
          </p:cNvSpPr>
          <p:nvPr/>
        </p:nvSpPr>
        <p:spPr>
          <a:xfrm>
            <a:off x="6162675" y="3109416"/>
            <a:ext cx="5213350" cy="1575991"/>
          </a:xfrm>
          <a:prstGeom prst="roundRect">
            <a:avLst>
              <a:gd name="adj" fmla="val 3828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2"/>
          <p:cNvSpPr>
            <a:spLocks noGrp="1"/>
          </p:cNvSpPr>
          <p:nvPr/>
        </p:nvSpPr>
        <p:spPr>
          <a:xfrm>
            <a:off x="6343650" y="3252291"/>
            <a:ext cx="4996942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500"/>
              <a:buFont typeface="Noto Sans JP" panose="020B0200000000000000" charset="-122"/>
              <a:buNone/>
            </a:pPr>
            <a:r>
              <a:rPr sz="15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④ 運用・費用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2"/>
          <p:cNvSpPr>
            <a:spLocks noGrp="1"/>
          </p:cNvSpPr>
          <p:nvPr/>
        </p:nvSpPr>
        <p:spPr>
          <a:xfrm>
            <a:off x="6343650" y="3569791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2"/>
          <p:cNvSpPr>
            <a:spLocks noGrp="1"/>
          </p:cNvSpPr>
          <p:nvPr/>
        </p:nvSpPr>
        <p:spPr>
          <a:xfrm>
            <a:off x="6432550" y="3595191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Jobs（採用）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2"/>
          <p:cNvSpPr>
            <a:spLocks noGrp="1"/>
          </p:cNvSpPr>
          <p:nvPr/>
        </p:nvSpPr>
        <p:spPr>
          <a:xfrm>
            <a:off x="8350250" y="3569791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88115"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従量バッチ向き。prod 3h/日・保管30日で月約 ¥25,069（転送が大半）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2"/>
          <p:cNvSpPr>
            <a:spLocks noGrp="1"/>
          </p:cNvSpPr>
          <p:nvPr/>
        </p:nvSpPr>
        <p:spPr>
          <a:xfrm>
            <a:off x="6343650" y="4100612"/>
            <a:ext cx="1905000" cy="264120"/>
          </a:xfrm>
          <a:prstGeom prst="roundRect">
            <a:avLst>
              <a:gd name="adj" fmla="val 14425"/>
            </a:avLst>
          </a:prstGeom>
          <a:solidFill>
            <a:srgbClr val="E4E7E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2"/>
          <p:cNvSpPr>
            <a:spLocks noGrp="1"/>
          </p:cNvSpPr>
          <p:nvPr/>
        </p:nvSpPr>
        <p:spPr>
          <a:xfrm>
            <a:off x="6432550" y="4126012"/>
            <a:ext cx="177901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GKE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2"/>
          <p:cNvSpPr>
            <a:spLocks noGrp="1"/>
          </p:cNvSpPr>
          <p:nvPr/>
        </p:nvSpPr>
        <p:spPr>
          <a:xfrm>
            <a:off x="8350250" y="4100612"/>
            <a:ext cx="2930144" cy="46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6372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B6372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クラスタ費＋運用負荷が大きい。常駐案は月 +¥2万前後になり得る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2"/>
          <p:cNvSpPr>
            <a:spLocks noGrp="1"/>
          </p:cNvSpPr>
          <p:nvPr/>
        </p:nvSpPr>
        <p:spPr>
          <a:xfrm>
            <a:off x="812800" y="4840982"/>
            <a:ext cx="10566400" cy="749300"/>
          </a:xfrm>
          <a:prstGeom prst="roundRect">
            <a:avLst>
              <a:gd name="adj" fmla="val 8475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2"/>
          <p:cNvSpPr>
            <a:spLocks noGrp="1"/>
          </p:cNvSpPr>
          <p:nvPr/>
        </p:nvSpPr>
        <p:spPr>
          <a:xfrm>
            <a:off x="1016000" y="4967982"/>
            <a:ext cx="104648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結論：</a:t>
            </a:r>
            <a:r>
              <a:rPr sz="130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常時動かす基盤ではなく、必要なときだけ動くバッチなので Cloud Run Jobs を採用します。GKE は常設クラスタ前提で、今回の IF 機には過剰です。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2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9" name="Google Shape;89;h4b4b0ebc97ee4989_0_0"/>
          <p:cNvSpPr>
            <a:spLocks noGrp="1"/>
          </p:cNvSpPr>
          <p:nvPr/>
        </p:nvSpPr>
        <p:spPr>
          <a:xfrm>
            <a:off x="812800" y="457200"/>
            <a:ext cx="108834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180"/>
              <a:buFont typeface="Noto Sans JP" panose="020B0200000000000000" charset="-122"/>
              <a:buNone/>
            </a:pPr>
            <a:r>
              <a:rPr sz="318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SCM連携</a:t>
            </a:r>
            <a:r>
              <a:rPr sz="3180" b="1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GCP</a:t>
            </a:r>
            <a:r>
              <a:rPr sz="318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申請構成図</a:t>
            </a:r>
            <a:endParaRPr sz="318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h4b4b0ebc97ee4989_0_0"/>
          <p:cNvSpPr>
            <a:spLocks noGrp="1"/>
          </p:cNvSpPr>
          <p:nvPr/>
        </p:nvSpPr>
        <p:spPr>
          <a:xfrm>
            <a:off x="812800" y="1028799"/>
            <a:ext cx="10566300" cy="381300"/>
          </a:xfrm>
          <a:prstGeom prst="rect">
            <a:avLst/>
          </a:prstGeom>
          <a:solidFill>
            <a:srgbClr val="4284F3"/>
          </a:solidFill>
          <a:ln>
            <a:noFill/>
          </a:ln>
          <a:effectLst>
            <a:outerShdw blurRad="25400" dist="1270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h4b4b0ebc97ee4989_0_0"/>
          <p:cNvSpPr>
            <a:spLocks noGrp="1"/>
          </p:cNvSpPr>
          <p:nvPr/>
        </p:nvSpPr>
        <p:spPr>
          <a:xfrm>
            <a:off x="990600" y="1104999"/>
            <a:ext cx="10517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JP" panose="020B0200000000000000" charset="-122"/>
              <a:buNone/>
            </a:pPr>
            <a:r>
              <a:rPr sz="1300" b="0" i="0" u="none" cap="none">
                <a:solidFill>
                  <a:srgbClr val="FFFFFF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Architecture：大阪 集計GCS → 本PJ（東京）で SMART 日次処理 → seiyu-trial-data-exchange へ最終TXTのみ一方向納品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h4b4b0ebc97ee4989_0_0"/>
          <p:cNvSpPr>
            <a:spLocks noGrp="1"/>
          </p:cNvSpPr>
          <p:nvPr/>
        </p:nvSpPr>
        <p:spPr>
          <a:xfrm>
            <a:off x="812800" y="2883198"/>
            <a:ext cx="1587600" cy="1587600"/>
          </a:xfrm>
          <a:prstGeom prst="roundRect">
            <a:avLst>
              <a:gd name="adj" fmla="val 800"/>
            </a:avLst>
          </a:prstGeom>
          <a:solidFill>
            <a:srgbClr val="E1F5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h4b4b0ebc97ee4989_0_0"/>
          <p:cNvSpPr>
            <a:spLocks noGrp="1"/>
          </p:cNvSpPr>
          <p:nvPr/>
        </p:nvSpPr>
        <p:spPr>
          <a:xfrm>
            <a:off x="914400" y="2946698"/>
            <a:ext cx="14352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TRIAL</a:t>
            </a: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（</a:t>
            </a:r>
            <a:r>
              <a:rPr sz="1000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既存</a:t>
            </a: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）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asia-northeast2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h4b4b0ebc97ee4989_0_0"/>
          <p:cNvSpPr>
            <a:spLocks noGrp="1"/>
          </p:cNvSpPr>
          <p:nvPr/>
        </p:nvSpPr>
        <p:spPr>
          <a:xfrm>
            <a:off x="2590800" y="1498898"/>
            <a:ext cx="7048500" cy="4127400"/>
          </a:xfrm>
          <a:prstGeom prst="roundRect">
            <a:avLst>
              <a:gd name="adj" fmla="val 308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h4b4b0ebc97ee4989_0_0"/>
          <p:cNvSpPr>
            <a:spLocks noGrp="1"/>
          </p:cNvSpPr>
          <p:nvPr/>
        </p:nvSpPr>
        <p:spPr>
          <a:xfrm>
            <a:off x="2692400" y="1562398"/>
            <a:ext cx="7050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Google Cloud</a:t>
            </a: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本PJ md-data-integration（dev / stg / prod）｜東京 asia-northeast1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h4b4b0ebc97ee4989_0_0"/>
          <p:cNvSpPr>
            <a:spLocks noGrp="1"/>
          </p:cNvSpPr>
          <p:nvPr/>
        </p:nvSpPr>
        <p:spPr>
          <a:xfrm>
            <a:off x="2717800" y="1854498"/>
            <a:ext cx="6794400" cy="952500"/>
          </a:xfrm>
          <a:prstGeom prst="roundRect">
            <a:avLst>
              <a:gd name="adj" fmla="val 1333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h4b4b0ebc97ee4989_0_0"/>
          <p:cNvSpPr>
            <a:spLocks noGrp="1"/>
          </p:cNvSpPr>
          <p:nvPr/>
        </p:nvSpPr>
        <p:spPr>
          <a:xfrm>
            <a:off x="2819400" y="19179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制御（オーケストレーション）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h4b4b0ebc97ee4989_0_0"/>
          <p:cNvSpPr>
            <a:spLocks noGrp="1"/>
          </p:cNvSpPr>
          <p:nvPr/>
        </p:nvSpPr>
        <p:spPr>
          <a:xfrm>
            <a:off x="2717800" y="2883198"/>
            <a:ext cx="6794400" cy="1587600"/>
          </a:xfrm>
          <a:prstGeom prst="roundRect">
            <a:avLst>
              <a:gd name="adj" fmla="val 800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h4b4b0ebc97ee4989_0_0"/>
          <p:cNvSpPr>
            <a:spLocks noGrp="1"/>
          </p:cNvSpPr>
          <p:nvPr/>
        </p:nvSpPr>
        <p:spPr>
          <a:xfrm>
            <a:off x="2819400" y="29466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データ処理（今回申請）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h4b4b0ebc97ee4989_0_0"/>
          <p:cNvSpPr>
            <a:spLocks noGrp="1"/>
          </p:cNvSpPr>
          <p:nvPr/>
        </p:nvSpPr>
        <p:spPr>
          <a:xfrm>
            <a:off x="2717800" y="4546898"/>
            <a:ext cx="6794400" cy="990600"/>
          </a:xfrm>
          <a:prstGeom prst="roundRect">
            <a:avLst>
              <a:gd name="adj" fmla="val 1282"/>
            </a:avLst>
          </a:prstGeom>
          <a:solidFill>
            <a:srgbClr val="F1F8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h4b4b0ebc97ee4989_0_0"/>
          <p:cNvSpPr>
            <a:spLocks noGrp="1"/>
          </p:cNvSpPr>
          <p:nvPr/>
        </p:nvSpPr>
        <p:spPr>
          <a:xfrm>
            <a:off x="2819400" y="4610398"/>
            <a:ext cx="678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運用・監視・権限（今回申請）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h4b4b0ebc97ee4989_0_0"/>
          <p:cNvSpPr>
            <a:spLocks noGrp="1"/>
          </p:cNvSpPr>
          <p:nvPr/>
        </p:nvSpPr>
        <p:spPr>
          <a:xfrm>
            <a:off x="914400" y="3340398"/>
            <a:ext cx="1384200" cy="104130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7" name="Google Shape;103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000" y="34622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04" name="Google Shape;104;h4b4b0ebc97ee4989_0_0"/>
          <p:cNvSpPr>
            <a:spLocks noGrp="1"/>
          </p:cNvSpPr>
          <p:nvPr/>
        </p:nvSpPr>
        <p:spPr>
          <a:xfrm>
            <a:off x="1397000" y="3416598"/>
            <a:ext cx="850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集計</a:t>
            </a:r>
            <a:r>
              <a:rPr sz="1100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h4b4b0ebc97ee4989_0_0"/>
          <p:cNvSpPr>
            <a:spLocks noGrp="1"/>
          </p:cNvSpPr>
          <p:nvPr/>
        </p:nvSpPr>
        <p:spPr>
          <a:xfrm>
            <a:off x="1016000" y="3838079"/>
            <a:ext cx="1231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h4b4b0ebc97ee4989_0_0"/>
          <p:cNvSpPr>
            <a:spLocks noGrp="1"/>
          </p:cNvSpPr>
          <p:nvPr/>
        </p:nvSpPr>
        <p:spPr>
          <a:xfrm>
            <a:off x="2819400" y="2133898"/>
            <a:ext cx="2031900" cy="5841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1" name="Google Shape;107;h4b4b0ebc97ee4989_0_0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08300" y="22735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08" name="Google Shape;108;h4b4b0ebc97ee4989_0_0"/>
          <p:cNvSpPr>
            <a:spLocks noGrp="1"/>
          </p:cNvSpPr>
          <p:nvPr/>
        </p:nvSpPr>
        <p:spPr>
          <a:xfrm>
            <a:off x="3289300" y="2227957"/>
            <a:ext cx="1524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毎日 指定時刻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h4b4b0ebc97ee4989_0_0"/>
          <p:cNvSpPr>
            <a:spLocks noGrp="1"/>
          </p:cNvSpPr>
          <p:nvPr/>
        </p:nvSpPr>
        <p:spPr>
          <a:xfrm>
            <a:off x="3289300" y="2425998"/>
            <a:ext cx="1524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h4b4b0ebc97ee4989_0_0"/>
          <p:cNvSpPr>
            <a:spLocks noGrp="1"/>
          </p:cNvSpPr>
          <p:nvPr/>
        </p:nvSpPr>
        <p:spPr>
          <a:xfrm>
            <a:off x="5054600" y="2133898"/>
            <a:ext cx="2667000" cy="5841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5" name="Google Shape;111;h4b4b0ebc97ee4989_0_0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43500" y="22735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12" name="Google Shape;112;h4b4b0ebc97ee4989_0_0"/>
          <p:cNvSpPr>
            <a:spLocks noGrp="1"/>
          </p:cNvSpPr>
          <p:nvPr/>
        </p:nvSpPr>
        <p:spPr>
          <a:xfrm>
            <a:off x="5524500" y="2227957"/>
            <a:ext cx="2171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READY → STS → Job → 検証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h4b4b0ebc97ee4989_0_0"/>
          <p:cNvSpPr>
            <a:spLocks noGrp="1"/>
          </p:cNvSpPr>
          <p:nvPr/>
        </p:nvSpPr>
        <p:spPr>
          <a:xfrm>
            <a:off x="5524500" y="2425998"/>
            <a:ext cx="2171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Workflows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h4b4b0ebc97ee4989_0_0"/>
          <p:cNvSpPr>
            <a:spLocks noGrp="1"/>
          </p:cNvSpPr>
          <p:nvPr/>
        </p:nvSpPr>
        <p:spPr>
          <a:xfrm>
            <a:off x="7931150" y="2140248"/>
            <a:ext cx="1473300" cy="5715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 cmpd="sng">
            <a:solidFill>
              <a:srgbClr val="4284F3"/>
            </a:solidFill>
            <a:prstDash val="dash"/>
            <a:headEnd type="none" w="sm" len="sm"/>
            <a:tailEnd type="none" w="sm" len="sm"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h4b4b0ebc97ee4989_0_0"/>
          <p:cNvSpPr>
            <a:spLocks noGrp="1"/>
          </p:cNvSpPr>
          <p:nvPr/>
        </p:nvSpPr>
        <p:spPr>
          <a:xfrm>
            <a:off x="8026400" y="2227957"/>
            <a:ext cx="13335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将来（要突合）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h4b4b0ebc97ee4989_0_0"/>
          <p:cNvSpPr>
            <a:spLocks noGrp="1"/>
          </p:cNvSpPr>
          <p:nvPr/>
        </p:nvSpPr>
        <p:spPr>
          <a:xfrm>
            <a:off x="8026400" y="2425998"/>
            <a:ext cx="13335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Hinemos 起動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h4b4b0ebc97ee4989_0_0"/>
          <p:cNvSpPr>
            <a:spLocks noGrp="1"/>
          </p:cNvSpPr>
          <p:nvPr/>
        </p:nvSpPr>
        <p:spPr>
          <a:xfrm>
            <a:off x="2819400" y="3162598"/>
            <a:ext cx="18414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2" name="Google Shape;118;h4b4b0ebc97ee4989_0_0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921000" y="32387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19" name="Google Shape;119;h4b4b0ebc97ee4989_0_0"/>
          <p:cNvSpPr>
            <a:spLocks noGrp="1"/>
          </p:cNvSpPr>
          <p:nvPr/>
        </p:nvSpPr>
        <p:spPr>
          <a:xfrm>
            <a:off x="3302000" y="3292177"/>
            <a:ext cx="1308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データコピー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h4b4b0ebc97ee4989_0_0"/>
          <p:cNvSpPr>
            <a:spLocks noGrp="1"/>
          </p:cNvSpPr>
          <p:nvPr/>
        </p:nvSpPr>
        <p:spPr>
          <a:xfrm>
            <a:off x="2921000" y="3568998"/>
            <a:ext cx="16890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Storage Transfer Service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h4b4b0ebc97ee4989_0_0"/>
          <p:cNvSpPr>
            <a:spLocks noGrp="1"/>
          </p:cNvSpPr>
          <p:nvPr/>
        </p:nvSpPr>
        <p:spPr>
          <a:xfrm>
            <a:off x="2921000" y="3990479"/>
            <a:ext cx="168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manifest / prefix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h4b4b0ebc97ee4989_0_0"/>
          <p:cNvSpPr>
            <a:spLocks noGrp="1"/>
          </p:cNvSpPr>
          <p:nvPr/>
        </p:nvSpPr>
        <p:spPr>
          <a:xfrm>
            <a:off x="5118100" y="3162598"/>
            <a:ext cx="19050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7" name="Google Shape;123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19700" y="32844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24" name="Google Shape;124;h4b4b0ebc97ee4989_0_0"/>
          <p:cNvSpPr>
            <a:spLocks noGrp="1"/>
          </p:cNvSpPr>
          <p:nvPr/>
        </p:nvSpPr>
        <p:spPr>
          <a:xfrm>
            <a:off x="5626050" y="3208225"/>
            <a:ext cx="1397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データ（prod 30日保管）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h4b4b0ebc97ee4989_0_0"/>
          <p:cNvSpPr>
            <a:spLocks noGrp="1"/>
          </p:cNvSpPr>
          <p:nvPr/>
        </p:nvSpPr>
        <p:spPr>
          <a:xfrm>
            <a:off x="5219700" y="3660279"/>
            <a:ext cx="17529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h4b4b0ebc97ee4989_0_0"/>
          <p:cNvSpPr>
            <a:spLocks noGrp="1"/>
          </p:cNvSpPr>
          <p:nvPr/>
        </p:nvSpPr>
        <p:spPr>
          <a:xfrm>
            <a:off x="5219700" y="3883720"/>
            <a:ext cx="1752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source-landing/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MD_DATA/YYYYMMDD/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h4b4b0ebc97ee4989_0_0"/>
          <p:cNvSpPr>
            <a:spLocks noGrp="1"/>
          </p:cNvSpPr>
          <p:nvPr/>
        </p:nvSpPr>
        <p:spPr>
          <a:xfrm>
            <a:off x="7480300" y="3162598"/>
            <a:ext cx="1930500" cy="121920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2" name="Google Shape;128;h4b4b0ebc97ee4989_0_0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581900" y="32387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29" name="Google Shape;129;h4b4b0ebc97ee4989_0_0"/>
          <p:cNvSpPr>
            <a:spLocks noGrp="1"/>
          </p:cNvSpPr>
          <p:nvPr/>
        </p:nvSpPr>
        <p:spPr>
          <a:xfrm>
            <a:off x="7962900" y="3292177"/>
            <a:ext cx="13971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 b="0" i="0" u="none" cap="none">
                <a:solidFill>
                  <a:schemeClr val="dk1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日次処理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h4b4b0ebc97ee4989_0_0"/>
          <p:cNvSpPr>
            <a:spLocks noGrp="1"/>
          </p:cNvSpPr>
          <p:nvPr/>
        </p:nvSpPr>
        <p:spPr>
          <a:xfrm>
            <a:off x="7581900" y="3568998"/>
            <a:ext cx="177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h4b4b0ebc97ee4989_0_0"/>
          <p:cNvSpPr>
            <a:spLocks noGrp="1"/>
          </p:cNvSpPr>
          <p:nvPr/>
        </p:nvSpPr>
        <p:spPr>
          <a:xfrm>
            <a:off x="7581900" y="3792438"/>
            <a:ext cx="17790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vCPU / 16 GiB・ステートレス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h4b4b0ebc97ee4989_0_0"/>
          <p:cNvSpPr>
            <a:spLocks noGrp="1"/>
          </p:cNvSpPr>
          <p:nvPr/>
        </p:nvSpPr>
        <p:spPr>
          <a:xfrm>
            <a:off x="28194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7" name="Google Shape;133;h4b4b0ebc97ee4989_0_0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9083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34" name="Google Shape;134;h4b4b0ebc97ee4989_0_0"/>
          <p:cNvSpPr>
            <a:spLocks noGrp="1"/>
          </p:cNvSpPr>
          <p:nvPr/>
        </p:nvSpPr>
        <p:spPr>
          <a:xfrm>
            <a:off x="32893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Artifact Registry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h4b4b0ebc97ee4989_0_0"/>
          <p:cNvSpPr>
            <a:spLocks noGrp="1"/>
          </p:cNvSpPr>
          <p:nvPr/>
        </p:nvSpPr>
        <p:spPr>
          <a:xfrm>
            <a:off x="44958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0" name="Google Shape;136;h4b4b0ebc97ee4989_0_0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847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37" name="Google Shape;137;h4b4b0ebc97ee4989_0_0"/>
          <p:cNvSpPr>
            <a:spLocks noGrp="1"/>
          </p:cNvSpPr>
          <p:nvPr/>
        </p:nvSpPr>
        <p:spPr>
          <a:xfrm>
            <a:off x="49657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Logging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h4b4b0ebc97ee4989_0_0"/>
          <p:cNvSpPr>
            <a:spLocks noGrp="1"/>
          </p:cNvSpPr>
          <p:nvPr/>
        </p:nvSpPr>
        <p:spPr>
          <a:xfrm>
            <a:off x="61722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3" name="Google Shape;139;h4b4b0ebc97ee4989_0_0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2611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h4b4b0ebc97ee4989_0_0"/>
          <p:cNvSpPr>
            <a:spLocks noGrp="1"/>
          </p:cNvSpPr>
          <p:nvPr/>
        </p:nvSpPr>
        <p:spPr>
          <a:xfrm>
            <a:off x="6642100" y="4933057"/>
            <a:ext cx="1054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Monitoring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h4b4b0ebc97ee4989_0_0"/>
          <p:cNvSpPr>
            <a:spLocks noGrp="1"/>
          </p:cNvSpPr>
          <p:nvPr/>
        </p:nvSpPr>
        <p:spPr>
          <a:xfrm>
            <a:off x="7848600" y="4826298"/>
            <a:ext cx="15621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6" name="Google Shape;142;h4b4b0ebc97ee4989_0_0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937500" y="497869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3" name="Google Shape;143;h4b4b0ebc97ee4989_0_0"/>
          <p:cNvSpPr>
            <a:spLocks noGrp="1"/>
          </p:cNvSpPr>
          <p:nvPr/>
        </p:nvSpPr>
        <p:spPr>
          <a:xfrm>
            <a:off x="8318500" y="4933057"/>
            <a:ext cx="1054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権限分離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h4b4b0ebc97ee4989_0_0"/>
          <p:cNvSpPr>
            <a:spLocks noGrp="1"/>
          </p:cNvSpPr>
          <p:nvPr/>
        </p:nvSpPr>
        <p:spPr>
          <a:xfrm>
            <a:off x="8318500" y="5131098"/>
            <a:ext cx="1054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IAM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9" name="Google Shape;145;h4b4b0ebc97ee4989_0_0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2247900" y="3829348"/>
            <a:ext cx="622300" cy="101600"/>
          </a:xfrm>
          <a:prstGeom prst="rect">
            <a:avLst/>
          </a:prstGeom>
          <a:ln>
            <a:noFill/>
          </a:ln>
        </p:spPr>
      </p:pic>
      <p:pic>
        <p:nvPicPr>
          <p:cNvPr id="250" name="Google Shape;146;h4b4b0ebc97ee4989_0_0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4610100" y="3721398"/>
            <a:ext cx="558800" cy="101600"/>
          </a:xfrm>
          <a:prstGeom prst="rect">
            <a:avLst/>
          </a:prstGeom>
          <a:ln>
            <a:noFill/>
          </a:ln>
        </p:spPr>
      </p:pic>
      <p:pic>
        <p:nvPicPr>
          <p:cNvPr id="251" name="Google Shape;147;h4b4b0ebc97ee4989_0_0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972300" y="3721398"/>
            <a:ext cx="558800" cy="101600"/>
          </a:xfrm>
          <a:prstGeom prst="rect">
            <a:avLst/>
          </a:prstGeom>
          <a:ln>
            <a:noFill/>
          </a:ln>
        </p:spPr>
      </p:pic>
      <p:pic>
        <p:nvPicPr>
          <p:cNvPr id="252" name="Google Shape;148;h4b4b0ebc97ee4989_0_0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9359900" y="3721398"/>
            <a:ext cx="609600" cy="101600"/>
          </a:xfrm>
          <a:prstGeom prst="rect">
            <a:avLst/>
          </a:prstGeom>
          <a:ln>
            <a:noFill/>
          </a:ln>
        </p:spPr>
      </p:pic>
      <p:pic>
        <p:nvPicPr>
          <p:cNvPr id="253" name="Google Shape;149;h4b4b0ebc97ee4989_0_0"/>
          <p:cNvPicPr>
            <a:picLocks noChangeAspect="1"/>
          </p:cNvPicPr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813300" y="2387898"/>
            <a:ext cx="279400" cy="76200"/>
          </a:xfrm>
          <a:prstGeom prst="rect">
            <a:avLst/>
          </a:prstGeom>
          <a:ln>
            <a:noFill/>
          </a:ln>
        </p:spPr>
      </p:pic>
      <p:pic>
        <p:nvPicPr>
          <p:cNvPr id="254" name="Google Shape;150;h4b4b0ebc97ee4989_0_0"/>
          <p:cNvPicPr>
            <a:picLocks noChangeAspect="1"/>
          </p:cNvPicPr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3702050" y="2679998"/>
            <a:ext cx="76200" cy="520700"/>
          </a:xfrm>
          <a:prstGeom prst="rect">
            <a:avLst/>
          </a:prstGeom>
          <a:ln>
            <a:noFill/>
          </a:ln>
        </p:spPr>
      </p:pic>
      <p:pic>
        <p:nvPicPr>
          <p:cNvPr id="255" name="Google Shape;151;h4b4b0ebc97ee4989_0_0"/>
          <p:cNvPicPr>
            <a:picLocks noChangeAspect="1"/>
          </p:cNvPicPr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124700" y="2679998"/>
            <a:ext cx="1358900" cy="355600"/>
          </a:xfrm>
          <a:prstGeom prst="rect">
            <a:avLst/>
          </a:prstGeom>
          <a:ln>
            <a:noFill/>
          </a:ln>
        </p:spPr>
      </p:pic>
      <p:pic>
        <p:nvPicPr>
          <p:cNvPr id="256" name="Google Shape;152;h4b4b0ebc97ee4989_0_0"/>
          <p:cNvPicPr>
            <a:picLocks noChangeAspect="1"/>
          </p:cNvPicPr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407400" y="2959398"/>
            <a:ext cx="76200" cy="241300"/>
          </a:xfrm>
          <a:prstGeom prst="rect">
            <a:avLst/>
          </a:prstGeom>
          <a:ln>
            <a:noFill/>
          </a:ln>
        </p:spPr>
      </p:pic>
      <p:sp>
        <p:nvSpPr>
          <p:cNvPr id="153" name="Google Shape;153;h4b4b0ebc97ee4989_0_0"/>
          <p:cNvSpPr>
            <a:spLocks noGrp="1"/>
          </p:cNvSpPr>
          <p:nvPr/>
        </p:nvSpPr>
        <p:spPr>
          <a:xfrm>
            <a:off x="9829800" y="1854498"/>
            <a:ext cx="1549500" cy="2540100"/>
          </a:xfrm>
          <a:prstGeom prst="roundRect">
            <a:avLst>
              <a:gd name="adj" fmla="val 820"/>
            </a:avLst>
          </a:prstGeom>
          <a:solidFill>
            <a:srgbClr val="FFF8E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h4b4b0ebc97ee4989_0_0"/>
          <p:cNvSpPr>
            <a:spLocks noGrp="1"/>
          </p:cNvSpPr>
          <p:nvPr/>
        </p:nvSpPr>
        <p:spPr>
          <a:xfrm>
            <a:off x="9931400" y="1917998"/>
            <a:ext cx="13971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（既存・相手先）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h4b4b0ebc97ee4989_0_0"/>
          <p:cNvSpPr>
            <a:spLocks noGrp="1"/>
          </p:cNvSpPr>
          <p:nvPr/>
        </p:nvSpPr>
        <p:spPr>
          <a:xfrm>
            <a:off x="9918700" y="2387898"/>
            <a:ext cx="1371600" cy="190500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0" name="Google Shape;156;h4b4b0ebc97ee4989_0_0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20300" y="2509738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57" name="Google Shape;157;h4b4b0ebc97ee4989_0_0"/>
          <p:cNvSpPr>
            <a:spLocks noGrp="1"/>
          </p:cNvSpPr>
          <p:nvPr/>
        </p:nvSpPr>
        <p:spPr>
          <a:xfrm>
            <a:off x="10401300" y="2464098"/>
            <a:ext cx="838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1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データ同期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h4b4b0ebc97ee4989_0_0"/>
          <p:cNvSpPr>
            <a:spLocks noGrp="1"/>
          </p:cNvSpPr>
          <p:nvPr/>
        </p:nvSpPr>
        <p:spPr>
          <a:xfrm>
            <a:off x="10020300" y="2885579"/>
            <a:ext cx="1219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Storage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h4b4b0ebc97ee4989_0_0"/>
          <p:cNvSpPr>
            <a:spLocks noGrp="1"/>
          </p:cNvSpPr>
          <p:nvPr/>
        </p:nvSpPr>
        <p:spPr>
          <a:xfrm>
            <a:off x="10020300" y="3109020"/>
            <a:ext cx="1219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seiyu-trial-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data-exchange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h4b4b0ebc97ee4989_0_0"/>
          <p:cNvSpPr>
            <a:spLocks noGrp="1"/>
          </p:cNvSpPr>
          <p:nvPr/>
        </p:nvSpPr>
        <p:spPr>
          <a:xfrm>
            <a:off x="10020300" y="3530501"/>
            <a:ext cx="1219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ods-seiyu-prod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0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/ stg / dev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h4b4b0ebc97ee4989_0_0"/>
          <p:cNvSpPr>
            <a:spLocks noGrp="1"/>
          </p:cNvSpPr>
          <p:nvPr/>
        </p:nvSpPr>
        <p:spPr>
          <a:xfrm>
            <a:off x="10020300" y="3951982"/>
            <a:ext cx="1219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h4b4b0ebc97ee4989_0_0"/>
          <p:cNvSpPr>
            <a:spLocks noGrp="1"/>
          </p:cNvSpPr>
          <p:nvPr/>
        </p:nvSpPr>
        <p:spPr>
          <a:xfrm>
            <a:off x="9829800" y="4546898"/>
            <a:ext cx="1549500" cy="990600"/>
          </a:xfrm>
          <a:prstGeom prst="roundRect">
            <a:avLst>
              <a:gd name="adj" fmla="val 1282"/>
            </a:avLst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h4b4b0ebc97ee4989_0_0"/>
          <p:cNvSpPr>
            <a:spLocks noGrp="1"/>
          </p:cNvSpPr>
          <p:nvPr/>
        </p:nvSpPr>
        <p:spPr>
          <a:xfrm>
            <a:off x="9931400" y="4610398"/>
            <a:ext cx="1397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西友（既存）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h4b4b0ebc97ee4989_0_0"/>
          <p:cNvSpPr>
            <a:spLocks noGrp="1"/>
          </p:cNvSpPr>
          <p:nvPr/>
        </p:nvSpPr>
        <p:spPr>
          <a:xfrm>
            <a:off x="9918700" y="4851698"/>
            <a:ext cx="1371600" cy="609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algn="bl" rotWithShape="0">
              <a:srgbClr val="3C4043">
                <a:alpha val="302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9" name="Google Shape;165;h4b4b0ebc97ee4989_0_0"/>
          <p:cNvPicPr>
            <a:picLocks noChangeAspect="1"/>
          </p:cNvPicPr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0007600" y="5029498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166" name="Google Shape;166;h4b4b0ebc97ee4989_0_0"/>
          <p:cNvSpPr>
            <a:spLocks noGrp="1"/>
          </p:cNvSpPr>
          <p:nvPr/>
        </p:nvSpPr>
        <p:spPr>
          <a:xfrm>
            <a:off x="10337800" y="4958457"/>
            <a:ext cx="914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202124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DataSpider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1" name="Google Shape;167;h4b4b0ebc97ee4989_0_0"/>
          <p:cNvPicPr>
            <a:picLocks noChangeAspect="1"/>
          </p:cNvPicPr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0566400" y="4254798"/>
            <a:ext cx="76200" cy="635000"/>
          </a:xfrm>
          <a:prstGeom prst="rect">
            <a:avLst/>
          </a:prstGeom>
          <a:ln>
            <a:noFill/>
          </a:ln>
        </p:spPr>
      </p:pic>
      <p:sp>
        <p:nvSpPr>
          <p:cNvPr id="168" name="Google Shape;168;h4b4b0ebc97ee4989_0_0"/>
          <p:cNvSpPr>
            <a:spLocks noGrp="1"/>
          </p:cNvSpPr>
          <p:nvPr/>
        </p:nvSpPr>
        <p:spPr>
          <a:xfrm>
            <a:off x="812800" y="5673626"/>
            <a:ext cx="10566300" cy="574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h4b4b0ebc97ee4989_0_0"/>
          <p:cNvSpPr>
            <a:spLocks noGrp="1"/>
          </p:cNvSpPr>
          <p:nvPr/>
        </p:nvSpPr>
        <p:spPr>
          <a:xfrm>
            <a:off x="965200" y="5749826"/>
            <a:ext cx="65229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STS：大阪 read → 本PJ write ／ Job：本PJ objectViewer → exchange objectCreator ／ Scheduler：Workflows invoker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h4b4b0ebc97ee4989_0_0"/>
          <p:cNvSpPr>
            <a:spLocks noGrp="1"/>
          </p:cNvSpPr>
          <p:nvPr/>
        </p:nvSpPr>
        <p:spPr>
          <a:xfrm>
            <a:off x="7501434" y="5749826"/>
            <a:ext cx="38370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凡例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　</a:t>
            </a:r>
            <a:r>
              <a:rPr sz="1200" b="0" i="0" u="none" cap="none">
                <a:solidFill>
                  <a:srgbClr val="1A73E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青線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＝データ経路／</a:t>
            </a:r>
            <a:r>
              <a:rPr sz="1200" b="0" i="0" u="none" cap="none">
                <a:solidFill>
                  <a:srgbClr val="5F6368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灰線</a:t>
            </a:r>
            <a:r>
              <a:rPr sz="1200" b="0" i="0" u="none" cap="none">
                <a:solidFill>
                  <a:srgbClr val="3C404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＝制御・参照／破線枠＝将来オプション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h4b4b0ebc97ee4989_0_0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7" name="Google Shape;177;p4"/>
          <p:cNvSpPr>
            <a:spLocks noGrp="1"/>
          </p:cNvSpPr>
          <p:nvPr/>
        </p:nvSpPr>
        <p:spPr>
          <a:xfrm>
            <a:off x="812800" y="457200"/>
            <a:ext cx="6278880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日次実行フロー・権限・処理方針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4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4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4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処理、権限分離、保存範囲と費用試算の前提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4"/>
          <p:cNvSpPr>
            <a:spLocks noGrp="1"/>
          </p:cNvSpPr>
          <p:nvPr/>
        </p:nvSpPr>
        <p:spPr>
          <a:xfrm>
            <a:off x="812800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4"/>
          <p:cNvSpPr>
            <a:spLocks noGrp="1"/>
          </p:cNvSpPr>
          <p:nvPr/>
        </p:nvSpPr>
        <p:spPr>
          <a:xfrm>
            <a:off x="927100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01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4"/>
          <p:cNvSpPr>
            <a:spLocks noGrp="1"/>
          </p:cNvSpPr>
          <p:nvPr/>
        </p:nvSpPr>
        <p:spPr>
          <a:xfrm>
            <a:off x="927100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4"/>
          <p:cNvSpPr>
            <a:spLocks noGrp="1"/>
          </p:cNvSpPr>
          <p:nvPr/>
        </p:nvSpPr>
        <p:spPr>
          <a:xfrm>
            <a:off x="927100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指定時刻に起動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4"/>
          <p:cNvSpPr>
            <a:spLocks noGrp="1"/>
          </p:cNvSpPr>
          <p:nvPr/>
        </p:nvSpPr>
        <p:spPr>
          <a:xfrm>
            <a:off x="2586534" y="1371501"/>
            <a:ext cx="1697633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4"/>
          <p:cNvSpPr>
            <a:spLocks noGrp="1"/>
          </p:cNvSpPr>
          <p:nvPr/>
        </p:nvSpPr>
        <p:spPr>
          <a:xfrm>
            <a:off x="2700834" y="147310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4"/>
          <p:cNvSpPr>
            <a:spLocks noGrp="1"/>
          </p:cNvSpPr>
          <p:nvPr/>
        </p:nvSpPr>
        <p:spPr>
          <a:xfrm>
            <a:off x="2700834" y="171182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READY / manifest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4"/>
          <p:cNvSpPr>
            <a:spLocks noGrp="1"/>
          </p:cNvSpPr>
          <p:nvPr/>
        </p:nvSpPr>
        <p:spPr>
          <a:xfrm>
            <a:off x="2700834" y="195054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対象ファイル確定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4"/>
          <p:cNvSpPr>
            <a:spLocks noGrp="1"/>
          </p:cNvSpPr>
          <p:nvPr/>
        </p:nvSpPr>
        <p:spPr>
          <a:xfrm>
            <a:off x="4360366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4"/>
          <p:cNvSpPr>
            <a:spLocks noGrp="1"/>
          </p:cNvSpPr>
          <p:nvPr/>
        </p:nvSpPr>
        <p:spPr>
          <a:xfrm>
            <a:off x="4474666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03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4"/>
          <p:cNvSpPr>
            <a:spLocks noGrp="1"/>
          </p:cNvSpPr>
          <p:nvPr/>
        </p:nvSpPr>
        <p:spPr>
          <a:xfrm>
            <a:off x="4474666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4"/>
          <p:cNvSpPr>
            <a:spLocks noGrp="1"/>
          </p:cNvSpPr>
          <p:nvPr/>
        </p:nvSpPr>
        <p:spPr>
          <a:xfrm>
            <a:off x="4474666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 へコピー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4"/>
          <p:cNvSpPr>
            <a:spLocks noGrp="1"/>
          </p:cNvSpPr>
          <p:nvPr/>
        </p:nvSpPr>
        <p:spPr>
          <a:xfrm>
            <a:off x="6134100" y="1371501"/>
            <a:ext cx="1697633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4"/>
          <p:cNvSpPr>
            <a:spLocks noGrp="1"/>
          </p:cNvSpPr>
          <p:nvPr/>
        </p:nvSpPr>
        <p:spPr>
          <a:xfrm>
            <a:off x="6248400" y="147310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04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4"/>
          <p:cNvSpPr>
            <a:spLocks noGrp="1"/>
          </p:cNvSpPr>
          <p:nvPr/>
        </p:nvSpPr>
        <p:spPr>
          <a:xfrm>
            <a:off x="6248400" y="171182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4"/>
          <p:cNvSpPr>
            <a:spLocks noGrp="1"/>
          </p:cNvSpPr>
          <p:nvPr/>
        </p:nvSpPr>
        <p:spPr>
          <a:xfrm>
            <a:off x="6248400" y="1950541"/>
            <a:ext cx="151983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店/JAN 処理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4"/>
          <p:cNvSpPr>
            <a:spLocks noGrp="1"/>
          </p:cNvSpPr>
          <p:nvPr/>
        </p:nvSpPr>
        <p:spPr>
          <a:xfrm>
            <a:off x="7907933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4"/>
          <p:cNvSpPr>
            <a:spLocks noGrp="1"/>
          </p:cNvSpPr>
          <p:nvPr/>
        </p:nvSpPr>
        <p:spPr>
          <a:xfrm>
            <a:off x="8022233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05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4"/>
          <p:cNvSpPr>
            <a:spLocks noGrp="1"/>
          </p:cNvSpPr>
          <p:nvPr/>
        </p:nvSpPr>
        <p:spPr>
          <a:xfrm>
            <a:off x="8022233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4"/>
          <p:cNvSpPr>
            <a:spLocks noGrp="1"/>
          </p:cNvSpPr>
          <p:nvPr/>
        </p:nvSpPr>
        <p:spPr>
          <a:xfrm>
            <a:off x="8022233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直送／resumable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4"/>
          <p:cNvSpPr>
            <a:spLocks noGrp="1"/>
          </p:cNvSpPr>
          <p:nvPr/>
        </p:nvSpPr>
        <p:spPr>
          <a:xfrm>
            <a:off x="9681666" y="1371501"/>
            <a:ext cx="1697534" cy="893961"/>
          </a:xfrm>
          <a:prstGeom prst="roundRect">
            <a:avLst>
              <a:gd name="adj" fmla="val 7103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4"/>
          <p:cNvSpPr>
            <a:spLocks noGrp="1"/>
          </p:cNvSpPr>
          <p:nvPr/>
        </p:nvSpPr>
        <p:spPr>
          <a:xfrm>
            <a:off x="9795966" y="147310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4D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AEB4D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06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4"/>
          <p:cNvSpPr>
            <a:spLocks noGrp="1"/>
          </p:cNvSpPr>
          <p:nvPr/>
        </p:nvSpPr>
        <p:spPr>
          <a:xfrm>
            <a:off x="9795966" y="171182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_SUCCESS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4"/>
          <p:cNvSpPr>
            <a:spLocks noGrp="1"/>
          </p:cNvSpPr>
          <p:nvPr/>
        </p:nvSpPr>
        <p:spPr>
          <a:xfrm>
            <a:off x="9795966" y="1950541"/>
            <a:ext cx="151973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検証後に作成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4"/>
          <p:cNvSpPr>
            <a:spLocks noGrp="1"/>
          </p:cNvSpPr>
          <p:nvPr/>
        </p:nvSpPr>
        <p:spPr>
          <a:xfrm>
            <a:off x="815975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4"/>
          <p:cNvSpPr>
            <a:spLocks noGrp="1"/>
          </p:cNvSpPr>
          <p:nvPr/>
        </p:nvSpPr>
        <p:spPr>
          <a:xfrm>
            <a:off x="984250" y="2525812"/>
            <a:ext cx="318737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コマンドの処理チェーン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4"/>
          <p:cNvSpPr>
            <a:spLocks noGrp="1"/>
          </p:cNvSpPr>
          <p:nvPr/>
        </p:nvSpPr>
        <p:spPr>
          <a:xfrm>
            <a:off x="984250" y="2789932"/>
            <a:ext cx="3187370" cy="130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解凍 / 索引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selcol / selrow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外部ソート / JOIN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groupby / sumup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scalc / format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uploader（直送／resumable）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4"/>
          <p:cNvSpPr>
            <a:spLocks noGrp="1"/>
          </p:cNvSpPr>
          <p:nvPr/>
        </p:nvSpPr>
        <p:spPr>
          <a:xfrm>
            <a:off x="4380400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4"/>
          <p:cNvSpPr>
            <a:spLocks noGrp="1"/>
          </p:cNvSpPr>
          <p:nvPr/>
        </p:nvSpPr>
        <p:spPr>
          <a:xfrm>
            <a:off x="4548684" y="2525812"/>
            <a:ext cx="318747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アップロード方針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4"/>
          <p:cNvSpPr>
            <a:spLocks noGrp="1"/>
          </p:cNvSpPr>
          <p:nvPr/>
        </p:nvSpPr>
        <p:spPr>
          <a:xfrm>
            <a:off x="4548684" y="2789932"/>
            <a:ext cx="3187472" cy="130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大容量：resumable upload（RAM に全量を載せない）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通常：Cloud Run 処理後、seiyu-trial-data-exchange へ直接アップロード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必要時のみ split_and_sort / exchsort（外部ソート）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4"/>
          <p:cNvSpPr>
            <a:spLocks noGrp="1"/>
          </p:cNvSpPr>
          <p:nvPr/>
        </p:nvSpPr>
        <p:spPr>
          <a:xfrm>
            <a:off x="7944950" y="2395625"/>
            <a:ext cx="3431100" cy="2213100"/>
          </a:xfrm>
          <a:prstGeom prst="roundRect">
            <a:avLst>
              <a:gd name="adj" fmla="val 334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4"/>
          <p:cNvSpPr>
            <a:spLocks noGrp="1"/>
          </p:cNvSpPr>
          <p:nvPr/>
        </p:nvSpPr>
        <p:spPr>
          <a:xfrm>
            <a:off x="8113216" y="2525812"/>
            <a:ext cx="318737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権限方針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4"/>
          <p:cNvSpPr>
            <a:spLocks noGrp="1"/>
          </p:cNvSpPr>
          <p:nvPr/>
        </p:nvSpPr>
        <p:spPr>
          <a:xfrm>
            <a:off x="8113216" y="2789932"/>
            <a:ext cx="3187370" cy="87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STS：大阪 read → 本PJ write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Job：本PJ objectViewer → seiyu-trial-data-exchange objectCreator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Scheduler：Workflows invoker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3" name="Google Shape;214;p4"/>
          <p:cNvCxnSpPr/>
          <p:nvPr/>
        </p:nvCxnSpPr>
        <p:spPr>
          <a:xfrm>
            <a:off x="83185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4"/>
          <p:cNvSpPr>
            <a:spLocks noGrp="1"/>
          </p:cNvSpPr>
          <p:nvPr/>
        </p:nvSpPr>
        <p:spPr>
          <a:xfrm>
            <a:off x="96520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1,078.3 GiB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4"/>
          <p:cNvSpPr>
            <a:spLocks noGrp="1"/>
          </p:cNvSpPr>
          <p:nvPr/>
        </p:nvSpPr>
        <p:spPr>
          <a:xfrm>
            <a:off x="96520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 の元データ（prod 30日）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6" name="Google Shape;217;p4"/>
          <p:cNvCxnSpPr/>
          <p:nvPr/>
        </p:nvCxnSpPr>
        <p:spPr>
          <a:xfrm>
            <a:off x="350520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4"/>
          <p:cNvSpPr>
            <a:spLocks noGrp="1"/>
          </p:cNvSpPr>
          <p:nvPr/>
        </p:nvSpPr>
        <p:spPr>
          <a:xfrm>
            <a:off x="363855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lnSpcReduction="2000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1,</a:t>
            </a:r>
            <a:r>
              <a:rPr lang="en-US"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1</a:t>
            </a: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78.4 GiB/月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4"/>
          <p:cNvSpPr>
            <a:spLocks noGrp="1"/>
          </p:cNvSpPr>
          <p:nvPr/>
        </p:nvSpPr>
        <p:spPr>
          <a:xfrm>
            <a:off x="363855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大阪→東京 転送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9" name="Google Shape;220;p4"/>
          <p:cNvCxnSpPr/>
          <p:nvPr/>
        </p:nvCxnSpPr>
        <p:spPr>
          <a:xfrm>
            <a:off x="617855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4"/>
          <p:cNvSpPr>
            <a:spLocks noGrp="1"/>
          </p:cNvSpPr>
          <p:nvPr/>
        </p:nvSpPr>
        <p:spPr>
          <a:xfrm>
            <a:off x="631190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重複保存なし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4"/>
          <p:cNvSpPr>
            <a:spLocks noGrp="1"/>
          </p:cNvSpPr>
          <p:nvPr/>
        </p:nvSpPr>
        <p:spPr>
          <a:xfrm>
            <a:off x="631190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結果を本PJ GCS に保存しない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22" name="Google Shape;223;p4"/>
          <p:cNvCxnSpPr/>
          <p:nvPr/>
        </p:nvCxnSpPr>
        <p:spPr>
          <a:xfrm>
            <a:off x="8851900" y="4706500"/>
            <a:ext cx="0" cy="561300"/>
          </a:xfrm>
          <a:prstGeom prst="straightConnector1">
            <a:avLst/>
          </a:prstGeom>
          <a:ln w="38100" cap="flat">
            <a:solidFill>
              <a:srgbClr val="1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4"/>
          <p:cNvSpPr>
            <a:spLocks noGrp="1"/>
          </p:cNvSpPr>
          <p:nvPr/>
        </p:nvSpPr>
        <p:spPr>
          <a:xfrm>
            <a:off x="8985250" y="4731900"/>
            <a:ext cx="23481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9078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600"/>
              <a:buFont typeface="Noto Sans JP" panose="020B0200000000000000" charset="-122"/>
              <a:buNone/>
            </a:pP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月約 </a:t>
            </a:r>
            <a:r>
              <a:rPr sz="16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¥25,069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4"/>
          <p:cNvSpPr>
            <a:spLocks noGrp="1"/>
          </p:cNvSpPr>
          <p:nvPr/>
        </p:nvSpPr>
        <p:spPr>
          <a:xfrm>
            <a:off x="8985250" y="5029060"/>
            <a:ext cx="2348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93270"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3h/日（90h/月、保管30日）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/>
          <p:cNvSpPr>
            <a:spLocks noGrp="1"/>
          </p:cNvSpPr>
          <p:nvPr/>
        </p:nvSpPr>
        <p:spPr>
          <a:xfrm>
            <a:off x="812800" y="5394780"/>
            <a:ext cx="10566300" cy="707100"/>
          </a:xfrm>
          <a:prstGeom prst="roundRect">
            <a:avLst>
              <a:gd name="adj" fmla="val 8979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4"/>
          <p:cNvSpPr>
            <a:spLocks noGrp="1"/>
          </p:cNvSpPr>
          <p:nvPr/>
        </p:nvSpPr>
        <p:spPr>
          <a:xfrm>
            <a:off x="1016000" y="5509080"/>
            <a:ext cx="104649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本構成の結論：</a:t>
            </a:r>
            <a:r>
              <a:rPr sz="1300" b="0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新規 GKE は作らず Cloud Run Job を採用。source は本PJ GCS、result は seiyu-trial-data-exchange へ一方向で納品します。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5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4" name="Google Shape;234;p5"/>
          <p:cNvSpPr>
            <a:spLocks noGrp="1"/>
          </p:cNvSpPr>
          <p:nvPr/>
        </p:nvSpPr>
        <p:spPr>
          <a:xfrm>
            <a:off x="812800" y="457200"/>
            <a:ext cx="4566904" cy="51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申請スペック・構成一覧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5"/>
          <p:cNvSpPr>
            <a:spLocks noGrp="1"/>
          </p:cNvSpPr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5"/>
          <p:cNvSpPr>
            <a:spLocks noGrp="1"/>
          </p:cNvSpPr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5"/>
          <p:cNvSpPr>
            <a:spLocks noGrp="1"/>
          </p:cNvSpPr>
          <p:nvPr/>
        </p:nvSpPr>
        <p:spPr>
          <a:xfrm>
            <a:off x="812800" y="99566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プロジェクト／コンピュート／ストレージ／パス／環境の申請内容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5"/>
          <p:cNvSpPr>
            <a:spLocks noGrp="1"/>
          </p:cNvSpPr>
          <p:nvPr/>
        </p:nvSpPr>
        <p:spPr>
          <a:xfrm>
            <a:off x="815975" y="1400076"/>
            <a:ext cx="5213350" cy="2271713"/>
          </a:xfrm>
          <a:prstGeom prst="roundRect">
            <a:avLst>
              <a:gd name="adj" fmla="val 2655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5"/>
          <p:cNvSpPr>
            <a:spLocks noGrp="1"/>
          </p:cNvSpPr>
          <p:nvPr/>
        </p:nvSpPr>
        <p:spPr>
          <a:xfrm>
            <a:off x="996950" y="1530251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プロジェクト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Google Shape;240;p5"/>
          <p:cNvSpPr>
            <a:spLocks noGrp="1"/>
          </p:cNvSpPr>
          <p:nvPr/>
        </p:nvSpPr>
        <p:spPr>
          <a:xfrm>
            <a:off x="996950" y="179437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名称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5"/>
          <p:cNvSpPr>
            <a:spLocks noGrp="1"/>
          </p:cNvSpPr>
          <p:nvPr/>
        </p:nvSpPr>
        <p:spPr>
          <a:xfrm>
            <a:off x="2305050" y="179437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SCM連携クラウド機（Layer①）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5"/>
          <p:cNvSpPr>
            <a:spLocks noGrp="1"/>
          </p:cNvSpPr>
          <p:nvPr/>
        </p:nvSpPr>
        <p:spPr>
          <a:xfrm>
            <a:off x="996950" y="205849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PJ ID（暫定）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5"/>
          <p:cNvSpPr>
            <a:spLocks noGrp="1"/>
          </p:cNvSpPr>
          <p:nvPr/>
        </p:nvSpPr>
        <p:spPr>
          <a:xfrm>
            <a:off x="2305050" y="205849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md-data-integration-prod（stg、dev）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5"/>
          <p:cNvSpPr>
            <a:spLocks noGrp="1"/>
          </p:cNvSpPr>
          <p:nvPr/>
        </p:nvSpPr>
        <p:spPr>
          <a:xfrm>
            <a:off x="996950" y="232261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リージョン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5"/>
          <p:cNvSpPr>
            <a:spLocks noGrp="1"/>
          </p:cNvSpPr>
          <p:nvPr/>
        </p:nvSpPr>
        <p:spPr>
          <a:xfrm>
            <a:off x="2305050" y="232261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asia-northeast1（東京）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5"/>
          <p:cNvSpPr>
            <a:spLocks noGrp="1"/>
          </p:cNvSpPr>
          <p:nvPr/>
        </p:nvSpPr>
        <p:spPr>
          <a:xfrm>
            <a:off x="996950" y="258673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環境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5"/>
          <p:cNvSpPr>
            <a:spLocks noGrp="1"/>
          </p:cNvSpPr>
          <p:nvPr/>
        </p:nvSpPr>
        <p:spPr>
          <a:xfrm>
            <a:off x="2305050" y="258673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" name="Google Shape;248;p5"/>
          <p:cNvSpPr>
            <a:spLocks noGrp="1"/>
          </p:cNvSpPr>
          <p:nvPr/>
        </p:nvSpPr>
        <p:spPr>
          <a:xfrm>
            <a:off x="996950" y="285085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実行基盤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5"/>
          <p:cNvSpPr>
            <a:spLocks noGrp="1"/>
          </p:cNvSpPr>
          <p:nvPr/>
        </p:nvSpPr>
        <p:spPr>
          <a:xfrm>
            <a:off x="2305050" y="285085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Jobs（GKE は申請しない）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5"/>
          <p:cNvSpPr>
            <a:spLocks noGrp="1"/>
          </p:cNvSpPr>
          <p:nvPr/>
        </p:nvSpPr>
        <p:spPr>
          <a:xfrm>
            <a:off x="996950" y="3114973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制御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5"/>
          <p:cNvSpPr>
            <a:spLocks noGrp="1"/>
          </p:cNvSpPr>
          <p:nvPr/>
        </p:nvSpPr>
        <p:spPr>
          <a:xfrm>
            <a:off x="2305050" y="3114973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Scheduler → Workflows（将来 Hinemos 起動の可能性あり／要突合）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5"/>
          <p:cNvSpPr>
            <a:spLocks noGrp="1"/>
          </p:cNvSpPr>
          <p:nvPr/>
        </p:nvSpPr>
        <p:spPr>
          <a:xfrm>
            <a:off x="6162675" y="1400076"/>
            <a:ext cx="5213350" cy="2271713"/>
          </a:xfrm>
          <a:prstGeom prst="roundRect">
            <a:avLst>
              <a:gd name="adj" fmla="val 2655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5"/>
          <p:cNvSpPr>
            <a:spLocks noGrp="1"/>
          </p:cNvSpPr>
          <p:nvPr/>
        </p:nvSpPr>
        <p:spPr>
          <a:xfrm>
            <a:off x="6343650" y="1530251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Job スペック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5"/>
          <p:cNvSpPr>
            <a:spLocks noGrp="1"/>
          </p:cNvSpPr>
          <p:nvPr/>
        </p:nvSpPr>
        <p:spPr>
          <a:xfrm>
            <a:off x="6343650" y="179437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CPU / Memory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5"/>
          <p:cNvSpPr>
            <a:spLocks noGrp="1"/>
          </p:cNvSpPr>
          <p:nvPr/>
        </p:nvSpPr>
        <p:spPr>
          <a:xfrm>
            <a:off x="7651750" y="179437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4 vCPU / 16 GiB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5"/>
          <p:cNvSpPr>
            <a:spLocks noGrp="1"/>
          </p:cNvSpPr>
          <p:nvPr/>
        </p:nvSpPr>
        <p:spPr>
          <a:xfrm>
            <a:off x="6343650" y="2058491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処理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5"/>
          <p:cNvSpPr>
            <a:spLocks noGrp="1"/>
          </p:cNvSpPr>
          <p:nvPr/>
        </p:nvSpPr>
        <p:spPr>
          <a:xfrm>
            <a:off x="7651750" y="2058491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SMART 日次（店 / JAN）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5"/>
          <p:cNvSpPr>
            <a:spLocks noGrp="1"/>
          </p:cNvSpPr>
          <p:nvPr/>
        </p:nvSpPr>
        <p:spPr>
          <a:xfrm>
            <a:off x="6343650" y="2322612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5"/>
          <p:cNvSpPr>
            <a:spLocks noGrp="1"/>
          </p:cNvSpPr>
          <p:nvPr/>
        </p:nvSpPr>
        <p:spPr>
          <a:xfrm>
            <a:off x="7651750" y="2322612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大容量：resumable upload／通常：処理後に直接アップロード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5"/>
          <p:cNvSpPr>
            <a:spLocks noGrp="1"/>
          </p:cNvSpPr>
          <p:nvPr/>
        </p:nvSpPr>
        <p:spPr>
          <a:xfrm>
            <a:off x="6343650" y="2800052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外部ソート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5"/>
          <p:cNvSpPr>
            <a:spLocks noGrp="1"/>
          </p:cNvSpPr>
          <p:nvPr/>
        </p:nvSpPr>
        <p:spPr>
          <a:xfrm>
            <a:off x="7651750" y="2800052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ephemeral disk（必要時）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5"/>
          <p:cNvSpPr>
            <a:spLocks noGrp="1"/>
          </p:cNvSpPr>
          <p:nvPr/>
        </p:nvSpPr>
        <p:spPr>
          <a:xfrm>
            <a:off x="6343650" y="3064173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永続ディスク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5"/>
          <p:cNvSpPr>
            <a:spLocks noGrp="1"/>
          </p:cNvSpPr>
          <p:nvPr/>
        </p:nvSpPr>
        <p:spPr>
          <a:xfrm>
            <a:off x="7651750" y="3064173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なし（本機ステージングもなし）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5"/>
          <p:cNvSpPr>
            <a:spLocks noGrp="1"/>
          </p:cNvSpPr>
          <p:nvPr/>
        </p:nvSpPr>
        <p:spPr>
          <a:xfrm>
            <a:off x="815975" y="3805138"/>
            <a:ext cx="5213350" cy="2220913"/>
          </a:xfrm>
          <a:prstGeom prst="roundRect">
            <a:avLst>
              <a:gd name="adj" fmla="val 2716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5"/>
          <p:cNvSpPr>
            <a:spLocks noGrp="1"/>
          </p:cNvSpPr>
          <p:nvPr/>
        </p:nvSpPr>
        <p:spPr>
          <a:xfrm>
            <a:off x="996950" y="3935313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本PJ GCS（本PJ付帯＝landing）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Google Shape;266;p5"/>
          <p:cNvSpPr>
            <a:spLocks noGrp="1"/>
          </p:cNvSpPr>
          <p:nvPr/>
        </p:nvSpPr>
        <p:spPr>
          <a:xfrm>
            <a:off x="996950" y="419943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パス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5"/>
          <p:cNvSpPr>
            <a:spLocks noGrp="1"/>
          </p:cNvSpPr>
          <p:nvPr/>
        </p:nvSpPr>
        <p:spPr>
          <a:xfrm>
            <a:off x="2305050" y="419943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source-landing/MD_DATA/YYYYMMDD/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5"/>
          <p:cNvSpPr>
            <a:spLocks noGrp="1"/>
          </p:cNvSpPr>
          <p:nvPr/>
        </p:nvSpPr>
        <p:spPr>
          <a:xfrm>
            <a:off x="996950" y="446355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用途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5"/>
          <p:cNvSpPr>
            <a:spLocks noGrp="1"/>
          </p:cNvSpPr>
          <p:nvPr/>
        </p:nvSpPr>
        <p:spPr>
          <a:xfrm>
            <a:off x="2305050" y="446355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大阪から同期した元データ保管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5"/>
          <p:cNvSpPr>
            <a:spLocks noGrp="1"/>
          </p:cNvSpPr>
          <p:nvPr/>
        </p:nvSpPr>
        <p:spPr>
          <a:xfrm>
            <a:off x="996950" y="472767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保管期間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5"/>
          <p:cNvSpPr>
            <a:spLocks noGrp="1"/>
          </p:cNvSpPr>
          <p:nvPr/>
        </p:nvSpPr>
        <p:spPr>
          <a:xfrm>
            <a:off x="2305050" y="472767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30 日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5"/>
          <p:cNvSpPr>
            <a:spLocks noGrp="1"/>
          </p:cNvSpPr>
          <p:nvPr/>
        </p:nvSpPr>
        <p:spPr>
          <a:xfrm>
            <a:off x="996950" y="499179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容量前提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5"/>
          <p:cNvSpPr>
            <a:spLocks noGrp="1"/>
          </p:cNvSpPr>
          <p:nvPr/>
        </p:nvSpPr>
        <p:spPr>
          <a:xfrm>
            <a:off x="2305050" y="499179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1,078.3 GiB（試算入力 1,200）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5"/>
          <p:cNvSpPr>
            <a:spLocks noGrp="1"/>
          </p:cNvSpPr>
          <p:nvPr/>
        </p:nvSpPr>
        <p:spPr>
          <a:xfrm>
            <a:off x="996950" y="525591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ファイル末尾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5"/>
          <p:cNvSpPr>
            <a:spLocks noGrp="1"/>
          </p:cNvSpPr>
          <p:nvPr/>
        </p:nvSpPr>
        <p:spPr>
          <a:xfrm>
            <a:off x="2305050" y="525591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_YYYYMMDDhhmmss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5"/>
          <p:cNvSpPr>
            <a:spLocks noGrp="1"/>
          </p:cNvSpPr>
          <p:nvPr/>
        </p:nvSpPr>
        <p:spPr>
          <a:xfrm>
            <a:off x="996950" y="552003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5"/>
          <p:cNvSpPr>
            <a:spLocks noGrp="1"/>
          </p:cNvSpPr>
          <p:nvPr/>
        </p:nvSpPr>
        <p:spPr>
          <a:xfrm>
            <a:off x="2305050" y="552003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STS write ／ Job objectViewer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5"/>
          <p:cNvSpPr>
            <a:spLocks noGrp="1"/>
          </p:cNvSpPr>
          <p:nvPr/>
        </p:nvSpPr>
        <p:spPr>
          <a:xfrm>
            <a:off x="6162675" y="3805138"/>
            <a:ext cx="5213350" cy="2220913"/>
          </a:xfrm>
          <a:prstGeom prst="roundRect">
            <a:avLst>
              <a:gd name="adj" fmla="val 2716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5"/>
          <p:cNvSpPr>
            <a:spLocks noGrp="1"/>
          </p:cNvSpPr>
          <p:nvPr/>
        </p:nvSpPr>
        <p:spPr>
          <a:xfrm>
            <a:off x="6343650" y="3935313"/>
            <a:ext cx="499694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seiyu-trial-data-exchange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5"/>
          <p:cNvSpPr>
            <a:spLocks noGrp="1"/>
          </p:cNvSpPr>
          <p:nvPr/>
        </p:nvSpPr>
        <p:spPr>
          <a:xfrm>
            <a:off x="6343650" y="4199434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パス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5"/>
          <p:cNvSpPr>
            <a:spLocks noGrp="1"/>
          </p:cNvSpPr>
          <p:nvPr/>
        </p:nvSpPr>
        <p:spPr>
          <a:xfrm>
            <a:off x="7651750" y="4199434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バケット/[SYS ID from]_[SYS ID to]_[3桁連番]/ YYYYMMDD/○○○.txt（例）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5"/>
          <p:cNvSpPr>
            <a:spLocks noGrp="1"/>
          </p:cNvSpPr>
          <p:nvPr/>
        </p:nvSpPr>
        <p:spPr>
          <a:xfrm>
            <a:off x="6343650" y="4676874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完了マーカー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5"/>
          <p:cNvSpPr>
            <a:spLocks noGrp="1"/>
          </p:cNvSpPr>
          <p:nvPr/>
        </p:nvSpPr>
        <p:spPr>
          <a:xfrm>
            <a:off x="7651750" y="4676874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_SUCCESS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5"/>
          <p:cNvSpPr>
            <a:spLocks noGrp="1"/>
          </p:cNvSpPr>
          <p:nvPr/>
        </p:nvSpPr>
        <p:spPr>
          <a:xfrm>
            <a:off x="6343650" y="494099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納品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5"/>
          <p:cNvSpPr>
            <a:spLocks noGrp="1"/>
          </p:cNvSpPr>
          <p:nvPr/>
        </p:nvSpPr>
        <p:spPr>
          <a:xfrm>
            <a:off x="7651750" y="494099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最終 TXT のみ（一方向）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5"/>
          <p:cNvSpPr>
            <a:spLocks noGrp="1"/>
          </p:cNvSpPr>
          <p:nvPr/>
        </p:nvSpPr>
        <p:spPr>
          <a:xfrm>
            <a:off x="6343650" y="5205115"/>
            <a:ext cx="12573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権限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5"/>
          <p:cNvSpPr>
            <a:spLocks noGrp="1"/>
          </p:cNvSpPr>
          <p:nvPr/>
        </p:nvSpPr>
        <p:spPr>
          <a:xfrm>
            <a:off x="7651750" y="5205115"/>
            <a:ext cx="3649599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objectCreator のみ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5"/>
          <p:cNvSpPr>
            <a:spLocks noGrp="1"/>
          </p:cNvSpPr>
          <p:nvPr/>
        </p:nvSpPr>
        <p:spPr>
          <a:xfrm>
            <a:off x="6343650" y="5469235"/>
            <a:ext cx="125730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200"/>
              <a:buFont typeface="Noto Sans JP" panose="020B0200000000000000" charset="-122"/>
              <a:buNone/>
            </a:pPr>
            <a:r>
              <a:rPr sz="1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制約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5"/>
          <p:cNvSpPr>
            <a:spLocks noGrp="1"/>
          </p:cNvSpPr>
          <p:nvPr/>
        </p:nvSpPr>
        <p:spPr>
          <a:xfrm>
            <a:off x="7651750" y="5469235"/>
            <a:ext cx="364959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元データは入れない／結果の本PJ GCS 重複保存なし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5"/>
          <p:cNvSpPr>
            <a:spLocks noGrp="1"/>
          </p:cNvSpPr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6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" name="Google Shape;296;h6f6c96ae95625a16_1_2"/>
          <p:cNvSpPr>
            <a:spLocks noGrp="1"/>
          </p:cNvSpPr>
          <p:nvPr/>
        </p:nvSpPr>
        <p:spPr>
          <a:xfrm>
            <a:off x="812800" y="419993"/>
            <a:ext cx="71316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費用試算（GCP Pricing Calculator）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h6f6c96ae95625a16_1_2"/>
          <p:cNvSpPr>
            <a:spLocks noGrp="1"/>
          </p:cNvSpPr>
          <p:nvPr/>
        </p:nvSpPr>
        <p:spPr>
          <a:xfrm>
            <a:off x="8385870" y="515838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8" name="Google Shape;298;h6f6c96ae95625a16_1_2"/>
          <p:cNvSpPr>
            <a:spLocks noGrp="1"/>
          </p:cNvSpPr>
          <p:nvPr/>
        </p:nvSpPr>
        <p:spPr>
          <a:xfrm>
            <a:off x="8516045" y="557113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h6f6c96ae95625a16_1_2"/>
          <p:cNvSpPr>
            <a:spLocks noGrp="1"/>
          </p:cNvSpPr>
          <p:nvPr/>
        </p:nvSpPr>
        <p:spPr>
          <a:xfrm>
            <a:off x="812800" y="921246"/>
            <a:ext cx="10883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194"/>
              <a:buFont typeface="Noto Sans JP" panose="020B0200000000000000" charset="-122"/>
              <a:buNone/>
            </a:pPr>
            <a:r>
              <a:rPr sz="1195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公式試算　／　算定日 2026-09-24　／　dev・stg・prod 合計　</a:t>
            </a:r>
            <a:endParaRPr sz="11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h6f6c96ae95625a16_1_2"/>
          <p:cNvSpPr>
            <a:spLocks noGrp="1"/>
          </p:cNvSpPr>
          <p:nvPr/>
        </p:nvSpPr>
        <p:spPr>
          <a:xfrm>
            <a:off x="812800" y="1259205"/>
            <a:ext cx="3429000" cy="1277100"/>
          </a:xfrm>
          <a:prstGeom prst="roundRect">
            <a:avLst>
              <a:gd name="adj" fmla="val 5868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1" name="Google Shape;301;h6f6c96ae95625a16_1_2"/>
          <p:cNvSpPr>
            <a:spLocks noGrp="1"/>
          </p:cNvSpPr>
          <p:nvPr/>
        </p:nvSpPr>
        <p:spPr>
          <a:xfrm>
            <a:off x="1016000" y="1586905"/>
            <a:ext cx="11448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8EA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D5D8EA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月額合計（概算）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2" name="Google Shape;302;h6f6c96ae95625a16_1_2"/>
          <p:cNvSpPr>
            <a:spLocks noGrp="1"/>
          </p:cNvSpPr>
          <p:nvPr/>
        </p:nvSpPr>
        <p:spPr>
          <a:xfrm>
            <a:off x="2414687" y="1302544"/>
            <a:ext cx="16746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¥31,607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Google Shape;303;h6f6c96ae95625a16_1_2"/>
          <p:cNvSpPr>
            <a:spLocks noGrp="1"/>
          </p:cNvSpPr>
          <p:nvPr/>
        </p:nvSpPr>
        <p:spPr>
          <a:xfrm>
            <a:off x="4371975" y="1262380"/>
            <a:ext cx="3435300" cy="1269300"/>
          </a:xfrm>
          <a:prstGeom prst="roundRect">
            <a:avLst>
              <a:gd name="adj" fmla="val 5607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4" name="Google Shape;304;h6f6c96ae95625a16_1_2"/>
          <p:cNvSpPr>
            <a:spLocks noGrp="1"/>
          </p:cNvSpPr>
          <p:nvPr/>
        </p:nvSpPr>
        <p:spPr>
          <a:xfrm>
            <a:off x="4578350" y="1586905"/>
            <a:ext cx="10827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年間合計（×12）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h6f6c96ae95625a16_1_2"/>
          <p:cNvSpPr>
            <a:spLocks noGrp="1"/>
          </p:cNvSpPr>
          <p:nvPr/>
        </p:nvSpPr>
        <p:spPr>
          <a:xfrm>
            <a:off x="5915025" y="1302544"/>
            <a:ext cx="17367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¥379,287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Google Shape;306;h6f6c96ae95625a16_1_2"/>
          <p:cNvSpPr>
            <a:spLocks noGrp="1"/>
          </p:cNvSpPr>
          <p:nvPr/>
        </p:nvSpPr>
        <p:spPr>
          <a:xfrm>
            <a:off x="7940675" y="1262380"/>
            <a:ext cx="3435300" cy="1269300"/>
          </a:xfrm>
          <a:prstGeom prst="roundRect">
            <a:avLst>
              <a:gd name="adj" fmla="val 5607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7" name="Google Shape;307;h6f6c96ae95625a16_1_2"/>
          <p:cNvSpPr>
            <a:spLocks noGrp="1"/>
          </p:cNvSpPr>
          <p:nvPr/>
        </p:nvSpPr>
        <p:spPr>
          <a:xfrm>
            <a:off x="8147050" y="1693565"/>
            <a:ext cx="812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転送の割合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h6f6c96ae95625a16_1_2"/>
          <p:cNvSpPr>
            <a:spLocks noGrp="1"/>
          </p:cNvSpPr>
          <p:nvPr/>
        </p:nvSpPr>
        <p:spPr>
          <a:xfrm>
            <a:off x="9971584" y="1551384"/>
            <a:ext cx="124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2800"/>
              <a:buFont typeface="Noto Sans JP" panose="020B0200000000000000" charset="-122"/>
              <a:buNone/>
            </a:pP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約 </a:t>
            </a:r>
            <a:r>
              <a:rPr sz="28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63%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34" name="Google Shape;309;h6f6c96ae95625a16_1_2"/>
          <p:cNvGraphicFramePr/>
          <p:nvPr/>
        </p:nvGraphicFramePr>
        <p:xfrm>
          <a:off x="812800" y="2683629"/>
          <a:ext cx="6200000" cy="3000000"/>
        </p:xfrm>
        <a:graphic>
          <a:graphicData uri="http://schemas.openxmlformats.org/drawingml/2006/table">
            <a:tbl>
              <a:tblPr>
                <a:tableStyleId>{4A66BF64-D2FC-4761-AEA6-D4DDCA1AC9C9}</a:tableStyleId>
              </a:tblPr>
              <a:tblGrid>
                <a:gridCol w="1100000"/>
                <a:gridCol w="1750000"/>
                <a:gridCol w="1000000"/>
                <a:gridCol w="1450000"/>
                <a:gridCol w="900000"/>
              </a:tblGrid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環境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内容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転送 GiB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リージョン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月額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prod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1,200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25,069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stg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300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5,568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dev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Run＋保管＋転送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50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970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合計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dev＋stg＋prod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1,550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31,607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prod内訳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CPU・Memory・保管・転送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東京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084"/>
                        <a:buFont typeface="Noto Sans JP" panose="020B0200000000000000" charset="-122"/>
                        <a:buNone/>
                      </a:pPr>
                      <a:r>
                        <a:rPr sz="1085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25,069</a:t>
                      </a:r>
                      <a:endParaRPr sz="1085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48175" marR="48175" marT="48175" marB="481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h6f6c96ae95625a16_1_2"/>
          <p:cNvSpPr>
            <a:spLocks noGrp="1"/>
          </p:cNvSpPr>
          <p:nvPr/>
        </p:nvSpPr>
        <p:spPr>
          <a:xfrm>
            <a:off x="815975" y="5228094"/>
            <a:ext cx="6207000" cy="1029300"/>
          </a:xfrm>
          <a:prstGeom prst="roundRect">
            <a:avLst>
              <a:gd name="adj" fmla="val 5861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1" name="Google Shape;311;h6f6c96ae95625a16_1_2"/>
          <p:cNvSpPr>
            <a:spLocks noGrp="1"/>
          </p:cNvSpPr>
          <p:nvPr/>
        </p:nvSpPr>
        <p:spPr>
          <a:xfrm>
            <a:off x="984250" y="5345569"/>
            <a:ext cx="60465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186"/>
              <a:buFont typeface="Noto Sans JP" panose="020B0200000000000000" charset="-122"/>
              <a:buNone/>
            </a:pPr>
            <a:r>
              <a:rPr sz="1185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本シート未計上（別途確認）</a:t>
            </a:r>
            <a:endParaRPr sz="118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h6f6c96ae95625a16_1_2"/>
          <p:cNvSpPr>
            <a:spLocks noGrp="1"/>
          </p:cNvSpPr>
          <p:nvPr/>
        </p:nvSpPr>
        <p:spPr>
          <a:xfrm>
            <a:off x="984250" y="5574268"/>
            <a:ext cx="3003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・Storage Transfer Service 自体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h6f6c96ae95625a16_1_2"/>
          <p:cNvSpPr>
            <a:spLocks noGrp="1"/>
          </p:cNvSpPr>
          <p:nvPr/>
        </p:nvSpPr>
        <p:spPr>
          <a:xfrm>
            <a:off x="3938488" y="5574268"/>
            <a:ext cx="3003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・Workflows / Cloud Scheduler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h6f6c96ae95625a16_1_2"/>
          <p:cNvSpPr>
            <a:spLocks noGrp="1"/>
          </p:cNvSpPr>
          <p:nvPr/>
        </p:nvSpPr>
        <p:spPr>
          <a:xfrm>
            <a:off x="984250" y="5825688"/>
            <a:ext cx="30036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・Artifact Registry / Logging / Monitoring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Google Shape;315;h6f6c96ae95625a16_1_2"/>
          <p:cNvSpPr>
            <a:spLocks noGrp="1"/>
          </p:cNvSpPr>
          <p:nvPr/>
        </p:nvSpPr>
        <p:spPr>
          <a:xfrm>
            <a:off x="3938270" y="5825490"/>
            <a:ext cx="31395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・seiyu-trial-data-exchange の保管・egress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h6f6c96ae95625a16_1_2"/>
          <p:cNvSpPr>
            <a:spLocks noGrp="1"/>
          </p:cNvSpPr>
          <p:nvPr/>
        </p:nvSpPr>
        <p:spPr>
          <a:xfrm>
            <a:off x="7156252" y="2686804"/>
            <a:ext cx="4219800" cy="3570600"/>
          </a:xfrm>
          <a:prstGeom prst="roundRect">
            <a:avLst>
              <a:gd name="adj" fmla="val 169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7" name="Google Shape;317;h6f6c96ae95625a16_1_2"/>
          <p:cNvSpPr>
            <a:spLocks noGrp="1"/>
          </p:cNvSpPr>
          <p:nvPr/>
        </p:nvSpPr>
        <p:spPr>
          <a:xfrm>
            <a:off x="7324527" y="2816979"/>
            <a:ext cx="3999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読み方・注意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8" name="Google Shape;318;h6f6c96ae95625a16_1_2"/>
          <p:cNvSpPr>
            <a:spLocks noGrp="1"/>
          </p:cNvSpPr>
          <p:nvPr/>
        </p:nvSpPr>
        <p:spPr>
          <a:xfrm>
            <a:off x="7324527" y="3081099"/>
            <a:ext cx="39996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r>
              <a:rPr sz="950">
                <a:solidFill>
                  <a:srgbClr val="4A5263"/>
                </a:solidFill>
                <a:latin typeface="Noto Sans JP"/>
              </a:rPr>
              <a:t>prod ¥25,069／月、stg ¥5,568、dev ¥970。</a:t>
            </a:r>
            <a:br/>
            <a:r>
              <a:rPr sz="950">
                <a:solidFill>
                  <a:srgbClr val="4A5263"/>
                </a:solidFill>
                <a:latin typeface="Noto Sans JP"/>
              </a:rPr>
              <a:t>3環境合計は月約 ¥31,607。</a:t>
            </a:r>
            <a:br/>
            <a:r>
              <a:rPr sz="950">
                <a:solidFill>
                  <a:srgbClr val="4A5263"/>
                </a:solidFill>
                <a:latin typeface="Noto Sans JP"/>
              </a:rPr>
              <a:t>稼働：prod 90h/月、stg 20h/月、dev 2.5h/月。</a:t>
            </a:r>
          </a:p>
          <a:p>
            <a:r>
              <a:rPr sz="950">
                <a:solidFill>
                  <a:srgbClr val="4A5263"/>
                </a:solidFill>
                <a:latin typeface="Noto Sans JP"/>
              </a:rPr>
              <a:t>dev／stg は常時起動せず、テスト実施時のみ計算費が発生。</a:t>
            </a:r>
          </a:p>
          <a:p>
            <a:r>
              <a:rPr sz="950">
                <a:solidFill>
                  <a:srgbClr val="4A5263"/>
                </a:solidFill>
                <a:latin typeface="Noto Sans JP"/>
              </a:rPr>
              <a:t>転送は約 63%（合計 1,550 GiB/月）。</a:t>
            </a:r>
            <a:br/>
            <a:r>
              <a:rPr sz="950">
                <a:solidFill>
                  <a:srgbClr val="4A5263"/>
                </a:solidFill>
                <a:latin typeface="Noto Sans JP"/>
              </a:rPr>
              <a:t>Storage：prod 1,200（30日）／stg 150・dev 50（7日）。</a:t>
            </a:r>
            <a:br/>
            <a:r>
              <a:rPr sz="950">
                <a:solidFill>
                  <a:srgbClr val="4A5263"/>
                </a:solidFill>
                <a:latin typeface="Noto Sans JP"/>
              </a:rPr>
              <a:t>年額は月額×12。議論用・非拘束。</a:t>
            </a:r>
          </a:p>
          <a:p/>
          <a:p/>
          <a:p/>
          <a:p/>
        </p:txBody>
      </p:sp>
      <p:sp>
        <p:nvSpPr>
          <p:cNvPr id="319" name="Google Shape;319;h6f6c96ae95625a16_1_2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7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5" name="Google Shape;325;h6f6c96ae95625a16_1_31"/>
          <p:cNvSpPr>
            <a:spLocks noGrp="1"/>
          </p:cNvSpPr>
          <p:nvPr/>
        </p:nvSpPr>
        <p:spPr>
          <a:xfrm>
            <a:off x="812800" y="457200"/>
            <a:ext cx="67632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3200"/>
              <a:buFont typeface="Noto Sans JP" panose="020B0200000000000000" charset="-122"/>
              <a:buNone/>
            </a:pPr>
            <a:r>
              <a:rPr sz="32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費用比較：Cloud Run Jobs vs GKE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h6f6c96ae95625a16_1_31"/>
          <p:cNvSpPr>
            <a:spLocks noGrp="1"/>
          </p:cNvSpPr>
          <p:nvPr/>
        </p:nvSpPr>
        <p:spPr>
          <a:xfrm>
            <a:off x="8385870" y="553045"/>
            <a:ext cx="2990100" cy="29580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7" name="Google Shape;327;h6f6c96ae95625a16_1_31"/>
          <p:cNvSpPr>
            <a:spLocks noGrp="1"/>
          </p:cNvSpPr>
          <p:nvPr/>
        </p:nvSpPr>
        <p:spPr>
          <a:xfrm>
            <a:off x="8516045" y="594320"/>
            <a:ext cx="28116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東京 asia-northeast1 ・ dev / stg / prod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8" name="Google Shape;328;h6f6c96ae95625a16_1_31"/>
          <p:cNvSpPr>
            <a:spLocks noGrp="1"/>
          </p:cNvSpPr>
          <p:nvPr/>
        </p:nvSpPr>
        <p:spPr>
          <a:xfrm>
            <a:off x="812800" y="995660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400"/>
              <a:buFont typeface="Noto Sans JP" panose="020B0200000000000000" charset="-122"/>
              <a:buNone/>
            </a:pP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3環境（</a:t>
            </a: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prod 90h・stg 20h・dev 2.5h／月</a:t>
            </a:r>
            <a:r>
              <a:rPr sz="14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、4 vCPU / 16 GiB）。GKE は東京の公開単価。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h6f6c96ae95625a16_1_31"/>
          <p:cNvSpPr>
            <a:spLocks noGrp="1"/>
          </p:cNvSpPr>
          <p:nvPr/>
        </p:nvSpPr>
        <p:spPr>
          <a:xfrm>
            <a:off x="812800" y="1371501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GCS＋転送（約 ¥24,894）は共通。差は計算費と、クラスタを3つ置いたときの管理費です。prod 保管は30日。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46" name="Google Shape;330;h6f6c96ae95625a16_1_31"/>
          <p:cNvGraphicFramePr/>
          <p:nvPr/>
        </p:nvGraphicFramePr>
        <p:xfrm>
          <a:off x="812800" y="1680000"/>
          <a:ext cx="10566400" cy="3000000"/>
        </p:xfrm>
        <a:graphic>
          <a:graphicData uri="http://schemas.openxmlformats.org/drawingml/2006/table">
            <a:tbl>
              <a:tblPr>
                <a:tableStyleId>{4A66BF64-D2FC-4761-AEA6-D4DDCA1AC9C9}</a:tableStyleId>
              </a:tblPr>
              <a:tblGrid>
                <a:gridCol w="3400000"/>
                <a:gridCol w="1750000"/>
                <a:gridCol w="1950000"/>
                <a:gridCol w="1716400"/>
                <a:gridCol w="1750000"/>
              </a:tblGrid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構成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計算費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クラスタ管理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GCS+転送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b="1" u="none" cap="none">
                          <a:solidFill>
                            <a:srgbClr val="FCFCFD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月合計 概算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1E2356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Cloud Run Jobs（採用）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¥6,713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—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¥31,607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  <a:solidFill>
                      <a:srgbClr val="E9ECF5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GKE Autopilot（3クラスタ）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¥4,604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¥23,715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¥53,213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GKE Standard 常駐 ×3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¥59,998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¥23,715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¥24,894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56"/>
                        </a:buClr>
                        <a:buSzPts val="1300"/>
                        <a:buFont typeface="Noto Sans JP" panose="020B0200000000000000" charset="-122"/>
                        <a:buNone/>
                      </a:pPr>
                      <a:r>
                        <a:rPr sz="1300" u="none" cap="none">
                          <a:solidFill>
                            <a:srgbClr val="1E2356"/>
                          </a:solidFill>
                          <a:latin typeface="Noto Sans JP" panose="020B0200000000000000" charset="-122"/>
                          <a:ea typeface="Noto Sans JP" panose="020B0200000000000000" charset="-122"/>
                          <a:cs typeface="Noto Sans JP" panose="020B0200000000000000" charset="-122"/>
                        </a:rPr>
                        <a:t>¥108,607</a:t>
                      </a:r>
                      <a:endParaRPr sz="1300" u="none" cap="none">
                        <a:latin typeface="Noto Sans JP" panose="020B0200000000000000" charset="-122"/>
                        <a:ea typeface="Noto Sans JP" panose="020B0200000000000000" charset="-122"/>
                        <a:cs typeface="Noto Sans JP" panose="020B0200000000000000" charset="-122"/>
                      </a:endParaRPr>
                    </a:p>
                  </a:txBody>
                  <a:tcPr marL="57775" marR="57775" marT="57775" marB="57775">
                    <a:lnL w="12700" cmpd="sng">
                      <a:solidFill>
                        <a:srgbClr val="CBCCD8"/>
                      </a:solidFill>
                      <a:prstDash val="solid"/>
                    </a:lnL>
                    <a:lnR w="12700" cmpd="sng">
                      <a:solidFill>
                        <a:srgbClr val="CBCCD8"/>
                      </a:solidFill>
                      <a:prstDash val="solid"/>
                    </a:lnR>
                    <a:lnT w="12700" cmpd="sng">
                      <a:solidFill>
                        <a:srgbClr val="CBCCD8"/>
                      </a:solidFill>
                      <a:prstDash val="solid"/>
                    </a:lnT>
                    <a:lnB w="12700" cmpd="sng">
                      <a:solidFill>
                        <a:srgbClr val="CBCC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h6f6c96ae95625a16_1_31"/>
          <p:cNvSpPr>
            <a:spLocks noGrp="1"/>
          </p:cNvSpPr>
          <p:nvPr/>
        </p:nvSpPr>
        <p:spPr>
          <a:xfrm>
            <a:off x="815975" y="3380105"/>
            <a:ext cx="5213400" cy="2254200"/>
          </a:xfrm>
          <a:prstGeom prst="roundRect">
            <a:avLst>
              <a:gd name="adj" fmla="val 370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2" name="Google Shape;332;h6f6c96ae95625a16_1_31"/>
          <p:cNvSpPr>
            <a:spLocks noGrp="1"/>
          </p:cNvSpPr>
          <p:nvPr/>
        </p:nvSpPr>
        <p:spPr>
          <a:xfrm>
            <a:off x="984250" y="3510175"/>
            <a:ext cx="5023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読み方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h6f6c96ae95625a16_1_31"/>
          <p:cNvSpPr>
            <a:spLocks noGrp="1"/>
          </p:cNvSpPr>
          <p:nvPr/>
        </p:nvSpPr>
        <p:spPr>
          <a:xfrm>
            <a:off x="984250" y="3774295"/>
            <a:ext cx="50232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管理費は $0.10／クラスタ時。Free tier（$74.40）で1クラスタ分が消える。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3クラスタだと管理費は2本分、約 ¥23,715／月。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は Pod 起動中だけ課金（4 vCPU / 16 GiB）。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Standard は e2-standard-4 を3台、常時起動。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本件は Cloud Run Jobs。GKE は申請しない。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h6f6c96ae95625a16_1_31"/>
          <p:cNvSpPr>
            <a:spLocks noGrp="1"/>
          </p:cNvSpPr>
          <p:nvPr/>
        </p:nvSpPr>
        <p:spPr>
          <a:xfrm>
            <a:off x="6162675" y="3380105"/>
            <a:ext cx="5213400" cy="2254200"/>
          </a:xfrm>
          <a:prstGeom prst="roundRect">
            <a:avLst>
              <a:gd name="adj" fmla="val 3703"/>
            </a:avLst>
          </a:prstGeom>
          <a:solidFill>
            <a:srgbClr val="F1F3F8"/>
          </a:solidFill>
          <a:ln w="9525" cmpd="sng">
            <a:solidFill>
              <a:srgbClr val="DCE1E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5" name="Google Shape;335;h6f6c96ae95625a16_1_31"/>
          <p:cNvSpPr>
            <a:spLocks noGrp="1"/>
          </p:cNvSpPr>
          <p:nvPr/>
        </p:nvSpPr>
        <p:spPr>
          <a:xfrm>
            <a:off x="6330950" y="3510175"/>
            <a:ext cx="5023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356"/>
              </a:buClr>
              <a:buSzPts val="1400"/>
              <a:buFont typeface="Noto Sans JP" panose="020B0200000000000000" charset="-122"/>
              <a:buNone/>
            </a:pPr>
            <a:r>
              <a:rPr sz="1400" b="1" i="0" u="none" cap="none">
                <a:solidFill>
                  <a:srgbClr val="1E2356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前提・注意（概算）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" name="Google Shape;336;h6f6c96ae95625a16_1_31"/>
          <p:cNvSpPr>
            <a:spLocks noGrp="1"/>
          </p:cNvSpPr>
          <p:nvPr/>
        </p:nvSpPr>
        <p:spPr>
          <a:xfrm>
            <a:off x="6330950" y="3774295"/>
            <a:ext cx="50232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為替 ¥159.375/USD（今回 Storage 単価から逆算）。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Default：$0.0445/vCPU時、$0.0049225/GiB時（CUDなし）。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e2-standard-4 東京 $0.1719/時 × 730h ≒ ¥20,000／台。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ブートディスク／LB／Logging は未計上。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82880" marR="0" lvl="0" indent="-16764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63"/>
              </a:buClr>
              <a:buSzPts val="1200"/>
              <a:buFont typeface="Noto Sans JP" panose="020B0200000000000000" charset="-122"/>
              <a:buChar char="•"/>
            </a:pPr>
            <a:r>
              <a:rPr sz="1200" b="0" i="0" u="none" cap="none">
                <a:solidFill>
                  <a:srgbClr val="4A5263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3環境を1クラスタに載せると管理費は Free tier 内（約 ¥0）。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h6f6c96ae95625a16_1_31"/>
          <p:cNvSpPr>
            <a:spLocks noGrp="1"/>
          </p:cNvSpPr>
          <p:nvPr/>
        </p:nvSpPr>
        <p:spPr>
          <a:xfrm>
            <a:off x="812800" y="5786537"/>
            <a:ext cx="10566300" cy="468000"/>
          </a:xfrm>
          <a:prstGeom prst="roundRect">
            <a:avLst>
              <a:gd name="adj" fmla="val 13571"/>
            </a:avLst>
          </a:prstGeom>
          <a:solidFill>
            <a:srgbClr val="1E23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8" name="Google Shape;338;h6f6c96ae95625a16_1_31"/>
          <p:cNvSpPr>
            <a:spLocks noGrp="1"/>
          </p:cNvSpPr>
          <p:nvPr/>
        </p:nvSpPr>
        <p:spPr>
          <a:xfrm>
            <a:off x="992800" y="5900837"/>
            <a:ext cx="102063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FCFD"/>
              </a:buClr>
              <a:buSzPts val="1300"/>
              <a:buFont typeface="Noto Sans JP" panose="020B0200000000000000" charset="-122"/>
              <a:buNone/>
            </a:pP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年間（×12）：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Cloud Run ≈ ¥379,287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｜ 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Autopilot 3クラスタ ≈ ¥638,556</a:t>
            </a:r>
            <a:r>
              <a:rPr sz="1300" b="1" i="0" u="none" cap="none">
                <a:solidFill>
                  <a:srgbClr val="FCFCFD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 ｜ Standard 常駐3台 ≈ ¥1,303,000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h6f6c96ae95625a16_1_31"/>
          <p:cNvSpPr>
            <a:spLocks noGrp="1"/>
          </p:cNvSpPr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1AE"/>
              </a:buClr>
              <a:buSzPts val="1200"/>
              <a:buFont typeface="Noto Sans JP" panose="020B0200000000000000" charset="-122"/>
              <a:buNone/>
            </a:pPr>
            <a:r>
              <a:rPr sz="1200" b="0" i="0" u="none" cap="none">
                <a:solidFill>
                  <a:srgbClr val="9AA1AE"/>
                </a:solidFill>
                <a:latin typeface="Noto Sans JP" panose="020B0200000000000000" charset="-122"/>
                <a:ea typeface="Noto Sans JP" panose="020B0200000000000000" charset="-122"/>
                <a:cs typeface="Noto Sans JP" panose="020B0200000000000000" charset="-122"/>
              </a:rPr>
              <a:t>8 / 8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6800000" cy="51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実施条件とテスト環境の同時進行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5870" y="553045"/>
            <a:ext cx="2990155" cy="29587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16045" y="594320"/>
            <a:ext cx="281170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4A5263"/>
                </a:solidFill>
                <a:latin typeface="Noto Sans JP"/>
                <a:ea typeface="Noto Sans JP"/>
                <a:cs typeface="Noto Sans JP"/>
              </a:rPr>
              <a:t>東京 asia-northeast1 ・ dev / stg / prod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995660"/>
            <a:ext cx="10883392" cy="274241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1015660"/>
            <a:ext cx="10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263"/>
                </a:solidFill>
                <a:latin typeface="Noto Sans JP"/>
                <a:ea typeface="Noto Sans JP"/>
                <a:cs typeface="Noto Sans JP"/>
              </a:rPr>
              <a:t>実施条件が成立し、dev／stg／prod の接続先を整理できた場合に構築します。本番だけを先行する申請ではありません。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1360000"/>
            <a:ext cx="5150000" cy="374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1490000"/>
            <a:ext cx="4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① 実施が必要となる条件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40000"/>
            <a:ext cx="475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A　大阪の集計データを日次で西友へ渡す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B　型変換・共通化は TRIAL 側 Layer①で行う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C　最終 TXT のみ exchange へ一方向納品する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D　元データは本PJ GCS（landing）に置く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E　SCM 連携面は 1 プロジェクトに集約する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F　Layer②③ は西友の既存 DataSpider を使う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この前提なら既存 DSS では Layer①を代替できず、TRIAL GCP の日次バッチ機が必要。未合意なら申請を進めない。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0000" y="149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② テスト環境と同時進行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62675" y="1840000"/>
          <a:ext cx="5213350" cy="1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2400000"/>
                <a:gridCol w="2013350"/>
              </a:tblGrid>
              <a:tr h="44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CFCF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環境</a:t>
                      </a:r>
                    </a:p>
                  </a:txBody>
                  <a:tcPr>
                    <a:solidFill>
                      <a:srgbClr val="1E23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CFCF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TRIAL 本申請</a:t>
                      </a:r>
                    </a:p>
                  </a:txBody>
                  <a:tcPr>
                    <a:solidFill>
                      <a:srgbClr val="1E23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CFCF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接続先</a:t>
                      </a:r>
                    </a:p>
                  </a:txBody>
                  <a:tcPr>
                    <a:solidFill>
                      <a:srgbClr val="1E235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dev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md-data-integration-dev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exchange dev／DSS 開発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stg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md-data-integration-stg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exchange stg／DSS 検証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prod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md-data-integration-prod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35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exchange prod／本番 DSS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40000" y="3740000"/>
            <a:ext cx="485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263"/>
                </a:solidFill>
                <a:latin typeface="Noto Sans JP"/>
                <a:ea typeface="Noto Sans JP"/>
                <a:cs typeface="Noto Sans JP"/>
              </a:rPr>
              <a:t>進め方：接続先・パス・権限を揃え、dev → stg で起動〜_SUCCESS を確認。prod の定期実行はテスト経路整理後。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4720000"/>
            <a:ext cx="5213350" cy="138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0000" y="4840000"/>
            <a:ext cx="4850000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費用の考え方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356"/>
                </a:solidFill>
                <a:latin typeface="Noto Sans JP"/>
                <a:ea typeface="Noto Sans JP"/>
                <a:cs typeface="Noto Sans JP"/>
              </a:rPr>
              <a:t>dev／stg の Cloud Run Jobs は常時起動せず、テスト実施時だけ計算費が発生します。GCS 保管・データ転送は、保持量・転送量に応じて発生します。</a:t>
            </a:r>
          </a:p>
        </p:txBody>
      </p:sp>
      <p:sp>
        <p:nvSpPr>
          <p:cNvPr id="15" name="page-num"/>
          <p:cNvSpPr/>
          <p:nvPr/>
        </p:nvSpPr>
        <p:spPr>
          <a:xfrm>
            <a:off x="10058400" y="6339880"/>
            <a:ext cx="1320800" cy="23872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100" b="0">
                <a:solidFill>
                  <a:srgbClr val="4A5263"/>
                </a:solidFill>
                <a:latin typeface="Noto Sans JP"/>
                <a:ea typeface="Noto Sans JP"/>
                <a:cs typeface="Noto Sans JP"/>
              </a:rPr>
              <a:t>2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5064</Words>
  <Application>WPS 表格</Application>
  <PresentationFormat>Converted Presentation</PresentationFormat>
  <Paragraphs>529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JP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treqd</cp:lastModifiedBy>
  <cp:revision>1</cp:revision>
  <dcterms:created xsi:type="dcterms:W3CDTF">2026-09-28T03:59:42Z</dcterms:created>
  <dcterms:modified xsi:type="dcterms:W3CDTF">2026-09-28T03:59:42Z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6EBB0C466D0FD7AE2EE6B96AECE47146_42</vt:lpwstr>
  </property>
  <property fmtid="{D5CDD505-2E9C-101B-9397-08002B2CF9AE}" pid="3" name="KSOProductBuildVer">
    <vt:lpwstr>2052-12.1.28496.28496</vt:lpwstr>
  </property>
</Properties>
</file>