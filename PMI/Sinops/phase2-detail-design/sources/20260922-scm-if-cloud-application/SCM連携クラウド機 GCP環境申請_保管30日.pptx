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embeddedFontLst>
    <p:embeddedFont>
      <p:font typeface="Noto Sans JP" panose="020B0200000000000000" charset="-122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A66BF64-D2FC-4761-AEA6-D4DDCA1AC9C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構成は社内標準の「Google Cloud Official Icons and Solution Architectures」の作図ルール（Project Zone #F6F6F6、論理グループ #E3F2FD、外部データソース #FFF8E1、主経路＝青 #4284F3、二次経路＝灰 #9E9E9E、オプション＝青破線、機能名＋製品名の Product Card、タイトルバー）に合わせています。 データの流れ：大阪の集計 GCS（asia-northeast2、既存）から Storage Transfer Service で本PJの Cloud Storage（source-landing/MD_DATA/YYYYMMDD/、元データ7日保管）へコピーし、Cloud Run Jobs（SMART 日次処理、4 vCPU / 16 GiB）が読み取って処理します。最終 TXT のみ seiyu-trial-data-exchange（ods-seiyu-prod / stg / dev）へ一方向で納品し、検証後に _SUCCESS を作成します。Layer②③は西友 Azure の既存 DataSpider が取り込みます。 制御：Cloud Scheduler（毎日指定時刻）→ Workflows（READY → STS → Job → 検証）。将来 Hinemos から起動する可能性があり、要突合です。 運用・監視・権限：ジョブのコンテナイメージは Artifact Registry、ログ・監視は Cloud Logging / Cloud Monitoring、権限は IAM でサービスごとに分離します。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申請する主なサービス：Cloud Run Jobs / Cloud Storage / STS / Workflows / Cloud Scheduler / Artifact Registry / Logging / Monitoring。費用の詳細は6枚目を参照してください。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6.png"/><Relationship Id="rId17" Type="http://schemas.openxmlformats.org/officeDocument/2006/relationships/image" Target="../media/image17.png"/><Relationship Id="rId18" Type="http://schemas.openxmlformats.org/officeDocument/2006/relationships/image" Target="../media/image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Google Shape;16;p1"/>
          <p:cNvSpPr>
            <a:spLocks noGrp="1"/>
          </p:cNvSpPr>
          <p:nvPr/>
        </p:nvSpPr>
        <p:spPr>
          <a:xfrm>
            <a:off x="812800" y="433575"/>
            <a:ext cx="8097000" cy="10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3200"/>
              <a:buFont typeface="Noto Sans JP" panose="020B0200000000000000" charset="-122"/>
              <a:buNone/>
            </a:pPr>
            <a:r>
              <a:rPr sz="32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背景：なぜ新しいクラウド機を申請するか</a:t>
            </a:r>
            <a:endParaRPr sz="3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Google Shape;17;p1"/>
          <p:cNvSpPr>
            <a:spLocks noGrp="1"/>
          </p:cNvSpPr>
          <p:nvPr/>
        </p:nvSpPr>
        <p:spPr>
          <a:xfrm>
            <a:off x="812800" y="1435993"/>
            <a:ext cx="10883392" cy="262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339"/>
              <a:buFont typeface="Noto Sans JP" panose="020B0200000000000000" charset="-122"/>
              <a:buNone/>
            </a:pPr>
            <a:r>
              <a:rPr sz="134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西友 MD 基幹統合／PMI 課題 Phase2 ― TRIAL 側 Layer① の実行基盤が必要です</a:t>
            </a:r>
            <a:endParaRPr sz="134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Google Shape;18;p1"/>
          <p:cNvSpPr>
            <a:spLocks noGrp="1"/>
          </p:cNvSpPr>
          <p:nvPr/>
        </p:nvSpPr>
        <p:spPr>
          <a:xfrm>
            <a:off x="815975" y="1828304"/>
            <a:ext cx="5213350" cy="1600895"/>
          </a:xfrm>
          <a:prstGeom prst="roundRect">
            <a:avLst>
              <a:gd name="adj" fmla="val 3768"/>
            </a:avLst>
          </a:prstGeom>
          <a:solidFill>
            <a:srgbClr val="F1F3F8"/>
          </a:solidFill>
          <a:ln w="9525" cmpd="sng">
            <a:solidFill>
              <a:srgbClr val="DCE1E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" name="Google Shape;19;p1"/>
          <p:cNvSpPr>
            <a:spLocks noGrp="1"/>
          </p:cNvSpPr>
          <p:nvPr/>
        </p:nvSpPr>
        <p:spPr>
          <a:xfrm>
            <a:off x="996950" y="1971179"/>
            <a:ext cx="4996942" cy="240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434"/>
              <a:buFont typeface="Noto Sans JP" panose="020B0200000000000000" charset="-122"/>
              <a:buNone/>
            </a:pPr>
            <a:r>
              <a:rPr sz="1435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いま起きていること（背景）</a:t>
            </a:r>
            <a:endParaRPr sz="143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Google Shape;20;p1"/>
          <p:cNvSpPr>
            <a:spLocks noGrp="1"/>
          </p:cNvSpPr>
          <p:nvPr/>
        </p:nvSpPr>
        <p:spPr>
          <a:xfrm>
            <a:off x="996950" y="2249289"/>
            <a:ext cx="4996942" cy="1062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171450" marR="0" lvl="0" indent="-16129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125"/>
              <a:buFont typeface="Noto Sans JP" panose="020B0200000000000000" charset="-122"/>
              <a:buChar char="•"/>
            </a:pPr>
            <a:r>
              <a:rPr sz="1125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西友×TRIAL の MD 基幹統合・PMI 課題 Phase2</a:t>
            </a:r>
            <a:endParaRPr sz="11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71450" marR="0" lvl="0" indent="-16129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125"/>
              <a:buFont typeface="Noto Sans JP" panose="020B0200000000000000" charset="-122"/>
              <a:buChar char="•"/>
            </a:pPr>
            <a:r>
              <a:rPr sz="1125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集計系データ（大阪）を西友側へ日次で渡す必要</a:t>
            </a:r>
            <a:endParaRPr sz="11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71450" marR="0" lvl="0" indent="-16129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125"/>
              <a:buFont typeface="Noto Sans JP" panose="020B0200000000000000" charset="-122"/>
              <a:buChar char="•"/>
            </a:pPr>
            <a:r>
              <a:rPr sz="1125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正本連携経路は seiyu-trial-data-exchange</a:t>
            </a:r>
            <a:endParaRPr sz="11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71450" marR="0" lvl="0" indent="-16129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125"/>
              <a:buFont typeface="Noto Sans JP" panose="020B0200000000000000" charset="-122"/>
              <a:buChar char="•"/>
            </a:pPr>
            <a:r>
              <a:rPr sz="1125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型変換・共通化は TRIAL 側で吸収する方針</a:t>
            </a:r>
            <a:endParaRPr sz="11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71450" marR="0" lvl="0" indent="-16129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125"/>
              <a:buFont typeface="Noto Sans JP" panose="020B0200000000000000" charset="-122"/>
              <a:buChar char="•"/>
            </a:pPr>
            <a:r>
              <a:rPr sz="1125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課題ごとに PJ を割ると SCM 連携面が割れる</a:t>
            </a:r>
            <a:endParaRPr sz="11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Google Shape;21;p1"/>
          <p:cNvSpPr>
            <a:spLocks noGrp="1"/>
          </p:cNvSpPr>
          <p:nvPr/>
        </p:nvSpPr>
        <p:spPr>
          <a:xfrm>
            <a:off x="6162675" y="1828304"/>
            <a:ext cx="5213350" cy="1600895"/>
          </a:xfrm>
          <a:prstGeom prst="roundRect">
            <a:avLst>
              <a:gd name="adj" fmla="val 3768"/>
            </a:avLst>
          </a:prstGeom>
          <a:solidFill>
            <a:srgbClr val="F1F3F8"/>
          </a:solidFill>
          <a:ln w="9525" cmpd="sng">
            <a:solidFill>
              <a:srgbClr val="DCE1E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" name="Google Shape;22;p1"/>
          <p:cNvSpPr>
            <a:spLocks noGrp="1"/>
          </p:cNvSpPr>
          <p:nvPr/>
        </p:nvSpPr>
        <p:spPr>
          <a:xfrm>
            <a:off x="6343650" y="1971179"/>
            <a:ext cx="4996942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500"/>
              <a:buFont typeface="Noto Sans JP" panose="020B0200000000000000" charset="-122"/>
              <a:buNone/>
            </a:pPr>
            <a:r>
              <a:rPr sz="15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だから必要なもの（目的）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Google Shape;23;p1"/>
          <p:cNvSpPr>
            <a:spLocks noGrp="1"/>
          </p:cNvSpPr>
          <p:nvPr/>
        </p:nvSpPr>
        <p:spPr>
          <a:xfrm>
            <a:off x="6343650" y="2263279"/>
            <a:ext cx="4996942" cy="909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182880" marR="0" lvl="0" indent="-16764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Char char="•"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TRIAL GCP 上の SCM 連携機を 1 台に集約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82880" marR="0" lvl="0" indent="-16764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Char char="•"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Layer①：取得・変換・配置（バッチ）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82880" marR="0" lvl="0" indent="-16764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Char char="•"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付帯 GCS（元データ）＋ Cloud Run（処理）を一体申請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82880" marR="0" lvl="0" indent="-16764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Char char="•"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最終 TXT のみ seiyu-trial-data-exchange へ一方向納品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" name="Google Shape;24;p1"/>
          <p:cNvSpPr>
            <a:spLocks noGrp="1"/>
          </p:cNvSpPr>
          <p:nvPr/>
        </p:nvSpPr>
        <p:spPr>
          <a:xfrm>
            <a:off x="815975" y="3562548"/>
            <a:ext cx="5213350" cy="1600895"/>
          </a:xfrm>
          <a:prstGeom prst="roundRect">
            <a:avLst>
              <a:gd name="adj" fmla="val 3768"/>
            </a:avLst>
          </a:prstGeom>
          <a:solidFill>
            <a:srgbClr val="F1F3F8"/>
          </a:solidFill>
          <a:ln w="9525" cmpd="sng">
            <a:solidFill>
              <a:srgbClr val="DCE1E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" name="Google Shape;25;p1"/>
          <p:cNvSpPr>
            <a:spLocks noGrp="1"/>
          </p:cNvSpPr>
          <p:nvPr/>
        </p:nvSpPr>
        <p:spPr>
          <a:xfrm>
            <a:off x="996950" y="3705423"/>
            <a:ext cx="4996942" cy="240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434"/>
              <a:buFont typeface="Noto Sans JP" panose="020B0200000000000000" charset="-122"/>
              <a:buNone/>
            </a:pPr>
            <a:r>
              <a:rPr sz="1435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役割分担（なぜ「新機」か）</a:t>
            </a:r>
            <a:endParaRPr sz="143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" name="Google Shape;26;p1"/>
          <p:cNvSpPr>
            <a:spLocks noGrp="1"/>
          </p:cNvSpPr>
          <p:nvPr/>
        </p:nvSpPr>
        <p:spPr>
          <a:xfrm>
            <a:off x="996950" y="3983534"/>
            <a:ext cx="4996942" cy="1062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171450" marR="0" lvl="0" indent="-16129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125"/>
              <a:buFont typeface="Noto Sans JP" panose="020B0200000000000000" charset="-122"/>
              <a:buChar char="•"/>
            </a:pPr>
            <a:r>
              <a:rPr sz="1125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Layer①＝今回申請のクラウド機（TRIAL GCP）</a:t>
            </a:r>
            <a:endParaRPr sz="11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71450" marR="0" lvl="0" indent="-16129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125"/>
              <a:buFont typeface="Noto Sans JP" panose="020B0200000000000000" charset="-122"/>
              <a:buChar char="•"/>
            </a:pPr>
            <a:r>
              <a:rPr sz="1125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Layer②③＝西友 Azure の既存 DataSpider を使用</a:t>
            </a:r>
            <a:endParaRPr sz="11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71450" marR="0" lvl="0" indent="-16129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125"/>
              <a:buFont typeface="Noto Sans JP" panose="020B0200000000000000" charset="-122"/>
              <a:buChar char="•"/>
            </a:pPr>
            <a:r>
              <a:rPr sz="1125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DSS は全フィールドを通過。変換は Layer①</a:t>
            </a:r>
            <a:endParaRPr sz="11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71450" marR="0" lvl="0" indent="-16129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125"/>
              <a:buFont typeface="Noto Sans JP" panose="020B0200000000000000" charset="-122"/>
              <a:buChar char="•"/>
            </a:pPr>
            <a:r>
              <a:rPr sz="1125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本機ディスクなし。永続は GCS のみ</a:t>
            </a:r>
            <a:endParaRPr sz="11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71450" marR="0" lvl="0" indent="-16129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125"/>
              <a:buFont typeface="Noto Sans JP" panose="020B0200000000000000" charset="-122"/>
              <a:buChar char="•"/>
            </a:pPr>
            <a:r>
              <a:rPr sz="1125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PMI 課題 Phase2 の実行基盤前提</a:t>
            </a:r>
            <a:endParaRPr sz="11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Google Shape;27;p1"/>
          <p:cNvSpPr>
            <a:spLocks noGrp="1"/>
          </p:cNvSpPr>
          <p:nvPr/>
        </p:nvSpPr>
        <p:spPr>
          <a:xfrm>
            <a:off x="6162675" y="3562548"/>
            <a:ext cx="5213350" cy="1600895"/>
          </a:xfrm>
          <a:prstGeom prst="roundRect">
            <a:avLst>
              <a:gd name="adj" fmla="val 3768"/>
            </a:avLst>
          </a:prstGeom>
          <a:solidFill>
            <a:srgbClr val="F1F3F8"/>
          </a:solidFill>
          <a:ln w="9525" cmpd="sng">
            <a:solidFill>
              <a:srgbClr val="DCE1E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" name="Google Shape;28;p1"/>
          <p:cNvSpPr>
            <a:spLocks noGrp="1"/>
          </p:cNvSpPr>
          <p:nvPr/>
        </p:nvSpPr>
        <p:spPr>
          <a:xfrm>
            <a:off x="6343650" y="3705423"/>
            <a:ext cx="4996942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500"/>
              <a:buFont typeface="Noto Sans JP" panose="020B0200000000000000" charset="-122"/>
              <a:buNone/>
            </a:pPr>
            <a:r>
              <a:rPr sz="15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今回申請する／しない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Google Shape;29;p1"/>
          <p:cNvSpPr>
            <a:spLocks noGrp="1"/>
          </p:cNvSpPr>
          <p:nvPr/>
        </p:nvSpPr>
        <p:spPr>
          <a:xfrm>
            <a:off x="6343650" y="4022923"/>
            <a:ext cx="787400" cy="264120"/>
          </a:xfrm>
          <a:prstGeom prst="roundRect">
            <a:avLst>
              <a:gd name="adj" fmla="val 14425"/>
            </a:avLst>
          </a:prstGeom>
          <a:solidFill>
            <a:srgbClr val="1E235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" name="Google Shape;30;p1"/>
          <p:cNvSpPr>
            <a:spLocks noGrp="1"/>
          </p:cNvSpPr>
          <p:nvPr/>
        </p:nvSpPr>
        <p:spPr>
          <a:xfrm>
            <a:off x="6432550" y="4048323"/>
            <a:ext cx="660400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CFCFD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FCFCFD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申請する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" name="Google Shape;31;p1"/>
          <p:cNvSpPr>
            <a:spLocks noGrp="1"/>
          </p:cNvSpPr>
          <p:nvPr/>
        </p:nvSpPr>
        <p:spPr>
          <a:xfrm>
            <a:off x="7232650" y="4022923"/>
            <a:ext cx="4081272" cy="46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1 PJ・Cloud Run Jobs・本PJ GCS・Scheduler / Workflows / STS 等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" name="Google Shape;32;p1"/>
          <p:cNvSpPr>
            <a:spLocks noGrp="1"/>
          </p:cNvSpPr>
          <p:nvPr/>
        </p:nvSpPr>
        <p:spPr>
          <a:xfrm>
            <a:off x="6343650" y="4553744"/>
            <a:ext cx="939800" cy="264120"/>
          </a:xfrm>
          <a:prstGeom prst="roundRect">
            <a:avLst>
              <a:gd name="adj" fmla="val 14425"/>
            </a:avLst>
          </a:prstGeom>
          <a:solidFill>
            <a:srgbClr val="E4E7E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" name="Google Shape;33;p1"/>
          <p:cNvSpPr>
            <a:spLocks noGrp="1"/>
          </p:cNvSpPr>
          <p:nvPr/>
        </p:nvSpPr>
        <p:spPr>
          <a:xfrm>
            <a:off x="6432550" y="4579144"/>
            <a:ext cx="812800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372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5B6372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申請しない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" name="Google Shape;34;p1"/>
          <p:cNvSpPr>
            <a:spLocks noGrp="1"/>
          </p:cNvSpPr>
          <p:nvPr/>
        </p:nvSpPr>
        <p:spPr>
          <a:xfrm>
            <a:off x="7385050" y="4553744"/>
            <a:ext cx="3924300" cy="46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GKE・本機永続ディスク・DataSpider・seiyu-trial-data-exchange 本体（松尾さんへ別途申請）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" name="Google Shape;35;p1"/>
          <p:cNvSpPr>
            <a:spLocks noGrp="1"/>
          </p:cNvSpPr>
          <p:nvPr/>
        </p:nvSpPr>
        <p:spPr>
          <a:xfrm>
            <a:off x="812800" y="5319018"/>
            <a:ext cx="10566400" cy="726182"/>
          </a:xfrm>
          <a:prstGeom prst="roundRect">
            <a:avLst>
              <a:gd name="adj" fmla="val 8744"/>
            </a:avLst>
          </a:prstGeom>
          <a:solidFill>
            <a:srgbClr val="1E235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6" name="Google Shape;36;p1"/>
          <p:cNvSpPr>
            <a:spLocks noGrp="1"/>
          </p:cNvSpPr>
          <p:nvPr/>
        </p:nvSpPr>
        <p:spPr>
          <a:xfrm>
            <a:off x="1016000" y="5446018"/>
            <a:ext cx="10464800" cy="497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CFCFD"/>
              </a:buClr>
              <a:buSzPts val="1239"/>
              <a:buFont typeface="Noto Sans JP" panose="020B0200000000000000" charset="-122"/>
              <a:buNone/>
            </a:pPr>
            <a:r>
              <a:rPr sz="1240" b="1" i="0" u="none" cap="none">
                <a:solidFill>
                  <a:srgbClr val="FCFCFD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一言で言うと：</a:t>
            </a:r>
            <a:r>
              <a:rPr sz="1240" b="0" i="0" u="none" cap="none">
                <a:solidFill>
                  <a:srgbClr val="FCFCFD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TRIAL と西友の間のデータ連携を回すため、TRIAL 側に「変換付きの統一 IF 基盤」が要ります。だから新規 1 プロジェクトの SCM連携クラウド機を申請します。</a:t>
            </a:r>
            <a:endParaRPr sz="124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" name="Google Shape;37;p1"/>
          <p:cNvSpPr>
            <a:spLocks noGrp="1"/>
          </p:cNvSpPr>
          <p:nvPr/>
        </p:nvSpPr>
        <p:spPr>
          <a:xfrm>
            <a:off x="10058400" y="6339880"/>
            <a:ext cx="1320800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A1AE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9AA1AE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1 / 7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" name="Google Shape;38;p1"/>
          <p:cNvSpPr>
            <a:spLocks noGrp="1"/>
          </p:cNvSpPr>
          <p:nvPr/>
        </p:nvSpPr>
        <p:spPr>
          <a:xfrm>
            <a:off x="8550809" y="553045"/>
            <a:ext cx="2990100" cy="295800"/>
          </a:xfrm>
          <a:prstGeom prst="roundRect">
            <a:avLst>
              <a:gd name="adj" fmla="val 50000"/>
            </a:avLst>
          </a:prstGeom>
          <a:solidFill>
            <a:srgbClr val="F1F3F8"/>
          </a:solidFill>
          <a:ln w="9525" cmpd="sng">
            <a:solidFill>
              <a:srgbClr val="DCE1E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" name="Google Shape;39;p1"/>
          <p:cNvSpPr>
            <a:spLocks noGrp="1"/>
          </p:cNvSpPr>
          <p:nvPr/>
        </p:nvSpPr>
        <p:spPr>
          <a:xfrm>
            <a:off x="8680984" y="594320"/>
            <a:ext cx="28116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東京 asia-northeast1 ・ dev / stg / prod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5" name="Google Shape;45;p2"/>
          <p:cNvSpPr>
            <a:spLocks noGrp="1"/>
          </p:cNvSpPr>
          <p:nvPr/>
        </p:nvSpPr>
        <p:spPr>
          <a:xfrm>
            <a:off x="812800" y="457200"/>
            <a:ext cx="6725984" cy="513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3200"/>
              <a:buFont typeface="Noto Sans JP" panose="020B0200000000000000" charset="-122"/>
              <a:buNone/>
            </a:pPr>
            <a:r>
              <a:rPr sz="32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なぜ Cloud Run Jobs を採用するか</a:t>
            </a:r>
            <a:endParaRPr sz="3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" name="Google Shape;46;p2"/>
          <p:cNvSpPr>
            <a:spLocks noGrp="1"/>
          </p:cNvSpPr>
          <p:nvPr/>
        </p:nvSpPr>
        <p:spPr>
          <a:xfrm>
            <a:off x="8385870" y="553045"/>
            <a:ext cx="2990155" cy="295870"/>
          </a:xfrm>
          <a:prstGeom prst="roundRect">
            <a:avLst>
              <a:gd name="adj" fmla="val 50000"/>
            </a:avLst>
          </a:prstGeom>
          <a:solidFill>
            <a:srgbClr val="F1F3F8"/>
          </a:solidFill>
          <a:ln w="9525" cmpd="sng">
            <a:solidFill>
              <a:srgbClr val="DCE1E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7" name="Google Shape;47;p2"/>
          <p:cNvSpPr>
            <a:spLocks noGrp="1"/>
          </p:cNvSpPr>
          <p:nvPr/>
        </p:nvSpPr>
        <p:spPr>
          <a:xfrm>
            <a:off x="8516045" y="594320"/>
            <a:ext cx="2811700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東京 asia-northeast1 ・ dev / stg / prod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8" name="Google Shape;48;p2"/>
          <p:cNvSpPr>
            <a:spLocks noGrp="1"/>
          </p:cNvSpPr>
          <p:nvPr/>
        </p:nvSpPr>
        <p:spPr>
          <a:xfrm>
            <a:off x="812800" y="995660"/>
            <a:ext cx="10883392" cy="274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400"/>
              <a:buFont typeface="Noto Sans JP" panose="020B0200000000000000" charset="-122"/>
              <a:buNone/>
            </a:pPr>
            <a:r>
              <a:rPr sz="14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GKE ではなく Cloud Run を選ぶ判断基準（本件＝日次ファイル IF バッチ）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" name="Google Shape;49;p2"/>
          <p:cNvSpPr>
            <a:spLocks noGrp="1"/>
          </p:cNvSpPr>
          <p:nvPr/>
        </p:nvSpPr>
        <p:spPr>
          <a:xfrm>
            <a:off x="815975" y="1400076"/>
            <a:ext cx="5213350" cy="1575991"/>
          </a:xfrm>
          <a:prstGeom prst="roundRect">
            <a:avLst>
              <a:gd name="adj" fmla="val 3828"/>
            </a:avLst>
          </a:prstGeom>
          <a:solidFill>
            <a:srgbClr val="F1F3F8"/>
          </a:solidFill>
          <a:ln w="9525" cmpd="sng">
            <a:solidFill>
              <a:srgbClr val="DCE1E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0" name="Google Shape;50;p2"/>
          <p:cNvSpPr>
            <a:spLocks noGrp="1"/>
          </p:cNvSpPr>
          <p:nvPr/>
        </p:nvSpPr>
        <p:spPr>
          <a:xfrm>
            <a:off x="996950" y="1542951"/>
            <a:ext cx="4996942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500"/>
              <a:buFont typeface="Noto Sans JP" panose="020B0200000000000000" charset="-122"/>
              <a:buNone/>
            </a:pPr>
            <a:r>
              <a:rPr sz="15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① 動き方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1" name="Google Shape;51;p2"/>
          <p:cNvSpPr>
            <a:spLocks noGrp="1"/>
          </p:cNvSpPr>
          <p:nvPr/>
        </p:nvSpPr>
        <p:spPr>
          <a:xfrm>
            <a:off x="996950" y="1860451"/>
            <a:ext cx="1905000" cy="264120"/>
          </a:xfrm>
          <a:prstGeom prst="roundRect">
            <a:avLst>
              <a:gd name="adj" fmla="val 14425"/>
            </a:avLst>
          </a:prstGeom>
          <a:solidFill>
            <a:srgbClr val="1E235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2" name="Google Shape;52;p2"/>
          <p:cNvSpPr>
            <a:spLocks noGrp="1"/>
          </p:cNvSpPr>
          <p:nvPr/>
        </p:nvSpPr>
        <p:spPr>
          <a:xfrm>
            <a:off x="1085850" y="1885851"/>
            <a:ext cx="1779016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CFCFD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FCFCFD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Cloud Run Jobs（採用）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3" name="Google Shape;53;p2"/>
          <p:cNvSpPr>
            <a:spLocks noGrp="1"/>
          </p:cNvSpPr>
          <p:nvPr/>
        </p:nvSpPr>
        <p:spPr>
          <a:xfrm>
            <a:off x="3003550" y="1860451"/>
            <a:ext cx="2930144" cy="46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時刻起動 → 処理 → 終了。遊休時は止められる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4" name="Google Shape;54;p2"/>
          <p:cNvSpPr>
            <a:spLocks noGrp="1"/>
          </p:cNvSpPr>
          <p:nvPr/>
        </p:nvSpPr>
        <p:spPr>
          <a:xfrm>
            <a:off x="996950" y="2391271"/>
            <a:ext cx="1905000" cy="264120"/>
          </a:xfrm>
          <a:prstGeom prst="roundRect">
            <a:avLst>
              <a:gd name="adj" fmla="val 14425"/>
            </a:avLst>
          </a:prstGeom>
          <a:solidFill>
            <a:srgbClr val="E4E7E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5" name="Google Shape;55;p2"/>
          <p:cNvSpPr>
            <a:spLocks noGrp="1"/>
          </p:cNvSpPr>
          <p:nvPr/>
        </p:nvSpPr>
        <p:spPr>
          <a:xfrm>
            <a:off x="1085850" y="2416671"/>
            <a:ext cx="1779016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372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5B6372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GKE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6" name="Google Shape;56;p2"/>
          <p:cNvSpPr>
            <a:spLocks noGrp="1"/>
          </p:cNvSpPr>
          <p:nvPr/>
        </p:nvSpPr>
        <p:spPr>
          <a:xfrm>
            <a:off x="3003550" y="2391271"/>
            <a:ext cx="2930144" cy="46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5B6372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5B6372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クラスタ／ノードを常設しやすく、バッチには固定費が残りやすい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7" name="Google Shape;57;p2"/>
          <p:cNvSpPr>
            <a:spLocks noGrp="1"/>
          </p:cNvSpPr>
          <p:nvPr/>
        </p:nvSpPr>
        <p:spPr>
          <a:xfrm>
            <a:off x="6162675" y="1400076"/>
            <a:ext cx="5213350" cy="1575991"/>
          </a:xfrm>
          <a:prstGeom prst="roundRect">
            <a:avLst>
              <a:gd name="adj" fmla="val 3828"/>
            </a:avLst>
          </a:prstGeom>
          <a:solidFill>
            <a:srgbClr val="F1F3F8"/>
          </a:solidFill>
          <a:ln w="9525" cmpd="sng">
            <a:solidFill>
              <a:srgbClr val="DCE1E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8" name="Google Shape;58;p2"/>
          <p:cNvSpPr>
            <a:spLocks noGrp="1"/>
          </p:cNvSpPr>
          <p:nvPr/>
        </p:nvSpPr>
        <p:spPr>
          <a:xfrm>
            <a:off x="6343650" y="1542951"/>
            <a:ext cx="4996942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500"/>
              <a:buFont typeface="Noto Sans JP" panose="020B0200000000000000" charset="-122"/>
              <a:buNone/>
            </a:pPr>
            <a:r>
              <a:rPr sz="15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② 本機の仕事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9" name="Google Shape;59;p2"/>
          <p:cNvSpPr>
            <a:spLocks noGrp="1"/>
          </p:cNvSpPr>
          <p:nvPr/>
        </p:nvSpPr>
        <p:spPr>
          <a:xfrm>
            <a:off x="6343650" y="1860451"/>
            <a:ext cx="1905000" cy="264120"/>
          </a:xfrm>
          <a:prstGeom prst="roundRect">
            <a:avLst>
              <a:gd name="adj" fmla="val 14425"/>
            </a:avLst>
          </a:prstGeom>
          <a:solidFill>
            <a:srgbClr val="1E235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0" name="Google Shape;60;p2"/>
          <p:cNvSpPr>
            <a:spLocks noGrp="1"/>
          </p:cNvSpPr>
          <p:nvPr/>
        </p:nvSpPr>
        <p:spPr>
          <a:xfrm>
            <a:off x="6432550" y="1885851"/>
            <a:ext cx="1779016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CFCFD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FCFCFD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Cloud Run Jobs（採用）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1" name="Google Shape;61;p2"/>
          <p:cNvSpPr>
            <a:spLocks noGrp="1"/>
          </p:cNvSpPr>
          <p:nvPr/>
        </p:nvSpPr>
        <p:spPr>
          <a:xfrm>
            <a:off x="8350250" y="1860451"/>
            <a:ext cx="2930144" cy="46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抽出・変換・GCS プッシュ／プル。日次バッチ変換機に適合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2" name="Google Shape;62;p2"/>
          <p:cNvSpPr>
            <a:spLocks noGrp="1"/>
          </p:cNvSpPr>
          <p:nvPr/>
        </p:nvSpPr>
        <p:spPr>
          <a:xfrm>
            <a:off x="6343650" y="2391271"/>
            <a:ext cx="1905000" cy="264120"/>
          </a:xfrm>
          <a:prstGeom prst="roundRect">
            <a:avLst>
              <a:gd name="adj" fmla="val 14425"/>
            </a:avLst>
          </a:prstGeom>
          <a:solidFill>
            <a:srgbClr val="E4E7E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3" name="Google Shape;63;p2"/>
          <p:cNvSpPr>
            <a:spLocks noGrp="1"/>
          </p:cNvSpPr>
          <p:nvPr/>
        </p:nvSpPr>
        <p:spPr>
          <a:xfrm>
            <a:off x="6432550" y="2416671"/>
            <a:ext cx="1779016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372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5B6372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GKE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4" name="Google Shape;64;p2"/>
          <p:cNvSpPr>
            <a:spLocks noGrp="1"/>
          </p:cNvSpPr>
          <p:nvPr/>
        </p:nvSpPr>
        <p:spPr>
          <a:xfrm>
            <a:off x="8350250" y="2391271"/>
            <a:ext cx="2930144" cy="46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5B6372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5B6372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向きはマイクロサービス／常時 API。本件の主用途ではない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5" name="Google Shape;65;p2"/>
          <p:cNvSpPr>
            <a:spLocks noGrp="1"/>
          </p:cNvSpPr>
          <p:nvPr/>
        </p:nvSpPr>
        <p:spPr>
          <a:xfrm>
            <a:off x="815975" y="3109416"/>
            <a:ext cx="5213350" cy="1575991"/>
          </a:xfrm>
          <a:prstGeom prst="roundRect">
            <a:avLst>
              <a:gd name="adj" fmla="val 3828"/>
            </a:avLst>
          </a:prstGeom>
          <a:solidFill>
            <a:srgbClr val="F1F3F8"/>
          </a:solidFill>
          <a:ln w="9525" cmpd="sng">
            <a:solidFill>
              <a:srgbClr val="DCE1E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6" name="Google Shape;66;p2"/>
          <p:cNvSpPr>
            <a:spLocks noGrp="1"/>
          </p:cNvSpPr>
          <p:nvPr/>
        </p:nvSpPr>
        <p:spPr>
          <a:xfrm>
            <a:off x="996950" y="3252291"/>
            <a:ext cx="4996942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500"/>
              <a:buFont typeface="Noto Sans JP" panose="020B0200000000000000" charset="-122"/>
              <a:buNone/>
            </a:pPr>
            <a:r>
              <a:rPr sz="15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③ ストレージ方針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7" name="Google Shape;67;p2"/>
          <p:cNvSpPr>
            <a:spLocks noGrp="1"/>
          </p:cNvSpPr>
          <p:nvPr/>
        </p:nvSpPr>
        <p:spPr>
          <a:xfrm>
            <a:off x="996950" y="3569791"/>
            <a:ext cx="1905000" cy="264120"/>
          </a:xfrm>
          <a:prstGeom prst="roundRect">
            <a:avLst>
              <a:gd name="adj" fmla="val 14425"/>
            </a:avLst>
          </a:prstGeom>
          <a:solidFill>
            <a:srgbClr val="1E235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8" name="Google Shape;68;p2"/>
          <p:cNvSpPr>
            <a:spLocks noGrp="1"/>
          </p:cNvSpPr>
          <p:nvPr/>
        </p:nvSpPr>
        <p:spPr>
          <a:xfrm>
            <a:off x="1085850" y="3595191"/>
            <a:ext cx="1779016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CFCFD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FCFCFD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Cloud Run Jobs（採用）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9" name="Google Shape;69;p2"/>
          <p:cNvSpPr>
            <a:spLocks noGrp="1"/>
          </p:cNvSpPr>
          <p:nvPr/>
        </p:nvSpPr>
        <p:spPr>
          <a:xfrm>
            <a:off x="3003550" y="3569791"/>
            <a:ext cx="2930144" cy="46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ステートレス。正本は GCS のみ。本機ディスク／ステージングなし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0" name="Google Shape;70;p2"/>
          <p:cNvSpPr>
            <a:spLocks noGrp="1"/>
          </p:cNvSpPr>
          <p:nvPr/>
        </p:nvSpPr>
        <p:spPr>
          <a:xfrm>
            <a:off x="996950" y="4100612"/>
            <a:ext cx="1905000" cy="264120"/>
          </a:xfrm>
          <a:prstGeom prst="roundRect">
            <a:avLst>
              <a:gd name="adj" fmla="val 14425"/>
            </a:avLst>
          </a:prstGeom>
          <a:solidFill>
            <a:srgbClr val="E4E7E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1" name="Google Shape;71;p2"/>
          <p:cNvSpPr>
            <a:spLocks noGrp="1"/>
          </p:cNvSpPr>
          <p:nvPr/>
        </p:nvSpPr>
        <p:spPr>
          <a:xfrm>
            <a:off x="1085850" y="4126012"/>
            <a:ext cx="1779016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372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5B6372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GKE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2" name="Google Shape;72;p2"/>
          <p:cNvSpPr>
            <a:spLocks noGrp="1"/>
          </p:cNvSpPr>
          <p:nvPr/>
        </p:nvSpPr>
        <p:spPr>
          <a:xfrm>
            <a:off x="3003550" y="4100612"/>
            <a:ext cx="2930144" cy="46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5B6372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5B6372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ノード・永続ボリューム運用前提。GCS 集約の設計と齟齬しやすい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3" name="Google Shape;73;p2"/>
          <p:cNvSpPr>
            <a:spLocks noGrp="1"/>
          </p:cNvSpPr>
          <p:nvPr/>
        </p:nvSpPr>
        <p:spPr>
          <a:xfrm>
            <a:off x="6162675" y="3109416"/>
            <a:ext cx="5213350" cy="1575991"/>
          </a:xfrm>
          <a:prstGeom prst="roundRect">
            <a:avLst>
              <a:gd name="adj" fmla="val 3828"/>
            </a:avLst>
          </a:prstGeom>
          <a:solidFill>
            <a:srgbClr val="F1F3F8"/>
          </a:solidFill>
          <a:ln w="9525" cmpd="sng">
            <a:solidFill>
              <a:srgbClr val="DCE1E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4" name="Google Shape;74;p2"/>
          <p:cNvSpPr>
            <a:spLocks noGrp="1"/>
          </p:cNvSpPr>
          <p:nvPr/>
        </p:nvSpPr>
        <p:spPr>
          <a:xfrm>
            <a:off x="6343650" y="3252291"/>
            <a:ext cx="4996942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500"/>
              <a:buFont typeface="Noto Sans JP" panose="020B0200000000000000" charset="-122"/>
              <a:buNone/>
            </a:pPr>
            <a:r>
              <a:rPr sz="15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④ 運用・費用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5" name="Google Shape;75;p2"/>
          <p:cNvSpPr>
            <a:spLocks noGrp="1"/>
          </p:cNvSpPr>
          <p:nvPr/>
        </p:nvSpPr>
        <p:spPr>
          <a:xfrm>
            <a:off x="6343650" y="3569791"/>
            <a:ext cx="1905000" cy="264120"/>
          </a:xfrm>
          <a:prstGeom prst="roundRect">
            <a:avLst>
              <a:gd name="adj" fmla="val 14425"/>
            </a:avLst>
          </a:prstGeom>
          <a:solidFill>
            <a:srgbClr val="1E235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6" name="Google Shape;76;p2"/>
          <p:cNvSpPr>
            <a:spLocks noGrp="1"/>
          </p:cNvSpPr>
          <p:nvPr/>
        </p:nvSpPr>
        <p:spPr>
          <a:xfrm>
            <a:off x="6432550" y="3595191"/>
            <a:ext cx="1779016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CFCFD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FCFCFD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Cloud Run Jobs（採用）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7" name="Google Shape;77;p2"/>
          <p:cNvSpPr>
            <a:spLocks noGrp="1"/>
          </p:cNvSpPr>
          <p:nvPr/>
        </p:nvSpPr>
        <p:spPr>
          <a:xfrm>
            <a:off x="8350250" y="3569791"/>
            <a:ext cx="2930144" cy="46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 fontScale="88115"/>
          </a:bodyPr>
          <a:lstStyle/>
          <a:p>
            <a:pPr marL="0" marR="0" lvl="0" indent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従量バッチ向き。prod 3h/日・保管30日で月約 ¥25,069（転送が大半）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8" name="Google Shape;78;p2"/>
          <p:cNvSpPr>
            <a:spLocks noGrp="1"/>
          </p:cNvSpPr>
          <p:nvPr/>
        </p:nvSpPr>
        <p:spPr>
          <a:xfrm>
            <a:off x="6343650" y="4100612"/>
            <a:ext cx="1905000" cy="264120"/>
          </a:xfrm>
          <a:prstGeom prst="roundRect">
            <a:avLst>
              <a:gd name="adj" fmla="val 14425"/>
            </a:avLst>
          </a:prstGeom>
          <a:solidFill>
            <a:srgbClr val="E4E7E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9" name="Google Shape;79;p2"/>
          <p:cNvSpPr>
            <a:spLocks noGrp="1"/>
          </p:cNvSpPr>
          <p:nvPr/>
        </p:nvSpPr>
        <p:spPr>
          <a:xfrm>
            <a:off x="6432550" y="4126012"/>
            <a:ext cx="1779016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372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5B6372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GKE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0" name="Google Shape;80;p2"/>
          <p:cNvSpPr>
            <a:spLocks noGrp="1"/>
          </p:cNvSpPr>
          <p:nvPr/>
        </p:nvSpPr>
        <p:spPr>
          <a:xfrm>
            <a:off x="8350250" y="4100612"/>
            <a:ext cx="2930144" cy="46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5B6372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5B6372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クラスタ費＋運用負荷が大きい。常駐案は月 +¥2万前後になり得る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1" name="Google Shape;81;p2"/>
          <p:cNvSpPr>
            <a:spLocks noGrp="1"/>
          </p:cNvSpPr>
          <p:nvPr/>
        </p:nvSpPr>
        <p:spPr>
          <a:xfrm>
            <a:off x="812800" y="4840982"/>
            <a:ext cx="10566400" cy="749300"/>
          </a:xfrm>
          <a:prstGeom prst="roundRect">
            <a:avLst>
              <a:gd name="adj" fmla="val 8475"/>
            </a:avLst>
          </a:prstGeom>
          <a:solidFill>
            <a:srgbClr val="1E235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2"/>
          <p:cNvSpPr>
            <a:spLocks noGrp="1"/>
          </p:cNvSpPr>
          <p:nvPr/>
        </p:nvSpPr>
        <p:spPr>
          <a:xfrm>
            <a:off x="1016000" y="4967982"/>
            <a:ext cx="10464800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CFCFD"/>
              </a:buClr>
              <a:buSzPts val="1300"/>
              <a:buFont typeface="Noto Sans JP" panose="020B0200000000000000" charset="-122"/>
              <a:buNone/>
            </a:pPr>
            <a:r>
              <a:rPr sz="1300" b="1" i="0" u="none" cap="none">
                <a:solidFill>
                  <a:srgbClr val="FCFCFD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結論：</a:t>
            </a:r>
            <a:r>
              <a:rPr sz="1300" b="0" i="0" u="none" cap="none">
                <a:solidFill>
                  <a:srgbClr val="FCFCFD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常時動かす基盤ではなく、必要なときだけ動くバッチなので Cloud Run Jobs を採用します。GKE は常設クラスタ前提で、今回の IF 機には過剰です。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3" name="Google Shape;83;p2"/>
          <p:cNvSpPr>
            <a:spLocks noGrp="1"/>
          </p:cNvSpPr>
          <p:nvPr/>
        </p:nvSpPr>
        <p:spPr>
          <a:xfrm>
            <a:off x="10058400" y="6339880"/>
            <a:ext cx="1320800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A1AE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9AA1AE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2 / 7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9" name="Google Shape;89;h4b4b0ebc97ee4989_0_0"/>
          <p:cNvSpPr>
            <a:spLocks noGrp="1"/>
          </p:cNvSpPr>
          <p:nvPr/>
        </p:nvSpPr>
        <p:spPr>
          <a:xfrm>
            <a:off x="812800" y="457200"/>
            <a:ext cx="10883400" cy="5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3180"/>
              <a:buFont typeface="Noto Sans JP" panose="020B0200000000000000" charset="-122"/>
              <a:buNone/>
            </a:pPr>
            <a:r>
              <a:rPr sz="318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SCM連携</a:t>
            </a:r>
            <a:r>
              <a:rPr sz="3180" b="1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GCP</a:t>
            </a:r>
            <a:r>
              <a:rPr sz="318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　申請構成図</a:t>
            </a:r>
            <a:endParaRPr sz="318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" name="Google Shape;90;h4b4b0ebc97ee4989_0_0"/>
          <p:cNvSpPr>
            <a:spLocks noGrp="1"/>
          </p:cNvSpPr>
          <p:nvPr/>
        </p:nvSpPr>
        <p:spPr>
          <a:xfrm>
            <a:off x="812800" y="1028799"/>
            <a:ext cx="10566300" cy="381300"/>
          </a:xfrm>
          <a:prstGeom prst="rect">
            <a:avLst/>
          </a:prstGeom>
          <a:solidFill>
            <a:srgbClr val="4284F3"/>
          </a:solidFill>
          <a:ln>
            <a:noFill/>
          </a:ln>
          <a:effectLst>
            <a:outerShdw blurRad="25400" dist="12700" dir="5400000" algn="bl" rotWithShape="0">
              <a:srgbClr val="3C4043">
                <a:alpha val="30200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1" name="Google Shape;91;h4b4b0ebc97ee4989_0_0"/>
          <p:cNvSpPr>
            <a:spLocks noGrp="1"/>
          </p:cNvSpPr>
          <p:nvPr/>
        </p:nvSpPr>
        <p:spPr>
          <a:xfrm>
            <a:off x="990600" y="1104999"/>
            <a:ext cx="105171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Noto Sans JP" panose="020B0200000000000000" charset="-122"/>
              <a:buNone/>
            </a:pPr>
            <a:r>
              <a:rPr sz="1300" b="0" i="0" u="none" cap="none">
                <a:solidFill>
                  <a:srgbClr val="FFFFFF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Architecture：大阪 集計GCS → 本PJ（東京）で SMART 日次処理 → seiyu-trial-data-exchange へ最終TXTのみ一方向納品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2" name="Google Shape;92;h4b4b0ebc97ee4989_0_0"/>
          <p:cNvSpPr>
            <a:spLocks noGrp="1"/>
          </p:cNvSpPr>
          <p:nvPr/>
        </p:nvSpPr>
        <p:spPr>
          <a:xfrm>
            <a:off x="812800" y="2883198"/>
            <a:ext cx="1587600" cy="1587600"/>
          </a:xfrm>
          <a:prstGeom prst="roundRect">
            <a:avLst>
              <a:gd name="adj" fmla="val 800"/>
            </a:avLst>
          </a:prstGeom>
          <a:solidFill>
            <a:srgbClr val="E1F5F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3" name="Google Shape;93;h4b4b0ebc97ee4989_0_0"/>
          <p:cNvSpPr>
            <a:spLocks noGrp="1"/>
          </p:cNvSpPr>
          <p:nvPr/>
        </p:nvSpPr>
        <p:spPr>
          <a:xfrm>
            <a:off x="914400" y="2946698"/>
            <a:ext cx="1435200" cy="6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Noto Sans JP" panose="020B0200000000000000" charset="-122"/>
              <a:buNone/>
            </a:pPr>
            <a:r>
              <a:rPr sz="1000">
                <a:solidFill>
                  <a:srgbClr val="5F6368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TRIAL</a:t>
            </a:r>
            <a:r>
              <a:rPr sz="1000" b="0" i="0" u="none" cap="none">
                <a:solidFill>
                  <a:srgbClr val="5F6368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（</a:t>
            </a:r>
            <a:r>
              <a:rPr sz="1000">
                <a:solidFill>
                  <a:srgbClr val="5F6368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既存</a:t>
            </a:r>
            <a:r>
              <a:rPr sz="1000" b="0" i="0" u="none" cap="none">
                <a:solidFill>
                  <a:srgbClr val="5F6368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）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5F6368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 asia-northeast2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4" name="Google Shape;94;h4b4b0ebc97ee4989_0_0"/>
          <p:cNvSpPr>
            <a:spLocks noGrp="1"/>
          </p:cNvSpPr>
          <p:nvPr/>
        </p:nvSpPr>
        <p:spPr>
          <a:xfrm>
            <a:off x="2590800" y="1498898"/>
            <a:ext cx="7048500" cy="4127400"/>
          </a:xfrm>
          <a:prstGeom prst="roundRect">
            <a:avLst>
              <a:gd name="adj" fmla="val 308"/>
            </a:avLst>
          </a:prstGeom>
          <a:solidFill>
            <a:srgbClr val="F6F6F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5" name="Google Shape;95;h4b4b0ebc97ee4989_0_0"/>
          <p:cNvSpPr>
            <a:spLocks noGrp="1"/>
          </p:cNvSpPr>
          <p:nvPr/>
        </p:nvSpPr>
        <p:spPr>
          <a:xfrm>
            <a:off x="2692400" y="1562398"/>
            <a:ext cx="7050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5F6368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Google Cloud</a:t>
            </a:r>
            <a:r>
              <a:rPr sz="1200" b="0" i="0" u="none" cap="none">
                <a:solidFill>
                  <a:srgbClr val="5F6368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　本PJ md-data-integration（dev / stg / prod）｜東京 asia-northeast1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6" name="Google Shape;96;h4b4b0ebc97ee4989_0_0"/>
          <p:cNvSpPr>
            <a:spLocks noGrp="1"/>
          </p:cNvSpPr>
          <p:nvPr/>
        </p:nvSpPr>
        <p:spPr>
          <a:xfrm>
            <a:off x="2717800" y="1854498"/>
            <a:ext cx="6794400" cy="952500"/>
          </a:xfrm>
          <a:prstGeom prst="roundRect">
            <a:avLst>
              <a:gd name="adj" fmla="val 1333"/>
            </a:avLst>
          </a:prstGeom>
          <a:solidFill>
            <a:srgbClr val="E3F2F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7" name="Google Shape;97;h4b4b0ebc97ee4989_0_0"/>
          <p:cNvSpPr>
            <a:spLocks noGrp="1"/>
          </p:cNvSpPr>
          <p:nvPr/>
        </p:nvSpPr>
        <p:spPr>
          <a:xfrm>
            <a:off x="2819400" y="1917998"/>
            <a:ext cx="6789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Noto Sans JP" panose="020B0200000000000000" charset="-122"/>
              <a:buNone/>
            </a:pPr>
            <a:r>
              <a:rPr sz="1000" b="0" i="0" u="none" cap="none">
                <a:solidFill>
                  <a:srgbClr val="5F6368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制御（オーケストレーション）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8" name="Google Shape;98;h4b4b0ebc97ee4989_0_0"/>
          <p:cNvSpPr>
            <a:spLocks noGrp="1"/>
          </p:cNvSpPr>
          <p:nvPr/>
        </p:nvSpPr>
        <p:spPr>
          <a:xfrm>
            <a:off x="2717800" y="2883198"/>
            <a:ext cx="6794400" cy="1587600"/>
          </a:xfrm>
          <a:prstGeom prst="roundRect">
            <a:avLst>
              <a:gd name="adj" fmla="val 800"/>
            </a:avLst>
          </a:prstGeom>
          <a:solidFill>
            <a:srgbClr val="E3F2F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9" name="Google Shape;99;h4b4b0ebc97ee4989_0_0"/>
          <p:cNvSpPr>
            <a:spLocks noGrp="1"/>
          </p:cNvSpPr>
          <p:nvPr/>
        </p:nvSpPr>
        <p:spPr>
          <a:xfrm>
            <a:off x="2819400" y="2946698"/>
            <a:ext cx="6789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5F6368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データ処理（今回申請）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0" name="Google Shape;100;h4b4b0ebc97ee4989_0_0"/>
          <p:cNvSpPr>
            <a:spLocks noGrp="1"/>
          </p:cNvSpPr>
          <p:nvPr/>
        </p:nvSpPr>
        <p:spPr>
          <a:xfrm>
            <a:off x="2717800" y="4546898"/>
            <a:ext cx="6794400" cy="990600"/>
          </a:xfrm>
          <a:prstGeom prst="roundRect">
            <a:avLst>
              <a:gd name="adj" fmla="val 1282"/>
            </a:avLst>
          </a:prstGeom>
          <a:solidFill>
            <a:srgbClr val="F1F8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1" name="Google Shape;101;h4b4b0ebc97ee4989_0_0"/>
          <p:cNvSpPr>
            <a:spLocks noGrp="1"/>
          </p:cNvSpPr>
          <p:nvPr/>
        </p:nvSpPr>
        <p:spPr>
          <a:xfrm>
            <a:off x="2819400" y="4610398"/>
            <a:ext cx="6789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5F6368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運用・監視・権限（今回申請）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2" name="Google Shape;102;h4b4b0ebc97ee4989_0_0"/>
          <p:cNvSpPr>
            <a:spLocks noGrp="1"/>
          </p:cNvSpPr>
          <p:nvPr/>
        </p:nvSpPr>
        <p:spPr>
          <a:xfrm>
            <a:off x="914400" y="3340398"/>
            <a:ext cx="1384200" cy="1041300"/>
          </a:xfrm>
          <a:prstGeom prst="roundRect">
            <a:avLst>
              <a:gd name="adj" fmla="val 1220"/>
            </a:avLst>
          </a:prstGeom>
          <a:solidFill>
            <a:srgbClr val="FFFFFF"/>
          </a:solidFill>
          <a:ln>
            <a:noFill/>
          </a:ln>
          <a:effectLst>
            <a:outerShdw blurRad="12700" dist="6350" dir="5400000" algn="bl" rotWithShape="0">
              <a:srgbClr val="3C4043">
                <a:alpha val="30200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07" name="Google Shape;103;h4b4b0ebc97ee4989_0_0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16000" y="3462238"/>
            <a:ext cx="304800" cy="304800"/>
          </a:xfrm>
          <a:prstGeom prst="rect">
            <a:avLst/>
          </a:prstGeom>
          <a:ln>
            <a:noFill/>
          </a:ln>
        </p:spPr>
      </p:pic>
      <p:sp>
        <p:nvSpPr>
          <p:cNvPr id="104" name="Google Shape;104;h4b4b0ebc97ee4989_0_0"/>
          <p:cNvSpPr>
            <a:spLocks noGrp="1"/>
          </p:cNvSpPr>
          <p:nvPr/>
        </p:nvSpPr>
        <p:spPr>
          <a:xfrm>
            <a:off x="1397000" y="3416598"/>
            <a:ext cx="8508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Noto Sans JP" panose="020B0200000000000000" charset="-122"/>
              <a:buNone/>
            </a:pPr>
            <a:r>
              <a:rPr sz="1100" b="0" i="0" u="none" cap="none">
                <a:solidFill>
                  <a:schemeClr val="dk1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集計</a:t>
            </a:r>
            <a:r>
              <a:rPr sz="1100">
                <a:solidFill>
                  <a:schemeClr val="dk1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データ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5" name="Google Shape;105;h4b4b0ebc97ee4989_0_0"/>
          <p:cNvSpPr>
            <a:spLocks noGrp="1"/>
          </p:cNvSpPr>
          <p:nvPr/>
        </p:nvSpPr>
        <p:spPr>
          <a:xfrm>
            <a:off x="1016000" y="3838079"/>
            <a:ext cx="12318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202124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Cloud Storage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6" name="Google Shape;106;h4b4b0ebc97ee4989_0_0"/>
          <p:cNvSpPr>
            <a:spLocks noGrp="1"/>
          </p:cNvSpPr>
          <p:nvPr/>
        </p:nvSpPr>
        <p:spPr>
          <a:xfrm>
            <a:off x="2819400" y="2133898"/>
            <a:ext cx="2031900" cy="58410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>
            <a:noFill/>
          </a:ln>
          <a:effectLst>
            <a:outerShdw blurRad="12700" dist="6350" dir="5400000" algn="bl" rotWithShape="0">
              <a:srgbClr val="3C4043">
                <a:alpha val="30200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11" name="Google Shape;107;h4b4b0ebc97ee4989_0_0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908300" y="2273598"/>
            <a:ext cx="304800" cy="304800"/>
          </a:xfrm>
          <a:prstGeom prst="rect">
            <a:avLst/>
          </a:prstGeom>
          <a:ln>
            <a:noFill/>
          </a:ln>
        </p:spPr>
      </p:pic>
      <p:sp>
        <p:nvSpPr>
          <p:cNvPr id="108" name="Google Shape;108;h4b4b0ebc97ee4989_0_0"/>
          <p:cNvSpPr>
            <a:spLocks noGrp="1"/>
          </p:cNvSpPr>
          <p:nvPr/>
        </p:nvSpPr>
        <p:spPr>
          <a:xfrm>
            <a:off x="3289300" y="2227957"/>
            <a:ext cx="1524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Noto Sans JP" panose="020B0200000000000000" charset="-122"/>
              <a:buNone/>
            </a:pPr>
            <a:r>
              <a:rPr sz="1000" b="0" i="0" u="none" cap="none">
                <a:solidFill>
                  <a:srgbClr val="5F6368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毎日 指定時刻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9" name="Google Shape;109;h4b4b0ebc97ee4989_0_0"/>
          <p:cNvSpPr>
            <a:spLocks noGrp="1"/>
          </p:cNvSpPr>
          <p:nvPr/>
        </p:nvSpPr>
        <p:spPr>
          <a:xfrm>
            <a:off x="3289300" y="2425998"/>
            <a:ext cx="1524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202124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Cloud Scheduler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0" name="Google Shape;110;h4b4b0ebc97ee4989_0_0"/>
          <p:cNvSpPr>
            <a:spLocks noGrp="1"/>
          </p:cNvSpPr>
          <p:nvPr/>
        </p:nvSpPr>
        <p:spPr>
          <a:xfrm>
            <a:off x="5054600" y="2133898"/>
            <a:ext cx="2667000" cy="58410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>
            <a:noFill/>
          </a:ln>
          <a:effectLst>
            <a:outerShdw blurRad="12700" dist="6350" dir="5400000" algn="bl" rotWithShape="0">
              <a:srgbClr val="3C4043">
                <a:alpha val="30200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15" name="Google Shape;111;h4b4b0ebc97ee4989_0_0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143500" y="2273598"/>
            <a:ext cx="304800" cy="304800"/>
          </a:xfrm>
          <a:prstGeom prst="rect">
            <a:avLst/>
          </a:prstGeom>
          <a:ln>
            <a:noFill/>
          </a:ln>
        </p:spPr>
      </p:pic>
      <p:sp>
        <p:nvSpPr>
          <p:cNvPr id="112" name="Google Shape;112;h4b4b0ebc97ee4989_0_0"/>
          <p:cNvSpPr>
            <a:spLocks noGrp="1"/>
          </p:cNvSpPr>
          <p:nvPr/>
        </p:nvSpPr>
        <p:spPr>
          <a:xfrm>
            <a:off x="5524500" y="2227957"/>
            <a:ext cx="21714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Noto Sans JP" panose="020B0200000000000000" charset="-122"/>
              <a:buNone/>
            </a:pPr>
            <a:r>
              <a:rPr sz="1000" b="0" i="0" u="none" cap="none">
                <a:solidFill>
                  <a:srgbClr val="5F6368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READY → STS → Job → 検証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3" name="Google Shape;113;h4b4b0ebc97ee4989_0_0"/>
          <p:cNvSpPr>
            <a:spLocks noGrp="1"/>
          </p:cNvSpPr>
          <p:nvPr/>
        </p:nvSpPr>
        <p:spPr>
          <a:xfrm>
            <a:off x="5524500" y="2425998"/>
            <a:ext cx="21714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202124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Workflows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4" name="Google Shape;114;h4b4b0ebc97ee4989_0_0"/>
          <p:cNvSpPr>
            <a:spLocks noGrp="1"/>
          </p:cNvSpPr>
          <p:nvPr/>
        </p:nvSpPr>
        <p:spPr>
          <a:xfrm>
            <a:off x="7931150" y="2140248"/>
            <a:ext cx="1473300" cy="57150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12700" cmpd="sng">
            <a:solidFill>
              <a:srgbClr val="4284F3"/>
            </a:solidFill>
            <a:prstDash val="dash"/>
            <a:headEnd type="none" w="sm" len="sm"/>
            <a:tailEnd type="none" w="sm" len="sm"/>
          </a:ln>
          <a:effectLst>
            <a:outerShdw blurRad="12700" dist="6350" dir="5400000" algn="bl" rotWithShape="0">
              <a:srgbClr val="3C4043">
                <a:alpha val="30200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5" name="Google Shape;115;h4b4b0ebc97ee4989_0_0"/>
          <p:cNvSpPr>
            <a:spLocks noGrp="1"/>
          </p:cNvSpPr>
          <p:nvPr/>
        </p:nvSpPr>
        <p:spPr>
          <a:xfrm>
            <a:off x="8026400" y="2227957"/>
            <a:ext cx="13335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5F6368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将来（要突合）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6" name="Google Shape;116;h4b4b0ebc97ee4989_0_0"/>
          <p:cNvSpPr>
            <a:spLocks noGrp="1"/>
          </p:cNvSpPr>
          <p:nvPr/>
        </p:nvSpPr>
        <p:spPr>
          <a:xfrm>
            <a:off x="8026400" y="2425998"/>
            <a:ext cx="13335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202124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Hinemos 起動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7" name="Google Shape;117;h4b4b0ebc97ee4989_0_0"/>
          <p:cNvSpPr>
            <a:spLocks noGrp="1"/>
          </p:cNvSpPr>
          <p:nvPr/>
        </p:nvSpPr>
        <p:spPr>
          <a:xfrm>
            <a:off x="2819400" y="3162598"/>
            <a:ext cx="1841400" cy="1219200"/>
          </a:xfrm>
          <a:prstGeom prst="roundRect">
            <a:avLst>
              <a:gd name="adj" fmla="val 1042"/>
            </a:avLst>
          </a:prstGeom>
          <a:solidFill>
            <a:srgbClr val="FFFFFF"/>
          </a:solidFill>
          <a:ln>
            <a:noFill/>
          </a:ln>
          <a:effectLst>
            <a:outerShdw blurRad="12700" dist="6350" dir="5400000" algn="bl" rotWithShape="0">
              <a:srgbClr val="3C4043">
                <a:alpha val="30200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22" name="Google Shape;118;h4b4b0ebc97ee4989_0_0"/>
          <p:cNvPicPr>
            <a:picLocks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921000" y="3238798"/>
            <a:ext cx="304800" cy="304800"/>
          </a:xfrm>
          <a:prstGeom prst="rect">
            <a:avLst/>
          </a:prstGeom>
          <a:ln>
            <a:noFill/>
          </a:ln>
        </p:spPr>
      </p:pic>
      <p:sp>
        <p:nvSpPr>
          <p:cNvPr id="119" name="Google Shape;119;h4b4b0ebc97ee4989_0_0"/>
          <p:cNvSpPr>
            <a:spLocks noGrp="1"/>
          </p:cNvSpPr>
          <p:nvPr/>
        </p:nvSpPr>
        <p:spPr>
          <a:xfrm>
            <a:off x="3302000" y="3292177"/>
            <a:ext cx="1308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Noto Sans JP" panose="020B0200000000000000" charset="-122"/>
              <a:buNone/>
            </a:pPr>
            <a:r>
              <a:rPr sz="11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データコピー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0" name="Google Shape;120;h4b4b0ebc97ee4989_0_0"/>
          <p:cNvSpPr>
            <a:spLocks noGrp="1"/>
          </p:cNvSpPr>
          <p:nvPr/>
        </p:nvSpPr>
        <p:spPr>
          <a:xfrm>
            <a:off x="2921000" y="3568998"/>
            <a:ext cx="16890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202124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Storage Transfer Service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1" name="Google Shape;121;h4b4b0ebc97ee4989_0_0"/>
          <p:cNvSpPr>
            <a:spLocks noGrp="1"/>
          </p:cNvSpPr>
          <p:nvPr/>
        </p:nvSpPr>
        <p:spPr>
          <a:xfrm>
            <a:off x="2921000" y="3990479"/>
            <a:ext cx="168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5F6368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manifest / prefix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2" name="Google Shape;122;h4b4b0ebc97ee4989_0_0"/>
          <p:cNvSpPr>
            <a:spLocks noGrp="1"/>
          </p:cNvSpPr>
          <p:nvPr/>
        </p:nvSpPr>
        <p:spPr>
          <a:xfrm>
            <a:off x="5118100" y="3162598"/>
            <a:ext cx="1905000" cy="1219200"/>
          </a:xfrm>
          <a:prstGeom prst="roundRect">
            <a:avLst>
              <a:gd name="adj" fmla="val 1042"/>
            </a:avLst>
          </a:prstGeom>
          <a:solidFill>
            <a:srgbClr val="FFFFFF"/>
          </a:solidFill>
          <a:ln>
            <a:noFill/>
          </a:ln>
          <a:effectLst>
            <a:outerShdw blurRad="12700" dist="6350" dir="5400000" algn="bl" rotWithShape="0">
              <a:srgbClr val="3C4043">
                <a:alpha val="30200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27" name="Google Shape;123;h4b4b0ebc97ee4989_0_0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219700" y="3284438"/>
            <a:ext cx="304800" cy="304800"/>
          </a:xfrm>
          <a:prstGeom prst="rect">
            <a:avLst/>
          </a:prstGeom>
          <a:ln>
            <a:noFill/>
          </a:ln>
        </p:spPr>
      </p:pic>
      <p:sp>
        <p:nvSpPr>
          <p:cNvPr id="124" name="Google Shape;124;h4b4b0ebc97ee4989_0_0"/>
          <p:cNvSpPr>
            <a:spLocks noGrp="1"/>
          </p:cNvSpPr>
          <p:nvPr/>
        </p:nvSpPr>
        <p:spPr>
          <a:xfrm>
            <a:off x="5626050" y="3208225"/>
            <a:ext cx="13971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Noto Sans JP" panose="020B0200000000000000" charset="-122"/>
              <a:buNone/>
            </a:pPr>
            <a:r>
              <a:rPr sz="1100" b="0" i="0" u="none" cap="none">
                <a:solidFill>
                  <a:schemeClr val="dk1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データ（prod 30日保管）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5" name="Google Shape;125;h4b4b0ebc97ee4989_0_0"/>
          <p:cNvSpPr>
            <a:spLocks noGrp="1"/>
          </p:cNvSpPr>
          <p:nvPr/>
        </p:nvSpPr>
        <p:spPr>
          <a:xfrm>
            <a:off x="5219700" y="3660279"/>
            <a:ext cx="17529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202124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Cloud Storage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6" name="Google Shape;126;h4b4b0ebc97ee4989_0_0"/>
          <p:cNvSpPr>
            <a:spLocks noGrp="1"/>
          </p:cNvSpPr>
          <p:nvPr/>
        </p:nvSpPr>
        <p:spPr>
          <a:xfrm>
            <a:off x="5219700" y="3883720"/>
            <a:ext cx="17529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Noto Sans JP" panose="020B0200000000000000" charset="-122"/>
              <a:buNone/>
            </a:pPr>
            <a:r>
              <a:rPr sz="1000" b="0" i="0" u="none" cap="none">
                <a:solidFill>
                  <a:srgbClr val="5F6368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source-landing/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Noto Sans JP" panose="020B0200000000000000" charset="-122"/>
              <a:buNone/>
            </a:pPr>
            <a:r>
              <a:rPr sz="1000" b="0" i="0" u="none" cap="none">
                <a:solidFill>
                  <a:srgbClr val="5F6368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MD_DATA/YYYYMMDD/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7" name="Google Shape;127;h4b4b0ebc97ee4989_0_0"/>
          <p:cNvSpPr>
            <a:spLocks noGrp="1"/>
          </p:cNvSpPr>
          <p:nvPr/>
        </p:nvSpPr>
        <p:spPr>
          <a:xfrm>
            <a:off x="7480300" y="3162598"/>
            <a:ext cx="1930500" cy="1219200"/>
          </a:xfrm>
          <a:prstGeom prst="roundRect">
            <a:avLst>
              <a:gd name="adj" fmla="val 1042"/>
            </a:avLst>
          </a:prstGeom>
          <a:solidFill>
            <a:srgbClr val="FFFFFF"/>
          </a:solidFill>
          <a:ln>
            <a:noFill/>
          </a:ln>
          <a:effectLst>
            <a:outerShdw blurRad="12700" dist="6350" dir="5400000" algn="bl" rotWithShape="0">
              <a:srgbClr val="3C4043">
                <a:alpha val="30200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32" name="Google Shape;128;h4b4b0ebc97ee4989_0_0"/>
          <p:cNvPicPr>
            <a:picLocks noChangeAspect="1"/>
          </p:cNvPicPr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7581900" y="3238798"/>
            <a:ext cx="304800" cy="304800"/>
          </a:xfrm>
          <a:prstGeom prst="rect">
            <a:avLst/>
          </a:prstGeom>
          <a:ln>
            <a:noFill/>
          </a:ln>
        </p:spPr>
      </p:pic>
      <p:sp>
        <p:nvSpPr>
          <p:cNvPr id="129" name="Google Shape;129;h4b4b0ebc97ee4989_0_0"/>
          <p:cNvSpPr>
            <a:spLocks noGrp="1"/>
          </p:cNvSpPr>
          <p:nvPr/>
        </p:nvSpPr>
        <p:spPr>
          <a:xfrm>
            <a:off x="7962900" y="3292177"/>
            <a:ext cx="13971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Noto Sans JP" panose="020B0200000000000000" charset="-122"/>
              <a:buNone/>
            </a:pPr>
            <a:r>
              <a:rPr sz="1100" b="0" i="0" u="none" cap="none">
                <a:solidFill>
                  <a:schemeClr val="dk1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SMART 日次処理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0" name="Google Shape;130;h4b4b0ebc97ee4989_0_0"/>
          <p:cNvSpPr>
            <a:spLocks noGrp="1"/>
          </p:cNvSpPr>
          <p:nvPr/>
        </p:nvSpPr>
        <p:spPr>
          <a:xfrm>
            <a:off x="7581900" y="3568998"/>
            <a:ext cx="177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202124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Cloud Run Jobs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1" name="Google Shape;131;h4b4b0ebc97ee4989_0_0"/>
          <p:cNvSpPr>
            <a:spLocks noGrp="1"/>
          </p:cNvSpPr>
          <p:nvPr/>
        </p:nvSpPr>
        <p:spPr>
          <a:xfrm>
            <a:off x="7581900" y="3792438"/>
            <a:ext cx="17790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Noto Sans JP" panose="020B0200000000000000" charset="-122"/>
              <a:buNone/>
            </a:pPr>
            <a:r>
              <a:rPr sz="1000" b="0" i="0" u="none" cap="none">
                <a:solidFill>
                  <a:srgbClr val="5F6368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4 vCPU / 16 GiB・ステートレス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2" name="Google Shape;132;h4b4b0ebc97ee4989_0_0"/>
          <p:cNvSpPr>
            <a:spLocks noGrp="1"/>
          </p:cNvSpPr>
          <p:nvPr/>
        </p:nvSpPr>
        <p:spPr>
          <a:xfrm>
            <a:off x="2819400" y="4826298"/>
            <a:ext cx="1562100" cy="60960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>
            <a:noFill/>
          </a:ln>
          <a:effectLst>
            <a:outerShdw blurRad="12700" dist="6350" dir="5400000" algn="bl" rotWithShape="0">
              <a:srgbClr val="3C4043">
                <a:alpha val="30200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37" name="Google Shape;133;h4b4b0ebc97ee4989_0_0"/>
          <p:cNvPicPr>
            <a:picLocks noChangeAspect="1"/>
          </p:cNvPicPr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2908300" y="4978698"/>
            <a:ext cx="304800" cy="304800"/>
          </a:xfrm>
          <a:prstGeom prst="rect">
            <a:avLst/>
          </a:prstGeom>
          <a:ln>
            <a:noFill/>
          </a:ln>
        </p:spPr>
      </p:pic>
      <p:sp>
        <p:nvSpPr>
          <p:cNvPr id="134" name="Google Shape;134;h4b4b0ebc97ee4989_0_0"/>
          <p:cNvSpPr>
            <a:spLocks noGrp="1"/>
          </p:cNvSpPr>
          <p:nvPr/>
        </p:nvSpPr>
        <p:spPr>
          <a:xfrm>
            <a:off x="3289300" y="4933057"/>
            <a:ext cx="10542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202124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Artifact Registry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5" name="Google Shape;135;h4b4b0ebc97ee4989_0_0"/>
          <p:cNvSpPr>
            <a:spLocks noGrp="1"/>
          </p:cNvSpPr>
          <p:nvPr/>
        </p:nvSpPr>
        <p:spPr>
          <a:xfrm>
            <a:off x="4495800" y="4826298"/>
            <a:ext cx="1562100" cy="60960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>
            <a:noFill/>
          </a:ln>
          <a:effectLst>
            <a:outerShdw blurRad="12700" dist="6350" dir="5400000" algn="bl" rotWithShape="0">
              <a:srgbClr val="3C4043">
                <a:alpha val="30200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40" name="Google Shape;136;h4b4b0ebc97ee4989_0_0"/>
          <p:cNvPicPr>
            <a:picLocks noChangeAspect="1"/>
          </p:cNvPicPr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4584700" y="4978698"/>
            <a:ext cx="304800" cy="304800"/>
          </a:xfrm>
          <a:prstGeom prst="rect">
            <a:avLst/>
          </a:prstGeom>
          <a:ln>
            <a:noFill/>
          </a:ln>
        </p:spPr>
      </p:pic>
      <p:sp>
        <p:nvSpPr>
          <p:cNvPr id="137" name="Google Shape;137;h4b4b0ebc97ee4989_0_0"/>
          <p:cNvSpPr>
            <a:spLocks noGrp="1"/>
          </p:cNvSpPr>
          <p:nvPr/>
        </p:nvSpPr>
        <p:spPr>
          <a:xfrm>
            <a:off x="4965700" y="4933057"/>
            <a:ext cx="10542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202124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Cloud Logging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8" name="Google Shape;138;h4b4b0ebc97ee4989_0_0"/>
          <p:cNvSpPr>
            <a:spLocks noGrp="1"/>
          </p:cNvSpPr>
          <p:nvPr/>
        </p:nvSpPr>
        <p:spPr>
          <a:xfrm>
            <a:off x="6172200" y="4826298"/>
            <a:ext cx="1562100" cy="60960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>
            <a:noFill/>
          </a:ln>
          <a:effectLst>
            <a:outerShdw blurRad="12700" dist="6350" dir="5400000" algn="bl" rotWithShape="0">
              <a:srgbClr val="3C4043">
                <a:alpha val="30200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43" name="Google Shape;139;h4b4b0ebc97ee4989_0_0"/>
          <p:cNvPicPr>
            <a:picLocks noChangeAspect="1"/>
          </p:cNvPicPr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6261100" y="4978698"/>
            <a:ext cx="304800" cy="304800"/>
          </a:xfrm>
          <a:prstGeom prst="rect">
            <a:avLst/>
          </a:prstGeom>
          <a:ln>
            <a:noFill/>
          </a:ln>
        </p:spPr>
      </p:pic>
      <p:sp>
        <p:nvSpPr>
          <p:cNvPr id="140" name="Google Shape;140;h4b4b0ebc97ee4989_0_0"/>
          <p:cNvSpPr>
            <a:spLocks noGrp="1"/>
          </p:cNvSpPr>
          <p:nvPr/>
        </p:nvSpPr>
        <p:spPr>
          <a:xfrm>
            <a:off x="6642100" y="4933057"/>
            <a:ext cx="10542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202124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Cloud Monitoring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1" name="Google Shape;141;h4b4b0ebc97ee4989_0_0"/>
          <p:cNvSpPr>
            <a:spLocks noGrp="1"/>
          </p:cNvSpPr>
          <p:nvPr/>
        </p:nvSpPr>
        <p:spPr>
          <a:xfrm>
            <a:off x="7848600" y="4826298"/>
            <a:ext cx="1562100" cy="60960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>
            <a:noFill/>
          </a:ln>
          <a:effectLst>
            <a:outerShdw blurRad="12700" dist="6350" dir="5400000" algn="bl" rotWithShape="0">
              <a:srgbClr val="3C4043">
                <a:alpha val="30200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46" name="Google Shape;142;h4b4b0ebc97ee4989_0_0"/>
          <p:cNvPicPr>
            <a:picLocks noChangeAspect="1"/>
          </p:cNvPicPr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7937500" y="4978698"/>
            <a:ext cx="304800" cy="304800"/>
          </a:xfrm>
          <a:prstGeom prst="rect">
            <a:avLst/>
          </a:prstGeom>
          <a:ln>
            <a:noFill/>
          </a:ln>
        </p:spPr>
      </p:pic>
      <p:sp>
        <p:nvSpPr>
          <p:cNvPr id="143" name="Google Shape;143;h4b4b0ebc97ee4989_0_0"/>
          <p:cNvSpPr>
            <a:spLocks noGrp="1"/>
          </p:cNvSpPr>
          <p:nvPr/>
        </p:nvSpPr>
        <p:spPr>
          <a:xfrm>
            <a:off x="8318500" y="4933057"/>
            <a:ext cx="10542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5F6368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権限分離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4" name="Google Shape;144;h4b4b0ebc97ee4989_0_0"/>
          <p:cNvSpPr>
            <a:spLocks noGrp="1"/>
          </p:cNvSpPr>
          <p:nvPr/>
        </p:nvSpPr>
        <p:spPr>
          <a:xfrm>
            <a:off x="8318500" y="5131098"/>
            <a:ext cx="10542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202124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IAM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49" name="Google Shape;145;h4b4b0ebc97ee4989_0_0"/>
          <p:cNvPicPr>
            <a:picLocks noChangeAspect="1"/>
          </p:cNvPicPr>
          <p:nvPr/>
        </p:nvPicPr>
        <p:blipFill rotWithShape="1">
          <a:blip r:embed="rId10"/>
          <a:srcRect/>
          <a:stretch>
            <a:fillRect/>
          </a:stretch>
        </p:blipFill>
        <p:spPr>
          <a:xfrm>
            <a:off x="2247900" y="3829348"/>
            <a:ext cx="622300" cy="101600"/>
          </a:xfrm>
          <a:prstGeom prst="rect">
            <a:avLst/>
          </a:prstGeom>
          <a:ln>
            <a:noFill/>
          </a:ln>
        </p:spPr>
      </p:pic>
      <p:pic>
        <p:nvPicPr>
          <p:cNvPr id="250" name="Google Shape;146;h4b4b0ebc97ee4989_0_0"/>
          <p:cNvPicPr>
            <a:picLocks noChangeAspect="1"/>
          </p:cNvPicPr>
          <p:nvPr/>
        </p:nvPicPr>
        <p:blipFill rotWithShape="1">
          <a:blip r:embed="rId11"/>
          <a:srcRect/>
          <a:stretch>
            <a:fillRect/>
          </a:stretch>
        </p:blipFill>
        <p:spPr>
          <a:xfrm>
            <a:off x="4610100" y="3721398"/>
            <a:ext cx="558800" cy="101600"/>
          </a:xfrm>
          <a:prstGeom prst="rect">
            <a:avLst/>
          </a:prstGeom>
          <a:ln>
            <a:noFill/>
          </a:ln>
        </p:spPr>
      </p:pic>
      <p:pic>
        <p:nvPicPr>
          <p:cNvPr id="251" name="Google Shape;147;h4b4b0ebc97ee4989_0_0"/>
          <p:cNvPicPr>
            <a:picLocks noChangeAspect="1"/>
          </p:cNvPicPr>
          <p:nvPr/>
        </p:nvPicPr>
        <p:blipFill rotWithShape="1">
          <a:blip r:embed="rId11"/>
          <a:srcRect/>
          <a:stretch>
            <a:fillRect/>
          </a:stretch>
        </p:blipFill>
        <p:spPr>
          <a:xfrm>
            <a:off x="6972300" y="3721398"/>
            <a:ext cx="558800" cy="101600"/>
          </a:xfrm>
          <a:prstGeom prst="rect">
            <a:avLst/>
          </a:prstGeom>
          <a:ln>
            <a:noFill/>
          </a:ln>
        </p:spPr>
      </p:pic>
      <p:pic>
        <p:nvPicPr>
          <p:cNvPr id="252" name="Google Shape;148;h4b4b0ebc97ee4989_0_0"/>
          <p:cNvPicPr>
            <a:picLocks noChangeAspect="1"/>
          </p:cNvPicPr>
          <p:nvPr/>
        </p:nvPicPr>
        <p:blipFill rotWithShape="1">
          <a:blip r:embed="rId12"/>
          <a:srcRect/>
          <a:stretch>
            <a:fillRect/>
          </a:stretch>
        </p:blipFill>
        <p:spPr>
          <a:xfrm>
            <a:off x="9359900" y="3721398"/>
            <a:ext cx="609600" cy="101600"/>
          </a:xfrm>
          <a:prstGeom prst="rect">
            <a:avLst/>
          </a:prstGeom>
          <a:ln>
            <a:noFill/>
          </a:ln>
        </p:spPr>
      </p:pic>
      <p:pic>
        <p:nvPicPr>
          <p:cNvPr id="253" name="Google Shape;149;h4b4b0ebc97ee4989_0_0"/>
          <p:cNvPicPr>
            <a:picLocks noChangeAspect="1"/>
          </p:cNvPicPr>
          <p:nvPr/>
        </p:nvPicPr>
        <p:blipFill rotWithShape="1">
          <a:blip r:embed="rId13"/>
          <a:srcRect/>
          <a:stretch>
            <a:fillRect/>
          </a:stretch>
        </p:blipFill>
        <p:spPr>
          <a:xfrm>
            <a:off x="4813300" y="2387898"/>
            <a:ext cx="279400" cy="76200"/>
          </a:xfrm>
          <a:prstGeom prst="rect">
            <a:avLst/>
          </a:prstGeom>
          <a:ln>
            <a:noFill/>
          </a:ln>
        </p:spPr>
      </p:pic>
      <p:pic>
        <p:nvPicPr>
          <p:cNvPr id="254" name="Google Shape;150;h4b4b0ebc97ee4989_0_0"/>
          <p:cNvPicPr>
            <a:picLocks noChangeAspect="1"/>
          </p:cNvPicPr>
          <p:nvPr/>
        </p:nvPicPr>
        <p:blipFill rotWithShape="1">
          <a:blip r:embed="rId14"/>
          <a:srcRect/>
          <a:stretch>
            <a:fillRect/>
          </a:stretch>
        </p:blipFill>
        <p:spPr>
          <a:xfrm>
            <a:off x="3702050" y="2679998"/>
            <a:ext cx="76200" cy="520700"/>
          </a:xfrm>
          <a:prstGeom prst="rect">
            <a:avLst/>
          </a:prstGeom>
          <a:ln>
            <a:noFill/>
          </a:ln>
        </p:spPr>
      </p:pic>
      <p:pic>
        <p:nvPicPr>
          <p:cNvPr id="255" name="Google Shape;151;h4b4b0ebc97ee4989_0_0"/>
          <p:cNvPicPr>
            <a:picLocks noChangeAspect="1"/>
          </p:cNvPicPr>
          <p:nvPr/>
        </p:nvPicPr>
        <p:blipFill rotWithShape="1">
          <a:blip r:embed="rId15"/>
          <a:srcRect/>
          <a:stretch>
            <a:fillRect/>
          </a:stretch>
        </p:blipFill>
        <p:spPr>
          <a:xfrm>
            <a:off x="7124700" y="2679998"/>
            <a:ext cx="1358900" cy="355600"/>
          </a:xfrm>
          <a:prstGeom prst="rect">
            <a:avLst/>
          </a:prstGeom>
          <a:ln>
            <a:noFill/>
          </a:ln>
        </p:spPr>
      </p:pic>
      <p:pic>
        <p:nvPicPr>
          <p:cNvPr id="256" name="Google Shape;152;h4b4b0ebc97ee4989_0_0"/>
          <p:cNvPicPr>
            <a:picLocks noChangeAspect="1"/>
          </p:cNvPicPr>
          <p:nvPr/>
        </p:nvPicPr>
        <p:blipFill rotWithShape="1">
          <a:blip r:embed="rId16"/>
          <a:srcRect/>
          <a:stretch>
            <a:fillRect/>
          </a:stretch>
        </p:blipFill>
        <p:spPr>
          <a:xfrm>
            <a:off x="8407400" y="2959398"/>
            <a:ext cx="76200" cy="241300"/>
          </a:xfrm>
          <a:prstGeom prst="rect">
            <a:avLst/>
          </a:prstGeom>
          <a:ln>
            <a:noFill/>
          </a:ln>
        </p:spPr>
      </p:pic>
      <p:sp>
        <p:nvSpPr>
          <p:cNvPr id="153" name="Google Shape;153;h4b4b0ebc97ee4989_0_0"/>
          <p:cNvSpPr>
            <a:spLocks noGrp="1"/>
          </p:cNvSpPr>
          <p:nvPr/>
        </p:nvSpPr>
        <p:spPr>
          <a:xfrm>
            <a:off x="9829800" y="1854498"/>
            <a:ext cx="1549500" cy="2540100"/>
          </a:xfrm>
          <a:prstGeom prst="roundRect">
            <a:avLst>
              <a:gd name="adj" fmla="val 820"/>
            </a:avLst>
          </a:prstGeom>
          <a:solidFill>
            <a:srgbClr val="FFF8E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4" name="Google Shape;154;h4b4b0ebc97ee4989_0_0"/>
          <p:cNvSpPr>
            <a:spLocks noGrp="1"/>
          </p:cNvSpPr>
          <p:nvPr/>
        </p:nvSpPr>
        <p:spPr>
          <a:xfrm>
            <a:off x="9931400" y="1917998"/>
            <a:ext cx="1397100" cy="4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5F6368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納品先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5F6368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（既存・相手先）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5" name="Google Shape;155;h4b4b0ebc97ee4989_0_0"/>
          <p:cNvSpPr>
            <a:spLocks noGrp="1"/>
          </p:cNvSpPr>
          <p:nvPr/>
        </p:nvSpPr>
        <p:spPr>
          <a:xfrm>
            <a:off x="9918700" y="2387898"/>
            <a:ext cx="1371600" cy="1905000"/>
          </a:xfrm>
          <a:prstGeom prst="roundRect">
            <a:avLst>
              <a:gd name="adj" fmla="val 926"/>
            </a:avLst>
          </a:prstGeom>
          <a:solidFill>
            <a:srgbClr val="FFFFFF"/>
          </a:solidFill>
          <a:ln>
            <a:noFill/>
          </a:ln>
          <a:effectLst>
            <a:outerShdw blurRad="12700" dist="6350" dir="5400000" algn="bl" rotWithShape="0">
              <a:srgbClr val="3C4043">
                <a:alpha val="30200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60" name="Google Shape;156;h4b4b0ebc97ee4989_0_0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020300" y="2509738"/>
            <a:ext cx="304800" cy="304800"/>
          </a:xfrm>
          <a:prstGeom prst="rect">
            <a:avLst/>
          </a:prstGeom>
          <a:ln>
            <a:noFill/>
          </a:ln>
        </p:spPr>
      </p:pic>
      <p:sp>
        <p:nvSpPr>
          <p:cNvPr id="157" name="Google Shape;157;h4b4b0ebc97ee4989_0_0"/>
          <p:cNvSpPr>
            <a:spLocks noGrp="1"/>
          </p:cNvSpPr>
          <p:nvPr/>
        </p:nvSpPr>
        <p:spPr>
          <a:xfrm>
            <a:off x="10401300" y="2464098"/>
            <a:ext cx="8382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Noto Sans JP" panose="020B0200000000000000" charset="-122"/>
              <a:buNone/>
            </a:pPr>
            <a:r>
              <a:rPr sz="11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データ同期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8" name="Google Shape;158;h4b4b0ebc97ee4989_0_0"/>
          <p:cNvSpPr>
            <a:spLocks noGrp="1"/>
          </p:cNvSpPr>
          <p:nvPr/>
        </p:nvSpPr>
        <p:spPr>
          <a:xfrm>
            <a:off x="10020300" y="2885579"/>
            <a:ext cx="12192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202124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Cloud Storage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9" name="Google Shape;159;h4b4b0ebc97ee4989_0_0"/>
          <p:cNvSpPr>
            <a:spLocks noGrp="1"/>
          </p:cNvSpPr>
          <p:nvPr/>
        </p:nvSpPr>
        <p:spPr>
          <a:xfrm>
            <a:off x="10020300" y="3109020"/>
            <a:ext cx="12192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Noto Sans JP" panose="020B0200000000000000" charset="-122"/>
              <a:buNone/>
            </a:pPr>
            <a:r>
              <a:rPr sz="1000" b="0" i="0" u="none" cap="none">
                <a:solidFill>
                  <a:srgbClr val="5F6368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seiyu-trial-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Noto Sans JP" panose="020B0200000000000000" charset="-122"/>
              <a:buNone/>
            </a:pPr>
            <a:r>
              <a:rPr sz="1000" b="0" i="0" u="none" cap="none">
                <a:solidFill>
                  <a:srgbClr val="5F6368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data-exchange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0" name="Google Shape;160;h4b4b0ebc97ee4989_0_0"/>
          <p:cNvSpPr>
            <a:spLocks noGrp="1"/>
          </p:cNvSpPr>
          <p:nvPr/>
        </p:nvSpPr>
        <p:spPr>
          <a:xfrm>
            <a:off x="10020300" y="3530501"/>
            <a:ext cx="12192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Noto Sans JP" panose="020B0200000000000000" charset="-122"/>
              <a:buNone/>
            </a:pPr>
            <a:r>
              <a:rPr sz="1000" b="0" i="0" u="none" cap="none">
                <a:solidFill>
                  <a:srgbClr val="5F6368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ods-seiyu-prod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Noto Sans JP" panose="020B0200000000000000" charset="-122"/>
              <a:buNone/>
            </a:pPr>
            <a:r>
              <a:rPr sz="1000" b="0" i="0" u="none" cap="none">
                <a:solidFill>
                  <a:srgbClr val="5F6368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/ stg / dev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1" name="Google Shape;161;h4b4b0ebc97ee4989_0_0"/>
          <p:cNvSpPr>
            <a:spLocks noGrp="1"/>
          </p:cNvSpPr>
          <p:nvPr/>
        </p:nvSpPr>
        <p:spPr>
          <a:xfrm>
            <a:off x="10020300" y="3951982"/>
            <a:ext cx="12192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Noto Sans JP" panose="020B0200000000000000" charset="-122"/>
              <a:buNone/>
            </a:pP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2" name="Google Shape;162;h4b4b0ebc97ee4989_0_0"/>
          <p:cNvSpPr>
            <a:spLocks noGrp="1"/>
          </p:cNvSpPr>
          <p:nvPr/>
        </p:nvSpPr>
        <p:spPr>
          <a:xfrm>
            <a:off x="9829800" y="4546898"/>
            <a:ext cx="1549500" cy="990600"/>
          </a:xfrm>
          <a:prstGeom prst="roundRect">
            <a:avLst>
              <a:gd name="adj" fmla="val 1282"/>
            </a:avLst>
          </a:prstGeom>
          <a:solidFill>
            <a:srgbClr val="E0F2F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3" name="Google Shape;163;h4b4b0ebc97ee4989_0_0"/>
          <p:cNvSpPr>
            <a:spLocks noGrp="1"/>
          </p:cNvSpPr>
          <p:nvPr/>
        </p:nvSpPr>
        <p:spPr>
          <a:xfrm>
            <a:off x="9931400" y="4610398"/>
            <a:ext cx="13971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5F6368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西友（既存）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4" name="Google Shape;164;h4b4b0ebc97ee4989_0_0"/>
          <p:cNvSpPr>
            <a:spLocks noGrp="1"/>
          </p:cNvSpPr>
          <p:nvPr/>
        </p:nvSpPr>
        <p:spPr>
          <a:xfrm>
            <a:off x="9918700" y="4851698"/>
            <a:ext cx="1371600" cy="60960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>
            <a:noFill/>
          </a:ln>
          <a:effectLst>
            <a:outerShdw blurRad="12700" dist="6350" dir="5400000" algn="bl" rotWithShape="0">
              <a:srgbClr val="3C4043">
                <a:alpha val="30200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69" name="Google Shape;165;h4b4b0ebc97ee4989_0_0"/>
          <p:cNvPicPr>
            <a:picLocks noChangeAspect="1"/>
          </p:cNvPicPr>
          <p:nvPr/>
        </p:nvPicPr>
        <p:blipFill rotWithShape="1">
          <a:blip r:embed="rId17"/>
          <a:srcRect/>
          <a:stretch>
            <a:fillRect/>
          </a:stretch>
        </p:blipFill>
        <p:spPr>
          <a:xfrm>
            <a:off x="10007600" y="5029498"/>
            <a:ext cx="254000" cy="254000"/>
          </a:xfrm>
          <a:prstGeom prst="rect">
            <a:avLst/>
          </a:prstGeom>
          <a:ln>
            <a:noFill/>
          </a:ln>
        </p:spPr>
      </p:pic>
      <p:sp>
        <p:nvSpPr>
          <p:cNvPr id="166" name="Google Shape;166;h4b4b0ebc97ee4989_0_0"/>
          <p:cNvSpPr>
            <a:spLocks noGrp="1"/>
          </p:cNvSpPr>
          <p:nvPr/>
        </p:nvSpPr>
        <p:spPr>
          <a:xfrm>
            <a:off x="10337800" y="4958457"/>
            <a:ext cx="9144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202124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DataSpider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71" name="Google Shape;167;h4b4b0ebc97ee4989_0_0"/>
          <p:cNvPicPr>
            <a:picLocks noChangeAspect="1"/>
          </p:cNvPicPr>
          <p:nvPr/>
        </p:nvPicPr>
        <p:blipFill rotWithShape="1">
          <a:blip r:embed="rId18"/>
          <a:srcRect/>
          <a:stretch>
            <a:fillRect/>
          </a:stretch>
        </p:blipFill>
        <p:spPr>
          <a:xfrm>
            <a:off x="10566400" y="4254798"/>
            <a:ext cx="76200" cy="635000"/>
          </a:xfrm>
          <a:prstGeom prst="rect">
            <a:avLst/>
          </a:prstGeom>
          <a:ln>
            <a:noFill/>
          </a:ln>
        </p:spPr>
      </p:pic>
      <p:sp>
        <p:nvSpPr>
          <p:cNvPr id="168" name="Google Shape;168;h4b4b0ebc97ee4989_0_0"/>
          <p:cNvSpPr>
            <a:spLocks noGrp="1"/>
          </p:cNvSpPr>
          <p:nvPr/>
        </p:nvSpPr>
        <p:spPr>
          <a:xfrm>
            <a:off x="812800" y="5673626"/>
            <a:ext cx="10566300" cy="5748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9" name="Google Shape;169;h4b4b0ebc97ee4989_0_0"/>
          <p:cNvSpPr>
            <a:spLocks noGrp="1"/>
          </p:cNvSpPr>
          <p:nvPr/>
        </p:nvSpPr>
        <p:spPr>
          <a:xfrm>
            <a:off x="965200" y="5749826"/>
            <a:ext cx="6522900" cy="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3C404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権限</a:t>
            </a:r>
            <a:r>
              <a:rPr sz="1200" b="0" i="0" u="none" cap="none">
                <a:solidFill>
                  <a:srgbClr val="3C404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　STS：大阪 read → 本PJ write ／ Job：本PJ objectViewer → exchange objectCreator ／ Scheduler：Workflows invoker のみ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0" name="Google Shape;170;h4b4b0ebc97ee4989_0_0"/>
          <p:cNvSpPr>
            <a:spLocks noGrp="1"/>
          </p:cNvSpPr>
          <p:nvPr/>
        </p:nvSpPr>
        <p:spPr>
          <a:xfrm>
            <a:off x="7501434" y="5749826"/>
            <a:ext cx="3837000" cy="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3C404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凡例</a:t>
            </a:r>
            <a:r>
              <a:rPr sz="1200" b="0" i="0" u="none" cap="none">
                <a:solidFill>
                  <a:srgbClr val="3C404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　</a:t>
            </a:r>
            <a:r>
              <a:rPr sz="1200" b="0" i="0" u="none" cap="none">
                <a:solidFill>
                  <a:srgbClr val="1A73E8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青線</a:t>
            </a:r>
            <a:r>
              <a:rPr sz="1200" b="0" i="0" u="none" cap="none">
                <a:solidFill>
                  <a:srgbClr val="3C404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＝データ経路／</a:t>
            </a:r>
            <a:r>
              <a:rPr sz="1200" b="0" i="0" u="none" cap="none">
                <a:solidFill>
                  <a:srgbClr val="5F6368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灰線</a:t>
            </a:r>
            <a:r>
              <a:rPr sz="1200" b="0" i="0" u="none" cap="none">
                <a:solidFill>
                  <a:srgbClr val="3C404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＝制御・参照／破線枠＝将来オプション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1" name="Google Shape;171;h4b4b0ebc97ee4989_0_0"/>
          <p:cNvSpPr>
            <a:spLocks noGrp="1"/>
          </p:cNvSpPr>
          <p:nvPr/>
        </p:nvSpPr>
        <p:spPr>
          <a:xfrm>
            <a:off x="10058400" y="6339880"/>
            <a:ext cx="13209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A1AE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9AA1AE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3 / 7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7" name="Google Shape;177;p4"/>
          <p:cNvSpPr>
            <a:spLocks noGrp="1"/>
          </p:cNvSpPr>
          <p:nvPr/>
        </p:nvSpPr>
        <p:spPr>
          <a:xfrm>
            <a:off x="812800" y="457200"/>
            <a:ext cx="6278880" cy="513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3200"/>
              <a:buFont typeface="Noto Sans JP" panose="020B0200000000000000" charset="-122"/>
              <a:buNone/>
            </a:pPr>
            <a:r>
              <a:rPr sz="32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日次実行フロー・権限・処理方針</a:t>
            </a:r>
            <a:endParaRPr sz="3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8" name="Google Shape;178;p4"/>
          <p:cNvSpPr>
            <a:spLocks noGrp="1"/>
          </p:cNvSpPr>
          <p:nvPr/>
        </p:nvSpPr>
        <p:spPr>
          <a:xfrm>
            <a:off x="8385870" y="553045"/>
            <a:ext cx="2990155" cy="295870"/>
          </a:xfrm>
          <a:prstGeom prst="roundRect">
            <a:avLst>
              <a:gd name="adj" fmla="val 50000"/>
            </a:avLst>
          </a:prstGeom>
          <a:solidFill>
            <a:srgbClr val="F1F3F8"/>
          </a:solidFill>
          <a:ln w="9525" cmpd="sng">
            <a:solidFill>
              <a:srgbClr val="DCE1E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9" name="Google Shape;179;p4"/>
          <p:cNvSpPr>
            <a:spLocks noGrp="1"/>
          </p:cNvSpPr>
          <p:nvPr/>
        </p:nvSpPr>
        <p:spPr>
          <a:xfrm>
            <a:off x="8516045" y="594320"/>
            <a:ext cx="2811700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東京 asia-northeast1 ・ dev / stg / prod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0" name="Google Shape;180;p4"/>
          <p:cNvSpPr>
            <a:spLocks noGrp="1"/>
          </p:cNvSpPr>
          <p:nvPr/>
        </p:nvSpPr>
        <p:spPr>
          <a:xfrm>
            <a:off x="812800" y="995660"/>
            <a:ext cx="10883392" cy="274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400"/>
              <a:buFont typeface="Noto Sans JP" panose="020B0200000000000000" charset="-122"/>
              <a:buNone/>
            </a:pPr>
            <a:r>
              <a:rPr sz="14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SMART 処理、権限分離、保存範囲と費用試算の前提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1" name="Google Shape;181;p4"/>
          <p:cNvSpPr>
            <a:spLocks noGrp="1"/>
          </p:cNvSpPr>
          <p:nvPr/>
        </p:nvSpPr>
        <p:spPr>
          <a:xfrm>
            <a:off x="812800" y="1371501"/>
            <a:ext cx="1697534" cy="893961"/>
          </a:xfrm>
          <a:prstGeom prst="roundRect">
            <a:avLst>
              <a:gd name="adj" fmla="val 7103"/>
            </a:avLst>
          </a:prstGeom>
          <a:solidFill>
            <a:srgbClr val="1E235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2" name="Google Shape;182;p4"/>
          <p:cNvSpPr>
            <a:spLocks noGrp="1"/>
          </p:cNvSpPr>
          <p:nvPr/>
        </p:nvSpPr>
        <p:spPr>
          <a:xfrm>
            <a:off x="927100" y="1473101"/>
            <a:ext cx="1519734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EB4D6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AEB4D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01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3" name="Google Shape;183;p4"/>
          <p:cNvSpPr>
            <a:spLocks noGrp="1"/>
          </p:cNvSpPr>
          <p:nvPr/>
        </p:nvSpPr>
        <p:spPr>
          <a:xfrm>
            <a:off x="927100" y="1711821"/>
            <a:ext cx="1519734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CFCFD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FCFCFD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Scheduler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4" name="Google Shape;184;p4"/>
          <p:cNvSpPr>
            <a:spLocks noGrp="1"/>
          </p:cNvSpPr>
          <p:nvPr/>
        </p:nvSpPr>
        <p:spPr>
          <a:xfrm>
            <a:off x="927100" y="1950541"/>
            <a:ext cx="1519734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5D8EA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D5D8EA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指定時刻に起動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5" name="Google Shape;185;p4"/>
          <p:cNvSpPr>
            <a:spLocks noGrp="1"/>
          </p:cNvSpPr>
          <p:nvPr/>
        </p:nvSpPr>
        <p:spPr>
          <a:xfrm>
            <a:off x="2586534" y="1371501"/>
            <a:ext cx="1697633" cy="893961"/>
          </a:xfrm>
          <a:prstGeom prst="roundRect">
            <a:avLst>
              <a:gd name="adj" fmla="val 7103"/>
            </a:avLst>
          </a:prstGeom>
          <a:solidFill>
            <a:srgbClr val="1E235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6" name="Google Shape;186;p4"/>
          <p:cNvSpPr>
            <a:spLocks noGrp="1"/>
          </p:cNvSpPr>
          <p:nvPr/>
        </p:nvSpPr>
        <p:spPr>
          <a:xfrm>
            <a:off x="2700834" y="1473101"/>
            <a:ext cx="1519833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EB4D6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AEB4D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02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7" name="Google Shape;187;p4"/>
          <p:cNvSpPr>
            <a:spLocks noGrp="1"/>
          </p:cNvSpPr>
          <p:nvPr/>
        </p:nvSpPr>
        <p:spPr>
          <a:xfrm>
            <a:off x="2700834" y="1711821"/>
            <a:ext cx="1519833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CFCFD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FCFCFD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READY / manifest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8" name="Google Shape;188;p4"/>
          <p:cNvSpPr>
            <a:spLocks noGrp="1"/>
          </p:cNvSpPr>
          <p:nvPr/>
        </p:nvSpPr>
        <p:spPr>
          <a:xfrm>
            <a:off x="2700834" y="1950541"/>
            <a:ext cx="1519833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5D8EA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D5D8EA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対象ファイル確定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9" name="Google Shape;189;p4"/>
          <p:cNvSpPr>
            <a:spLocks noGrp="1"/>
          </p:cNvSpPr>
          <p:nvPr/>
        </p:nvSpPr>
        <p:spPr>
          <a:xfrm>
            <a:off x="4360366" y="1371501"/>
            <a:ext cx="1697534" cy="893961"/>
          </a:xfrm>
          <a:prstGeom prst="roundRect">
            <a:avLst>
              <a:gd name="adj" fmla="val 7103"/>
            </a:avLst>
          </a:prstGeom>
          <a:solidFill>
            <a:srgbClr val="1E235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0" name="Google Shape;190;p4"/>
          <p:cNvSpPr>
            <a:spLocks noGrp="1"/>
          </p:cNvSpPr>
          <p:nvPr/>
        </p:nvSpPr>
        <p:spPr>
          <a:xfrm>
            <a:off x="4474666" y="1473101"/>
            <a:ext cx="1519734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EB4D6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AEB4D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03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1" name="Google Shape;191;p4"/>
          <p:cNvSpPr>
            <a:spLocks noGrp="1"/>
          </p:cNvSpPr>
          <p:nvPr/>
        </p:nvSpPr>
        <p:spPr>
          <a:xfrm>
            <a:off x="4474666" y="1711821"/>
            <a:ext cx="1519734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CFCFD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FCFCFD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STS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2" name="Google Shape;192;p4"/>
          <p:cNvSpPr>
            <a:spLocks noGrp="1"/>
          </p:cNvSpPr>
          <p:nvPr/>
        </p:nvSpPr>
        <p:spPr>
          <a:xfrm>
            <a:off x="4474666" y="1950541"/>
            <a:ext cx="1519734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5D8EA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D5D8EA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本PJ GCS へコピー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3" name="Google Shape;193;p4"/>
          <p:cNvSpPr>
            <a:spLocks noGrp="1"/>
          </p:cNvSpPr>
          <p:nvPr/>
        </p:nvSpPr>
        <p:spPr>
          <a:xfrm>
            <a:off x="6134100" y="1371501"/>
            <a:ext cx="1697633" cy="893961"/>
          </a:xfrm>
          <a:prstGeom prst="roundRect">
            <a:avLst>
              <a:gd name="adj" fmla="val 7103"/>
            </a:avLst>
          </a:prstGeom>
          <a:solidFill>
            <a:srgbClr val="1E235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4" name="Google Shape;194;p4"/>
          <p:cNvSpPr>
            <a:spLocks noGrp="1"/>
          </p:cNvSpPr>
          <p:nvPr/>
        </p:nvSpPr>
        <p:spPr>
          <a:xfrm>
            <a:off x="6248400" y="1473101"/>
            <a:ext cx="1519833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EB4D6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AEB4D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04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5" name="Google Shape;195;p4"/>
          <p:cNvSpPr>
            <a:spLocks noGrp="1"/>
          </p:cNvSpPr>
          <p:nvPr/>
        </p:nvSpPr>
        <p:spPr>
          <a:xfrm>
            <a:off x="6248400" y="1711821"/>
            <a:ext cx="1519833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CFCFD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FCFCFD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Cloud Run Job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6" name="Google Shape;196;p4"/>
          <p:cNvSpPr>
            <a:spLocks noGrp="1"/>
          </p:cNvSpPr>
          <p:nvPr/>
        </p:nvSpPr>
        <p:spPr>
          <a:xfrm>
            <a:off x="6248400" y="1950541"/>
            <a:ext cx="1519833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5D8EA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D5D8EA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SMART 店/JAN 処理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7" name="Google Shape;197;p4"/>
          <p:cNvSpPr>
            <a:spLocks noGrp="1"/>
          </p:cNvSpPr>
          <p:nvPr/>
        </p:nvSpPr>
        <p:spPr>
          <a:xfrm>
            <a:off x="7907933" y="1371501"/>
            <a:ext cx="1697534" cy="893961"/>
          </a:xfrm>
          <a:prstGeom prst="roundRect">
            <a:avLst>
              <a:gd name="adj" fmla="val 7103"/>
            </a:avLst>
          </a:prstGeom>
          <a:solidFill>
            <a:srgbClr val="1E235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8" name="Google Shape;198;p4"/>
          <p:cNvSpPr>
            <a:spLocks noGrp="1"/>
          </p:cNvSpPr>
          <p:nvPr/>
        </p:nvSpPr>
        <p:spPr>
          <a:xfrm>
            <a:off x="8022233" y="1473101"/>
            <a:ext cx="1519734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EB4D6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AEB4D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05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9" name="Google Shape;199;p4"/>
          <p:cNvSpPr>
            <a:spLocks noGrp="1"/>
          </p:cNvSpPr>
          <p:nvPr/>
        </p:nvSpPr>
        <p:spPr>
          <a:xfrm>
            <a:off x="8022233" y="1711821"/>
            <a:ext cx="1519734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CFCFD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FCFCFD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納品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0" name="Google Shape;200;p4"/>
          <p:cNvSpPr>
            <a:spLocks noGrp="1"/>
          </p:cNvSpPr>
          <p:nvPr/>
        </p:nvSpPr>
        <p:spPr>
          <a:xfrm>
            <a:off x="8022233" y="1950541"/>
            <a:ext cx="1519734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5D8EA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D5D8EA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直送／resumable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1" name="Google Shape;201;p4"/>
          <p:cNvSpPr>
            <a:spLocks noGrp="1"/>
          </p:cNvSpPr>
          <p:nvPr/>
        </p:nvSpPr>
        <p:spPr>
          <a:xfrm>
            <a:off x="9681666" y="1371501"/>
            <a:ext cx="1697534" cy="893961"/>
          </a:xfrm>
          <a:prstGeom prst="roundRect">
            <a:avLst>
              <a:gd name="adj" fmla="val 7103"/>
            </a:avLst>
          </a:prstGeom>
          <a:solidFill>
            <a:srgbClr val="1E235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2" name="Google Shape;202;p4"/>
          <p:cNvSpPr>
            <a:spLocks noGrp="1"/>
          </p:cNvSpPr>
          <p:nvPr/>
        </p:nvSpPr>
        <p:spPr>
          <a:xfrm>
            <a:off x="9795966" y="1473101"/>
            <a:ext cx="1519734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EB4D6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AEB4D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06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3" name="Google Shape;203;p4"/>
          <p:cNvSpPr>
            <a:spLocks noGrp="1"/>
          </p:cNvSpPr>
          <p:nvPr/>
        </p:nvSpPr>
        <p:spPr>
          <a:xfrm>
            <a:off x="9795966" y="1711821"/>
            <a:ext cx="1519734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CFCFD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FCFCFD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_SUCCESS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4" name="Google Shape;204;p4"/>
          <p:cNvSpPr>
            <a:spLocks noGrp="1"/>
          </p:cNvSpPr>
          <p:nvPr/>
        </p:nvSpPr>
        <p:spPr>
          <a:xfrm>
            <a:off x="9795966" y="1950541"/>
            <a:ext cx="1519734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5D8EA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D5D8EA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検証後に作成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5" name="Google Shape;205;p4"/>
          <p:cNvSpPr>
            <a:spLocks noGrp="1"/>
          </p:cNvSpPr>
          <p:nvPr/>
        </p:nvSpPr>
        <p:spPr>
          <a:xfrm>
            <a:off x="815975" y="2395625"/>
            <a:ext cx="3431100" cy="2213100"/>
          </a:xfrm>
          <a:prstGeom prst="roundRect">
            <a:avLst>
              <a:gd name="adj" fmla="val 3343"/>
            </a:avLst>
          </a:prstGeom>
          <a:solidFill>
            <a:srgbClr val="F1F3F8"/>
          </a:solidFill>
          <a:ln w="9525" cmpd="sng">
            <a:solidFill>
              <a:srgbClr val="DCE1E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6" name="Google Shape;206;p4"/>
          <p:cNvSpPr>
            <a:spLocks noGrp="1"/>
          </p:cNvSpPr>
          <p:nvPr/>
        </p:nvSpPr>
        <p:spPr>
          <a:xfrm>
            <a:off x="984250" y="2525812"/>
            <a:ext cx="3187370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400"/>
              <a:buFont typeface="Noto Sans JP" panose="020B0200000000000000" charset="-122"/>
              <a:buNone/>
            </a:pPr>
            <a:r>
              <a:rPr sz="14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SMART コマンドの処理チェーン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7" name="Google Shape;207;p4"/>
          <p:cNvSpPr>
            <a:spLocks noGrp="1"/>
          </p:cNvSpPr>
          <p:nvPr/>
        </p:nvSpPr>
        <p:spPr>
          <a:xfrm>
            <a:off x="984250" y="2789932"/>
            <a:ext cx="3187370" cy="1305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182880" marR="0" lvl="0" indent="-16764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Char char="•"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解凍 / 索引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82880" marR="0" lvl="0" indent="-16764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Char char="•"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selcol / selrow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82880" marR="0" lvl="0" indent="-16764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Char char="•"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外部ソート / JOIN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82880" marR="0" lvl="0" indent="-16764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Char char="•"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groupby / sumup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82880" marR="0" lvl="0" indent="-16764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Char char="•"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scalc / format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82880" marR="0" lvl="0" indent="-16764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Char char="•"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uploader（直送／resumable）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8" name="Google Shape;208;p4"/>
          <p:cNvSpPr>
            <a:spLocks noGrp="1"/>
          </p:cNvSpPr>
          <p:nvPr/>
        </p:nvSpPr>
        <p:spPr>
          <a:xfrm>
            <a:off x="4380400" y="2395625"/>
            <a:ext cx="3431100" cy="2213100"/>
          </a:xfrm>
          <a:prstGeom prst="roundRect">
            <a:avLst>
              <a:gd name="adj" fmla="val 3343"/>
            </a:avLst>
          </a:prstGeom>
          <a:solidFill>
            <a:srgbClr val="F1F3F8"/>
          </a:solidFill>
          <a:ln w="9525" cmpd="sng">
            <a:solidFill>
              <a:srgbClr val="DCE1E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9" name="Google Shape;209;p4"/>
          <p:cNvSpPr>
            <a:spLocks noGrp="1"/>
          </p:cNvSpPr>
          <p:nvPr/>
        </p:nvSpPr>
        <p:spPr>
          <a:xfrm>
            <a:off x="4548684" y="2525812"/>
            <a:ext cx="3187472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400"/>
              <a:buFont typeface="Noto Sans JP" panose="020B0200000000000000" charset="-122"/>
              <a:buNone/>
            </a:pPr>
            <a:r>
              <a:rPr sz="14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アップロード方針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0" name="Google Shape;210;p4"/>
          <p:cNvSpPr>
            <a:spLocks noGrp="1"/>
          </p:cNvSpPr>
          <p:nvPr/>
        </p:nvSpPr>
        <p:spPr>
          <a:xfrm>
            <a:off x="4548684" y="2789932"/>
            <a:ext cx="3187472" cy="1305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182880" marR="0" lvl="0" indent="-16764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Char char="•"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大容量：resumable upload（RAM に全量を載せない）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82880" marR="0" lvl="0" indent="-16764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Char char="•"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通常：Cloud Run 処理後、seiyu-trial-data-exchange へ直接アップロード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82880" marR="0" lvl="0" indent="-16764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Char char="•"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必要時のみ split_and_sort / exchsort（外部ソート）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1" name="Google Shape;211;p4"/>
          <p:cNvSpPr>
            <a:spLocks noGrp="1"/>
          </p:cNvSpPr>
          <p:nvPr/>
        </p:nvSpPr>
        <p:spPr>
          <a:xfrm>
            <a:off x="7944950" y="2395625"/>
            <a:ext cx="3431100" cy="2213100"/>
          </a:xfrm>
          <a:prstGeom prst="roundRect">
            <a:avLst>
              <a:gd name="adj" fmla="val 3343"/>
            </a:avLst>
          </a:prstGeom>
          <a:solidFill>
            <a:srgbClr val="F1F3F8"/>
          </a:solidFill>
          <a:ln w="9525" cmpd="sng">
            <a:solidFill>
              <a:srgbClr val="DCE1E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2" name="Google Shape;212;p4"/>
          <p:cNvSpPr>
            <a:spLocks noGrp="1"/>
          </p:cNvSpPr>
          <p:nvPr/>
        </p:nvSpPr>
        <p:spPr>
          <a:xfrm>
            <a:off x="8113216" y="2525812"/>
            <a:ext cx="3187370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400"/>
              <a:buFont typeface="Noto Sans JP" panose="020B0200000000000000" charset="-122"/>
              <a:buNone/>
            </a:pPr>
            <a:r>
              <a:rPr sz="14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権限方針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3" name="Google Shape;213;p4"/>
          <p:cNvSpPr>
            <a:spLocks noGrp="1"/>
          </p:cNvSpPr>
          <p:nvPr/>
        </p:nvSpPr>
        <p:spPr>
          <a:xfrm>
            <a:off x="8113216" y="2789932"/>
            <a:ext cx="3187370" cy="878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182880" marR="0" lvl="0" indent="-16764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Char char="•"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STS：大阪 read → 本PJ write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82880" marR="0" lvl="0" indent="-16764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Char char="•"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Job：本PJ objectViewer → seiyu-trial-data-exchange objectCreator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82880" marR="0" lvl="0" indent="-16764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Char char="•"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Scheduler：Workflows invoker のみ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313" name="Google Shape;214;p4"/>
          <p:cNvCxnSpPr/>
          <p:nvPr/>
        </p:nvCxnSpPr>
        <p:spPr>
          <a:xfrm>
            <a:off x="831850" y="4706500"/>
            <a:ext cx="0" cy="561300"/>
          </a:xfrm>
          <a:prstGeom prst="straightConnector1">
            <a:avLst/>
          </a:prstGeom>
          <a:ln w="38100" cap="flat">
            <a:solidFill>
              <a:srgbClr val="1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5" name="Google Shape;215;p4"/>
          <p:cNvSpPr>
            <a:spLocks noGrp="1"/>
          </p:cNvSpPr>
          <p:nvPr/>
        </p:nvSpPr>
        <p:spPr>
          <a:xfrm>
            <a:off x="965200" y="4731900"/>
            <a:ext cx="2348100" cy="3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600"/>
              <a:buFont typeface="Noto Sans JP" panose="020B0200000000000000" charset="-122"/>
              <a:buNone/>
            </a:pPr>
            <a:r>
              <a:rPr sz="16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1,078.3 GiB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6" name="Google Shape;216;p4"/>
          <p:cNvSpPr>
            <a:spLocks noGrp="1"/>
          </p:cNvSpPr>
          <p:nvPr/>
        </p:nvSpPr>
        <p:spPr>
          <a:xfrm>
            <a:off x="965200" y="5029060"/>
            <a:ext cx="23481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本PJ GCS の元データ（prod 30日）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316" name="Google Shape;217;p4"/>
          <p:cNvCxnSpPr/>
          <p:nvPr/>
        </p:nvCxnSpPr>
        <p:spPr>
          <a:xfrm>
            <a:off x="3505200" y="4706500"/>
            <a:ext cx="0" cy="561300"/>
          </a:xfrm>
          <a:prstGeom prst="straightConnector1">
            <a:avLst/>
          </a:prstGeom>
          <a:ln w="38100" cap="flat">
            <a:solidFill>
              <a:srgbClr val="1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8" name="Google Shape;218;p4"/>
          <p:cNvSpPr>
            <a:spLocks noGrp="1"/>
          </p:cNvSpPr>
          <p:nvPr/>
        </p:nvSpPr>
        <p:spPr>
          <a:xfrm>
            <a:off x="3638550" y="4731900"/>
            <a:ext cx="2348100" cy="3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 lnSpcReduction="20000"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600"/>
              <a:buFont typeface="Noto Sans JP" panose="020B0200000000000000" charset="-122"/>
              <a:buNone/>
            </a:pPr>
            <a:r>
              <a:rPr sz="16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1,</a:t>
            </a:r>
            <a:r>
              <a:rPr lang="en-US" sz="16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0</a:t>
            </a:r>
            <a:r>
              <a:rPr sz="16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78.4 GiB/月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9" name="Google Shape;219;p4"/>
          <p:cNvSpPr>
            <a:spLocks noGrp="1"/>
          </p:cNvSpPr>
          <p:nvPr/>
        </p:nvSpPr>
        <p:spPr>
          <a:xfrm>
            <a:off x="3638550" y="5029060"/>
            <a:ext cx="23481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大阪→東京 転送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319" name="Google Shape;220;p4"/>
          <p:cNvCxnSpPr/>
          <p:nvPr/>
        </p:nvCxnSpPr>
        <p:spPr>
          <a:xfrm>
            <a:off x="6178550" y="4706500"/>
            <a:ext cx="0" cy="561300"/>
          </a:xfrm>
          <a:prstGeom prst="straightConnector1">
            <a:avLst/>
          </a:prstGeom>
          <a:ln w="38100" cap="flat">
            <a:solidFill>
              <a:srgbClr val="1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1" name="Google Shape;221;p4"/>
          <p:cNvSpPr>
            <a:spLocks noGrp="1"/>
          </p:cNvSpPr>
          <p:nvPr/>
        </p:nvSpPr>
        <p:spPr>
          <a:xfrm>
            <a:off x="6311900" y="4731900"/>
            <a:ext cx="2348100" cy="3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600"/>
              <a:buFont typeface="Noto Sans JP" panose="020B0200000000000000" charset="-122"/>
              <a:buNone/>
            </a:pPr>
            <a:r>
              <a:rPr sz="16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重複保存なし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2" name="Google Shape;222;p4"/>
          <p:cNvSpPr>
            <a:spLocks noGrp="1"/>
          </p:cNvSpPr>
          <p:nvPr/>
        </p:nvSpPr>
        <p:spPr>
          <a:xfrm>
            <a:off x="6311900" y="5029060"/>
            <a:ext cx="23481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結果を本PJ GCS に保存しない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322" name="Google Shape;223;p4"/>
          <p:cNvCxnSpPr/>
          <p:nvPr/>
        </p:nvCxnSpPr>
        <p:spPr>
          <a:xfrm>
            <a:off x="8851900" y="4706500"/>
            <a:ext cx="0" cy="561300"/>
          </a:xfrm>
          <a:prstGeom prst="straightConnector1">
            <a:avLst/>
          </a:prstGeom>
          <a:ln w="38100" cap="flat">
            <a:solidFill>
              <a:srgbClr val="1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4" name="Google Shape;224;p4"/>
          <p:cNvSpPr>
            <a:spLocks noGrp="1"/>
          </p:cNvSpPr>
          <p:nvPr/>
        </p:nvSpPr>
        <p:spPr>
          <a:xfrm>
            <a:off x="8985250" y="4731900"/>
            <a:ext cx="2348100" cy="3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 fontScale="90780"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600"/>
              <a:buFont typeface="Noto Sans JP" panose="020B0200000000000000" charset="-122"/>
              <a:buNone/>
            </a:pPr>
            <a:r>
              <a:rPr sz="16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月約 </a:t>
            </a:r>
            <a:r>
              <a:rPr sz="16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¥25,069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5" name="Google Shape;225;p4"/>
          <p:cNvSpPr>
            <a:spLocks noGrp="1"/>
          </p:cNvSpPr>
          <p:nvPr/>
        </p:nvSpPr>
        <p:spPr>
          <a:xfrm>
            <a:off x="8985250" y="5029060"/>
            <a:ext cx="23481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 fontScale="93270"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prod 3h/日（90h/月、保管30日）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6" name="Google Shape;226;p4"/>
          <p:cNvSpPr>
            <a:spLocks noGrp="1"/>
          </p:cNvSpPr>
          <p:nvPr/>
        </p:nvSpPr>
        <p:spPr>
          <a:xfrm>
            <a:off x="812800" y="5394780"/>
            <a:ext cx="10566300" cy="707100"/>
          </a:xfrm>
          <a:prstGeom prst="roundRect">
            <a:avLst>
              <a:gd name="adj" fmla="val 8979"/>
            </a:avLst>
          </a:prstGeom>
          <a:solidFill>
            <a:srgbClr val="1E235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7" name="Google Shape;227;p4"/>
          <p:cNvSpPr>
            <a:spLocks noGrp="1"/>
          </p:cNvSpPr>
          <p:nvPr/>
        </p:nvSpPr>
        <p:spPr>
          <a:xfrm>
            <a:off x="1016000" y="5509080"/>
            <a:ext cx="104649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CFCFD"/>
              </a:buClr>
              <a:buSzPts val="1300"/>
              <a:buFont typeface="Noto Sans JP" panose="020B0200000000000000" charset="-122"/>
              <a:buNone/>
            </a:pPr>
            <a:r>
              <a:rPr sz="1300" b="1" i="0" u="none" cap="none">
                <a:solidFill>
                  <a:srgbClr val="FCFCFD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本構成の結論：</a:t>
            </a:r>
            <a:r>
              <a:rPr sz="1300" b="0" i="0" u="none" cap="none">
                <a:solidFill>
                  <a:srgbClr val="FCFCFD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新規 GKE は作らず Cloud Run Job を採用。source は本PJ GCS、result は seiyu-trial-data-exchange へ一方向で納品します。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8" name="Google Shape;228;p4"/>
          <p:cNvSpPr>
            <a:spLocks noGrp="1"/>
          </p:cNvSpPr>
          <p:nvPr/>
        </p:nvSpPr>
        <p:spPr>
          <a:xfrm>
            <a:off x="10058400" y="6339880"/>
            <a:ext cx="1320800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A1AE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9AA1AE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4 / 7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4" name="Google Shape;234;p5"/>
          <p:cNvSpPr>
            <a:spLocks noGrp="1"/>
          </p:cNvSpPr>
          <p:nvPr/>
        </p:nvSpPr>
        <p:spPr>
          <a:xfrm>
            <a:off x="812800" y="457200"/>
            <a:ext cx="4566904" cy="513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3200"/>
              <a:buFont typeface="Noto Sans JP" panose="020B0200000000000000" charset="-122"/>
              <a:buNone/>
            </a:pPr>
            <a:r>
              <a:rPr sz="32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申請スペック・構成一覧</a:t>
            </a:r>
            <a:endParaRPr sz="3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5" name="Google Shape;235;p5"/>
          <p:cNvSpPr>
            <a:spLocks noGrp="1"/>
          </p:cNvSpPr>
          <p:nvPr/>
        </p:nvSpPr>
        <p:spPr>
          <a:xfrm>
            <a:off x="8385870" y="553045"/>
            <a:ext cx="2990155" cy="295870"/>
          </a:xfrm>
          <a:prstGeom prst="roundRect">
            <a:avLst>
              <a:gd name="adj" fmla="val 50000"/>
            </a:avLst>
          </a:prstGeom>
          <a:solidFill>
            <a:srgbClr val="F1F3F8"/>
          </a:solidFill>
          <a:ln w="9525" cmpd="sng">
            <a:solidFill>
              <a:srgbClr val="DCE1E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6" name="Google Shape;236;p5"/>
          <p:cNvSpPr>
            <a:spLocks noGrp="1"/>
          </p:cNvSpPr>
          <p:nvPr/>
        </p:nvSpPr>
        <p:spPr>
          <a:xfrm>
            <a:off x="8516045" y="594320"/>
            <a:ext cx="2811700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東京 asia-northeast1 ・ dev / stg / prod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7" name="Google Shape;237;p5"/>
          <p:cNvSpPr>
            <a:spLocks noGrp="1"/>
          </p:cNvSpPr>
          <p:nvPr/>
        </p:nvSpPr>
        <p:spPr>
          <a:xfrm>
            <a:off x="812800" y="995660"/>
            <a:ext cx="10883392" cy="274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400"/>
              <a:buFont typeface="Noto Sans JP" panose="020B0200000000000000" charset="-122"/>
              <a:buNone/>
            </a:pPr>
            <a:r>
              <a:rPr sz="14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プロジェクト／コンピュート／ストレージ／パス／環境の申請内容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8" name="Google Shape;238;p5"/>
          <p:cNvSpPr>
            <a:spLocks noGrp="1"/>
          </p:cNvSpPr>
          <p:nvPr/>
        </p:nvSpPr>
        <p:spPr>
          <a:xfrm>
            <a:off x="815975" y="1400076"/>
            <a:ext cx="5213350" cy="2271713"/>
          </a:xfrm>
          <a:prstGeom prst="roundRect">
            <a:avLst>
              <a:gd name="adj" fmla="val 2655"/>
            </a:avLst>
          </a:prstGeom>
          <a:solidFill>
            <a:srgbClr val="F1F3F8"/>
          </a:solidFill>
          <a:ln w="9525" cmpd="sng">
            <a:solidFill>
              <a:srgbClr val="DCE1E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9" name="Google Shape;239;p5"/>
          <p:cNvSpPr>
            <a:spLocks noGrp="1"/>
          </p:cNvSpPr>
          <p:nvPr/>
        </p:nvSpPr>
        <p:spPr>
          <a:xfrm>
            <a:off x="996950" y="1530251"/>
            <a:ext cx="4996942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400"/>
              <a:buFont typeface="Noto Sans JP" panose="020B0200000000000000" charset="-122"/>
              <a:buNone/>
            </a:pPr>
            <a:r>
              <a:rPr sz="14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プロジェクト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0" name="Google Shape;240;p5"/>
          <p:cNvSpPr>
            <a:spLocks noGrp="1"/>
          </p:cNvSpPr>
          <p:nvPr/>
        </p:nvSpPr>
        <p:spPr>
          <a:xfrm>
            <a:off x="996950" y="1794371"/>
            <a:ext cx="1257300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名称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1" name="Google Shape;241;p5"/>
          <p:cNvSpPr>
            <a:spLocks noGrp="1"/>
          </p:cNvSpPr>
          <p:nvPr/>
        </p:nvSpPr>
        <p:spPr>
          <a:xfrm>
            <a:off x="2305050" y="1794371"/>
            <a:ext cx="3649599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SCM連携クラウド機（Layer①）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2" name="Google Shape;242;p5"/>
          <p:cNvSpPr>
            <a:spLocks noGrp="1"/>
          </p:cNvSpPr>
          <p:nvPr/>
        </p:nvSpPr>
        <p:spPr>
          <a:xfrm>
            <a:off x="996950" y="2058491"/>
            <a:ext cx="1257300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PJ ID（暫定）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3" name="Google Shape;243;p5"/>
          <p:cNvSpPr>
            <a:spLocks noGrp="1"/>
          </p:cNvSpPr>
          <p:nvPr/>
        </p:nvSpPr>
        <p:spPr>
          <a:xfrm>
            <a:off x="2305050" y="2058491"/>
            <a:ext cx="3649599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md-data-integration-prod（stg、dev）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4" name="Google Shape;244;p5"/>
          <p:cNvSpPr>
            <a:spLocks noGrp="1"/>
          </p:cNvSpPr>
          <p:nvPr/>
        </p:nvSpPr>
        <p:spPr>
          <a:xfrm>
            <a:off x="996950" y="2322612"/>
            <a:ext cx="1257300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リージョン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5" name="Google Shape;245;p5"/>
          <p:cNvSpPr>
            <a:spLocks noGrp="1"/>
          </p:cNvSpPr>
          <p:nvPr/>
        </p:nvSpPr>
        <p:spPr>
          <a:xfrm>
            <a:off x="2305050" y="2322612"/>
            <a:ext cx="3649599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asia-northeast1（東京）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6" name="Google Shape;246;p5"/>
          <p:cNvSpPr>
            <a:spLocks noGrp="1"/>
          </p:cNvSpPr>
          <p:nvPr/>
        </p:nvSpPr>
        <p:spPr>
          <a:xfrm>
            <a:off x="996950" y="2586732"/>
            <a:ext cx="1257300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環境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7" name="Google Shape;247;p5"/>
          <p:cNvSpPr>
            <a:spLocks noGrp="1"/>
          </p:cNvSpPr>
          <p:nvPr/>
        </p:nvSpPr>
        <p:spPr>
          <a:xfrm>
            <a:off x="2305050" y="2586732"/>
            <a:ext cx="3649599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dev / stg / prod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8" name="Google Shape;248;p5"/>
          <p:cNvSpPr>
            <a:spLocks noGrp="1"/>
          </p:cNvSpPr>
          <p:nvPr/>
        </p:nvSpPr>
        <p:spPr>
          <a:xfrm>
            <a:off x="996950" y="2850852"/>
            <a:ext cx="1257300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実行基盤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9" name="Google Shape;249;p5"/>
          <p:cNvSpPr>
            <a:spLocks noGrp="1"/>
          </p:cNvSpPr>
          <p:nvPr/>
        </p:nvSpPr>
        <p:spPr>
          <a:xfrm>
            <a:off x="2305050" y="2850852"/>
            <a:ext cx="3649599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Cloud Run Jobs（GKE は申請しない）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0" name="Google Shape;250;p5"/>
          <p:cNvSpPr>
            <a:spLocks noGrp="1"/>
          </p:cNvSpPr>
          <p:nvPr/>
        </p:nvSpPr>
        <p:spPr>
          <a:xfrm>
            <a:off x="996950" y="3114973"/>
            <a:ext cx="1257300" cy="452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制御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1" name="Google Shape;251;p5"/>
          <p:cNvSpPr>
            <a:spLocks noGrp="1"/>
          </p:cNvSpPr>
          <p:nvPr/>
        </p:nvSpPr>
        <p:spPr>
          <a:xfrm>
            <a:off x="2305050" y="3114973"/>
            <a:ext cx="3649599" cy="452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Cloud Scheduler → Workflows（将来 Hinemos 起動の可能性あり／要突合）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2" name="Google Shape;252;p5"/>
          <p:cNvSpPr>
            <a:spLocks noGrp="1"/>
          </p:cNvSpPr>
          <p:nvPr/>
        </p:nvSpPr>
        <p:spPr>
          <a:xfrm>
            <a:off x="6162675" y="1400076"/>
            <a:ext cx="5213350" cy="2271713"/>
          </a:xfrm>
          <a:prstGeom prst="roundRect">
            <a:avLst>
              <a:gd name="adj" fmla="val 2655"/>
            </a:avLst>
          </a:prstGeom>
          <a:solidFill>
            <a:srgbClr val="F1F3F8"/>
          </a:solidFill>
          <a:ln w="9525" cmpd="sng">
            <a:solidFill>
              <a:srgbClr val="DCE1E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3" name="Google Shape;253;p5"/>
          <p:cNvSpPr>
            <a:spLocks noGrp="1"/>
          </p:cNvSpPr>
          <p:nvPr/>
        </p:nvSpPr>
        <p:spPr>
          <a:xfrm>
            <a:off x="6343650" y="1530251"/>
            <a:ext cx="4996942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400"/>
              <a:buFont typeface="Noto Sans JP" panose="020B0200000000000000" charset="-122"/>
              <a:buNone/>
            </a:pPr>
            <a:r>
              <a:rPr sz="14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Cloud Run Job スペック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4" name="Google Shape;254;p5"/>
          <p:cNvSpPr>
            <a:spLocks noGrp="1"/>
          </p:cNvSpPr>
          <p:nvPr/>
        </p:nvSpPr>
        <p:spPr>
          <a:xfrm>
            <a:off x="6343650" y="1794371"/>
            <a:ext cx="1257300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CPU / Memory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5" name="Google Shape;255;p5"/>
          <p:cNvSpPr>
            <a:spLocks noGrp="1"/>
          </p:cNvSpPr>
          <p:nvPr/>
        </p:nvSpPr>
        <p:spPr>
          <a:xfrm>
            <a:off x="7651750" y="1794371"/>
            <a:ext cx="3649599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4 vCPU / 16 GiB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6" name="Google Shape;256;p5"/>
          <p:cNvSpPr>
            <a:spLocks noGrp="1"/>
          </p:cNvSpPr>
          <p:nvPr/>
        </p:nvSpPr>
        <p:spPr>
          <a:xfrm>
            <a:off x="6343650" y="2058491"/>
            <a:ext cx="1257300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処理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7" name="Google Shape;257;p5"/>
          <p:cNvSpPr>
            <a:spLocks noGrp="1"/>
          </p:cNvSpPr>
          <p:nvPr/>
        </p:nvSpPr>
        <p:spPr>
          <a:xfrm>
            <a:off x="7651750" y="2058491"/>
            <a:ext cx="3649599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SMART 日次（店 / JAN）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8" name="Google Shape;258;p5"/>
          <p:cNvSpPr>
            <a:spLocks noGrp="1"/>
          </p:cNvSpPr>
          <p:nvPr/>
        </p:nvSpPr>
        <p:spPr>
          <a:xfrm>
            <a:off x="6343650" y="2322612"/>
            <a:ext cx="1257300" cy="452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アップロード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9" name="Google Shape;259;p5"/>
          <p:cNvSpPr>
            <a:spLocks noGrp="1"/>
          </p:cNvSpPr>
          <p:nvPr/>
        </p:nvSpPr>
        <p:spPr>
          <a:xfrm>
            <a:off x="7651750" y="2322612"/>
            <a:ext cx="3649599" cy="452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大容量：resumable upload／通常：処理後に直接アップロード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0" name="Google Shape;260;p5"/>
          <p:cNvSpPr>
            <a:spLocks noGrp="1"/>
          </p:cNvSpPr>
          <p:nvPr/>
        </p:nvSpPr>
        <p:spPr>
          <a:xfrm>
            <a:off x="6343650" y="2800052"/>
            <a:ext cx="1257300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外部ソート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1" name="Google Shape;261;p5"/>
          <p:cNvSpPr>
            <a:spLocks noGrp="1"/>
          </p:cNvSpPr>
          <p:nvPr/>
        </p:nvSpPr>
        <p:spPr>
          <a:xfrm>
            <a:off x="7651750" y="2800052"/>
            <a:ext cx="3649599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ephemeral disk（必要時）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2" name="Google Shape;262;p5"/>
          <p:cNvSpPr>
            <a:spLocks noGrp="1"/>
          </p:cNvSpPr>
          <p:nvPr/>
        </p:nvSpPr>
        <p:spPr>
          <a:xfrm>
            <a:off x="6343650" y="3064173"/>
            <a:ext cx="1257300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永続ディスク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3" name="Google Shape;263;p5"/>
          <p:cNvSpPr>
            <a:spLocks noGrp="1"/>
          </p:cNvSpPr>
          <p:nvPr/>
        </p:nvSpPr>
        <p:spPr>
          <a:xfrm>
            <a:off x="7651750" y="3064173"/>
            <a:ext cx="3649599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なし（本機ステージングもなし）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4" name="Google Shape;264;p5"/>
          <p:cNvSpPr>
            <a:spLocks noGrp="1"/>
          </p:cNvSpPr>
          <p:nvPr/>
        </p:nvSpPr>
        <p:spPr>
          <a:xfrm>
            <a:off x="815975" y="3805138"/>
            <a:ext cx="5213350" cy="2220913"/>
          </a:xfrm>
          <a:prstGeom prst="roundRect">
            <a:avLst>
              <a:gd name="adj" fmla="val 2716"/>
            </a:avLst>
          </a:prstGeom>
          <a:solidFill>
            <a:srgbClr val="F1F3F8"/>
          </a:solidFill>
          <a:ln w="9525" cmpd="sng">
            <a:solidFill>
              <a:srgbClr val="DCE1E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5" name="Google Shape;265;p5"/>
          <p:cNvSpPr>
            <a:spLocks noGrp="1"/>
          </p:cNvSpPr>
          <p:nvPr/>
        </p:nvSpPr>
        <p:spPr>
          <a:xfrm>
            <a:off x="996950" y="3935313"/>
            <a:ext cx="4996942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400"/>
              <a:buFont typeface="Noto Sans JP" panose="020B0200000000000000" charset="-122"/>
              <a:buNone/>
            </a:pPr>
            <a:r>
              <a:rPr sz="14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本PJ GCS（本PJ付帯＝landing）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6" name="Google Shape;266;p5"/>
          <p:cNvSpPr>
            <a:spLocks noGrp="1"/>
          </p:cNvSpPr>
          <p:nvPr/>
        </p:nvSpPr>
        <p:spPr>
          <a:xfrm>
            <a:off x="996950" y="4199434"/>
            <a:ext cx="1257300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パス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7" name="Google Shape;267;p5"/>
          <p:cNvSpPr>
            <a:spLocks noGrp="1"/>
          </p:cNvSpPr>
          <p:nvPr/>
        </p:nvSpPr>
        <p:spPr>
          <a:xfrm>
            <a:off x="2305050" y="4199434"/>
            <a:ext cx="3649599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source-landing/MD_DATA/YYYYMMDD/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8" name="Google Shape;268;p5"/>
          <p:cNvSpPr>
            <a:spLocks noGrp="1"/>
          </p:cNvSpPr>
          <p:nvPr/>
        </p:nvSpPr>
        <p:spPr>
          <a:xfrm>
            <a:off x="996950" y="4463554"/>
            <a:ext cx="1257300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用途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9" name="Google Shape;269;p5"/>
          <p:cNvSpPr>
            <a:spLocks noGrp="1"/>
          </p:cNvSpPr>
          <p:nvPr/>
        </p:nvSpPr>
        <p:spPr>
          <a:xfrm>
            <a:off x="2305050" y="4463554"/>
            <a:ext cx="3649599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大阪から同期した元データ保管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0" name="Google Shape;270;p5"/>
          <p:cNvSpPr>
            <a:spLocks noGrp="1"/>
          </p:cNvSpPr>
          <p:nvPr/>
        </p:nvSpPr>
        <p:spPr>
          <a:xfrm>
            <a:off x="996950" y="4727674"/>
            <a:ext cx="1257300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保管期間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1" name="Google Shape;271;p5"/>
          <p:cNvSpPr>
            <a:spLocks noGrp="1"/>
          </p:cNvSpPr>
          <p:nvPr/>
        </p:nvSpPr>
        <p:spPr>
          <a:xfrm>
            <a:off x="2305050" y="4727674"/>
            <a:ext cx="3649599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prod 30 日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2" name="Google Shape;272;p5"/>
          <p:cNvSpPr>
            <a:spLocks noGrp="1"/>
          </p:cNvSpPr>
          <p:nvPr/>
        </p:nvSpPr>
        <p:spPr>
          <a:xfrm>
            <a:off x="996950" y="4991795"/>
            <a:ext cx="1257300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容量前提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3" name="Google Shape;273;p5"/>
          <p:cNvSpPr>
            <a:spLocks noGrp="1"/>
          </p:cNvSpPr>
          <p:nvPr/>
        </p:nvSpPr>
        <p:spPr>
          <a:xfrm>
            <a:off x="2305050" y="4991795"/>
            <a:ext cx="3649599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約 1,078.3 GiB（試算入力 1,200）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4" name="Google Shape;274;p5"/>
          <p:cNvSpPr>
            <a:spLocks noGrp="1"/>
          </p:cNvSpPr>
          <p:nvPr/>
        </p:nvSpPr>
        <p:spPr>
          <a:xfrm>
            <a:off x="996950" y="5255915"/>
            <a:ext cx="1257300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ファイル末尾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5" name="Google Shape;275;p5"/>
          <p:cNvSpPr>
            <a:spLocks noGrp="1"/>
          </p:cNvSpPr>
          <p:nvPr/>
        </p:nvSpPr>
        <p:spPr>
          <a:xfrm>
            <a:off x="2305050" y="5255915"/>
            <a:ext cx="3649599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_YYYYMMDDhhmmss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6" name="Google Shape;276;p5"/>
          <p:cNvSpPr>
            <a:spLocks noGrp="1"/>
          </p:cNvSpPr>
          <p:nvPr/>
        </p:nvSpPr>
        <p:spPr>
          <a:xfrm>
            <a:off x="996950" y="5520035"/>
            <a:ext cx="1257300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権限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7" name="Google Shape;277;p5"/>
          <p:cNvSpPr>
            <a:spLocks noGrp="1"/>
          </p:cNvSpPr>
          <p:nvPr/>
        </p:nvSpPr>
        <p:spPr>
          <a:xfrm>
            <a:off x="2305050" y="5520035"/>
            <a:ext cx="3649599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STS write ／ Job objectViewer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8" name="Google Shape;278;p5"/>
          <p:cNvSpPr>
            <a:spLocks noGrp="1"/>
          </p:cNvSpPr>
          <p:nvPr/>
        </p:nvSpPr>
        <p:spPr>
          <a:xfrm>
            <a:off x="6162675" y="3805138"/>
            <a:ext cx="5213350" cy="2220913"/>
          </a:xfrm>
          <a:prstGeom prst="roundRect">
            <a:avLst>
              <a:gd name="adj" fmla="val 2716"/>
            </a:avLst>
          </a:prstGeom>
          <a:solidFill>
            <a:srgbClr val="F1F3F8"/>
          </a:solidFill>
          <a:ln w="9525" cmpd="sng">
            <a:solidFill>
              <a:srgbClr val="DCE1E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9" name="Google Shape;279;p5"/>
          <p:cNvSpPr>
            <a:spLocks noGrp="1"/>
          </p:cNvSpPr>
          <p:nvPr/>
        </p:nvSpPr>
        <p:spPr>
          <a:xfrm>
            <a:off x="6343650" y="3935313"/>
            <a:ext cx="4996942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400"/>
              <a:buFont typeface="Noto Sans JP" panose="020B0200000000000000" charset="-122"/>
              <a:buNone/>
            </a:pPr>
            <a:r>
              <a:rPr sz="14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seiyu-trial-data-exchange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0" name="Google Shape;280;p5"/>
          <p:cNvSpPr>
            <a:spLocks noGrp="1"/>
          </p:cNvSpPr>
          <p:nvPr/>
        </p:nvSpPr>
        <p:spPr>
          <a:xfrm>
            <a:off x="6343650" y="4199434"/>
            <a:ext cx="1257300" cy="452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パス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1" name="Google Shape;281;p5"/>
          <p:cNvSpPr>
            <a:spLocks noGrp="1"/>
          </p:cNvSpPr>
          <p:nvPr/>
        </p:nvSpPr>
        <p:spPr>
          <a:xfrm>
            <a:off x="7651750" y="4199434"/>
            <a:ext cx="3649599" cy="452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バケット/[SYS ID from]_[SYS ID to]_[3桁連番]/ YYYYMMDD/○○○.txt（例）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2" name="Google Shape;282;p5"/>
          <p:cNvSpPr>
            <a:spLocks noGrp="1"/>
          </p:cNvSpPr>
          <p:nvPr/>
        </p:nvSpPr>
        <p:spPr>
          <a:xfrm>
            <a:off x="6343650" y="4676874"/>
            <a:ext cx="1257300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完了マーカー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3" name="Google Shape;283;p5"/>
          <p:cNvSpPr>
            <a:spLocks noGrp="1"/>
          </p:cNvSpPr>
          <p:nvPr/>
        </p:nvSpPr>
        <p:spPr>
          <a:xfrm>
            <a:off x="7651750" y="4676874"/>
            <a:ext cx="3649599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_SUCCESS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4" name="Google Shape;284;p5"/>
          <p:cNvSpPr>
            <a:spLocks noGrp="1"/>
          </p:cNvSpPr>
          <p:nvPr/>
        </p:nvSpPr>
        <p:spPr>
          <a:xfrm>
            <a:off x="6343650" y="4940995"/>
            <a:ext cx="1257300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納品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5" name="Google Shape;285;p5"/>
          <p:cNvSpPr>
            <a:spLocks noGrp="1"/>
          </p:cNvSpPr>
          <p:nvPr/>
        </p:nvSpPr>
        <p:spPr>
          <a:xfrm>
            <a:off x="7651750" y="4940995"/>
            <a:ext cx="3649599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最終 TXT のみ（一方向）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6" name="Google Shape;286;p5"/>
          <p:cNvSpPr>
            <a:spLocks noGrp="1"/>
          </p:cNvSpPr>
          <p:nvPr/>
        </p:nvSpPr>
        <p:spPr>
          <a:xfrm>
            <a:off x="6343650" y="5205115"/>
            <a:ext cx="1257300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権限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7" name="Google Shape;287;p5"/>
          <p:cNvSpPr>
            <a:spLocks noGrp="1"/>
          </p:cNvSpPr>
          <p:nvPr/>
        </p:nvSpPr>
        <p:spPr>
          <a:xfrm>
            <a:off x="7651750" y="5205115"/>
            <a:ext cx="3649599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objectCreator のみ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8" name="Google Shape;288;p5"/>
          <p:cNvSpPr>
            <a:spLocks noGrp="1"/>
          </p:cNvSpPr>
          <p:nvPr/>
        </p:nvSpPr>
        <p:spPr>
          <a:xfrm>
            <a:off x="6343650" y="5469235"/>
            <a:ext cx="1257300" cy="452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制約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9" name="Google Shape;289;p5"/>
          <p:cNvSpPr>
            <a:spLocks noGrp="1"/>
          </p:cNvSpPr>
          <p:nvPr/>
        </p:nvSpPr>
        <p:spPr>
          <a:xfrm>
            <a:off x="7651750" y="5469235"/>
            <a:ext cx="3649599" cy="452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元データは入れない／結果の本PJ GCS 重複保存なし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0" name="Google Shape;290;p5"/>
          <p:cNvSpPr>
            <a:spLocks noGrp="1"/>
          </p:cNvSpPr>
          <p:nvPr/>
        </p:nvSpPr>
        <p:spPr>
          <a:xfrm>
            <a:off x="10058400" y="6339880"/>
            <a:ext cx="1320800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A1AE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9AA1AE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5 / 7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6" name="Google Shape;296;h6f6c96ae95625a16_1_2"/>
          <p:cNvSpPr>
            <a:spLocks noGrp="1"/>
          </p:cNvSpPr>
          <p:nvPr/>
        </p:nvSpPr>
        <p:spPr>
          <a:xfrm>
            <a:off x="812800" y="419993"/>
            <a:ext cx="7131600" cy="5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3200"/>
              <a:buFont typeface="Noto Sans JP" panose="020B0200000000000000" charset="-122"/>
              <a:buNone/>
            </a:pPr>
            <a:r>
              <a:rPr sz="32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費用試算（GCP Pricing Calculator）</a:t>
            </a:r>
            <a:endParaRPr sz="3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7" name="Google Shape;297;h6f6c96ae95625a16_1_2"/>
          <p:cNvSpPr>
            <a:spLocks noGrp="1"/>
          </p:cNvSpPr>
          <p:nvPr/>
        </p:nvSpPr>
        <p:spPr>
          <a:xfrm>
            <a:off x="8385870" y="515838"/>
            <a:ext cx="2990100" cy="295800"/>
          </a:xfrm>
          <a:prstGeom prst="roundRect">
            <a:avLst>
              <a:gd name="adj" fmla="val 50000"/>
            </a:avLst>
          </a:prstGeom>
          <a:solidFill>
            <a:srgbClr val="F1F3F8"/>
          </a:solidFill>
          <a:ln w="9525" cmpd="sng">
            <a:solidFill>
              <a:srgbClr val="DCE1E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endParaRPr sz="1400" b="0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98" name="Google Shape;298;h6f6c96ae95625a16_1_2"/>
          <p:cNvSpPr>
            <a:spLocks noGrp="1"/>
          </p:cNvSpPr>
          <p:nvPr/>
        </p:nvSpPr>
        <p:spPr>
          <a:xfrm>
            <a:off x="8516045" y="557113"/>
            <a:ext cx="28116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東京 asia-northeast1 ・ dev / stg / prod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9" name="Google Shape;299;h6f6c96ae95625a16_1_2"/>
          <p:cNvSpPr>
            <a:spLocks noGrp="1"/>
          </p:cNvSpPr>
          <p:nvPr/>
        </p:nvSpPr>
        <p:spPr>
          <a:xfrm>
            <a:off x="812800" y="921246"/>
            <a:ext cx="108834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194"/>
              <a:buFont typeface="Noto Sans JP" panose="020B0200000000000000" charset="-122"/>
              <a:buNone/>
            </a:pPr>
            <a:r>
              <a:rPr sz="1195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公式試算　／　算定日 2026-09-24　／　dev・stg・prod 合計　</a:t>
            </a:r>
            <a:endParaRPr sz="119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0" name="Google Shape;300;h6f6c96ae95625a16_1_2"/>
          <p:cNvSpPr>
            <a:spLocks noGrp="1"/>
          </p:cNvSpPr>
          <p:nvPr/>
        </p:nvSpPr>
        <p:spPr>
          <a:xfrm>
            <a:off x="812800" y="1259205"/>
            <a:ext cx="3429000" cy="1277100"/>
          </a:xfrm>
          <a:prstGeom prst="roundRect">
            <a:avLst>
              <a:gd name="adj" fmla="val 5868"/>
            </a:avLst>
          </a:prstGeom>
          <a:solidFill>
            <a:srgbClr val="1E235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endParaRPr sz="1400" b="0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01" name="Google Shape;301;h6f6c96ae95625a16_1_2"/>
          <p:cNvSpPr>
            <a:spLocks noGrp="1"/>
          </p:cNvSpPr>
          <p:nvPr/>
        </p:nvSpPr>
        <p:spPr>
          <a:xfrm>
            <a:off x="1016000" y="1586905"/>
            <a:ext cx="1144800" cy="4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5D8EA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D5D8EA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月額合計（概算）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2" name="Google Shape;302;h6f6c96ae95625a16_1_2"/>
          <p:cNvSpPr>
            <a:spLocks noGrp="1"/>
          </p:cNvSpPr>
          <p:nvPr/>
        </p:nvSpPr>
        <p:spPr>
          <a:xfrm>
            <a:off x="2414687" y="1302544"/>
            <a:ext cx="1674600" cy="10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CFCFD"/>
              </a:buClr>
              <a:buSzPts val="2800"/>
              <a:buFont typeface="Noto Sans JP" panose="020B0200000000000000" charset="-122"/>
              <a:buNone/>
            </a:pPr>
            <a:r>
              <a:rPr sz="2800" b="1" i="0" u="none" cap="none">
                <a:solidFill>
                  <a:srgbClr val="FCFCFD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約 </a:t>
            </a:r>
            <a:r>
              <a:rPr sz="2800" b="1" i="0" u="none" cap="none">
                <a:solidFill>
                  <a:srgbClr val="FCFCFD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¥31,607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3" name="Google Shape;303;h6f6c96ae95625a16_1_2"/>
          <p:cNvSpPr>
            <a:spLocks noGrp="1"/>
          </p:cNvSpPr>
          <p:nvPr/>
        </p:nvSpPr>
        <p:spPr>
          <a:xfrm>
            <a:off x="4371975" y="1262380"/>
            <a:ext cx="3435300" cy="1269300"/>
          </a:xfrm>
          <a:prstGeom prst="roundRect">
            <a:avLst>
              <a:gd name="adj" fmla="val 5607"/>
            </a:avLst>
          </a:prstGeom>
          <a:solidFill>
            <a:srgbClr val="F1F3F8"/>
          </a:solidFill>
          <a:ln w="9525" cmpd="sng">
            <a:solidFill>
              <a:srgbClr val="DCE1E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endParaRPr sz="1400" b="0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04" name="Google Shape;304;h6f6c96ae95625a16_1_2"/>
          <p:cNvSpPr>
            <a:spLocks noGrp="1"/>
          </p:cNvSpPr>
          <p:nvPr/>
        </p:nvSpPr>
        <p:spPr>
          <a:xfrm>
            <a:off x="4578350" y="1586905"/>
            <a:ext cx="1082700" cy="4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年間合計（×12）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5" name="Google Shape;305;h6f6c96ae95625a16_1_2"/>
          <p:cNvSpPr>
            <a:spLocks noGrp="1"/>
          </p:cNvSpPr>
          <p:nvPr/>
        </p:nvSpPr>
        <p:spPr>
          <a:xfrm>
            <a:off x="5915025" y="1302544"/>
            <a:ext cx="1736700" cy="10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2800"/>
              <a:buFont typeface="Noto Sans JP" panose="020B0200000000000000" charset="-122"/>
              <a:buNone/>
            </a:pPr>
            <a:r>
              <a:rPr sz="28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約 </a:t>
            </a:r>
            <a:r>
              <a:rPr sz="28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¥379,287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6" name="Google Shape;306;h6f6c96ae95625a16_1_2"/>
          <p:cNvSpPr>
            <a:spLocks noGrp="1"/>
          </p:cNvSpPr>
          <p:nvPr/>
        </p:nvSpPr>
        <p:spPr>
          <a:xfrm>
            <a:off x="7940675" y="1262380"/>
            <a:ext cx="3435300" cy="1269300"/>
          </a:xfrm>
          <a:prstGeom prst="roundRect">
            <a:avLst>
              <a:gd name="adj" fmla="val 5607"/>
            </a:avLst>
          </a:prstGeom>
          <a:solidFill>
            <a:srgbClr val="F1F3F8"/>
          </a:solidFill>
          <a:ln w="9525" cmpd="sng">
            <a:solidFill>
              <a:srgbClr val="DCE1E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endParaRPr sz="1400" b="0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07" name="Google Shape;307;h6f6c96ae95625a16_1_2"/>
          <p:cNvSpPr>
            <a:spLocks noGrp="1"/>
          </p:cNvSpPr>
          <p:nvPr/>
        </p:nvSpPr>
        <p:spPr>
          <a:xfrm>
            <a:off x="8147050" y="1693565"/>
            <a:ext cx="8127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転送の割合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8" name="Google Shape;308;h6f6c96ae95625a16_1_2"/>
          <p:cNvSpPr>
            <a:spLocks noGrp="1"/>
          </p:cNvSpPr>
          <p:nvPr/>
        </p:nvSpPr>
        <p:spPr>
          <a:xfrm>
            <a:off x="9971584" y="1551384"/>
            <a:ext cx="1248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2800"/>
              <a:buFont typeface="Noto Sans JP" panose="020B0200000000000000" charset="-122"/>
              <a:buNone/>
            </a:pPr>
            <a:r>
              <a:rPr sz="28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約 </a:t>
            </a:r>
            <a:r>
              <a:rPr sz="28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63%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334" name="Google Shape;309;h6f6c96ae95625a16_1_2"/>
          <p:cNvGraphicFramePr/>
          <p:nvPr/>
        </p:nvGraphicFramePr>
        <p:xfrm>
          <a:off x="812800" y="2683629"/>
          <a:ext cx="6200000" cy="3000000"/>
        </p:xfrm>
        <a:graphic>
          <a:graphicData uri="http://schemas.openxmlformats.org/drawingml/2006/table">
            <a:tbl>
              <a:tblPr>
                <a:tableStyleId>{4A66BF64-D2FC-4761-AEA6-D4DDCA1AC9C9}</a:tableStyleId>
              </a:tblPr>
              <a:tblGrid>
                <a:gridCol w="1100000"/>
                <a:gridCol w="1750000"/>
                <a:gridCol w="1000000"/>
                <a:gridCol w="1450000"/>
                <a:gridCol w="900000"/>
              </a:tblGrid>
              <a:tr h="4000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CFCFD"/>
                        </a:buClr>
                        <a:buSzPts val="1084"/>
                        <a:buFont typeface="Noto Sans JP" panose="020B0200000000000000" charset="-122"/>
                        <a:buNone/>
                      </a:pPr>
                      <a:r>
                        <a:rPr sz="1085" b="1" u="none" cap="none">
                          <a:solidFill>
                            <a:srgbClr val="FCFCFD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環境</a:t>
                      </a:r>
                      <a:endParaRPr sz="1085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48175" marR="48175" marT="48175" marB="481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  <a:solidFill>
                      <a:srgbClr val="1E23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CFCFD"/>
                        </a:buClr>
                        <a:buSzPts val="1084"/>
                        <a:buFont typeface="Noto Sans JP" panose="020B0200000000000000" charset="-122"/>
                        <a:buNone/>
                      </a:pPr>
                      <a:r>
                        <a:rPr sz="1085" b="1" u="none" cap="none">
                          <a:solidFill>
                            <a:srgbClr val="FCFCFD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内容</a:t>
                      </a:r>
                      <a:endParaRPr sz="1085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48175" marR="48175" marT="48175" marB="481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  <a:solidFill>
                      <a:srgbClr val="1E23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CFCFD"/>
                        </a:buClr>
                        <a:buSzPts val="1084"/>
                        <a:buFont typeface="Noto Sans JP" panose="020B0200000000000000" charset="-122"/>
                        <a:buNone/>
                      </a:pPr>
                      <a:r>
                        <a:rPr sz="1085" b="1" u="none" cap="none">
                          <a:solidFill>
                            <a:srgbClr val="FCFCFD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転送 GiB</a:t>
                      </a:r>
                      <a:endParaRPr sz="1085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48175" marR="48175" marT="48175" marB="481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  <a:solidFill>
                      <a:srgbClr val="1E23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CFCFD"/>
                        </a:buClr>
                        <a:buSzPts val="1084"/>
                        <a:buFont typeface="Noto Sans JP" panose="020B0200000000000000" charset="-122"/>
                        <a:buNone/>
                      </a:pPr>
                      <a:r>
                        <a:rPr sz="1085" b="1" u="none" cap="none">
                          <a:solidFill>
                            <a:srgbClr val="FCFCFD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リージョン</a:t>
                      </a:r>
                      <a:endParaRPr sz="1085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48175" marR="48175" marT="48175" marB="481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  <a:solidFill>
                      <a:srgbClr val="1E23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CFCFD"/>
                        </a:buClr>
                        <a:buSzPts val="1084"/>
                        <a:buFont typeface="Noto Sans JP" panose="020B0200000000000000" charset="-122"/>
                        <a:buNone/>
                      </a:pPr>
                      <a:r>
                        <a:rPr sz="1085" b="1" u="none" cap="none">
                          <a:solidFill>
                            <a:srgbClr val="FCFCFD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月額</a:t>
                      </a:r>
                      <a:endParaRPr sz="1085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48175" marR="48175" marT="48175" marB="481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  <a:solidFill>
                      <a:srgbClr val="1E2356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084"/>
                        <a:buFont typeface="Noto Sans JP" panose="020B0200000000000000" charset="-122"/>
                        <a:buNone/>
                      </a:pPr>
                      <a:r>
                        <a:rPr sz="1085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prod</a:t>
                      </a:r>
                      <a:endParaRPr sz="1085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48175" marR="48175" marT="48175" marB="481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084"/>
                        <a:buFont typeface="Noto Sans JP" panose="020B0200000000000000" charset="-122"/>
                        <a:buNone/>
                      </a:pPr>
                      <a:r>
                        <a:rPr sz="1085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Run＋保管＋転送</a:t>
                      </a:r>
                      <a:endParaRPr sz="1085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48175" marR="48175" marT="48175" marB="481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084"/>
                        <a:buFont typeface="Noto Sans JP" panose="020B0200000000000000" charset="-122"/>
                        <a:buNone/>
                      </a:pPr>
                      <a:r>
                        <a:rPr sz="1085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1,200</a:t>
                      </a:r>
                      <a:endParaRPr sz="1085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48175" marR="48175" marT="48175" marB="481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084"/>
                        <a:buFont typeface="Noto Sans JP" panose="020B0200000000000000" charset="-122"/>
                        <a:buNone/>
                      </a:pPr>
                      <a:r>
                        <a:rPr sz="1085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東京</a:t>
                      </a:r>
                      <a:endParaRPr sz="1085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48175" marR="48175" marT="48175" marB="481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084"/>
                        <a:buFont typeface="Noto Sans JP" panose="020B0200000000000000" charset="-122"/>
                        <a:buNone/>
                      </a:pPr>
                      <a:r>
                        <a:rPr sz="1085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25,069</a:t>
                      </a:r>
                      <a:endParaRPr sz="1085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48175" marR="48175" marT="48175" marB="481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084"/>
                        <a:buFont typeface="Noto Sans JP" panose="020B0200000000000000" charset="-122"/>
                        <a:buNone/>
                      </a:pPr>
                      <a:r>
                        <a:rPr sz="1085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stg</a:t>
                      </a:r>
                      <a:endParaRPr sz="1085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48175" marR="48175" marT="48175" marB="481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084"/>
                        <a:buFont typeface="Noto Sans JP" panose="020B0200000000000000" charset="-122"/>
                        <a:buNone/>
                      </a:pPr>
                      <a:r>
                        <a:rPr sz="1085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Run＋保管＋転送</a:t>
                      </a:r>
                      <a:endParaRPr sz="1085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48175" marR="48175" marT="48175" marB="481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084"/>
                        <a:buFont typeface="Noto Sans JP" panose="020B0200000000000000" charset="-122"/>
                        <a:buNone/>
                      </a:pPr>
                      <a:r>
                        <a:rPr sz="1085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300</a:t>
                      </a:r>
                      <a:endParaRPr sz="1085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48175" marR="48175" marT="48175" marB="481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084"/>
                        <a:buFont typeface="Noto Sans JP" panose="020B0200000000000000" charset="-122"/>
                        <a:buNone/>
                      </a:pPr>
                      <a:r>
                        <a:rPr sz="1085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東京</a:t>
                      </a:r>
                      <a:endParaRPr sz="1085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48175" marR="48175" marT="48175" marB="481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084"/>
                        <a:buFont typeface="Noto Sans JP" panose="020B0200000000000000" charset="-122"/>
                        <a:buNone/>
                      </a:pPr>
                      <a:r>
                        <a:rPr sz="1085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5,568</a:t>
                      </a:r>
                      <a:endParaRPr sz="1085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48175" marR="48175" marT="48175" marB="481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084"/>
                        <a:buFont typeface="Noto Sans JP" panose="020B0200000000000000" charset="-122"/>
                        <a:buNone/>
                      </a:pPr>
                      <a:r>
                        <a:rPr sz="1085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dev</a:t>
                      </a:r>
                      <a:endParaRPr sz="1085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48175" marR="48175" marT="48175" marB="481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084"/>
                        <a:buFont typeface="Noto Sans JP" panose="020B0200000000000000" charset="-122"/>
                        <a:buNone/>
                      </a:pPr>
                      <a:r>
                        <a:rPr sz="1085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Run＋保管＋転送</a:t>
                      </a:r>
                      <a:endParaRPr sz="1085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48175" marR="48175" marT="48175" marB="481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084"/>
                        <a:buFont typeface="Noto Sans JP" panose="020B0200000000000000" charset="-122"/>
                        <a:buNone/>
                      </a:pPr>
                      <a:r>
                        <a:rPr sz="1085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50</a:t>
                      </a:r>
                      <a:endParaRPr sz="1085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48175" marR="48175" marT="48175" marB="481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084"/>
                        <a:buFont typeface="Noto Sans JP" panose="020B0200000000000000" charset="-122"/>
                        <a:buNone/>
                      </a:pPr>
                      <a:r>
                        <a:rPr sz="1085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東京</a:t>
                      </a:r>
                      <a:endParaRPr sz="1085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48175" marR="48175" marT="48175" marB="481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084"/>
                        <a:buFont typeface="Noto Sans JP" panose="020B0200000000000000" charset="-122"/>
                        <a:buNone/>
                      </a:pPr>
                      <a:r>
                        <a:rPr sz="1085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970</a:t>
                      </a:r>
                      <a:endParaRPr sz="1085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48175" marR="48175" marT="48175" marB="481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084"/>
                        <a:buFont typeface="Noto Sans JP" panose="020B0200000000000000" charset="-122"/>
                        <a:buNone/>
                      </a:pPr>
                      <a:r>
                        <a:rPr sz="1085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合計</a:t>
                      </a:r>
                      <a:endParaRPr sz="1085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48175" marR="48175" marT="48175" marB="481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084"/>
                        <a:buFont typeface="Noto Sans JP" panose="020B0200000000000000" charset="-122"/>
                        <a:buNone/>
                      </a:pPr>
                      <a:r>
                        <a:rPr sz="1085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dev＋stg＋prod</a:t>
                      </a:r>
                      <a:endParaRPr sz="1085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48175" marR="48175" marT="48175" marB="481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084"/>
                        <a:buFont typeface="Noto Sans JP" panose="020B0200000000000000" charset="-122"/>
                        <a:buNone/>
                      </a:pPr>
                      <a:r>
                        <a:rPr sz="1085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1,550</a:t>
                      </a:r>
                      <a:endParaRPr sz="1085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48175" marR="48175" marT="48175" marB="481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084"/>
                        <a:buFont typeface="Noto Sans JP" panose="020B0200000000000000" charset="-122"/>
                        <a:buNone/>
                      </a:pPr>
                      <a:r>
                        <a:rPr sz="1085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—</a:t>
                      </a:r>
                      <a:endParaRPr sz="1085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48175" marR="48175" marT="48175" marB="481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084"/>
                        <a:buFont typeface="Noto Sans JP" panose="020B0200000000000000" charset="-122"/>
                        <a:buNone/>
                      </a:pPr>
                      <a:r>
                        <a:rPr sz="1085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31,607</a:t>
                      </a:r>
                      <a:endParaRPr sz="1085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48175" marR="48175" marT="48175" marB="481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084"/>
                        <a:buFont typeface="Noto Sans JP" panose="020B0200000000000000" charset="-122"/>
                        <a:buNone/>
                      </a:pPr>
                      <a:r>
                        <a:rPr sz="1085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prod内訳</a:t>
                      </a:r>
                      <a:endParaRPr sz="1085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48175" marR="48175" marT="48175" marB="481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  <a:solidFill>
                      <a:srgbClr val="E9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084"/>
                        <a:buFont typeface="Noto Sans JP" panose="020B0200000000000000" charset="-122"/>
                        <a:buNone/>
                      </a:pPr>
                      <a:r>
                        <a:rPr sz="1085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CPU・Memory・保管・転送</a:t>
                      </a:r>
                      <a:endParaRPr sz="1085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48175" marR="48175" marT="48175" marB="481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  <a:solidFill>
                      <a:srgbClr val="E9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084"/>
                        <a:buFont typeface="Noto Sans JP" panose="020B0200000000000000" charset="-122"/>
                        <a:buNone/>
                      </a:pPr>
                      <a:r>
                        <a:rPr sz="1085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—</a:t>
                      </a:r>
                      <a:endParaRPr sz="1085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48175" marR="48175" marT="48175" marB="481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  <a:solidFill>
                      <a:srgbClr val="E9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084"/>
                        <a:buFont typeface="Noto Sans JP" panose="020B0200000000000000" charset="-122"/>
                        <a:buNone/>
                      </a:pPr>
                      <a:r>
                        <a:rPr sz="1085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東京</a:t>
                      </a:r>
                      <a:endParaRPr sz="1085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48175" marR="48175" marT="48175" marB="481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  <a:solidFill>
                      <a:srgbClr val="E9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084"/>
                        <a:buFont typeface="Noto Sans JP" panose="020B0200000000000000" charset="-122"/>
                        <a:buNone/>
                      </a:pPr>
                      <a:r>
                        <a:rPr sz="1085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25,069</a:t>
                      </a:r>
                      <a:endParaRPr sz="1085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48175" marR="48175" marT="48175" marB="481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  <a:solidFill>
                      <a:srgbClr val="E9ECF5"/>
                    </a:solidFill>
                  </a:tcPr>
                </a:tc>
              </a:tr>
            </a:tbl>
          </a:graphicData>
        </a:graphic>
      </p:graphicFrame>
      <p:sp>
        <p:nvSpPr>
          <p:cNvPr id="310" name="Google Shape;310;h6f6c96ae95625a16_1_2"/>
          <p:cNvSpPr>
            <a:spLocks noGrp="1"/>
          </p:cNvSpPr>
          <p:nvPr/>
        </p:nvSpPr>
        <p:spPr>
          <a:xfrm>
            <a:off x="815975" y="5228094"/>
            <a:ext cx="6207000" cy="1029300"/>
          </a:xfrm>
          <a:prstGeom prst="roundRect">
            <a:avLst>
              <a:gd name="adj" fmla="val 5861"/>
            </a:avLst>
          </a:prstGeom>
          <a:solidFill>
            <a:srgbClr val="F1F3F8"/>
          </a:solidFill>
          <a:ln w="9525" cmpd="sng">
            <a:solidFill>
              <a:srgbClr val="DCE1E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endParaRPr sz="1400" b="0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11" name="Google Shape;311;h6f6c96ae95625a16_1_2"/>
          <p:cNvSpPr>
            <a:spLocks noGrp="1"/>
          </p:cNvSpPr>
          <p:nvPr/>
        </p:nvSpPr>
        <p:spPr>
          <a:xfrm>
            <a:off x="984250" y="5345569"/>
            <a:ext cx="6046500" cy="2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186"/>
              <a:buFont typeface="Noto Sans JP" panose="020B0200000000000000" charset="-122"/>
              <a:buNone/>
            </a:pPr>
            <a:r>
              <a:rPr sz="1185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本シート未計上（別途確認）</a:t>
            </a:r>
            <a:endParaRPr sz="118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2" name="Google Shape;312;h6f6c96ae95625a16_1_2"/>
          <p:cNvSpPr>
            <a:spLocks noGrp="1"/>
          </p:cNvSpPr>
          <p:nvPr/>
        </p:nvSpPr>
        <p:spPr>
          <a:xfrm>
            <a:off x="984250" y="5574268"/>
            <a:ext cx="30036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・Storage Transfer Service 自体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3" name="Google Shape;313;h6f6c96ae95625a16_1_2"/>
          <p:cNvSpPr>
            <a:spLocks noGrp="1"/>
          </p:cNvSpPr>
          <p:nvPr/>
        </p:nvSpPr>
        <p:spPr>
          <a:xfrm>
            <a:off x="3938488" y="5574268"/>
            <a:ext cx="30036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・Workflows / Cloud Scheduler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4" name="Google Shape;314;h6f6c96ae95625a16_1_2"/>
          <p:cNvSpPr>
            <a:spLocks noGrp="1"/>
          </p:cNvSpPr>
          <p:nvPr/>
        </p:nvSpPr>
        <p:spPr>
          <a:xfrm>
            <a:off x="984250" y="5825688"/>
            <a:ext cx="3003600" cy="3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・Artifact Registry / Logging / Monitoring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5" name="Google Shape;315;h6f6c96ae95625a16_1_2"/>
          <p:cNvSpPr>
            <a:spLocks noGrp="1"/>
          </p:cNvSpPr>
          <p:nvPr/>
        </p:nvSpPr>
        <p:spPr>
          <a:xfrm>
            <a:off x="3938270" y="5825490"/>
            <a:ext cx="3139500" cy="3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・seiyu-trial-data-exchange の保管・egress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6" name="Google Shape;316;h6f6c96ae95625a16_1_2"/>
          <p:cNvSpPr>
            <a:spLocks noGrp="1"/>
          </p:cNvSpPr>
          <p:nvPr/>
        </p:nvSpPr>
        <p:spPr>
          <a:xfrm>
            <a:off x="7156252" y="2686804"/>
            <a:ext cx="4219800" cy="3570600"/>
          </a:xfrm>
          <a:prstGeom prst="roundRect">
            <a:avLst>
              <a:gd name="adj" fmla="val 1690"/>
            </a:avLst>
          </a:prstGeom>
          <a:solidFill>
            <a:srgbClr val="F1F3F8"/>
          </a:solidFill>
          <a:ln w="9525" cmpd="sng">
            <a:solidFill>
              <a:srgbClr val="DCE1E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endParaRPr sz="1400" b="0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17" name="Google Shape;317;h6f6c96ae95625a16_1_2"/>
          <p:cNvSpPr>
            <a:spLocks noGrp="1"/>
          </p:cNvSpPr>
          <p:nvPr/>
        </p:nvSpPr>
        <p:spPr>
          <a:xfrm>
            <a:off x="7324527" y="2816979"/>
            <a:ext cx="39996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400"/>
              <a:buFont typeface="Noto Sans JP" panose="020B0200000000000000" charset="-122"/>
              <a:buNone/>
            </a:pPr>
            <a:r>
              <a:rPr sz="14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読み方・注意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8" name="Google Shape;318;h6f6c96ae95625a16_1_2"/>
          <p:cNvSpPr>
            <a:spLocks noGrp="1"/>
          </p:cNvSpPr>
          <p:nvPr/>
        </p:nvSpPr>
        <p:spPr>
          <a:xfrm>
            <a:off x="7324527" y="3081099"/>
            <a:ext cx="3999600" cy="1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182880" marR="0" lvl="0" indent="-16764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Char char="•"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prod ¥25,069／月、stg ¥5,568、dev ¥970。</a:t>
            </a:r>
            <a:b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</a:b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3環境合計は月約 ¥31,607。</a:t>
            </a:r>
            <a:b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</a:b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稼働：prod 3h/日（90h/月）、stg 20h/月、dev 2.5h/月。
転送は約 63%（合計 1,550 GiB/月）。</a:t>
            </a:r>
            <a:b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</a:b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Storage：prod 1,200（30日）／stg 150・dev 50（7日）。</a:t>
            </a:r>
            <a:b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</a:b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年額は月額×12。議論用・非拘束。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82880" marR="0" lvl="0" indent="-16764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Char char="•"/>
            </a:pP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82880" marR="0" lvl="0" indent="-16764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Char char="•"/>
            </a:pP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82880" marR="0" lvl="0" indent="-16764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Char char="•"/>
            </a:pP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82880" marR="0" lvl="0" indent="-16764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Char char="•"/>
            </a:pP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9" name="Google Shape;319;h6f6c96ae95625a16_1_2"/>
          <p:cNvSpPr>
            <a:spLocks noGrp="1"/>
          </p:cNvSpPr>
          <p:nvPr/>
        </p:nvSpPr>
        <p:spPr>
          <a:xfrm>
            <a:off x="10058400" y="6339880"/>
            <a:ext cx="13209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A1AE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9AA1AE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6 / 7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5" name="Google Shape;325;h6f6c96ae95625a16_1_31"/>
          <p:cNvSpPr>
            <a:spLocks noGrp="1"/>
          </p:cNvSpPr>
          <p:nvPr/>
        </p:nvSpPr>
        <p:spPr>
          <a:xfrm>
            <a:off x="812800" y="457200"/>
            <a:ext cx="6763200" cy="5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3200"/>
              <a:buFont typeface="Noto Sans JP" panose="020B0200000000000000" charset="-122"/>
              <a:buNone/>
            </a:pPr>
            <a:r>
              <a:rPr sz="32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費用比較：Cloud Run Jobs vs GKE</a:t>
            </a:r>
            <a:endParaRPr sz="3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6" name="Google Shape;326;h6f6c96ae95625a16_1_31"/>
          <p:cNvSpPr>
            <a:spLocks noGrp="1"/>
          </p:cNvSpPr>
          <p:nvPr/>
        </p:nvSpPr>
        <p:spPr>
          <a:xfrm>
            <a:off x="8385870" y="553045"/>
            <a:ext cx="2990100" cy="295800"/>
          </a:xfrm>
          <a:prstGeom prst="roundRect">
            <a:avLst>
              <a:gd name="adj" fmla="val 50000"/>
            </a:avLst>
          </a:prstGeom>
          <a:solidFill>
            <a:srgbClr val="F1F3F8"/>
          </a:solidFill>
          <a:ln w="9525" cmpd="sng">
            <a:solidFill>
              <a:srgbClr val="DCE1E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endParaRPr sz="1400" b="0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27" name="Google Shape;327;h6f6c96ae95625a16_1_31"/>
          <p:cNvSpPr>
            <a:spLocks noGrp="1"/>
          </p:cNvSpPr>
          <p:nvPr/>
        </p:nvSpPr>
        <p:spPr>
          <a:xfrm>
            <a:off x="8516045" y="594320"/>
            <a:ext cx="28116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東京 asia-northeast1 ・ dev / stg / prod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8" name="Google Shape;328;h6f6c96ae95625a16_1_31"/>
          <p:cNvSpPr>
            <a:spLocks noGrp="1"/>
          </p:cNvSpPr>
          <p:nvPr/>
        </p:nvSpPr>
        <p:spPr>
          <a:xfrm>
            <a:off x="812800" y="995660"/>
            <a:ext cx="10883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400"/>
              <a:buFont typeface="Noto Sans JP" panose="020B0200000000000000" charset="-122"/>
              <a:buNone/>
            </a:pPr>
            <a:r>
              <a:rPr sz="14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3環境（</a:t>
            </a:r>
            <a:r>
              <a:rPr sz="14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prod 90h・stg 20h・dev 2.5h／月</a:t>
            </a:r>
            <a:r>
              <a:rPr sz="14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、4 vCPU / 16 GiB）。GKE は東京の公開単価。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9" name="Google Shape;329;h6f6c96ae95625a16_1_31"/>
          <p:cNvSpPr>
            <a:spLocks noGrp="1"/>
          </p:cNvSpPr>
          <p:nvPr/>
        </p:nvSpPr>
        <p:spPr>
          <a:xfrm>
            <a:off x="812800" y="1371501"/>
            <a:ext cx="10883400" cy="2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300"/>
              <a:buFont typeface="Noto Sans JP" panose="020B0200000000000000" charset="-122"/>
              <a:buNone/>
            </a:pPr>
            <a:r>
              <a:rPr sz="13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GCS＋転送（約 ¥24,894）は共通。差は計算費と、クラスタを3つ置いたときの管理費です。prod 保管は30日。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346" name="Google Shape;330;h6f6c96ae95625a16_1_31"/>
          <p:cNvGraphicFramePr/>
          <p:nvPr/>
        </p:nvGraphicFramePr>
        <p:xfrm>
          <a:off x="812800" y="1680000"/>
          <a:ext cx="10566400" cy="3000000"/>
        </p:xfrm>
        <a:graphic>
          <a:graphicData uri="http://schemas.openxmlformats.org/drawingml/2006/table">
            <a:tbl>
              <a:tblPr>
                <a:tableStyleId>{4A66BF64-D2FC-4761-AEA6-D4DDCA1AC9C9}</a:tableStyleId>
              </a:tblPr>
              <a:tblGrid>
                <a:gridCol w="3400000"/>
                <a:gridCol w="1750000"/>
                <a:gridCol w="1950000"/>
                <a:gridCol w="1716400"/>
                <a:gridCol w="1750000"/>
              </a:tblGrid>
              <a:tr h="359275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CFCFD"/>
                        </a:buClr>
                        <a:buSzPts val="1300"/>
                        <a:buFont typeface="Noto Sans JP" panose="020B0200000000000000" charset="-122"/>
                        <a:buNone/>
                      </a:pPr>
                      <a:r>
                        <a:rPr sz="1300" b="1" u="none" cap="none">
                          <a:solidFill>
                            <a:srgbClr val="FCFCFD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構成</a:t>
                      </a:r>
                      <a:endParaRPr sz="1300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57775" marR="57775" marT="57775" marB="577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  <a:solidFill>
                      <a:srgbClr val="1E23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CFCFD"/>
                        </a:buClr>
                        <a:buSzPts val="1300"/>
                        <a:buFont typeface="Noto Sans JP" panose="020B0200000000000000" charset="-122"/>
                        <a:buNone/>
                      </a:pPr>
                      <a:r>
                        <a:rPr sz="1300" b="1" u="none" cap="none">
                          <a:solidFill>
                            <a:srgbClr val="FCFCFD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計算費</a:t>
                      </a:r>
                      <a:endParaRPr sz="1300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57775" marR="57775" marT="57775" marB="577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  <a:solidFill>
                      <a:srgbClr val="1E23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CFCFD"/>
                        </a:buClr>
                        <a:buSzPts val="1300"/>
                        <a:buFont typeface="Noto Sans JP" panose="020B0200000000000000" charset="-122"/>
                        <a:buNone/>
                      </a:pPr>
                      <a:r>
                        <a:rPr sz="1300" b="1" u="none" cap="none">
                          <a:solidFill>
                            <a:srgbClr val="FCFCFD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クラスタ管理</a:t>
                      </a:r>
                      <a:endParaRPr sz="1300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57775" marR="57775" marT="57775" marB="577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  <a:solidFill>
                      <a:srgbClr val="1E23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CFCFD"/>
                        </a:buClr>
                        <a:buSzPts val="1300"/>
                        <a:buFont typeface="Noto Sans JP" panose="020B0200000000000000" charset="-122"/>
                        <a:buNone/>
                      </a:pPr>
                      <a:r>
                        <a:rPr sz="1300" b="1" u="none" cap="none">
                          <a:solidFill>
                            <a:srgbClr val="FCFCFD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GCS+転送</a:t>
                      </a:r>
                      <a:endParaRPr sz="1300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57775" marR="57775" marT="57775" marB="577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  <a:solidFill>
                      <a:srgbClr val="1E23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CFCFD"/>
                        </a:buClr>
                        <a:buSzPts val="1300"/>
                        <a:buFont typeface="Noto Sans JP" panose="020B0200000000000000" charset="-122"/>
                        <a:buNone/>
                      </a:pPr>
                      <a:r>
                        <a:rPr sz="1300" b="1" u="none" cap="none">
                          <a:solidFill>
                            <a:srgbClr val="FCFCFD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月合計 概算</a:t>
                      </a:r>
                      <a:endParaRPr sz="1300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57775" marR="57775" marT="57775" marB="577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  <a:solidFill>
                      <a:srgbClr val="1E2356"/>
                    </a:solidFill>
                  </a:tcPr>
                </a:tc>
              </a:tr>
              <a:tr h="359275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300"/>
                        <a:buFont typeface="Noto Sans JP" panose="020B0200000000000000" charset="-122"/>
                        <a:buNone/>
                      </a:pPr>
                      <a:r>
                        <a:rPr sz="1300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Cloud Run Jobs（採用）</a:t>
                      </a:r>
                      <a:endParaRPr sz="1300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57775" marR="57775" marT="57775" marB="577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  <a:solidFill>
                      <a:srgbClr val="E9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300"/>
                        <a:buFont typeface="Noto Sans JP" panose="020B0200000000000000" charset="-122"/>
                        <a:buNone/>
                      </a:pPr>
                      <a:r>
                        <a:rPr sz="1300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¥6,713</a:t>
                      </a:r>
                      <a:endParaRPr sz="1300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57775" marR="57775" marT="57775" marB="577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  <a:solidFill>
                      <a:srgbClr val="E9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300"/>
                        <a:buFont typeface="Noto Sans JP" panose="020B0200000000000000" charset="-122"/>
                        <a:buNone/>
                      </a:pPr>
                      <a:r>
                        <a:rPr sz="1300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—</a:t>
                      </a:r>
                      <a:endParaRPr sz="1300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57775" marR="57775" marT="57775" marB="577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  <a:solidFill>
                      <a:srgbClr val="E9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300"/>
                        <a:buFont typeface="Noto Sans JP" panose="020B0200000000000000" charset="-122"/>
                        <a:buNone/>
                      </a:pPr>
                      <a:r>
                        <a:rPr sz="1300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¥24,894</a:t>
                      </a:r>
                      <a:endParaRPr sz="1300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57775" marR="57775" marT="57775" marB="577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  <a:solidFill>
                      <a:srgbClr val="E9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300"/>
                        <a:buFont typeface="Noto Sans JP" panose="020B0200000000000000" charset="-122"/>
                        <a:buNone/>
                      </a:pPr>
                      <a:r>
                        <a:rPr sz="1300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¥31,607</a:t>
                      </a:r>
                      <a:endParaRPr sz="1300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57775" marR="57775" marT="57775" marB="577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  <a:solidFill>
                      <a:srgbClr val="E9ECF5"/>
                    </a:solidFill>
                  </a:tcPr>
                </a:tc>
              </a:tr>
              <a:tr h="359275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300"/>
                        <a:buFont typeface="Noto Sans JP" panose="020B0200000000000000" charset="-122"/>
                        <a:buNone/>
                      </a:pPr>
                      <a:r>
                        <a:rPr sz="1300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GKE Autopilot（3クラスタ）</a:t>
                      </a:r>
                      <a:endParaRPr sz="1300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57775" marR="57775" marT="57775" marB="577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300"/>
                        <a:buFont typeface="Noto Sans JP" panose="020B0200000000000000" charset="-122"/>
                        <a:buNone/>
                      </a:pPr>
                      <a:r>
                        <a:rPr sz="1300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¥4,604</a:t>
                      </a:r>
                      <a:endParaRPr sz="1300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57775" marR="57775" marT="57775" marB="577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300"/>
                        <a:buFont typeface="Noto Sans JP" panose="020B0200000000000000" charset="-122"/>
                        <a:buNone/>
                      </a:pPr>
                      <a:r>
                        <a:rPr sz="1300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¥23,715</a:t>
                      </a:r>
                      <a:endParaRPr sz="1300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57775" marR="57775" marT="57775" marB="577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300"/>
                        <a:buFont typeface="Noto Sans JP" panose="020B0200000000000000" charset="-122"/>
                        <a:buNone/>
                      </a:pPr>
                      <a:r>
                        <a:rPr sz="1300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¥24,894</a:t>
                      </a:r>
                      <a:endParaRPr sz="1300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57775" marR="57775" marT="57775" marB="577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300"/>
                        <a:buFont typeface="Noto Sans JP" panose="020B0200000000000000" charset="-122"/>
                        <a:buNone/>
                      </a:pPr>
                      <a:r>
                        <a:rPr sz="1300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¥53,213</a:t>
                      </a:r>
                      <a:endParaRPr sz="1300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57775" marR="57775" marT="57775" marB="577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</a:tcPr>
                </a:tc>
              </a:tr>
              <a:tr h="359275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300"/>
                        <a:buFont typeface="Noto Sans JP" panose="020B0200000000000000" charset="-122"/>
                        <a:buNone/>
                      </a:pPr>
                      <a:r>
                        <a:rPr sz="1300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GKE Standard 常駐 ×3</a:t>
                      </a:r>
                      <a:endParaRPr sz="1300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57775" marR="57775" marT="57775" marB="577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300"/>
                        <a:buFont typeface="Noto Sans JP" panose="020B0200000000000000" charset="-122"/>
                        <a:buNone/>
                      </a:pPr>
                      <a:r>
                        <a:rPr sz="1300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¥59,998</a:t>
                      </a:r>
                      <a:endParaRPr sz="1300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57775" marR="57775" marT="57775" marB="577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300"/>
                        <a:buFont typeface="Noto Sans JP" panose="020B0200000000000000" charset="-122"/>
                        <a:buNone/>
                      </a:pPr>
                      <a:r>
                        <a:rPr sz="1300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¥23,715</a:t>
                      </a:r>
                      <a:endParaRPr sz="1300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57775" marR="57775" marT="57775" marB="577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300"/>
                        <a:buFont typeface="Noto Sans JP" panose="020B0200000000000000" charset="-122"/>
                        <a:buNone/>
                      </a:pPr>
                      <a:r>
                        <a:rPr sz="1300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¥24,894</a:t>
                      </a:r>
                      <a:endParaRPr sz="1300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57775" marR="57775" marT="57775" marB="577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300"/>
                        <a:buFont typeface="Noto Sans JP" panose="020B0200000000000000" charset="-122"/>
                        <a:buNone/>
                      </a:pPr>
                      <a:r>
                        <a:rPr sz="1300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¥108,607</a:t>
                      </a:r>
                      <a:endParaRPr sz="1300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57775" marR="57775" marT="57775" marB="577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1" name="Google Shape;331;h6f6c96ae95625a16_1_31"/>
          <p:cNvSpPr>
            <a:spLocks noGrp="1"/>
          </p:cNvSpPr>
          <p:nvPr/>
        </p:nvSpPr>
        <p:spPr>
          <a:xfrm>
            <a:off x="815975" y="3380105"/>
            <a:ext cx="5213400" cy="2254200"/>
          </a:xfrm>
          <a:prstGeom prst="roundRect">
            <a:avLst>
              <a:gd name="adj" fmla="val 3703"/>
            </a:avLst>
          </a:prstGeom>
          <a:solidFill>
            <a:srgbClr val="F1F3F8"/>
          </a:solidFill>
          <a:ln w="9525" cmpd="sng">
            <a:solidFill>
              <a:srgbClr val="DCE1E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endParaRPr sz="1400" b="0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32" name="Google Shape;332;h6f6c96ae95625a16_1_31"/>
          <p:cNvSpPr>
            <a:spLocks noGrp="1"/>
          </p:cNvSpPr>
          <p:nvPr/>
        </p:nvSpPr>
        <p:spPr>
          <a:xfrm>
            <a:off x="984250" y="3510175"/>
            <a:ext cx="50232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400"/>
              <a:buFont typeface="Noto Sans JP" panose="020B0200000000000000" charset="-122"/>
              <a:buNone/>
            </a:pPr>
            <a:r>
              <a:rPr sz="14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読み方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3" name="Google Shape;333;h6f6c96ae95625a16_1_31"/>
          <p:cNvSpPr>
            <a:spLocks noGrp="1"/>
          </p:cNvSpPr>
          <p:nvPr/>
        </p:nvSpPr>
        <p:spPr>
          <a:xfrm>
            <a:off x="984250" y="3774295"/>
            <a:ext cx="5023200" cy="11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182880" marR="0" lvl="0" indent="-16764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Char char="•"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管理費は $0.10／クラスタ時。Free tier（$74.40）で1クラスタ分が消える。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82880" marR="0" lvl="0" indent="-16764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Char char="•"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3クラスタだと管理費は2本分、約 ¥23,715／月。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82880" marR="0" lvl="0" indent="-16764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Char char="•"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Autopilot は Pod 起動中だけ課金（4 vCPU / 16 GiB）。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82880" marR="0" lvl="0" indent="-16764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Char char="•"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Standard は e2-standard-4 を3台、常時起動。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82880" marR="0" lvl="0" indent="-16764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Char char="•"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本件は Cloud Run Jobs。GKE は申請しない。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4" name="Google Shape;334;h6f6c96ae95625a16_1_31"/>
          <p:cNvSpPr>
            <a:spLocks noGrp="1"/>
          </p:cNvSpPr>
          <p:nvPr/>
        </p:nvSpPr>
        <p:spPr>
          <a:xfrm>
            <a:off x="6162675" y="3380105"/>
            <a:ext cx="5213400" cy="2254200"/>
          </a:xfrm>
          <a:prstGeom prst="roundRect">
            <a:avLst>
              <a:gd name="adj" fmla="val 3703"/>
            </a:avLst>
          </a:prstGeom>
          <a:solidFill>
            <a:srgbClr val="F1F3F8"/>
          </a:solidFill>
          <a:ln w="9525" cmpd="sng">
            <a:solidFill>
              <a:srgbClr val="DCE1E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endParaRPr sz="1400" b="0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35" name="Google Shape;335;h6f6c96ae95625a16_1_31"/>
          <p:cNvSpPr>
            <a:spLocks noGrp="1"/>
          </p:cNvSpPr>
          <p:nvPr/>
        </p:nvSpPr>
        <p:spPr>
          <a:xfrm>
            <a:off x="6330950" y="3510175"/>
            <a:ext cx="50232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400"/>
              <a:buFont typeface="Noto Sans JP" panose="020B0200000000000000" charset="-122"/>
              <a:buNone/>
            </a:pPr>
            <a:r>
              <a:rPr sz="14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前提・注意（概算）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6" name="Google Shape;336;h6f6c96ae95625a16_1_31"/>
          <p:cNvSpPr>
            <a:spLocks noGrp="1"/>
          </p:cNvSpPr>
          <p:nvPr/>
        </p:nvSpPr>
        <p:spPr>
          <a:xfrm>
            <a:off x="6330950" y="3774295"/>
            <a:ext cx="5023200" cy="11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182880" marR="0" lvl="0" indent="-16764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Char char="•"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為替 ¥159.375/USD（今回 Storage 単価から逆算）。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82880" marR="0" lvl="0" indent="-16764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Char char="•"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Autopilot Default：$0.0445/vCPU時、$0.0049225/GiB時（CUDなし）。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82880" marR="0" lvl="0" indent="-16764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Char char="•"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e2-standard-4 東京 $0.1719/時 × 730h ≒ ¥20,000／台。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82880" marR="0" lvl="0" indent="-16764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Char char="•"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ブートディスク／LB／Logging は未計上。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82880" marR="0" lvl="0" indent="-16764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Char char="•"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3環境を1クラスタに載せると管理費は Free tier 内（約 ¥0）。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7" name="Google Shape;337;h6f6c96ae95625a16_1_31"/>
          <p:cNvSpPr>
            <a:spLocks noGrp="1"/>
          </p:cNvSpPr>
          <p:nvPr/>
        </p:nvSpPr>
        <p:spPr>
          <a:xfrm>
            <a:off x="812800" y="5786537"/>
            <a:ext cx="10566300" cy="468000"/>
          </a:xfrm>
          <a:prstGeom prst="roundRect">
            <a:avLst>
              <a:gd name="adj" fmla="val 13571"/>
            </a:avLst>
          </a:prstGeom>
          <a:solidFill>
            <a:srgbClr val="1E235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endParaRPr sz="1400" b="0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38" name="Google Shape;338;h6f6c96ae95625a16_1_31"/>
          <p:cNvSpPr>
            <a:spLocks noGrp="1"/>
          </p:cNvSpPr>
          <p:nvPr/>
        </p:nvSpPr>
        <p:spPr>
          <a:xfrm>
            <a:off x="992800" y="5900837"/>
            <a:ext cx="10206300" cy="2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CFCFD"/>
              </a:buClr>
              <a:buSzPts val="1300"/>
              <a:buFont typeface="Noto Sans JP" panose="020B0200000000000000" charset="-122"/>
              <a:buNone/>
            </a:pPr>
            <a:r>
              <a:rPr sz="1300" b="1" i="0" u="none" cap="none">
                <a:solidFill>
                  <a:srgbClr val="FCFCFD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年間（×12）：</a:t>
            </a:r>
            <a:r>
              <a:rPr sz="1300" b="1" i="0" u="none" cap="none">
                <a:solidFill>
                  <a:srgbClr val="FCFCFD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Cloud Run ≈ ¥379,287</a:t>
            </a:r>
            <a:r>
              <a:rPr sz="1300" b="1" i="0" u="none" cap="none">
                <a:solidFill>
                  <a:srgbClr val="FCFCFD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 ｜ </a:t>
            </a:r>
            <a:r>
              <a:rPr sz="1300" b="1" i="0" u="none" cap="none">
                <a:solidFill>
                  <a:srgbClr val="FCFCFD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Autopilot 3クラスタ ≈ ¥638,556</a:t>
            </a:r>
            <a:r>
              <a:rPr sz="1300" b="1" i="0" u="none" cap="none">
                <a:solidFill>
                  <a:srgbClr val="FCFCFD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 ｜ Standard 常駐3台 ≈ ¥1,303,000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9" name="Google Shape;339;h6f6c96ae95625a16_1_31"/>
          <p:cNvSpPr>
            <a:spLocks noGrp="1"/>
          </p:cNvSpPr>
          <p:nvPr/>
        </p:nvSpPr>
        <p:spPr>
          <a:xfrm>
            <a:off x="10058400" y="6339880"/>
            <a:ext cx="13209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A1AE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9AA1AE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7 / 7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5064</Words>
  <Application>WPS 表格</Application>
  <PresentationFormat>Converted Presentation</PresentationFormat>
  <Paragraphs>529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1" baseType="lpstr">
      <vt:lpstr>Arial</vt:lpstr>
      <vt:lpstr>宋体</vt:lpstr>
      <vt:lpstr>Wingdings</vt:lpstr>
      <vt:lpstr>Arial</vt:lpstr>
      <vt:lpstr>Noto Sans JP</vt:lpstr>
      <vt:lpstr>Calibri</vt:lpstr>
      <vt:lpstr>Helvetica Neue</vt:lpstr>
      <vt:lpstr>微软雅黑</vt:lpstr>
      <vt:lpstr>方正雅意黑 GB18030L2</vt:lpstr>
      <vt:lpstr>宋体</vt:lpstr>
      <vt:lpstr>Arial Unicode MS</vt:lpstr>
      <vt:lpstr>汉仪书宋二KW</vt:lpstr>
      <vt:lpstr>MS PGothic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treqd</cp:lastModifiedBy>
  <cp:revision>1</cp:revision>
  <dcterms:created xsi:type="dcterms:W3CDTF">2026-09-28T03:59:42Z</dcterms:created>
  <dcterms:modified xsi:type="dcterms:W3CDTF">2026-09-28T03:59:42Z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6EBB0C466D0FD7AE2EE6B96AECE47146_42</vt:lpwstr>
  </property>
  <property fmtid="{D5CDD505-2E9C-101B-9397-08002B2CF9AE}" pid="3" name="KSOProductBuildVer">
    <vt:lpwstr>2052-12.1.28496.28496</vt:lpwstr>
  </property>
</Properties>
</file>