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5"/>
    <p:sldMasterId id="21474836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y="5143500" cx="9144000"/>
  <p:notesSz cx="6858000" cy="9144000"/>
  <p:embeddedFontLst>
    <p:embeddedFont>
      <p:font typeface="BIZ UDPGothic"/>
      <p:regular r:id="rId44"/>
      <p:bold r:id="rId45"/>
    </p:embeddedFont>
    <p:embeddedFont>
      <p:font typeface="Roboto"/>
      <p:regular r:id="rId46"/>
      <p:bold r:id="rId47"/>
      <p:italic r:id="rId48"/>
      <p:boldItalic r:id="rId49"/>
    </p:embeddedFont>
    <p:embeddedFont>
      <p:font typeface="Kosugi Maru"/>
      <p:regular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E60129-F390-4E1E-8DC2-BDA422945C7D}">
  <a:tblStyle styleId="{02E60129-F390-4E1E-8DC2-BDA422945C7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font" Target="fonts/BIZUDPGothic-regular.fntdata"/><Relationship Id="rId43" Type="http://schemas.openxmlformats.org/officeDocument/2006/relationships/slide" Target="slides/slide36.xml"/><Relationship Id="rId46" Type="http://schemas.openxmlformats.org/officeDocument/2006/relationships/font" Target="fonts/Roboto-regular.fntdata"/><Relationship Id="rId45" Type="http://schemas.openxmlformats.org/officeDocument/2006/relationships/font" Target="fonts/BIZUDPGothi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schemas.openxmlformats.org/officeDocument/2006/relationships/font" Target="fonts/KosugiMaru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a0a360c1c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a0a360c1c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7efb341a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7efb341a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7efb341a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7efb341a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e493988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e493988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e4939888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e4939888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e4939888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e4939888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e4939888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be4939888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e4939888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be4939888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9e60417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9e60417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9e60417d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9e60417d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9e60417d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a9e60417d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51852eef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951852eef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47f401694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947f401694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951852eef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951852eefb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8a0a360c1c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8a0a360c1c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ba8b914b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ba8b914b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a8b914bd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ba8b914bd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951852eef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951852eef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f7a22cfc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af7a22cfc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f7a22cfc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af7a22cfc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951852eef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951852eef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b7efb341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b7efb341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b7efb341a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b7efb341a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b7efb341a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b7efb341a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b7efb341a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b7efb341a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b7efb341a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b7efb341a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b7efb341a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b7efb341a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b7efb341a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b7efb341a8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b7efb341a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b7efb341a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b7efb341a8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b7efb341a8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951852eef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951852eef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951852eefb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951852eef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8a0a360c1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8a0a360c1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6cc69e72b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6cc69e72b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947f4016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947f4016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947f401694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947f401694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>
  <p:cSld name="白紙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707231" y="321713"/>
            <a:ext cx="83643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グラフィカル ユーザー インターフェイス&#10;&#10;中程度の精度で自動的に生成された説明"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">
  <p:cSld name="タイトル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/>
        </p:nvSpPr>
        <p:spPr>
          <a:xfrm>
            <a:off x="7772210" y="4774721"/>
            <a:ext cx="1365000" cy="36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30370" y="2965346"/>
            <a:ext cx="42033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/>
              <a:buNone/>
              <a:defRPr sz="18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0" type="dt"/>
          </p:nvPr>
        </p:nvSpPr>
        <p:spPr>
          <a:xfrm>
            <a:off x="523745" y="4209416"/>
            <a:ext cx="1319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62" name="Google Shape;62;p15"/>
          <p:cNvCxnSpPr/>
          <p:nvPr/>
        </p:nvCxnSpPr>
        <p:spPr>
          <a:xfrm>
            <a:off x="523745" y="2762185"/>
            <a:ext cx="4210200" cy="0"/>
          </a:xfrm>
          <a:prstGeom prst="straightConnector1">
            <a:avLst/>
          </a:prstGeom>
          <a:noFill/>
          <a:ln cap="flat" cmpd="sng" w="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" name="Google Shape;63;p15"/>
          <p:cNvSpPr txBox="1"/>
          <p:nvPr>
            <p:ph idx="2" type="body"/>
          </p:nvPr>
        </p:nvSpPr>
        <p:spPr>
          <a:xfrm>
            <a:off x="530369" y="3865810"/>
            <a:ext cx="4203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523745" y="1552759"/>
            <a:ext cx="4210200" cy="11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7500" spcFirstLastPara="1" rIns="67500" wrap="square" tIns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グラフィカル ユーザー インターフェイス が含まれている画像&#10;&#10;自動的に生成された説明" id="65" name="Google Shape;6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タイトル">
  <p:cSld name="1_タイトル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7772210" y="4774721"/>
            <a:ext cx="1365000" cy="36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530370" y="2965346"/>
            <a:ext cx="42033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/>
              <a:buNone/>
              <a:defRPr sz="18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523745" y="4209416"/>
            <a:ext cx="1319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70" name="Google Shape;70;p16"/>
          <p:cNvCxnSpPr/>
          <p:nvPr/>
        </p:nvCxnSpPr>
        <p:spPr>
          <a:xfrm>
            <a:off x="523745" y="2762185"/>
            <a:ext cx="4210200" cy="0"/>
          </a:xfrm>
          <a:prstGeom prst="straightConnector1">
            <a:avLst/>
          </a:prstGeom>
          <a:noFill/>
          <a:ln cap="flat" cmpd="sng" w="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16"/>
          <p:cNvSpPr txBox="1"/>
          <p:nvPr>
            <p:ph idx="2" type="body"/>
          </p:nvPr>
        </p:nvSpPr>
        <p:spPr>
          <a:xfrm>
            <a:off x="530369" y="3865810"/>
            <a:ext cx="4203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523745" y="1552759"/>
            <a:ext cx="4210200" cy="11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7500" spcFirstLastPara="1" rIns="67500" wrap="square" tIns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黒い背景と白い文字&#10;&#10;自動的に生成された説明" id="73" name="Google Shape;7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タイトル">
  <p:cSld name="2_タイトル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7772210" y="4774721"/>
            <a:ext cx="1365000" cy="36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537061" y="3025273"/>
            <a:ext cx="42033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/>
              <a:buNone/>
              <a:defRPr sz="18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537062" y="3923108"/>
            <a:ext cx="1319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537061" y="3589995"/>
            <a:ext cx="4203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537061" y="1359669"/>
            <a:ext cx="4210200" cy="11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7500" spcFirstLastPara="1" rIns="67500" wrap="square" tIns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グラフィカル ユーザー インターフェイス&#10;&#10;低い精度で自動的に生成された説明" id="80" name="Google Shape;8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イメージ付きタイトル">
  <p:cSld name="イメージ付きタイトル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7767922" y="4597598"/>
            <a:ext cx="1365000" cy="55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1878842" y="2978075"/>
            <a:ext cx="69486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/>
              <a:buNone/>
              <a:defRPr sz="18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330142" y="4342663"/>
            <a:ext cx="1432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85" name="Google Shape;85;p18"/>
          <p:cNvCxnSpPr/>
          <p:nvPr/>
        </p:nvCxnSpPr>
        <p:spPr>
          <a:xfrm>
            <a:off x="1872218" y="2774914"/>
            <a:ext cx="6961800" cy="0"/>
          </a:xfrm>
          <a:prstGeom prst="straightConnector1">
            <a:avLst/>
          </a:prstGeom>
          <a:noFill/>
          <a:ln cap="flat" cmpd="sng" w="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" name="Google Shape;86;p18"/>
          <p:cNvSpPr txBox="1"/>
          <p:nvPr>
            <p:ph idx="2" type="body"/>
          </p:nvPr>
        </p:nvSpPr>
        <p:spPr>
          <a:xfrm>
            <a:off x="1885468" y="3914024"/>
            <a:ext cx="69486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type="title"/>
          </p:nvPr>
        </p:nvSpPr>
        <p:spPr>
          <a:xfrm>
            <a:off x="1865592" y="885095"/>
            <a:ext cx="6942000" cy="16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7500" spcFirstLastPara="1" rIns="67500" wrap="square" tIns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/>
          <p:nvPr>
            <p:ph idx="3" type="pic"/>
          </p:nvPr>
        </p:nvSpPr>
        <p:spPr>
          <a:xfrm>
            <a:off x="330142" y="863050"/>
            <a:ext cx="1432500" cy="336510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グラフィカル ユーザー インターフェイス が含まれている画像&#10;&#10;自動的に生成された説明" id="89" name="Google Shape;8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白紙">
  <p:cSld name="1_白紙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257175" y="228844"/>
            <a:ext cx="83643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黒い背景と白い文字&#10;&#10;自動的に生成された説明" id="92" name="Google Shape;9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白紙">
  <p:cSld name="2_白紙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黒い背景と白い文字&#10;&#10;自動的に生成された説明" id="94" name="Google Shape;9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ユーザー設定レイアウト">
  <p:cSld name="ユーザー設定レイアウト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539683" y="175150"/>
            <a:ext cx="80493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1"/>
          <p:cNvSpPr/>
          <p:nvPr/>
        </p:nvSpPr>
        <p:spPr>
          <a:xfrm>
            <a:off x="352425" y="228600"/>
            <a:ext cx="180900" cy="171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黒い背景と白い文字&#10;&#10;自動的に生成された説明" id="98" name="Google Shape;9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ユーザー設定レイアウト">
  <p:cSld name="1_ユーザー設定レイアウト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257175" y="228844"/>
            <a:ext cx="83643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黒い背景と白い文字&#10;&#10;自動的に生成された説明" id="101" name="Google Shape;10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ユーザー設定レイアウト">
  <p:cSld name="2_ユーザー設定レイアウト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黒い背景と白い文字&#10;&#10;自動的に生成された説明" id="103" name="Google Shape;10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左詰">
  <p:cSld name="タイトル左詰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 txBox="1"/>
          <p:nvPr>
            <p:ph idx="1" type="body"/>
          </p:nvPr>
        </p:nvSpPr>
        <p:spPr>
          <a:xfrm>
            <a:off x="672483" y="1060153"/>
            <a:ext cx="8081700" cy="3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type="title"/>
          </p:nvPr>
        </p:nvSpPr>
        <p:spPr>
          <a:xfrm>
            <a:off x="672483" y="335972"/>
            <a:ext cx="80817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タイトル左詰">
  <p:cSld name="1_タイトル左詰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idx="1" type="body"/>
          </p:nvPr>
        </p:nvSpPr>
        <p:spPr>
          <a:xfrm>
            <a:off x="3447535" y="1100104"/>
            <a:ext cx="5306700" cy="3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type="title"/>
          </p:nvPr>
        </p:nvSpPr>
        <p:spPr>
          <a:xfrm>
            <a:off x="389823" y="384700"/>
            <a:ext cx="83643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5"/>
          <p:cNvSpPr/>
          <p:nvPr>
            <p:ph idx="2" type="pic"/>
          </p:nvPr>
        </p:nvSpPr>
        <p:spPr>
          <a:xfrm>
            <a:off x="769793" y="1568455"/>
            <a:ext cx="2174100" cy="2174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" name="Google Shape;111;p25"/>
          <p:cNvSpPr txBox="1"/>
          <p:nvPr>
            <p:ph idx="3" type="body"/>
          </p:nvPr>
        </p:nvSpPr>
        <p:spPr>
          <a:xfrm>
            <a:off x="642396" y="3937582"/>
            <a:ext cx="24288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algn="ctr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2pPr>
            <a:lvl3pPr indent="-298450" lvl="2" marL="1371600" algn="ctr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3pPr>
            <a:lvl4pPr indent="-285750" lvl="3" marL="1828800" algn="ctr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4pPr>
            <a:lvl5pPr indent="-279400" lvl="4" marL="2286000" algn="ctr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中央揃え">
  <p:cSld name="タイトル中央揃え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389823" y="1100104"/>
            <a:ext cx="8364300" cy="3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type="title"/>
          </p:nvPr>
        </p:nvSpPr>
        <p:spPr>
          <a:xfrm>
            <a:off x="389823" y="384700"/>
            <a:ext cx="83643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629841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629842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2" name="Google Shape;122;p28"/>
          <p:cNvSpPr txBox="1"/>
          <p:nvPr>
            <p:ph idx="2" type="body"/>
          </p:nvPr>
        </p:nvSpPr>
        <p:spPr>
          <a:xfrm>
            <a:off x="629842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3" type="body"/>
          </p:nvPr>
        </p:nvSpPr>
        <p:spPr>
          <a:xfrm>
            <a:off x="4629151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4" name="Google Shape;124;p28"/>
          <p:cNvSpPr txBox="1"/>
          <p:nvPr>
            <p:ph idx="4" type="body"/>
          </p:nvPr>
        </p:nvSpPr>
        <p:spPr>
          <a:xfrm>
            <a:off x="4629151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/>
          <p:nvPr/>
        </p:nvSpPr>
        <p:spPr>
          <a:xfrm>
            <a:off x="7767922" y="4756008"/>
            <a:ext cx="1365000" cy="36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テキスト が含まれている画像&#10;&#10;自動的に生成された説明" id="127" name="Google Shape;12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89824" y="1092917"/>
            <a:ext cx="8364300" cy="3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●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●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/>
        </p:nvSpPr>
        <p:spPr>
          <a:xfrm>
            <a:off x="8511989" y="4782872"/>
            <a:ext cx="620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389823" y="384700"/>
            <a:ext cx="83643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389823" y="46529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d/1g_eFOGJJ4iW5S5AA2DthYrAyOJxKX-Fz/edit?pli=1&amp;gid=1358858223#gid=1358858223" TargetMode="External"/><Relationship Id="rId4" Type="http://schemas.openxmlformats.org/officeDocument/2006/relationships/hyperlink" Target="https://sites.google.com/trial-net.co.jp/trialpchelptss1105/%E3%83%9B%E3%83%BC%E3%83%A0/%E5%90%84%E7%A8%AE%E7%94%B3%E8%AB%8B%E4%B8%80%E8%A6%A7#:~:text=%E3%81%AF%E3%82%B3%E3%83%81%E3%83%A9-,%E5%85%B1%E6%9C%89%E3%83%89%E3%83%A9%E3%82%A4%E3%83%96%E7%94%B3%E8%AB%8B%E3%83%95%E3%82%A9%E3%83%BC%E3%83%A0%E3%81%AF%E3%82%B3%E3%83%81%E3%83%A9,-%E4%BE%8B%EF%BC%89%E6%96%B0%E8%A6%8F%E4%BD%9C%E6%88%90" TargetMode="External"/><Relationship Id="rId9" Type="http://schemas.openxmlformats.org/officeDocument/2006/relationships/hyperlink" Target="https://chat.google.com/room/AAQA22ENQR0?cls=7" TargetMode="External"/><Relationship Id="rId5" Type="http://schemas.openxmlformats.org/officeDocument/2006/relationships/hyperlink" Target="https://chat.google.com/room/AAQA22ENQR0?cls=7" TargetMode="External"/><Relationship Id="rId6" Type="http://schemas.openxmlformats.org/officeDocument/2006/relationships/hyperlink" Target="https://console.cloud.google.com/storage/browser/ods-seiyu-prod;tab=objects?project=seiyu-trial-data-exchange&amp;prefix=&amp;forceOnObjectsSortingFiltering=false" TargetMode="External"/><Relationship Id="rId7" Type="http://schemas.openxmlformats.org/officeDocument/2006/relationships/hyperlink" Target="https://console.cloud.google.com/storage/browser/ods-seiyu-stg;tab=objects?project=seiyu-trial-data-exchange&amp;prefix=&amp;forceOnObjectsSortingFiltering=false" TargetMode="External"/><Relationship Id="rId8" Type="http://schemas.openxmlformats.org/officeDocument/2006/relationships/hyperlink" Target="https://console.cloud.google.com/storage/browser/ods-seiyu-dev;tab=objects?project=seiyu-trial-data-exchange&amp;prefix=&amp;forceOnObjectsSortingFiltering=fals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g_eFOGJJ4iW5S5AA2DthYrAyOJxKX-Fz/edit?gid=1961165908#gid=1961165908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hat.google.com/room/AAQA22ENQR0?cls=7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roups.google.com/a/trial-net.co.jp/g/seiyu-trial-data-exchange-admin/member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roups.google.com/a/trial-net.co.jp/g/seiyu-trial-data-exchange-admin/member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hyperlink" Target="https://docs.google.com/spreadsheets/d/1g_eFOGJJ4iW5S5AA2DthYrAyOJxKX-Fz/edit?usp=sharing&amp;ouid=106851852679677196303&amp;rtpof=true&amp;sd=tru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spreadsheets/d/1g_eFOGJJ4iW5S5AA2DthYrAyOJxKX-Fz/edit?gid=1961165908#gid=1961165908" TargetMode="External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loud.google.com/products/calculator?hl=ja&amp;dl=CjhDaVJqTlRGbVpXTTRZeTB5WXpFeExUUm1NalV0WVdWbE9DMWlOMlF6WldRMVltUmpNR1FRQVE9PRAJGiQxOTMzMTUwRS1BQUU2LTRERUYtOTk2Ni1GQUI2RkFDNEUxQU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hyperlink" Target="https://docs.google.com/spreadsheets/d/1g_eFOGJJ4iW5S5AA2DthYrAyOJxKX-Fz/edit?gid=1961165908#gid=1961165908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30"/>
          <p:cNvGrpSpPr/>
          <p:nvPr/>
        </p:nvGrpSpPr>
        <p:grpSpPr>
          <a:xfrm>
            <a:off x="0" y="0"/>
            <a:ext cx="9144009" cy="5143500"/>
            <a:chOff x="0" y="0"/>
            <a:chExt cx="9144009" cy="5143500"/>
          </a:xfrm>
        </p:grpSpPr>
        <p:pic>
          <p:nvPicPr>
            <p:cNvPr id="133" name="Google Shape;133;p30"/>
            <p:cNvPicPr preferRelativeResize="0"/>
            <p:nvPr/>
          </p:nvPicPr>
          <p:blipFill rotWithShape="1">
            <a:blip r:embed="rId3">
              <a:alphaModFix/>
            </a:blip>
            <a:srcRect b="0" l="0" r="557" t="0"/>
            <a:stretch/>
          </p:blipFill>
          <p:spPr>
            <a:xfrm>
              <a:off x="7" y="0"/>
              <a:ext cx="9144001" cy="43816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4328075"/>
              <a:ext cx="9144001" cy="815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78699" y="3815849"/>
              <a:ext cx="5534250" cy="1202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30"/>
          <p:cNvSpPr txBox="1"/>
          <p:nvPr>
            <p:ph type="ctrTitle"/>
          </p:nvPr>
        </p:nvSpPr>
        <p:spPr>
          <a:xfrm>
            <a:off x="311708" y="121090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5500">
                <a:highlight>
                  <a:srgbClr val="D9EAD3"/>
                </a:highlight>
                <a:latin typeface="Kosugi Maru"/>
                <a:ea typeface="Kosugi Maru"/>
                <a:cs typeface="Kosugi Maru"/>
                <a:sym typeface="Kosugi Maru"/>
              </a:rPr>
              <a:t>西友⇔トライアル</a:t>
            </a:r>
            <a:endParaRPr sz="5500">
              <a:highlight>
                <a:srgbClr val="D9EAD3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5500">
                <a:highlight>
                  <a:srgbClr val="D9EAD3"/>
                </a:highlight>
                <a:latin typeface="Kosugi Maru"/>
                <a:ea typeface="Kosugi Maru"/>
                <a:cs typeface="Kosugi Maru"/>
                <a:sym typeface="Kosugi Maru"/>
              </a:rPr>
              <a:t>データ連携</a:t>
            </a:r>
            <a:endParaRPr sz="5500">
              <a:highlight>
                <a:srgbClr val="D9EAD3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/>
        </p:nvSpPr>
        <p:spPr>
          <a:xfrm>
            <a:off x="676800" y="505800"/>
            <a:ext cx="8403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33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データ交換を実施するためのザックリフロー</a:t>
            </a:r>
            <a:endParaRPr sz="23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42" name="Google Shape;142;p31"/>
          <p:cNvSpPr txBox="1"/>
          <p:nvPr/>
        </p:nvSpPr>
        <p:spPr>
          <a:xfrm>
            <a:off x="32550" y="32550"/>
            <a:ext cx="2597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26/01/15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 txBox="1"/>
          <p:nvPr/>
        </p:nvSpPr>
        <p:spPr>
          <a:xfrm>
            <a:off x="0" y="0"/>
            <a:ext cx="91440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260115_データ交換を実施するためのザックリフロー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grpSp>
        <p:nvGrpSpPr>
          <p:cNvPr id="148" name="Google Shape;148;p32"/>
          <p:cNvGrpSpPr/>
          <p:nvPr/>
        </p:nvGrpSpPr>
        <p:grpSpPr>
          <a:xfrm>
            <a:off x="135900" y="348449"/>
            <a:ext cx="8872200" cy="4541212"/>
            <a:chOff x="135900" y="676050"/>
            <a:chExt cx="8872200" cy="4213800"/>
          </a:xfrm>
        </p:grpSpPr>
        <p:sp>
          <p:nvSpPr>
            <p:cNvPr id="149" name="Google Shape;149;p32"/>
            <p:cNvSpPr txBox="1"/>
            <p:nvPr/>
          </p:nvSpPr>
          <p:spPr>
            <a:xfrm>
              <a:off x="135900" y="676050"/>
              <a:ext cx="550500" cy="140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800">
                  <a:solidFill>
                    <a:schemeClr val="dk2"/>
                  </a:solidFill>
                  <a:latin typeface="Kosugi Maru"/>
                  <a:ea typeface="Kosugi Maru"/>
                  <a:cs typeface="Kosugi Maru"/>
                  <a:sym typeface="Kosugi Maru"/>
                </a:rPr>
                <a:t>西友</a:t>
              </a:r>
              <a:endParaRPr sz="1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endParaRPr>
            </a:p>
          </p:txBody>
        </p:sp>
        <p:sp>
          <p:nvSpPr>
            <p:cNvPr id="150" name="Google Shape;150;p32"/>
            <p:cNvSpPr txBox="1"/>
            <p:nvPr/>
          </p:nvSpPr>
          <p:spPr>
            <a:xfrm>
              <a:off x="135900" y="2080643"/>
              <a:ext cx="550500" cy="140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800">
                  <a:solidFill>
                    <a:schemeClr val="dk2"/>
                  </a:solidFill>
                  <a:latin typeface="Kosugi Maru"/>
                  <a:ea typeface="Kosugi Maru"/>
                  <a:cs typeface="Kosugi Maru"/>
                  <a:sym typeface="Kosugi Maru"/>
                </a:rPr>
                <a:t>トライアル</a:t>
              </a:r>
              <a:endParaRPr sz="1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endParaRPr>
            </a:p>
          </p:txBody>
        </p:sp>
        <p:sp>
          <p:nvSpPr>
            <p:cNvPr id="151" name="Google Shape;151;p32"/>
            <p:cNvSpPr txBox="1"/>
            <p:nvPr/>
          </p:nvSpPr>
          <p:spPr>
            <a:xfrm>
              <a:off x="135900" y="3485243"/>
              <a:ext cx="550500" cy="140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800">
                  <a:solidFill>
                    <a:schemeClr val="dk2"/>
                  </a:solidFill>
                  <a:latin typeface="Kosugi Maru"/>
                  <a:ea typeface="Kosugi Maru"/>
                  <a:cs typeface="Kosugi Maru"/>
                  <a:sym typeface="Kosugi Maru"/>
                </a:rPr>
                <a:t>道具</a:t>
              </a:r>
              <a:endParaRPr sz="1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endParaRPr>
            </a:p>
          </p:txBody>
        </p:sp>
        <p:cxnSp>
          <p:nvCxnSpPr>
            <p:cNvPr id="152" name="Google Shape;152;p32"/>
            <p:cNvCxnSpPr/>
            <p:nvPr/>
          </p:nvCxnSpPr>
          <p:spPr>
            <a:xfrm>
              <a:off x="135900" y="2080650"/>
              <a:ext cx="8872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32"/>
            <p:cNvCxnSpPr/>
            <p:nvPr/>
          </p:nvCxnSpPr>
          <p:spPr>
            <a:xfrm>
              <a:off x="135900" y="3485250"/>
              <a:ext cx="8872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32"/>
            <p:cNvCxnSpPr/>
            <p:nvPr/>
          </p:nvCxnSpPr>
          <p:spPr>
            <a:xfrm>
              <a:off x="135900" y="679775"/>
              <a:ext cx="8872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32"/>
            <p:cNvCxnSpPr/>
            <p:nvPr/>
          </p:nvCxnSpPr>
          <p:spPr>
            <a:xfrm>
              <a:off x="135900" y="4889850"/>
              <a:ext cx="8872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6" name="Google Shape;156;p32"/>
          <p:cNvSpPr/>
          <p:nvPr/>
        </p:nvSpPr>
        <p:spPr>
          <a:xfrm>
            <a:off x="787550" y="418200"/>
            <a:ext cx="1514700" cy="359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各SYS窓口</a:t>
            </a:r>
            <a:endParaRPr sz="12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57" name="Google Shape;157;p32"/>
          <p:cNvSpPr/>
          <p:nvPr/>
        </p:nvSpPr>
        <p:spPr>
          <a:xfrm>
            <a:off x="787550" y="777300"/>
            <a:ext cx="1514700" cy="217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インターフェース内容の協議と、台帳への記載</a:t>
            </a:r>
            <a:endParaRPr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EA9999"/>
                </a:solidFill>
                <a:latin typeface="Kosugi Maru"/>
                <a:ea typeface="Kosugi Maru"/>
                <a:cs typeface="Kosugi Maru"/>
                <a:sym typeface="Kosugi Maru"/>
              </a:rPr>
              <a:t>既にインターフェースされているデータの重複等を起こさない様に</a:t>
            </a:r>
            <a:endParaRPr sz="800">
              <a:solidFill>
                <a:srgbClr val="EA999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58" name="Google Shape;158;p32"/>
          <p:cNvSpPr/>
          <p:nvPr/>
        </p:nvSpPr>
        <p:spPr>
          <a:xfrm>
            <a:off x="787550" y="2948100"/>
            <a:ext cx="1514700" cy="359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各SYS窓口</a:t>
            </a:r>
            <a:endParaRPr sz="12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59" name="Google Shape;159;p32"/>
          <p:cNvSpPr txBox="1"/>
          <p:nvPr/>
        </p:nvSpPr>
        <p:spPr>
          <a:xfrm>
            <a:off x="787550" y="3484800"/>
            <a:ext cx="1514700" cy="130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u="sng">
                <a:solidFill>
                  <a:schemeClr val="hlink"/>
                </a:solidFill>
                <a:latin typeface="Kosugi Maru"/>
                <a:ea typeface="Kosugi Maru"/>
                <a:cs typeface="Kosugi Maru"/>
                <a:sym typeface="Kosugi Maru"/>
                <a:hlinkClick r:id="rId3"/>
              </a:rPr>
              <a:t>SEIYU-TRIALインターフェース管理台帳</a:t>
            </a:r>
            <a:b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b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r>
              <a:rPr lang="ja" sz="8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※共有ドライブ：[03_役割_STAND TOGETHER]のアクセス権限が必要です</a:t>
            </a:r>
            <a:br>
              <a:rPr lang="ja" sz="8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br>
              <a:rPr lang="ja" sz="8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r>
              <a:rPr lang="ja" sz="8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無ければ </a:t>
            </a:r>
            <a:r>
              <a:rPr lang="ja" sz="800" u="sng">
                <a:solidFill>
                  <a:schemeClr val="hlink"/>
                </a:solidFill>
                <a:latin typeface="Kosugi Maru"/>
                <a:ea typeface="Kosugi Maru"/>
                <a:cs typeface="Kosugi Maru"/>
                <a:sym typeface="Kosugi Maru"/>
                <a:hlinkClick r:id="rId4"/>
              </a:rPr>
              <a:t>申請</a:t>
            </a:r>
            <a:r>
              <a:rPr lang="ja" sz="8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 してください</a:t>
            </a:r>
            <a:endParaRPr sz="800">
              <a:solidFill>
                <a:srgbClr val="FF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60" name="Google Shape;160;p32"/>
          <p:cNvSpPr/>
          <p:nvPr/>
        </p:nvSpPr>
        <p:spPr>
          <a:xfrm>
            <a:off x="3102330" y="1944500"/>
            <a:ext cx="1514700" cy="100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データ交換用ＧＣＰのフォルダ、権限設定</a:t>
            </a:r>
            <a:endParaRPr sz="800">
              <a:solidFill>
                <a:srgbClr val="EA999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61" name="Google Shape;161;p32"/>
          <p:cNvSpPr/>
          <p:nvPr/>
        </p:nvSpPr>
        <p:spPr>
          <a:xfrm>
            <a:off x="3102330" y="2948098"/>
            <a:ext cx="1514700" cy="359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SYS管理部</a:t>
            </a:r>
            <a:endParaRPr sz="12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ﾃﾞｰﾀﾏﾈｼﾞﾒﾝﾄ部</a:t>
            </a:r>
            <a:endParaRPr sz="12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62" name="Google Shape;162;p32"/>
          <p:cNvSpPr/>
          <p:nvPr/>
        </p:nvSpPr>
        <p:spPr>
          <a:xfrm>
            <a:off x="2336333" y="2965500"/>
            <a:ext cx="732000" cy="32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latin typeface="Kosugi Maru"/>
                <a:ea typeface="Kosugi Maru"/>
                <a:cs typeface="Kosugi Maru"/>
                <a:sym typeface="Kosugi Maru"/>
              </a:rPr>
              <a:t>連絡</a:t>
            </a:r>
            <a:endParaRPr sz="11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>
            <a:off x="2336333" y="3484800"/>
            <a:ext cx="732000" cy="130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u="sng">
                <a:solidFill>
                  <a:schemeClr val="hlink"/>
                </a:solidFill>
                <a:latin typeface="Kosugi Maru"/>
                <a:ea typeface="Kosugi Maru"/>
                <a:cs typeface="Kosugi Maru"/>
                <a:sym typeface="Kosugi Maru"/>
                <a:hlinkClick r:id="rId5"/>
              </a:rPr>
              <a:t>Chatスペース</a:t>
            </a:r>
            <a:b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b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r>
              <a:rPr lang="ja" sz="8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※管理台帳を埋めたら、上記チャットスペースで、ご連絡ください</a:t>
            </a:r>
            <a:endParaRPr sz="800">
              <a:solidFill>
                <a:srgbClr val="FF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>
            <a:off x="3102330" y="3484800"/>
            <a:ext cx="1514700" cy="130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GCPコンソール</a:t>
            </a:r>
            <a:b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PJ:</a:t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seiyu-trial-data-exchange</a:t>
            </a:r>
            <a:b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bucket:</a:t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u="sng">
                <a:solidFill>
                  <a:schemeClr val="hlink"/>
                </a:solidFill>
                <a:latin typeface="Kosugi Maru"/>
                <a:ea typeface="Kosugi Maru"/>
                <a:cs typeface="Kosugi Maru"/>
                <a:sym typeface="Kosugi Maru"/>
                <a:hlinkClick r:id="rId6"/>
              </a:rPr>
              <a:t>ods-seiyu-prod</a:t>
            </a:r>
            <a:b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r>
              <a:rPr lang="ja" sz="1000" u="sng">
                <a:solidFill>
                  <a:schemeClr val="hlink"/>
                </a:solidFill>
                <a:latin typeface="Kosugi Maru"/>
                <a:ea typeface="Kosugi Maru"/>
                <a:cs typeface="Kosugi Maru"/>
                <a:sym typeface="Kosugi Maru"/>
                <a:hlinkClick r:id="rId7"/>
              </a:rPr>
              <a:t>ods-seiyu-stg</a:t>
            </a:r>
            <a:b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r>
              <a:rPr lang="ja" sz="1000" u="sng">
                <a:solidFill>
                  <a:schemeClr val="hlink"/>
                </a:solidFill>
                <a:latin typeface="Kosugi Maru"/>
                <a:ea typeface="Kosugi Maru"/>
                <a:cs typeface="Kosugi Maru"/>
                <a:sym typeface="Kosugi Maru"/>
                <a:hlinkClick r:id="rId8"/>
              </a:rPr>
              <a:t>ods-seiyu-dev</a:t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65" name="Google Shape;165;p32"/>
          <p:cNvSpPr/>
          <p:nvPr/>
        </p:nvSpPr>
        <p:spPr>
          <a:xfrm>
            <a:off x="5417112" y="1944502"/>
            <a:ext cx="1514700" cy="100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各SYSとデータ交換用ＧＣＰフォルダとの連携開発</a:t>
            </a:r>
            <a:endParaRPr sz="800">
              <a:solidFill>
                <a:srgbClr val="EA999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5417112" y="2948100"/>
            <a:ext cx="1514700" cy="359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各</a:t>
            </a: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SYS</a:t>
            </a: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窓口</a:t>
            </a:r>
            <a:endParaRPr sz="12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4651113" y="2965500"/>
            <a:ext cx="732000" cy="32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latin typeface="Kosugi Maru"/>
                <a:ea typeface="Kosugi Maru"/>
                <a:cs typeface="Kosugi Maru"/>
                <a:sym typeface="Kosugi Maru"/>
              </a:rPr>
              <a:t>連絡</a:t>
            </a:r>
            <a:endParaRPr sz="11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68" name="Google Shape;168;p32"/>
          <p:cNvSpPr txBox="1"/>
          <p:nvPr/>
        </p:nvSpPr>
        <p:spPr>
          <a:xfrm>
            <a:off x="4651113" y="3484800"/>
            <a:ext cx="732000" cy="130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u="sng">
                <a:solidFill>
                  <a:schemeClr val="hlink"/>
                </a:solidFill>
                <a:latin typeface="Kosugi Maru"/>
                <a:ea typeface="Kosugi Maru"/>
                <a:cs typeface="Kosugi Maru"/>
                <a:sym typeface="Kosugi Maru"/>
                <a:hlinkClick r:id="rId9"/>
              </a:rPr>
              <a:t>Chatスペース</a:t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8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※準備が出来たらご連絡します</a:t>
            </a:r>
            <a:endParaRPr sz="800">
              <a:solidFill>
                <a:srgbClr val="FF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5417112" y="777302"/>
            <a:ext cx="1514700" cy="100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data-spider</a:t>
            </a:r>
            <a:endParaRPr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設定</a:t>
            </a:r>
            <a:endParaRPr sz="800">
              <a:solidFill>
                <a:srgbClr val="EA999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70" name="Google Shape;170;p32"/>
          <p:cNvSpPr/>
          <p:nvPr/>
        </p:nvSpPr>
        <p:spPr>
          <a:xfrm>
            <a:off x="5417112" y="418200"/>
            <a:ext cx="1514700" cy="359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各</a:t>
            </a: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SYS</a:t>
            </a: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窓口</a:t>
            </a:r>
            <a:endParaRPr sz="12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71" name="Google Shape;171;p32"/>
          <p:cNvSpPr/>
          <p:nvPr/>
        </p:nvSpPr>
        <p:spPr>
          <a:xfrm>
            <a:off x="7399263" y="418200"/>
            <a:ext cx="1514700" cy="359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各SYS窓口</a:t>
            </a:r>
            <a:endParaRPr sz="12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72" name="Google Shape;172;p32"/>
          <p:cNvSpPr/>
          <p:nvPr/>
        </p:nvSpPr>
        <p:spPr>
          <a:xfrm>
            <a:off x="7399263" y="777300"/>
            <a:ext cx="1514700" cy="217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本番運用</a:t>
            </a:r>
            <a:endParaRPr sz="800">
              <a:solidFill>
                <a:srgbClr val="EA999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73" name="Google Shape;173;p32"/>
          <p:cNvSpPr/>
          <p:nvPr/>
        </p:nvSpPr>
        <p:spPr>
          <a:xfrm>
            <a:off x="7399263" y="2948100"/>
            <a:ext cx="1514700" cy="359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各SYS窓口</a:t>
            </a:r>
            <a:endParaRPr sz="12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74" name="Google Shape;174;p32"/>
          <p:cNvSpPr/>
          <p:nvPr/>
        </p:nvSpPr>
        <p:spPr>
          <a:xfrm rot="5400000">
            <a:off x="2433938" y="1700550"/>
            <a:ext cx="536700" cy="3243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2"/>
          <p:cNvSpPr/>
          <p:nvPr/>
        </p:nvSpPr>
        <p:spPr>
          <a:xfrm rot="5400000">
            <a:off x="4748700" y="1700550"/>
            <a:ext cx="536700" cy="3243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2"/>
          <p:cNvSpPr/>
          <p:nvPr/>
        </p:nvSpPr>
        <p:spPr>
          <a:xfrm rot="5400000">
            <a:off x="6897188" y="1700550"/>
            <a:ext cx="536700" cy="3243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2"/>
          <p:cNvSpPr txBox="1"/>
          <p:nvPr/>
        </p:nvSpPr>
        <p:spPr>
          <a:xfrm>
            <a:off x="5417237" y="3484800"/>
            <a:ext cx="1514700" cy="130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西友：data-spider</a:t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トラ：各SYSバラバラ</a:t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8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※データ交換用ＧＣＰフォルダからデータの取得やデータ退避の仕組等を各自構築してください</a:t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7399275" y="3474025"/>
            <a:ext cx="15147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本番運用時のやり取りは、各業務SYS間担当でお願いします</a:t>
            </a:r>
            <a:endParaRPr sz="1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/>
        </p:nvSpPr>
        <p:spPr>
          <a:xfrm>
            <a:off x="169575" y="219025"/>
            <a:ext cx="42459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バケット：</a:t>
            </a:r>
            <a:r>
              <a:rPr lang="ja" sz="1800">
                <a:solidFill>
                  <a:schemeClr val="dk2"/>
                </a:solidFill>
                <a:highlight>
                  <a:srgbClr val="D9EAD3"/>
                </a:highlight>
              </a:rPr>
              <a:t>ods-seiyu-prod</a:t>
            </a:r>
            <a:r>
              <a:rPr lang="ja" sz="1800">
                <a:solidFill>
                  <a:schemeClr val="dk2"/>
                </a:solidFill>
              </a:rPr>
              <a:t> (stg、dev)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4" name="Google Shape;184;p33"/>
          <p:cNvSpPr txBox="1"/>
          <p:nvPr/>
        </p:nvSpPr>
        <p:spPr>
          <a:xfrm>
            <a:off x="515750" y="558025"/>
            <a:ext cx="7475100" cy="15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フォルダ：</a:t>
            </a:r>
            <a:r>
              <a:rPr lang="ja" sz="1800">
                <a:solidFill>
                  <a:srgbClr val="FF0000"/>
                </a:solidFill>
                <a:highlight>
                  <a:srgbClr val="D9EAD3"/>
                </a:highlight>
              </a:rPr>
              <a:t>[SYS ID from]</a:t>
            </a:r>
            <a:r>
              <a:rPr lang="ja" sz="1800">
                <a:solidFill>
                  <a:schemeClr val="dk2"/>
                </a:solidFill>
                <a:highlight>
                  <a:srgbClr val="D9EAD3"/>
                </a:highlight>
              </a:rPr>
              <a:t> _ </a:t>
            </a:r>
            <a:r>
              <a:rPr lang="ja" sz="1800">
                <a:solidFill>
                  <a:srgbClr val="0000FF"/>
                </a:solidFill>
                <a:highlight>
                  <a:srgbClr val="D9EAD3"/>
                </a:highlight>
              </a:rPr>
              <a:t>[SYS ID to]</a:t>
            </a:r>
            <a:r>
              <a:rPr lang="ja" sz="1800">
                <a:solidFill>
                  <a:schemeClr val="dk2"/>
                </a:solidFill>
                <a:highlight>
                  <a:srgbClr val="D9EAD3"/>
                </a:highlight>
              </a:rPr>
              <a:t> _ </a:t>
            </a:r>
            <a:r>
              <a:rPr lang="ja" sz="1800">
                <a:solidFill>
                  <a:srgbClr val="38761D"/>
                </a:solidFill>
                <a:highlight>
                  <a:srgbClr val="D9EAD3"/>
                </a:highlight>
              </a:rPr>
              <a:t>[3桁連番]</a:t>
            </a:r>
            <a:r>
              <a:rPr lang="ja" sz="1300">
                <a:solidFill>
                  <a:schemeClr val="dk2"/>
                </a:solidFill>
                <a:highlight>
                  <a:srgbClr val="D9EAD3"/>
                </a:highlight>
              </a:rPr>
              <a:t>　</a:t>
            </a:r>
            <a:r>
              <a:rPr lang="ja" sz="1300">
                <a:solidFill>
                  <a:schemeClr val="dk2"/>
                </a:solidFill>
              </a:rPr>
              <a:t>(西友のｲﾝﾀｰﾌｪｰｽﾙｰﾙ)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　　例：</a:t>
            </a:r>
            <a:r>
              <a:rPr lang="ja" sz="1800">
                <a:solidFill>
                  <a:srgbClr val="FF0000"/>
                </a:solidFill>
              </a:rPr>
              <a:t>SY0001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0000FF"/>
                </a:solidFill>
              </a:rPr>
              <a:t>INU0001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38761D"/>
                </a:solidFill>
              </a:rPr>
              <a:t>001</a:t>
            </a:r>
            <a:r>
              <a:rPr lang="ja" sz="1800">
                <a:solidFill>
                  <a:schemeClr val="dk2"/>
                </a:solidFill>
              </a:rPr>
              <a:t>  :  id_posデータ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　　例：</a:t>
            </a:r>
            <a:r>
              <a:rPr lang="ja" sz="1800">
                <a:solidFill>
                  <a:srgbClr val="FF0000"/>
                </a:solidFill>
              </a:rPr>
              <a:t>SY0001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0000FF"/>
                </a:solidFill>
              </a:rPr>
              <a:t>INU0001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38761D"/>
                </a:solidFill>
              </a:rPr>
              <a:t>002</a:t>
            </a:r>
            <a:r>
              <a:rPr lang="ja" sz="1800">
                <a:solidFill>
                  <a:schemeClr val="dk2"/>
                </a:solidFill>
              </a:rPr>
              <a:t>  :  店舗マスタ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　　例：</a:t>
            </a:r>
            <a:r>
              <a:rPr lang="ja" sz="1800">
                <a:solidFill>
                  <a:srgbClr val="FF0000"/>
                </a:solidFill>
              </a:rPr>
              <a:t>SY0001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0000FF"/>
                </a:solidFill>
              </a:rPr>
              <a:t>INU0001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38761D"/>
                </a:solidFill>
              </a:rPr>
              <a:t>003</a:t>
            </a:r>
            <a:r>
              <a:rPr lang="ja" sz="1800">
                <a:solidFill>
                  <a:schemeClr val="dk2"/>
                </a:solidFill>
              </a:rPr>
              <a:t>  :  商品階層マスタ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　　例：</a:t>
            </a:r>
            <a:r>
              <a:rPr lang="ja" sz="1800">
                <a:solidFill>
                  <a:srgbClr val="FF0000"/>
                </a:solidFill>
              </a:rPr>
              <a:t>SY0002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0000FF"/>
                </a:solidFill>
              </a:rPr>
              <a:t>SZ0001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38761D"/>
                </a:solidFill>
              </a:rPr>
              <a:t>001</a:t>
            </a:r>
            <a:r>
              <a:rPr lang="ja" sz="1800">
                <a:solidFill>
                  <a:schemeClr val="dk2"/>
                </a:solidFill>
              </a:rPr>
              <a:t>   :  惣菜発注データ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5" name="Google Shape;185;p33"/>
          <p:cNvSpPr txBox="1"/>
          <p:nvPr/>
        </p:nvSpPr>
        <p:spPr>
          <a:xfrm>
            <a:off x="233162" y="303699"/>
            <a:ext cx="268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6" name="Google Shape;186;p33"/>
          <p:cNvCxnSpPr>
            <a:stCxn id="185" idx="2"/>
            <a:endCxn id="187" idx="1"/>
          </p:cNvCxnSpPr>
          <p:nvPr/>
        </p:nvCxnSpPr>
        <p:spPr>
          <a:xfrm flipH="1" rot="-5400000">
            <a:off x="312662" y="577449"/>
            <a:ext cx="261900" cy="152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33"/>
          <p:cNvSpPr txBox="1"/>
          <p:nvPr/>
        </p:nvSpPr>
        <p:spPr>
          <a:xfrm>
            <a:off x="6478925" y="1303600"/>
            <a:ext cx="2557500" cy="37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 u="sng">
                <a:solidFill>
                  <a:schemeClr val="hlink"/>
                </a:solidFill>
                <a:hlinkClick r:id="rId3"/>
              </a:rPr>
              <a:t>ｽﾌﾟﾚｯﾄﾞｼｰﾄで一覧管理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9" name="Google Shape;189;p33"/>
          <p:cNvSpPr txBox="1"/>
          <p:nvPr/>
        </p:nvSpPr>
        <p:spPr>
          <a:xfrm>
            <a:off x="1688469" y="1780559"/>
            <a:ext cx="268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0" name="Google Shape;190;p33"/>
          <p:cNvCxnSpPr>
            <a:stCxn id="189" idx="2"/>
            <a:endCxn id="191" idx="1"/>
          </p:cNvCxnSpPr>
          <p:nvPr/>
        </p:nvCxnSpPr>
        <p:spPr>
          <a:xfrm flipH="1" rot="-5400000">
            <a:off x="1909119" y="1913159"/>
            <a:ext cx="255000" cy="427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33"/>
          <p:cNvSpPr txBox="1"/>
          <p:nvPr/>
        </p:nvSpPr>
        <p:spPr>
          <a:xfrm>
            <a:off x="519802" y="675121"/>
            <a:ext cx="268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2" name="Google Shape;192;p33"/>
          <p:cNvSpPr/>
          <p:nvPr/>
        </p:nvSpPr>
        <p:spPr>
          <a:xfrm>
            <a:off x="6005475" y="946750"/>
            <a:ext cx="310800" cy="1088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3"/>
          <p:cNvSpPr txBox="1"/>
          <p:nvPr/>
        </p:nvSpPr>
        <p:spPr>
          <a:xfrm>
            <a:off x="2182775" y="2039225"/>
            <a:ext cx="68535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フォルダ：</a:t>
            </a:r>
            <a:r>
              <a:rPr lang="ja" sz="1800">
                <a:solidFill>
                  <a:schemeClr val="dk2"/>
                </a:solidFill>
                <a:highlight>
                  <a:srgbClr val="D9EAD3"/>
                </a:highlight>
              </a:rPr>
              <a:t>20251009</a:t>
            </a:r>
            <a:r>
              <a:rPr lang="ja" sz="1800">
                <a:solidFill>
                  <a:schemeClr val="dk2"/>
                </a:solidFill>
              </a:rPr>
              <a:t> ： 日別にフォルダを作り設置</a:t>
            </a:r>
            <a:r>
              <a:rPr lang="ja" sz="1500">
                <a:solidFill>
                  <a:schemeClr val="dk2"/>
                </a:solidFill>
              </a:rPr>
              <a:t>(個別ルール)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フォルダ：20251010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フォルダ：20251011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4" name="Google Shape;194;p33"/>
          <p:cNvSpPr txBox="1"/>
          <p:nvPr/>
        </p:nvSpPr>
        <p:spPr>
          <a:xfrm>
            <a:off x="0" y="0"/>
            <a:ext cx="67323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命名規則 (西友ルールを採用)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6531425" y="2451475"/>
            <a:ext cx="1906800" cy="968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  <a:t>※復旧時はどうする？</a:t>
            </a:r>
            <a:b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  <a:t>　①ファイル上書き？</a:t>
            </a:r>
            <a:b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  <a:t>　②新規ファイル？</a:t>
            </a:r>
            <a:endParaRPr sz="120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  <a:t>　　・１日分丸ごと？</a:t>
            </a:r>
            <a:endParaRPr sz="120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  <a:t>　　・修正差分？</a:t>
            </a:r>
            <a:endParaRPr sz="12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96" name="Google Shape;196;p33"/>
          <p:cNvCxnSpPr/>
          <p:nvPr/>
        </p:nvCxnSpPr>
        <p:spPr>
          <a:xfrm>
            <a:off x="177625" y="3517009"/>
            <a:ext cx="887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33"/>
          <p:cNvSpPr txBox="1"/>
          <p:nvPr/>
        </p:nvSpPr>
        <p:spPr>
          <a:xfrm>
            <a:off x="256195" y="3364769"/>
            <a:ext cx="40125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  <a:highlight>
                  <a:srgbClr val="FFFFFF"/>
                </a:highlight>
              </a:rPr>
              <a:t>ここから先はポリシー決めて処理</a:t>
            </a:r>
            <a:endParaRPr sz="18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  <p:sp>
        <p:nvSpPr>
          <p:cNvPr id="198" name="Google Shape;198;p33"/>
          <p:cNvSpPr txBox="1"/>
          <p:nvPr/>
        </p:nvSpPr>
        <p:spPr>
          <a:xfrm>
            <a:off x="4572000" y="2451475"/>
            <a:ext cx="1906800" cy="24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  <a:t>※ファイル名の規則は？</a:t>
            </a:r>
            <a:endParaRPr sz="12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99" name="Google Shape;199;p33"/>
          <p:cNvSpPr txBox="1"/>
          <p:nvPr/>
        </p:nvSpPr>
        <p:spPr>
          <a:xfrm>
            <a:off x="256200" y="3732260"/>
            <a:ext cx="5901600" cy="6105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　ファイル取り扱いのポリシーに関しては、次のスライドに明記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　(2026年1月16日にポリシー設定、即日より実施)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00" name="Google Shape;200;p33"/>
          <p:cNvSpPr txBox="1"/>
          <p:nvPr/>
        </p:nvSpPr>
        <p:spPr>
          <a:xfrm>
            <a:off x="4080975" y="226000"/>
            <a:ext cx="1044000" cy="37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</a:rPr>
              <a:t>prod : 本番環境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</a:rPr>
              <a:t>stg : 検証/準本番環境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</a:rPr>
              <a:t>dev : 開発環境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01" name="Google Shape;201;p33"/>
          <p:cNvSpPr txBox="1"/>
          <p:nvPr/>
        </p:nvSpPr>
        <p:spPr>
          <a:xfrm rot="5400000">
            <a:off x="3812665" y="2897214"/>
            <a:ext cx="3873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02" name="Google Shape;202;p33"/>
          <p:cNvCxnSpPr/>
          <p:nvPr/>
        </p:nvCxnSpPr>
        <p:spPr>
          <a:xfrm>
            <a:off x="130225" y="2057400"/>
            <a:ext cx="89067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3" name="Google Shape;203;p33"/>
          <p:cNvSpPr txBox="1"/>
          <p:nvPr/>
        </p:nvSpPr>
        <p:spPr>
          <a:xfrm>
            <a:off x="97650" y="1094913"/>
            <a:ext cx="11133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ﾌｫﾙﾀﾞの作成と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権限設定まで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ｼｽﾃﾑ管理部(末松)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過渡期は松尾も</a:t>
            </a:r>
            <a:endParaRPr sz="8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一緒にやります</a:t>
            </a:r>
            <a:endParaRPr sz="8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04" name="Google Shape;204;p33"/>
          <p:cNvSpPr txBox="1"/>
          <p:nvPr/>
        </p:nvSpPr>
        <p:spPr>
          <a:xfrm>
            <a:off x="97650" y="2244775"/>
            <a:ext cx="11721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highlight>
                  <a:srgbClr val="FFFF00"/>
                </a:highlight>
                <a:latin typeface="BIZ UDPGothic"/>
                <a:ea typeface="BIZ UDPGothic"/>
                <a:cs typeface="BIZ UDPGothic"/>
                <a:sym typeface="BIZ UDPGothic"/>
              </a:rPr>
              <a:t>ﾌｫﾙﾀﾞ内の</a:t>
            </a:r>
            <a:endParaRPr sz="900">
              <a:solidFill>
                <a:srgbClr val="38761D"/>
              </a:solidFill>
              <a:highlight>
                <a:srgbClr val="FFFF00"/>
              </a:highlight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highlight>
                  <a:srgbClr val="FFFF00"/>
                </a:highlight>
                <a:latin typeface="BIZ UDPGothic"/>
                <a:ea typeface="BIZ UDPGothic"/>
                <a:cs typeface="BIZ UDPGothic"/>
                <a:sym typeface="BIZ UDPGothic"/>
              </a:rPr>
              <a:t>詳細取り決めは</a:t>
            </a:r>
            <a:endParaRPr sz="900">
              <a:solidFill>
                <a:srgbClr val="38761D"/>
              </a:solidFill>
              <a:highlight>
                <a:srgbClr val="FFFF00"/>
              </a:highlight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highlight>
                  <a:srgbClr val="FFFF00"/>
                </a:highlight>
                <a:latin typeface="BIZ UDPGothic"/>
                <a:ea typeface="BIZ UDPGothic"/>
                <a:cs typeface="BIZ UDPGothic"/>
                <a:sym typeface="BIZ UDPGothic"/>
              </a:rPr>
              <a:t>各SYS窓口と</a:t>
            </a:r>
            <a:endParaRPr sz="900">
              <a:solidFill>
                <a:srgbClr val="38761D"/>
              </a:solidFill>
              <a:highlight>
                <a:srgbClr val="FFFF00"/>
              </a:highlight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highlight>
                  <a:srgbClr val="FFFF00"/>
                </a:highlight>
                <a:latin typeface="BIZ UDPGothic"/>
                <a:ea typeface="BIZ UDPGothic"/>
                <a:cs typeface="BIZ UDPGothic"/>
                <a:sym typeface="BIZ UDPGothic"/>
              </a:rPr>
              <a:t>西友窓口で決める</a:t>
            </a:r>
            <a:endParaRPr sz="900">
              <a:solidFill>
                <a:srgbClr val="38761D"/>
              </a:solidFill>
              <a:highlight>
                <a:srgbClr val="FFFF00"/>
              </a:highlight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・惣菜受発注(劉征)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・MD-Link(王軍)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・inunaki(松尾)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…etc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05" name="Google Shape;205;p33"/>
          <p:cNvSpPr txBox="1"/>
          <p:nvPr/>
        </p:nvSpPr>
        <p:spPr>
          <a:xfrm>
            <a:off x="256200" y="4474454"/>
            <a:ext cx="59016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・データ交換用GCP環境は、CloudStrage以外のサービスは使用しない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06" name="Google Shape;206;p33"/>
          <p:cNvSpPr txBox="1"/>
          <p:nvPr/>
        </p:nvSpPr>
        <p:spPr>
          <a:xfrm>
            <a:off x="256200" y="4729454"/>
            <a:ext cx="59016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・ｲﾝﾀｰﾌｪｰｽの担当や詳細は管理台帳に記載、障害発生時等のやり取りは担当者間で実施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07" name="Google Shape;207;p33"/>
          <p:cNvSpPr/>
          <p:nvPr/>
        </p:nvSpPr>
        <p:spPr>
          <a:xfrm>
            <a:off x="256200" y="1878413"/>
            <a:ext cx="587700" cy="1209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3"/>
          <p:cNvSpPr/>
          <p:nvPr/>
        </p:nvSpPr>
        <p:spPr>
          <a:xfrm rot="10800000">
            <a:off x="256200" y="2117488"/>
            <a:ext cx="587700" cy="1209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3"/>
          <p:cNvSpPr txBox="1"/>
          <p:nvPr/>
        </p:nvSpPr>
        <p:spPr>
          <a:xfrm>
            <a:off x="5835325" y="219025"/>
            <a:ext cx="32016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(GCP PJ名は：seiyu-trial-data-exchange)</a:t>
            </a:r>
            <a:endParaRPr sz="12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10" name="Google Shape;210;p33"/>
          <p:cNvSpPr txBox="1"/>
          <p:nvPr/>
        </p:nvSpPr>
        <p:spPr>
          <a:xfrm>
            <a:off x="7129475" y="1833975"/>
            <a:ext cx="1906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↑共通ルールはここまで</a:t>
            </a:r>
            <a:endParaRPr sz="12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11" name="Google Shape;211;p33"/>
          <p:cNvSpPr txBox="1"/>
          <p:nvPr/>
        </p:nvSpPr>
        <p:spPr>
          <a:xfrm>
            <a:off x="7528775" y="659600"/>
            <a:ext cx="15075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  <a:highlight>
                  <a:srgbClr val="00FFFF"/>
                </a:highlight>
                <a:latin typeface="BIZ UDPGothic"/>
                <a:ea typeface="BIZ UDPGothic"/>
                <a:cs typeface="BIZ UDPGothic"/>
                <a:sym typeface="BIZ UDPGothic"/>
              </a:rPr>
              <a:t>文字コードは</a:t>
            </a:r>
            <a:endParaRPr>
              <a:solidFill>
                <a:srgbClr val="FF0000"/>
              </a:solidFill>
              <a:highlight>
                <a:srgbClr val="00FFFF"/>
              </a:highlight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  <a:highlight>
                  <a:srgbClr val="00FFFF"/>
                </a:highlight>
                <a:latin typeface="BIZ UDPGothic"/>
                <a:ea typeface="BIZ UDPGothic"/>
                <a:cs typeface="BIZ UDPGothic"/>
                <a:sym typeface="BIZ UDPGothic"/>
              </a:rPr>
              <a:t>ＵＴＦ－８で！</a:t>
            </a:r>
            <a:endParaRPr>
              <a:solidFill>
                <a:srgbClr val="FF0000"/>
              </a:solidFill>
              <a:highlight>
                <a:srgbClr val="00FFFF"/>
              </a:highlight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/>
        </p:nvSpPr>
        <p:spPr>
          <a:xfrm>
            <a:off x="0" y="0"/>
            <a:ext cx="67323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ファイルのライフサイクル取扱ポリシー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pic>
        <p:nvPicPr>
          <p:cNvPr id="217" name="Google Shape;217;p34"/>
          <p:cNvPicPr preferRelativeResize="0"/>
          <p:nvPr/>
        </p:nvPicPr>
        <p:blipFill rotWithShape="1">
          <a:blip r:embed="rId3">
            <a:alphaModFix/>
          </a:blip>
          <a:srcRect b="0" l="5598" r="0" t="31163"/>
          <a:stretch/>
        </p:blipFill>
        <p:spPr>
          <a:xfrm>
            <a:off x="4272965" y="2604148"/>
            <a:ext cx="4710636" cy="19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/>
          <p:nvPr/>
        </p:nvSpPr>
        <p:spPr>
          <a:xfrm>
            <a:off x="160300" y="348475"/>
            <a:ext cx="8823300" cy="19446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100">
                <a:solidFill>
                  <a:srgbClr val="F44336"/>
                </a:solidFill>
              </a:rPr>
              <a:t>開発環境</a:t>
            </a:r>
            <a:r>
              <a:rPr b="1" lang="ja" sz="1100">
                <a:solidFill>
                  <a:schemeClr val="dk1"/>
                </a:solidFill>
              </a:rPr>
              <a:t>(ods-seiyu-dev)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100">
                <a:solidFill>
                  <a:schemeClr val="dk1"/>
                </a:solidFill>
              </a:rPr>
              <a:t>・取込済みファイルは、一定期間経過、および、同名のバージョン違いは</a:t>
            </a:r>
            <a:r>
              <a:rPr b="1" lang="ja" sz="1100">
                <a:solidFill>
                  <a:srgbClr val="F44336"/>
                </a:solidFill>
              </a:rPr>
              <a:t>過去分を削除</a:t>
            </a:r>
            <a:r>
              <a:rPr b="1" lang="ja" sz="1100">
                <a:solidFill>
                  <a:schemeClr val="dk1"/>
                </a:solidFill>
              </a:rPr>
              <a:t>する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00">
                <a:solidFill>
                  <a:schemeClr val="dk1"/>
                </a:solidFill>
              </a:rPr>
              <a:t>　① 初期投入は Standardクラス、</a:t>
            </a:r>
            <a:r>
              <a:rPr lang="ja" sz="1100" u="sng">
                <a:solidFill>
                  <a:schemeClr val="dk1"/>
                </a:solidFill>
              </a:rPr>
              <a:t>90日後</a:t>
            </a:r>
            <a:r>
              <a:rPr lang="ja" sz="1100">
                <a:solidFill>
                  <a:schemeClr val="dk1"/>
                </a:solidFill>
              </a:rPr>
              <a:t>に 自動的に削除する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00">
                <a:solidFill>
                  <a:schemeClr val="dk1"/>
                </a:solidFill>
              </a:rPr>
              <a:t>　※ </a:t>
            </a:r>
            <a:r>
              <a:rPr lang="ja" sz="1100" u="sng">
                <a:solidFill>
                  <a:schemeClr val="dk1"/>
                </a:solidFill>
              </a:rPr>
              <a:t>同名で上書きされた過去バージョン(履歴ファイル)</a:t>
            </a:r>
            <a:r>
              <a:rPr lang="ja" sz="1100">
                <a:solidFill>
                  <a:schemeClr val="dk1"/>
                </a:solidFill>
              </a:rPr>
              <a:t>は残りません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100">
                <a:solidFill>
                  <a:srgbClr val="2196F3"/>
                </a:solidFill>
              </a:rPr>
              <a:t>本番、検証環境</a:t>
            </a:r>
            <a:r>
              <a:rPr b="1" lang="ja" sz="1100">
                <a:solidFill>
                  <a:schemeClr val="dk1"/>
                </a:solidFill>
              </a:rPr>
              <a:t>(ods-seiyu-prod 、ods-seiyu-stg)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100">
                <a:solidFill>
                  <a:schemeClr val="dk1"/>
                </a:solidFill>
              </a:rPr>
              <a:t>・取込済みファイルは、</a:t>
            </a:r>
            <a:r>
              <a:rPr b="1" lang="ja" sz="1100">
                <a:solidFill>
                  <a:srgbClr val="2196F3"/>
                </a:solidFill>
              </a:rPr>
              <a:t>ライフサイクル長めのクラスへ自動的に変更</a:t>
            </a:r>
            <a:r>
              <a:rPr b="1" lang="ja" sz="1100">
                <a:solidFill>
                  <a:schemeClr val="dk1"/>
                </a:solidFill>
              </a:rPr>
              <a:t>する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00">
                <a:solidFill>
                  <a:schemeClr val="dk1"/>
                </a:solidFill>
              </a:rPr>
              <a:t>　① 初期投入は Standardクラス、</a:t>
            </a:r>
            <a:r>
              <a:rPr lang="ja" sz="1100" u="sng">
                <a:solidFill>
                  <a:schemeClr val="dk1"/>
                </a:solidFill>
              </a:rPr>
              <a:t>60日後</a:t>
            </a:r>
            <a:r>
              <a:rPr lang="ja" sz="1100">
                <a:solidFill>
                  <a:schemeClr val="dk1"/>
                </a:solidFill>
              </a:rPr>
              <a:t>に Coldlineクラス へ移動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00">
                <a:solidFill>
                  <a:schemeClr val="dk1"/>
                </a:solidFill>
              </a:rPr>
              <a:t>　➁ 現時点では Cloldlineクラス へ移動させた後、ファイルを削除しない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　※ </a:t>
            </a:r>
            <a:r>
              <a:rPr lang="ja" sz="1100" u="sng">
                <a:solidFill>
                  <a:schemeClr val="dk1"/>
                </a:solidFill>
              </a:rPr>
              <a:t>同名で上書きされた過去バージョン(履歴ファイル)</a:t>
            </a:r>
            <a:r>
              <a:rPr lang="ja" sz="1100">
                <a:solidFill>
                  <a:schemeClr val="dk1"/>
                </a:solidFill>
              </a:rPr>
              <a:t>は残りません</a:t>
            </a:r>
            <a:endParaRPr b="1" sz="1100">
              <a:solidFill>
                <a:srgbClr val="F44336"/>
              </a:solidFill>
            </a:endParaRPr>
          </a:p>
        </p:txBody>
      </p:sp>
      <p:sp>
        <p:nvSpPr>
          <p:cNvPr id="219" name="Google Shape;219;p34"/>
          <p:cNvSpPr txBox="1"/>
          <p:nvPr/>
        </p:nvSpPr>
        <p:spPr>
          <a:xfrm>
            <a:off x="370850" y="2457788"/>
            <a:ext cx="3439200" cy="64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①一番最初にファイルを置くと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Standard クラスに入る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0" name="Google Shape;220;p34"/>
          <p:cNvSpPr txBox="1"/>
          <p:nvPr/>
        </p:nvSpPr>
        <p:spPr>
          <a:xfrm>
            <a:off x="370850" y="3300867"/>
            <a:ext cx="3439200" cy="1652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➁開発環境の場合は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90日経過後に削除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本番、検証環境の場合は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60日経過後にColdlineへ変更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(２ヵ月より前の生ファイル参照は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 基本無いものと考えて)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221" name="Google Shape;221;p34"/>
          <p:cNvCxnSpPr>
            <a:stCxn id="219" idx="3"/>
          </p:cNvCxnSpPr>
          <p:nvPr/>
        </p:nvCxnSpPr>
        <p:spPr>
          <a:xfrm>
            <a:off x="3810050" y="2780888"/>
            <a:ext cx="4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34"/>
          <p:cNvCxnSpPr/>
          <p:nvPr/>
        </p:nvCxnSpPr>
        <p:spPr>
          <a:xfrm>
            <a:off x="5294524" y="2822705"/>
            <a:ext cx="42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3" name="Google Shape;223;p34"/>
          <p:cNvSpPr txBox="1"/>
          <p:nvPr/>
        </p:nvSpPr>
        <p:spPr>
          <a:xfrm>
            <a:off x="5721962" y="2697200"/>
            <a:ext cx="3024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FF0000"/>
                </a:solidFill>
              </a:rPr>
              <a:t>開発環境の場合は90日後に削除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4286246" y="2836598"/>
            <a:ext cx="2160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5" name="Google Shape;225;p34"/>
          <p:cNvSpPr txBox="1"/>
          <p:nvPr/>
        </p:nvSpPr>
        <p:spPr>
          <a:xfrm>
            <a:off x="4286246" y="3695242"/>
            <a:ext cx="2160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26" name="Google Shape;226;p34"/>
          <p:cNvCxnSpPr>
            <a:stCxn id="224" idx="1"/>
            <a:endCxn id="225" idx="1"/>
          </p:cNvCxnSpPr>
          <p:nvPr/>
        </p:nvCxnSpPr>
        <p:spPr>
          <a:xfrm>
            <a:off x="4286246" y="2890748"/>
            <a:ext cx="600" cy="858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34"/>
          <p:cNvSpPr txBox="1"/>
          <p:nvPr/>
        </p:nvSpPr>
        <p:spPr>
          <a:xfrm>
            <a:off x="5721962" y="3629100"/>
            <a:ext cx="3024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3D85C6"/>
                </a:solidFill>
              </a:rPr>
              <a:t>本番、検証環境の場合は60日後に移動</a:t>
            </a:r>
            <a:endParaRPr sz="1300">
              <a:solidFill>
                <a:srgbClr val="3D85C6"/>
              </a:solidFill>
            </a:endParaRPr>
          </a:p>
        </p:txBody>
      </p:sp>
      <p:cxnSp>
        <p:nvCxnSpPr>
          <p:cNvPr id="228" name="Google Shape;228;p34"/>
          <p:cNvCxnSpPr/>
          <p:nvPr/>
        </p:nvCxnSpPr>
        <p:spPr>
          <a:xfrm>
            <a:off x="5294524" y="3749405"/>
            <a:ext cx="42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9" name="Google Shape;229;p34"/>
          <p:cNvSpPr txBox="1"/>
          <p:nvPr/>
        </p:nvSpPr>
        <p:spPr>
          <a:xfrm>
            <a:off x="4578496" y="3491730"/>
            <a:ext cx="1833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※最低保持期限30日間あり</a:t>
            </a:r>
            <a:endParaRPr sz="9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34"/>
          <p:cNvSpPr txBox="1"/>
          <p:nvPr/>
        </p:nvSpPr>
        <p:spPr>
          <a:xfrm>
            <a:off x="4578496" y="3965655"/>
            <a:ext cx="1833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※最低保持期限90日間あり</a:t>
            </a:r>
            <a:endParaRPr sz="9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34"/>
          <p:cNvSpPr txBox="1"/>
          <p:nvPr/>
        </p:nvSpPr>
        <p:spPr>
          <a:xfrm>
            <a:off x="4578496" y="4425641"/>
            <a:ext cx="1833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※最低保持期限365日間あり</a:t>
            </a:r>
            <a:endParaRPr sz="9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4"/>
          <p:cNvSpPr txBox="1"/>
          <p:nvPr/>
        </p:nvSpPr>
        <p:spPr>
          <a:xfrm>
            <a:off x="4578496" y="3048709"/>
            <a:ext cx="1833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※最低保持期限なし</a:t>
            </a:r>
            <a:endParaRPr sz="9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/>
        </p:nvSpPr>
        <p:spPr>
          <a:xfrm>
            <a:off x="0" y="0"/>
            <a:ext cx="4449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データ共有ハブ(GCS)の</a:t>
            </a: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管理責任範囲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38" name="Google Shape;238;p35"/>
          <p:cNvSpPr/>
          <p:nvPr/>
        </p:nvSpPr>
        <p:spPr>
          <a:xfrm>
            <a:off x="1935379" y="991192"/>
            <a:ext cx="1507500" cy="3674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ﾃﾞｰﾀ共有用PJ全体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39" name="Google Shape;239;p35"/>
          <p:cNvSpPr/>
          <p:nvPr/>
        </p:nvSpPr>
        <p:spPr>
          <a:xfrm>
            <a:off x="1993918" y="1266197"/>
            <a:ext cx="1395300" cy="10464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バケット 本番(prod)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40" name="Google Shape;240;p35"/>
          <p:cNvSpPr/>
          <p:nvPr/>
        </p:nvSpPr>
        <p:spPr>
          <a:xfrm>
            <a:off x="2042172" y="1546153"/>
            <a:ext cx="1293900" cy="21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フォルダ１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41" name="Google Shape;241;p35"/>
          <p:cNvSpPr/>
          <p:nvPr/>
        </p:nvSpPr>
        <p:spPr>
          <a:xfrm>
            <a:off x="2042172" y="1791115"/>
            <a:ext cx="1293900" cy="21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フォルダ２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42" name="Google Shape;242;p35"/>
          <p:cNvSpPr/>
          <p:nvPr/>
        </p:nvSpPr>
        <p:spPr>
          <a:xfrm>
            <a:off x="2042172" y="2036078"/>
            <a:ext cx="1293900" cy="21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フォルダ３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43" name="Google Shape;243;p35"/>
          <p:cNvSpPr/>
          <p:nvPr/>
        </p:nvSpPr>
        <p:spPr>
          <a:xfrm>
            <a:off x="1993918" y="2415997"/>
            <a:ext cx="1395300" cy="10464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バケット 検証(stg)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44" name="Google Shape;244;p35"/>
          <p:cNvSpPr/>
          <p:nvPr/>
        </p:nvSpPr>
        <p:spPr>
          <a:xfrm>
            <a:off x="2042172" y="2695954"/>
            <a:ext cx="1293900" cy="21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フォルダ１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45" name="Google Shape;245;p35"/>
          <p:cNvSpPr/>
          <p:nvPr/>
        </p:nvSpPr>
        <p:spPr>
          <a:xfrm>
            <a:off x="2042172" y="2940916"/>
            <a:ext cx="1293900" cy="21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フォルダ２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46" name="Google Shape;246;p35"/>
          <p:cNvSpPr/>
          <p:nvPr/>
        </p:nvSpPr>
        <p:spPr>
          <a:xfrm>
            <a:off x="2042172" y="3185878"/>
            <a:ext cx="1293900" cy="21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フォルダ３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47" name="Google Shape;247;p35"/>
          <p:cNvSpPr/>
          <p:nvPr/>
        </p:nvSpPr>
        <p:spPr>
          <a:xfrm>
            <a:off x="1993918" y="3565798"/>
            <a:ext cx="1395300" cy="10464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バケット 開発(dev)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48" name="Google Shape;248;p35"/>
          <p:cNvSpPr/>
          <p:nvPr/>
        </p:nvSpPr>
        <p:spPr>
          <a:xfrm>
            <a:off x="2042172" y="3845755"/>
            <a:ext cx="1293900" cy="21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フォルダ１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49" name="Google Shape;249;p35"/>
          <p:cNvSpPr/>
          <p:nvPr/>
        </p:nvSpPr>
        <p:spPr>
          <a:xfrm>
            <a:off x="2042172" y="4090717"/>
            <a:ext cx="1293900" cy="21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フォルダ２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50" name="Google Shape;250;p35"/>
          <p:cNvSpPr/>
          <p:nvPr/>
        </p:nvSpPr>
        <p:spPr>
          <a:xfrm>
            <a:off x="2042172" y="4335679"/>
            <a:ext cx="1293900" cy="21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フォルダ３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51" name="Google Shape;251;p35"/>
          <p:cNvSpPr/>
          <p:nvPr/>
        </p:nvSpPr>
        <p:spPr>
          <a:xfrm>
            <a:off x="304052" y="991200"/>
            <a:ext cx="1017000" cy="82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西友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data-spider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52" name="Google Shape;252;p35"/>
          <p:cNvSpPr/>
          <p:nvPr/>
        </p:nvSpPr>
        <p:spPr>
          <a:xfrm>
            <a:off x="1437275" y="1007450"/>
            <a:ext cx="440400" cy="38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5"/>
          <p:cNvSpPr/>
          <p:nvPr/>
        </p:nvSpPr>
        <p:spPr>
          <a:xfrm rot="10800000">
            <a:off x="1437275" y="1421950"/>
            <a:ext cx="440400" cy="38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5"/>
          <p:cNvSpPr txBox="1"/>
          <p:nvPr/>
        </p:nvSpPr>
        <p:spPr>
          <a:xfrm>
            <a:off x="304050" y="2126825"/>
            <a:ext cx="1017000" cy="11316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使用している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ｻｰﾋﾞｽｱｶｳﾝﾄは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seiyu-datamanagement@seiyu-trial-data-exchange.iam.gserviceaccount.com</a:t>
            </a:r>
            <a:endParaRPr sz="8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55" name="Google Shape;255;p35"/>
          <p:cNvCxnSpPr>
            <a:stCxn id="254" idx="0"/>
            <a:endCxn id="251" idx="2"/>
          </p:cNvCxnSpPr>
          <p:nvPr/>
        </p:nvCxnSpPr>
        <p:spPr>
          <a:xfrm rot="10800000">
            <a:off x="812550" y="1820525"/>
            <a:ext cx="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6" name="Google Shape;256;p35"/>
          <p:cNvSpPr/>
          <p:nvPr/>
        </p:nvSpPr>
        <p:spPr>
          <a:xfrm>
            <a:off x="767209" y="3077113"/>
            <a:ext cx="387300" cy="382200"/>
          </a:xfrm>
          <a:prstGeom prst="foldedCorner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key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.json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304050" y="3474650"/>
            <a:ext cx="1017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Key:西友 森裕亮さん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西友 小峰大さん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へ共有済み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58" name="Google Shape;258;p35"/>
          <p:cNvCxnSpPr/>
          <p:nvPr/>
        </p:nvCxnSpPr>
        <p:spPr>
          <a:xfrm>
            <a:off x="1536225" y="3520765"/>
            <a:ext cx="215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9" name="Google Shape;259;p35"/>
          <p:cNvSpPr/>
          <p:nvPr/>
        </p:nvSpPr>
        <p:spPr>
          <a:xfrm>
            <a:off x="3973102" y="991200"/>
            <a:ext cx="1017000" cy="82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トライアル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各業務SYS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60" name="Google Shape;260;p35"/>
          <p:cNvSpPr/>
          <p:nvPr/>
        </p:nvSpPr>
        <p:spPr>
          <a:xfrm>
            <a:off x="3490110" y="1007450"/>
            <a:ext cx="440400" cy="38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5"/>
          <p:cNvSpPr/>
          <p:nvPr/>
        </p:nvSpPr>
        <p:spPr>
          <a:xfrm rot="10800000">
            <a:off x="3490110" y="1421950"/>
            <a:ext cx="440400" cy="38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5"/>
          <p:cNvSpPr txBox="1"/>
          <p:nvPr/>
        </p:nvSpPr>
        <p:spPr>
          <a:xfrm>
            <a:off x="3973100" y="2126825"/>
            <a:ext cx="1017000" cy="11316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ｻｰﾋﾞｽｱｶｳﾝﾄは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業務ｼｽﾃﾑ毎に異なる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63" name="Google Shape;263;p35"/>
          <p:cNvCxnSpPr>
            <a:stCxn id="262" idx="0"/>
            <a:endCxn id="259" idx="2"/>
          </p:cNvCxnSpPr>
          <p:nvPr/>
        </p:nvCxnSpPr>
        <p:spPr>
          <a:xfrm rot="10800000">
            <a:off x="4481600" y="1820525"/>
            <a:ext cx="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4" name="Google Shape;264;p35"/>
          <p:cNvSpPr/>
          <p:nvPr/>
        </p:nvSpPr>
        <p:spPr>
          <a:xfrm>
            <a:off x="4436259" y="3077113"/>
            <a:ext cx="387300" cy="382200"/>
          </a:xfrm>
          <a:prstGeom prst="foldedCorner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key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.json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65" name="Google Shape;265;p35"/>
          <p:cNvSpPr txBox="1"/>
          <p:nvPr/>
        </p:nvSpPr>
        <p:spPr>
          <a:xfrm>
            <a:off x="45175" y="3946575"/>
            <a:ext cx="1491000" cy="11316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251202以降ｻｰﾋﾞｽｱｶｳﾝﾄ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３つに分割、ﾊﾞｹｯﾄ毎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使い分ける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seiyu-datamanagement-</a:t>
            </a:r>
            <a:r>
              <a:rPr lang="ja" sz="7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dev</a:t>
            </a: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@～</a:t>
            </a:r>
            <a:endParaRPr sz="7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seiyu-datamanagement-</a:t>
            </a:r>
            <a:r>
              <a:rPr lang="ja" sz="7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stg</a:t>
            </a: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@～</a:t>
            </a:r>
            <a:endParaRPr sz="7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seiyu-datamanagement-</a:t>
            </a:r>
            <a:r>
              <a:rPr lang="ja" sz="7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prod</a:t>
            </a: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@～</a:t>
            </a:r>
            <a:endParaRPr sz="7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66" name="Google Shape;266;p35"/>
          <p:cNvCxnSpPr>
            <a:stCxn id="254" idx="1"/>
          </p:cNvCxnSpPr>
          <p:nvPr/>
        </p:nvCxnSpPr>
        <p:spPr>
          <a:xfrm flipH="1">
            <a:off x="150750" y="2692625"/>
            <a:ext cx="153300" cy="1344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" name="Google Shape;267;p35"/>
          <p:cNvSpPr/>
          <p:nvPr/>
        </p:nvSpPr>
        <p:spPr>
          <a:xfrm>
            <a:off x="1935375" y="4715600"/>
            <a:ext cx="1507500" cy="306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latin typeface="BIZ UDPGothic"/>
                <a:ea typeface="BIZ UDPGothic"/>
                <a:cs typeface="BIZ UDPGothic"/>
                <a:sym typeface="BIZ UDPGothic"/>
              </a:rPr>
              <a:t>GCP : seiyu-trial</a:t>
            </a:r>
            <a:endParaRPr sz="900"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latin typeface="BIZ UDPGothic"/>
                <a:ea typeface="BIZ UDPGothic"/>
                <a:cs typeface="BIZ UDPGothic"/>
                <a:sym typeface="BIZ UDPGothic"/>
              </a:rPr>
              <a:t>data-exchange</a:t>
            </a:r>
            <a:endParaRPr sz="5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68" name="Google Shape;268;p35"/>
          <p:cNvSpPr txBox="1"/>
          <p:nvPr/>
        </p:nvSpPr>
        <p:spPr>
          <a:xfrm>
            <a:off x="3443675" y="4014450"/>
            <a:ext cx="15465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</a:rPr>
              <a:t>西友田村さん</a:t>
            </a:r>
            <a:br>
              <a:rPr lang="ja" sz="700">
                <a:solidFill>
                  <a:schemeClr val="dk2"/>
                </a:solidFill>
              </a:rPr>
            </a:br>
            <a:r>
              <a:rPr lang="ja" sz="700">
                <a:solidFill>
                  <a:schemeClr val="dk2"/>
                </a:solidFill>
              </a:rPr>
              <a:t>tamura_yuji@trial-net.co.jp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304050" y="240600"/>
            <a:ext cx="1631400" cy="681600"/>
          </a:xfrm>
          <a:prstGeom prst="leftRightArrow">
            <a:avLst>
              <a:gd fmla="val 5988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西友ISDチーム</a:t>
            </a:r>
            <a:endParaRPr sz="12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1935450" y="240600"/>
            <a:ext cx="1507500" cy="681600"/>
          </a:xfrm>
          <a:prstGeom prst="leftRightArrow">
            <a:avLst>
              <a:gd fmla="val 5988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トライアル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システム管理部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データマネジメント部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71" name="Google Shape;271;p35"/>
          <p:cNvSpPr/>
          <p:nvPr/>
        </p:nvSpPr>
        <p:spPr>
          <a:xfrm>
            <a:off x="3442875" y="240600"/>
            <a:ext cx="1546500" cy="681600"/>
          </a:xfrm>
          <a:prstGeom prst="leftRightArrow">
            <a:avLst>
              <a:gd fmla="val 5988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トライアル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業務システム担当部署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5257975" y="351050"/>
            <a:ext cx="3762300" cy="46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highlight>
                  <a:srgbClr val="FFFF00"/>
                </a:highlight>
                <a:latin typeface="Kosugi Maru"/>
                <a:ea typeface="Kosugi Maru"/>
                <a:cs typeface="Kosugi Maru"/>
                <a:sym typeface="Kosugi Maru"/>
              </a:rPr>
              <a:t>西友ＩＳＤチーム</a:t>
            </a:r>
            <a:endParaRPr sz="1500">
              <a:solidFill>
                <a:schemeClr val="dk2"/>
              </a:solidFill>
              <a:highlight>
                <a:srgbClr val="FFFF00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・共有ドライブへのデータの配置や</a:t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データの取得をdata-spiderを使い</a:t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実行します</a:t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highlight>
                  <a:srgbClr val="FFFF00"/>
                </a:highlight>
                <a:latin typeface="Kosugi Maru"/>
                <a:ea typeface="Kosugi Maru"/>
                <a:cs typeface="Kosugi Maru"/>
                <a:sym typeface="Kosugi Maru"/>
              </a:rPr>
              <a:t>トライアル</a:t>
            </a:r>
            <a:endParaRPr sz="1500">
              <a:solidFill>
                <a:schemeClr val="dk2"/>
              </a:solidFill>
              <a:highlight>
                <a:srgbClr val="FFFF00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highlight>
                  <a:srgbClr val="FFFF00"/>
                </a:highlight>
                <a:latin typeface="Kosugi Maru"/>
                <a:ea typeface="Kosugi Maru"/>
                <a:cs typeface="Kosugi Maru"/>
                <a:sym typeface="Kosugi Maru"/>
              </a:rPr>
              <a:t>システム管理部、データマネジメント部</a:t>
            </a:r>
            <a:endParaRPr sz="1500">
              <a:solidFill>
                <a:schemeClr val="dk2"/>
              </a:solidFill>
              <a:highlight>
                <a:srgbClr val="FFFF00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・共有ドライブのバケット管理や</a:t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フォルダの設置、各アカウントの</a:t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権限管理を行います</a:t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highlight>
                  <a:srgbClr val="FFFF00"/>
                </a:highlight>
                <a:latin typeface="Kosugi Maru"/>
                <a:ea typeface="Kosugi Maru"/>
                <a:cs typeface="Kosugi Maru"/>
                <a:sym typeface="Kosugi Maru"/>
              </a:rPr>
              <a:t>トライアル</a:t>
            </a:r>
            <a:endParaRPr sz="1500">
              <a:solidFill>
                <a:schemeClr val="dk2"/>
              </a:solidFill>
              <a:highlight>
                <a:srgbClr val="FFFF00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solidFill>
                  <a:schemeClr val="dk2"/>
                </a:solidFill>
                <a:highlight>
                  <a:srgbClr val="FFFF00"/>
                </a:highlight>
                <a:latin typeface="Kosugi Maru"/>
                <a:ea typeface="Kosugi Maru"/>
                <a:cs typeface="Kosugi Maru"/>
                <a:sym typeface="Kosugi Maru"/>
              </a:rPr>
              <a:t>業務システム担当部署</a:t>
            </a:r>
            <a:endParaRPr sz="1500">
              <a:solidFill>
                <a:schemeClr val="dk2"/>
              </a:solidFill>
              <a:highlight>
                <a:srgbClr val="FFFF00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・共有ドライブへのデータの配置や</a:t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データの取得を実行します</a:t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・フォルダ以下の管理ルールは各自</a:t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設計し、西友と合わせてください</a:t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(ﾊﾞｯｸｱｯﾌﾟﾌｫﾙﾀﾞを作る、ﾌｧｲﾙ名を</a:t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 ﾘﾈｰﾑする 等々)</a:t>
            </a:r>
            <a:endParaRPr sz="1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3596675" y="4463050"/>
            <a:ext cx="15075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文字コードは</a:t>
            </a:r>
            <a:endParaRPr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ＵＴＦ－８で！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/>
          <p:nvPr/>
        </p:nvSpPr>
        <p:spPr>
          <a:xfrm>
            <a:off x="0" y="0"/>
            <a:ext cx="4449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問い合わせやディスカッションはチャットスペースで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79" name="Google Shape;279;p36"/>
          <p:cNvSpPr txBox="1"/>
          <p:nvPr/>
        </p:nvSpPr>
        <p:spPr>
          <a:xfrm>
            <a:off x="961550" y="770750"/>
            <a:ext cx="6410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200" u="sng">
                <a:solidFill>
                  <a:schemeClr val="hlink"/>
                </a:solidFill>
                <a:latin typeface="Kosugi Maru"/>
                <a:ea typeface="Kosugi Maru"/>
                <a:cs typeface="Kosugi Maru"/>
                <a:sym typeface="Kosugi Maru"/>
                <a:hlinkClick r:id="rId3"/>
              </a:rPr>
              <a:t>seiyu-trial data-exchangeに関して</a:t>
            </a:r>
            <a:endParaRPr sz="22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/>
          <p:nvPr>
            <p:ph type="title"/>
          </p:nvPr>
        </p:nvSpPr>
        <p:spPr>
          <a:xfrm>
            <a:off x="311700" y="445025"/>
            <a:ext cx="8520600" cy="11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>
                <a:solidFill>
                  <a:srgbClr val="FFFFFF"/>
                </a:solidFill>
                <a:latin typeface="Kosugi Maru"/>
                <a:ea typeface="Kosugi Maru"/>
                <a:cs typeface="Kosugi Maru"/>
                <a:sym typeface="Kosugi Maru"/>
              </a:rPr>
              <a:t>以降、参考資料や過去資料</a:t>
            </a:r>
            <a:endParaRPr sz="4000">
              <a:solidFill>
                <a:srgbClr val="FFFFFF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/>
          <p:nvPr/>
        </p:nvSpPr>
        <p:spPr>
          <a:xfrm>
            <a:off x="676800" y="505800"/>
            <a:ext cx="8403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33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バケット権限設定概要説明</a:t>
            </a:r>
            <a:endParaRPr sz="23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90" name="Google Shape;290;p38"/>
          <p:cNvSpPr txBox="1"/>
          <p:nvPr/>
        </p:nvSpPr>
        <p:spPr>
          <a:xfrm>
            <a:off x="32550" y="32550"/>
            <a:ext cx="2597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25/11/26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9"/>
          <p:cNvSpPr txBox="1"/>
          <p:nvPr/>
        </p:nvSpPr>
        <p:spPr>
          <a:xfrm>
            <a:off x="0" y="0"/>
            <a:ext cx="4449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251126_</a:t>
            </a: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データ共有ハブ(GCS)の権限設定の基本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96" name="Google Shape;296;p39"/>
          <p:cNvSpPr/>
          <p:nvPr/>
        </p:nvSpPr>
        <p:spPr>
          <a:xfrm>
            <a:off x="1935368" y="272075"/>
            <a:ext cx="1507500" cy="4761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ﾃﾞｰﾀ共有用PJ全体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97" name="Google Shape;297;p39"/>
          <p:cNvSpPr/>
          <p:nvPr/>
        </p:nvSpPr>
        <p:spPr>
          <a:xfrm>
            <a:off x="1993907" y="628429"/>
            <a:ext cx="1395300" cy="13563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バケット 本番(prod)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98" name="Google Shape;298;p39"/>
          <p:cNvSpPr/>
          <p:nvPr/>
        </p:nvSpPr>
        <p:spPr>
          <a:xfrm>
            <a:off x="2042161" y="991200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フォルダ１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99" name="Google Shape;299;p39"/>
          <p:cNvSpPr/>
          <p:nvPr/>
        </p:nvSpPr>
        <p:spPr>
          <a:xfrm>
            <a:off x="2042161" y="1308625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</a:t>
            </a: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２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00" name="Google Shape;300;p39"/>
          <p:cNvSpPr/>
          <p:nvPr/>
        </p:nvSpPr>
        <p:spPr>
          <a:xfrm>
            <a:off x="2042161" y="1626050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</a:t>
            </a: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３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01" name="Google Shape;301;p39"/>
          <p:cNvSpPr/>
          <p:nvPr/>
        </p:nvSpPr>
        <p:spPr>
          <a:xfrm>
            <a:off x="1993907" y="2118354"/>
            <a:ext cx="1395300" cy="13563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バケット </a:t>
            </a: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検証(stg)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02" name="Google Shape;302;p39"/>
          <p:cNvSpPr/>
          <p:nvPr/>
        </p:nvSpPr>
        <p:spPr>
          <a:xfrm>
            <a:off x="2042161" y="2481125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フォルダ１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03" name="Google Shape;303;p39"/>
          <p:cNvSpPr/>
          <p:nvPr/>
        </p:nvSpPr>
        <p:spPr>
          <a:xfrm>
            <a:off x="2042161" y="2798550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フォルダ２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04" name="Google Shape;304;p39"/>
          <p:cNvSpPr/>
          <p:nvPr/>
        </p:nvSpPr>
        <p:spPr>
          <a:xfrm>
            <a:off x="2042161" y="3115975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フォルダ３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05" name="Google Shape;305;p39"/>
          <p:cNvSpPr/>
          <p:nvPr/>
        </p:nvSpPr>
        <p:spPr>
          <a:xfrm>
            <a:off x="1993907" y="3608279"/>
            <a:ext cx="1395300" cy="13563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バケット </a:t>
            </a: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開発(dev)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06" name="Google Shape;306;p39"/>
          <p:cNvSpPr/>
          <p:nvPr/>
        </p:nvSpPr>
        <p:spPr>
          <a:xfrm>
            <a:off x="2042161" y="3971050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フォルダ１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07" name="Google Shape;307;p39"/>
          <p:cNvSpPr/>
          <p:nvPr/>
        </p:nvSpPr>
        <p:spPr>
          <a:xfrm>
            <a:off x="2042161" y="4288475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フォルダ２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08" name="Google Shape;308;p39"/>
          <p:cNvSpPr/>
          <p:nvPr/>
        </p:nvSpPr>
        <p:spPr>
          <a:xfrm>
            <a:off x="2042161" y="4605900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フォルダ３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09" name="Google Shape;309;p39"/>
          <p:cNvSpPr/>
          <p:nvPr/>
        </p:nvSpPr>
        <p:spPr>
          <a:xfrm>
            <a:off x="304052" y="991200"/>
            <a:ext cx="1017000" cy="82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西友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data-spider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10" name="Google Shape;310;p39"/>
          <p:cNvSpPr/>
          <p:nvPr/>
        </p:nvSpPr>
        <p:spPr>
          <a:xfrm>
            <a:off x="1437275" y="1007450"/>
            <a:ext cx="440400" cy="38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9"/>
          <p:cNvSpPr/>
          <p:nvPr/>
        </p:nvSpPr>
        <p:spPr>
          <a:xfrm rot="10800000">
            <a:off x="1437275" y="1421950"/>
            <a:ext cx="440400" cy="38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9"/>
          <p:cNvSpPr txBox="1"/>
          <p:nvPr/>
        </p:nvSpPr>
        <p:spPr>
          <a:xfrm>
            <a:off x="304050" y="2126825"/>
            <a:ext cx="1017000" cy="11316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使用している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ｻｰﾋﾞｽｱｶｳﾝﾄは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seiyu-datamanagement@seiyu-trial-data-exchange.iam.gserviceaccount.com</a:t>
            </a:r>
            <a:endParaRPr sz="8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13" name="Google Shape;313;p39"/>
          <p:cNvCxnSpPr>
            <a:stCxn id="312" idx="0"/>
            <a:endCxn id="309" idx="2"/>
          </p:cNvCxnSpPr>
          <p:nvPr/>
        </p:nvCxnSpPr>
        <p:spPr>
          <a:xfrm rot="10800000">
            <a:off x="812550" y="1820525"/>
            <a:ext cx="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4" name="Google Shape;314;p39"/>
          <p:cNvSpPr/>
          <p:nvPr/>
        </p:nvSpPr>
        <p:spPr>
          <a:xfrm>
            <a:off x="767209" y="3077113"/>
            <a:ext cx="387300" cy="382200"/>
          </a:xfrm>
          <a:prstGeom prst="foldedCorner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key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.json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15" name="Google Shape;315;p39"/>
          <p:cNvSpPr txBox="1"/>
          <p:nvPr/>
        </p:nvSpPr>
        <p:spPr>
          <a:xfrm>
            <a:off x="304050" y="3474650"/>
            <a:ext cx="1017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Key:西友 森裕亮さん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西友 小峰大さん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へ共有済み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16" name="Google Shape;316;p39"/>
          <p:cNvCxnSpPr/>
          <p:nvPr/>
        </p:nvCxnSpPr>
        <p:spPr>
          <a:xfrm>
            <a:off x="1536214" y="3549925"/>
            <a:ext cx="215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7" name="Google Shape;317;p39"/>
          <p:cNvSpPr txBox="1"/>
          <p:nvPr/>
        </p:nvSpPr>
        <p:spPr>
          <a:xfrm rot="-5400000">
            <a:off x="1053714" y="4127400"/>
            <a:ext cx="13410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000" spcFirstLastPara="1" rIns="18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dev環境は</a:t>
            </a:r>
            <a:endParaRPr sz="8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多少自由に付与してもOK</a:t>
            </a:r>
            <a:endParaRPr sz="8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18" name="Google Shape;318;p39"/>
          <p:cNvSpPr/>
          <p:nvPr/>
        </p:nvSpPr>
        <p:spPr>
          <a:xfrm>
            <a:off x="3973102" y="991200"/>
            <a:ext cx="1017000" cy="82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トライアル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各業務SYS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19" name="Google Shape;319;p39"/>
          <p:cNvSpPr/>
          <p:nvPr/>
        </p:nvSpPr>
        <p:spPr>
          <a:xfrm>
            <a:off x="3490110" y="1007450"/>
            <a:ext cx="440400" cy="38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9"/>
          <p:cNvSpPr/>
          <p:nvPr/>
        </p:nvSpPr>
        <p:spPr>
          <a:xfrm rot="10800000">
            <a:off x="3490110" y="1421950"/>
            <a:ext cx="440400" cy="38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9"/>
          <p:cNvSpPr txBox="1"/>
          <p:nvPr/>
        </p:nvSpPr>
        <p:spPr>
          <a:xfrm>
            <a:off x="3973100" y="2126825"/>
            <a:ext cx="1017000" cy="11316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ｻｰﾋﾞｽｱｶｳﾝﾄは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業務ｼｽﾃﾑ毎に異なる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22" name="Google Shape;322;p39"/>
          <p:cNvCxnSpPr>
            <a:stCxn id="321" idx="0"/>
            <a:endCxn id="318" idx="2"/>
          </p:cNvCxnSpPr>
          <p:nvPr/>
        </p:nvCxnSpPr>
        <p:spPr>
          <a:xfrm rot="10800000">
            <a:off x="4481600" y="1820525"/>
            <a:ext cx="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3" name="Google Shape;323;p39"/>
          <p:cNvSpPr/>
          <p:nvPr/>
        </p:nvSpPr>
        <p:spPr>
          <a:xfrm>
            <a:off x="4436259" y="3077113"/>
            <a:ext cx="387300" cy="382200"/>
          </a:xfrm>
          <a:prstGeom prst="foldedCorner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key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.json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24" name="Google Shape;324;p39"/>
          <p:cNvSpPr txBox="1"/>
          <p:nvPr/>
        </p:nvSpPr>
        <p:spPr>
          <a:xfrm>
            <a:off x="45175" y="3946575"/>
            <a:ext cx="1491000" cy="11316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251202以降</a:t>
            </a: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ｻｰﾋﾞｽｱｶｳﾝﾄ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３つに分割、ﾊﾞｹｯﾄ毎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使い分ける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</a:t>
            </a: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seiyu-datamanagement-</a:t>
            </a:r>
            <a:r>
              <a:rPr lang="ja" sz="7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dev</a:t>
            </a: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@</a:t>
            </a: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～</a:t>
            </a:r>
            <a:endParaRPr sz="7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seiyu-datamanagement-</a:t>
            </a:r>
            <a:r>
              <a:rPr lang="ja" sz="7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stg</a:t>
            </a: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@～</a:t>
            </a:r>
            <a:endParaRPr sz="7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seiyu-datamanagement-</a:t>
            </a:r>
            <a:r>
              <a:rPr lang="ja" sz="7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prod</a:t>
            </a: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@～</a:t>
            </a:r>
            <a:endParaRPr sz="7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25" name="Google Shape;325;p39"/>
          <p:cNvCxnSpPr>
            <a:stCxn id="312" idx="1"/>
          </p:cNvCxnSpPr>
          <p:nvPr/>
        </p:nvCxnSpPr>
        <p:spPr>
          <a:xfrm flipH="1">
            <a:off x="150750" y="2692625"/>
            <a:ext cx="153300" cy="1344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p39"/>
          <p:cNvSpPr txBox="1"/>
          <p:nvPr/>
        </p:nvSpPr>
        <p:spPr>
          <a:xfrm>
            <a:off x="5062625" y="272075"/>
            <a:ext cx="3982200" cy="1149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ＰＪ全体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0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オーナー</a:t>
            </a: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権限を以下の３名が持っている</a:t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末松(データ管理部)</a:t>
            </a:r>
            <a:endParaRPr sz="8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松尾(データマネジメント部)</a:t>
            </a:r>
            <a:endParaRPr sz="8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鈴木(基盤システム部 GCP SRE)</a:t>
            </a:r>
            <a:endParaRPr sz="8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0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ストレージ バケット閲覧者</a:t>
            </a:r>
            <a:r>
              <a:rPr lang="ja" sz="1000">
                <a:solidFill>
                  <a:srgbClr val="5F6368"/>
                </a:solidFill>
                <a:latin typeface="Kosugi Maru"/>
                <a:ea typeface="Kosugi Maru"/>
                <a:cs typeface="Kosugi Maru"/>
                <a:sym typeface="Kosugi Maru"/>
              </a:rPr>
              <a:t>権限をdata-spiderの仕様上付与</a:t>
            </a:r>
            <a:br>
              <a:rPr lang="ja" sz="950">
                <a:solidFill>
                  <a:srgbClr val="5F6368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r>
              <a:rPr lang="ja" sz="800">
                <a:solidFill>
                  <a:srgbClr val="5F6368"/>
                </a:solidFill>
                <a:latin typeface="Kosugi Maru"/>
                <a:ea typeface="Kosugi Maru"/>
                <a:cs typeface="Kosugi Maru"/>
                <a:sym typeface="Kosugi Maru"/>
              </a:rPr>
              <a:t>　　</a:t>
            </a: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data-spider用のサービスアカウント３つ(dev,stg,prod)</a:t>
            </a:r>
            <a:endParaRPr sz="8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27" name="Google Shape;327;p39"/>
          <p:cNvSpPr txBox="1"/>
          <p:nvPr/>
        </p:nvSpPr>
        <p:spPr>
          <a:xfrm>
            <a:off x="5062625" y="1681025"/>
            <a:ext cx="3982200" cy="14823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バケット単位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0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Storageオブジェクト管理者</a:t>
            </a: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権限を以下に設定</a:t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800">
                <a:solidFill>
                  <a:srgbClr val="5F6368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800">
                <a:solidFill>
                  <a:srgbClr val="5F6368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800">
                <a:solidFill>
                  <a:srgbClr val="5F6368"/>
                </a:solidFill>
                <a:latin typeface="Kosugi Maru"/>
                <a:ea typeface="Kosugi Maru"/>
                <a:cs typeface="Kosugi Maru"/>
                <a:sym typeface="Kosugi Maru"/>
              </a:rPr>
              <a:t>西友側 </a:t>
            </a: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data-spider用のサービスアカウント３つ(dev,stg,prod)</a:t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</a:t>
            </a:r>
            <a:r>
              <a:rPr lang="ja" sz="1000" u="sng">
                <a:solidFill>
                  <a:schemeClr val="hlink"/>
                </a:solidFill>
                <a:latin typeface="Kosugi Maru"/>
                <a:ea typeface="Kosugi Maru"/>
                <a:cs typeface="Kosugi Maru"/>
                <a:sym typeface="Kosugi Maru"/>
                <a:hlinkClick r:id="rId3"/>
              </a:rPr>
              <a:t>データ連携管理者用グループ</a:t>
            </a:r>
            <a:endParaRPr sz="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10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バケット読取</a:t>
            </a: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権限は必要に応じて運用担当に付与する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28" name="Google Shape;328;p39"/>
          <p:cNvSpPr/>
          <p:nvPr/>
        </p:nvSpPr>
        <p:spPr>
          <a:xfrm rot="10800000">
            <a:off x="5170093" y="1476950"/>
            <a:ext cx="1066800" cy="1491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29" name="Google Shape;329;p39"/>
          <p:cNvSpPr txBox="1"/>
          <p:nvPr/>
        </p:nvSpPr>
        <p:spPr>
          <a:xfrm>
            <a:off x="6271728" y="1490000"/>
            <a:ext cx="129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権限は上位より継承される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30" name="Google Shape;330;p39"/>
          <p:cNvSpPr/>
          <p:nvPr/>
        </p:nvSpPr>
        <p:spPr>
          <a:xfrm rot="10800000">
            <a:off x="5170093" y="3163300"/>
            <a:ext cx="1066800" cy="1491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31" name="Google Shape;331;p39"/>
          <p:cNvSpPr txBox="1"/>
          <p:nvPr/>
        </p:nvSpPr>
        <p:spPr>
          <a:xfrm>
            <a:off x="6271728" y="3176350"/>
            <a:ext cx="129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権限は上位より継承される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32" name="Google Shape;332;p39"/>
          <p:cNvSpPr txBox="1"/>
          <p:nvPr/>
        </p:nvSpPr>
        <p:spPr>
          <a:xfrm>
            <a:off x="5062625" y="3312400"/>
            <a:ext cx="3982200" cy="1205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フォルダ単位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1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ストレージ フォルダ管理者</a:t>
            </a: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権限を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インターフェース管理台帳の Owner情報を元に付与する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1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Storageオブジェクト管理者</a:t>
            </a: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権限を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トライアル側 業務SYSのｻｰﾋﾞｽｱｶｳﾝﾄに付与する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11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閲覧者</a:t>
            </a: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権限は必要に応じて運用担当に付与する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33" name="Google Shape;333;p39"/>
          <p:cNvSpPr txBox="1"/>
          <p:nvPr/>
        </p:nvSpPr>
        <p:spPr>
          <a:xfrm>
            <a:off x="5067550" y="4517500"/>
            <a:ext cx="3982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凄くざっくりまとめると</a:t>
            </a:r>
            <a:endParaRPr sz="1000">
              <a:solidFill>
                <a:srgbClr val="0000FF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data-spiderは全データに自由なアクセスがあるけど</a:t>
            </a:r>
            <a:endParaRPr sz="1000">
              <a:solidFill>
                <a:srgbClr val="0000FF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そのほかはフォルダ単位で必要な分だけ設定する</a:t>
            </a:r>
            <a:endParaRPr sz="1000">
              <a:solidFill>
                <a:srgbClr val="0000FF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34" name="Google Shape;334;p39"/>
          <p:cNvSpPr/>
          <p:nvPr/>
        </p:nvSpPr>
        <p:spPr>
          <a:xfrm>
            <a:off x="687575" y="272075"/>
            <a:ext cx="1190100" cy="306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latin typeface="BIZ UDPGothic"/>
                <a:ea typeface="BIZ UDPGothic"/>
                <a:cs typeface="BIZ UDPGothic"/>
                <a:sym typeface="BIZ UDPGothic"/>
              </a:rPr>
              <a:t>GCP : seiyu-trial</a:t>
            </a:r>
            <a:endParaRPr sz="900"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latin typeface="BIZ UDPGothic"/>
                <a:ea typeface="BIZ UDPGothic"/>
                <a:cs typeface="BIZ UDPGothic"/>
                <a:sym typeface="BIZ UDPGothic"/>
              </a:rPr>
              <a:t>data-exchange</a:t>
            </a:r>
            <a:endParaRPr sz="5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35" name="Google Shape;335;p39"/>
          <p:cNvSpPr txBox="1"/>
          <p:nvPr/>
        </p:nvSpPr>
        <p:spPr>
          <a:xfrm>
            <a:off x="3443675" y="4014450"/>
            <a:ext cx="15465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</a:rPr>
              <a:t>西友田村さん</a:t>
            </a:r>
            <a:br>
              <a:rPr lang="ja" sz="700">
                <a:solidFill>
                  <a:schemeClr val="dk2"/>
                </a:solidFill>
              </a:rPr>
            </a:br>
            <a:r>
              <a:rPr lang="ja" sz="700">
                <a:solidFill>
                  <a:schemeClr val="dk2"/>
                </a:solidFill>
              </a:rPr>
              <a:t>tamura_yuji@trial-net.co.jp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336" name="Google Shape;336;p39"/>
          <p:cNvSpPr txBox="1"/>
          <p:nvPr/>
        </p:nvSpPr>
        <p:spPr>
          <a:xfrm>
            <a:off x="3510400" y="608875"/>
            <a:ext cx="1488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0000FF"/>
                </a:solidFill>
              </a:rPr>
              <a:t>読み込みはグループアドレスでも可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337" name="Google Shape;337;p39"/>
          <p:cNvSpPr txBox="1"/>
          <p:nvPr/>
        </p:nvSpPr>
        <p:spPr>
          <a:xfrm>
            <a:off x="3510400" y="272075"/>
            <a:ext cx="1488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書き込みはサービスアカウントでのみ行う</a:t>
            </a:r>
            <a:endParaRPr sz="1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1935368" y="272075"/>
            <a:ext cx="1507500" cy="4761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ﾃﾞｰﾀ共有用PJ全体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3" name="Google Shape;343;p40"/>
          <p:cNvSpPr/>
          <p:nvPr/>
        </p:nvSpPr>
        <p:spPr>
          <a:xfrm>
            <a:off x="1993907" y="628429"/>
            <a:ext cx="1395300" cy="13563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バケット 本番(prod)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4" name="Google Shape;344;p40"/>
          <p:cNvSpPr/>
          <p:nvPr/>
        </p:nvSpPr>
        <p:spPr>
          <a:xfrm>
            <a:off x="2042161" y="991200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フォルダ１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5" name="Google Shape;345;p40"/>
          <p:cNvSpPr/>
          <p:nvPr/>
        </p:nvSpPr>
        <p:spPr>
          <a:xfrm>
            <a:off x="2042161" y="1308625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フォルダ２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6" name="Google Shape;346;p40"/>
          <p:cNvSpPr/>
          <p:nvPr/>
        </p:nvSpPr>
        <p:spPr>
          <a:xfrm>
            <a:off x="2042161" y="1626050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フォルダ３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7" name="Google Shape;347;p40"/>
          <p:cNvSpPr/>
          <p:nvPr/>
        </p:nvSpPr>
        <p:spPr>
          <a:xfrm>
            <a:off x="1993907" y="2118354"/>
            <a:ext cx="1395300" cy="13563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バケット 検証(stg)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8" name="Google Shape;348;p40"/>
          <p:cNvSpPr/>
          <p:nvPr/>
        </p:nvSpPr>
        <p:spPr>
          <a:xfrm>
            <a:off x="2042161" y="2481125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フォルダ１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9" name="Google Shape;349;p40"/>
          <p:cNvSpPr/>
          <p:nvPr/>
        </p:nvSpPr>
        <p:spPr>
          <a:xfrm>
            <a:off x="2042161" y="2798550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フォルダ２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50" name="Google Shape;350;p40"/>
          <p:cNvSpPr/>
          <p:nvPr/>
        </p:nvSpPr>
        <p:spPr>
          <a:xfrm>
            <a:off x="2042161" y="3115975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フォルダ３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51" name="Google Shape;351;p40"/>
          <p:cNvSpPr/>
          <p:nvPr/>
        </p:nvSpPr>
        <p:spPr>
          <a:xfrm>
            <a:off x="1993907" y="3608279"/>
            <a:ext cx="1395300" cy="13563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バケット 開発(dev)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52" name="Google Shape;352;p40"/>
          <p:cNvSpPr/>
          <p:nvPr/>
        </p:nvSpPr>
        <p:spPr>
          <a:xfrm>
            <a:off x="2042161" y="3971050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フォルダ１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53" name="Google Shape;353;p40"/>
          <p:cNvSpPr/>
          <p:nvPr/>
        </p:nvSpPr>
        <p:spPr>
          <a:xfrm>
            <a:off x="2042161" y="4288475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フォルダ２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54" name="Google Shape;354;p40"/>
          <p:cNvSpPr/>
          <p:nvPr/>
        </p:nvSpPr>
        <p:spPr>
          <a:xfrm>
            <a:off x="2042161" y="4605900"/>
            <a:ext cx="1293900" cy="278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フォルダ３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55" name="Google Shape;355;p40"/>
          <p:cNvSpPr/>
          <p:nvPr/>
        </p:nvSpPr>
        <p:spPr>
          <a:xfrm>
            <a:off x="304052" y="991200"/>
            <a:ext cx="1017000" cy="82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西友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data-spider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56" name="Google Shape;356;p40"/>
          <p:cNvSpPr/>
          <p:nvPr/>
        </p:nvSpPr>
        <p:spPr>
          <a:xfrm>
            <a:off x="1437275" y="1007450"/>
            <a:ext cx="440400" cy="38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0"/>
          <p:cNvSpPr/>
          <p:nvPr/>
        </p:nvSpPr>
        <p:spPr>
          <a:xfrm rot="10800000">
            <a:off x="1437275" y="1421950"/>
            <a:ext cx="440400" cy="38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0"/>
          <p:cNvSpPr txBox="1"/>
          <p:nvPr/>
        </p:nvSpPr>
        <p:spPr>
          <a:xfrm>
            <a:off x="304050" y="2126825"/>
            <a:ext cx="1017000" cy="11316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使用している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ｻｰﾋﾞｽｱｶｳﾝﾄは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seiyu-datamanagement@seiyu-trial-data-exchange.iam.gserviceaccount.com</a:t>
            </a:r>
            <a:endParaRPr sz="8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59" name="Google Shape;359;p40"/>
          <p:cNvCxnSpPr>
            <a:stCxn id="358" idx="0"/>
            <a:endCxn id="355" idx="2"/>
          </p:cNvCxnSpPr>
          <p:nvPr/>
        </p:nvCxnSpPr>
        <p:spPr>
          <a:xfrm rot="10800000">
            <a:off x="812550" y="1820525"/>
            <a:ext cx="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0" name="Google Shape;360;p40"/>
          <p:cNvSpPr/>
          <p:nvPr/>
        </p:nvSpPr>
        <p:spPr>
          <a:xfrm>
            <a:off x="767209" y="3077113"/>
            <a:ext cx="387300" cy="382200"/>
          </a:xfrm>
          <a:prstGeom prst="foldedCorner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key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.json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61" name="Google Shape;361;p40"/>
          <p:cNvSpPr txBox="1"/>
          <p:nvPr/>
        </p:nvSpPr>
        <p:spPr>
          <a:xfrm>
            <a:off x="304050" y="3474650"/>
            <a:ext cx="1017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Key:西友 森裕亮さん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西友 小峰大さん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へ共有済み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62" name="Google Shape;362;p40"/>
          <p:cNvCxnSpPr/>
          <p:nvPr/>
        </p:nvCxnSpPr>
        <p:spPr>
          <a:xfrm>
            <a:off x="1536214" y="3549925"/>
            <a:ext cx="215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3" name="Google Shape;363;p40"/>
          <p:cNvSpPr txBox="1"/>
          <p:nvPr/>
        </p:nvSpPr>
        <p:spPr>
          <a:xfrm rot="-5400000">
            <a:off x="1053714" y="4127400"/>
            <a:ext cx="13410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000" spcFirstLastPara="1" rIns="18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dev環境は</a:t>
            </a:r>
            <a:endParaRPr sz="8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多少自由に付与してもOK</a:t>
            </a:r>
            <a:endParaRPr sz="8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64" name="Google Shape;364;p40"/>
          <p:cNvSpPr/>
          <p:nvPr/>
        </p:nvSpPr>
        <p:spPr>
          <a:xfrm>
            <a:off x="3973102" y="991200"/>
            <a:ext cx="1017000" cy="82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トライアル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Kosugi Maru"/>
                <a:ea typeface="Kosugi Maru"/>
                <a:cs typeface="Kosugi Maru"/>
                <a:sym typeface="Kosugi Maru"/>
              </a:rPr>
              <a:t>各業務SYS</a:t>
            </a:r>
            <a:endParaRPr sz="1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65" name="Google Shape;365;p40"/>
          <p:cNvSpPr/>
          <p:nvPr/>
        </p:nvSpPr>
        <p:spPr>
          <a:xfrm>
            <a:off x="3490110" y="1007450"/>
            <a:ext cx="440400" cy="38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0"/>
          <p:cNvSpPr/>
          <p:nvPr/>
        </p:nvSpPr>
        <p:spPr>
          <a:xfrm rot="10800000">
            <a:off x="3490110" y="1421950"/>
            <a:ext cx="440400" cy="38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0"/>
          <p:cNvSpPr txBox="1"/>
          <p:nvPr/>
        </p:nvSpPr>
        <p:spPr>
          <a:xfrm>
            <a:off x="3973100" y="2126825"/>
            <a:ext cx="1017000" cy="11316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ｻｰﾋﾞｽｱｶｳﾝﾄは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業務ｼｽﾃﾑ毎に異なる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68" name="Google Shape;368;p40"/>
          <p:cNvCxnSpPr>
            <a:stCxn id="367" idx="0"/>
            <a:endCxn id="364" idx="2"/>
          </p:cNvCxnSpPr>
          <p:nvPr/>
        </p:nvCxnSpPr>
        <p:spPr>
          <a:xfrm rot="10800000">
            <a:off x="4481600" y="1820525"/>
            <a:ext cx="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9" name="Google Shape;369;p40"/>
          <p:cNvSpPr/>
          <p:nvPr/>
        </p:nvSpPr>
        <p:spPr>
          <a:xfrm>
            <a:off x="4436259" y="3077113"/>
            <a:ext cx="387300" cy="382200"/>
          </a:xfrm>
          <a:prstGeom prst="foldedCorner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key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latin typeface="Kosugi Maru"/>
                <a:ea typeface="Kosugi Maru"/>
                <a:cs typeface="Kosugi Maru"/>
                <a:sym typeface="Kosugi Maru"/>
              </a:rPr>
              <a:t>.json</a:t>
            </a:r>
            <a:endParaRPr sz="8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70" name="Google Shape;370;p40"/>
          <p:cNvSpPr txBox="1"/>
          <p:nvPr/>
        </p:nvSpPr>
        <p:spPr>
          <a:xfrm>
            <a:off x="45175" y="3946575"/>
            <a:ext cx="1491000" cy="11316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251202以降ｻｰﾋﾞｽｱｶｳﾝﾄ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３つに分割、ﾊﾞｹｯﾄ毎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使い分ける</a:t>
            </a:r>
            <a:endParaRPr sz="1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seiyu-datamanagement-</a:t>
            </a:r>
            <a:r>
              <a:rPr lang="ja" sz="7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dev</a:t>
            </a: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@～</a:t>
            </a:r>
            <a:endParaRPr sz="7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seiyu-datamanagement-</a:t>
            </a:r>
            <a:r>
              <a:rPr lang="ja" sz="7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stg</a:t>
            </a: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@～</a:t>
            </a:r>
            <a:endParaRPr sz="7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seiyu-datamanagement-</a:t>
            </a:r>
            <a:r>
              <a:rPr lang="ja" sz="7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prod</a:t>
            </a:r>
            <a:r>
              <a:rPr lang="ja" sz="7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@～</a:t>
            </a:r>
            <a:endParaRPr sz="7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71" name="Google Shape;371;p40"/>
          <p:cNvCxnSpPr>
            <a:stCxn id="358" idx="1"/>
          </p:cNvCxnSpPr>
          <p:nvPr/>
        </p:nvCxnSpPr>
        <p:spPr>
          <a:xfrm flipH="1">
            <a:off x="150750" y="2692625"/>
            <a:ext cx="153300" cy="1344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2" name="Google Shape;372;p40"/>
          <p:cNvSpPr txBox="1"/>
          <p:nvPr/>
        </p:nvSpPr>
        <p:spPr>
          <a:xfrm>
            <a:off x="0" y="0"/>
            <a:ext cx="4449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251126_データ共有ハブ(GCS)の権限設定の</a:t>
            </a: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惣菜部分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73" name="Google Shape;373;p40"/>
          <p:cNvSpPr/>
          <p:nvPr/>
        </p:nvSpPr>
        <p:spPr>
          <a:xfrm>
            <a:off x="3639524" y="2249538"/>
            <a:ext cx="984600" cy="3822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劉征</a:t>
            </a:r>
            <a:endParaRPr/>
          </a:p>
        </p:txBody>
      </p:sp>
      <p:sp>
        <p:nvSpPr>
          <p:cNvPr id="374" name="Google Shape;374;p40"/>
          <p:cNvSpPr/>
          <p:nvPr/>
        </p:nvSpPr>
        <p:spPr>
          <a:xfrm>
            <a:off x="3977725" y="1173000"/>
            <a:ext cx="984600" cy="4656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生鮮発注SYS</a:t>
            </a:r>
            <a:endParaRPr/>
          </a:p>
        </p:txBody>
      </p:sp>
      <p:cxnSp>
        <p:nvCxnSpPr>
          <p:cNvPr id="375" name="Google Shape;375;p40"/>
          <p:cNvCxnSpPr>
            <a:stCxn id="373" idx="1"/>
          </p:cNvCxnSpPr>
          <p:nvPr/>
        </p:nvCxnSpPr>
        <p:spPr>
          <a:xfrm flipH="1">
            <a:off x="3147224" y="2440638"/>
            <a:ext cx="492300" cy="18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40"/>
          <p:cNvCxnSpPr>
            <a:stCxn id="373" idx="1"/>
          </p:cNvCxnSpPr>
          <p:nvPr/>
        </p:nvCxnSpPr>
        <p:spPr>
          <a:xfrm flipH="1">
            <a:off x="3147224" y="2440638"/>
            <a:ext cx="492300" cy="52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40"/>
          <p:cNvCxnSpPr>
            <a:stCxn id="373" idx="1"/>
          </p:cNvCxnSpPr>
          <p:nvPr/>
        </p:nvCxnSpPr>
        <p:spPr>
          <a:xfrm flipH="1">
            <a:off x="3147224" y="2440638"/>
            <a:ext cx="492300" cy="86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78" name="Google Shape;378;p40"/>
          <p:cNvSpPr/>
          <p:nvPr/>
        </p:nvSpPr>
        <p:spPr>
          <a:xfrm>
            <a:off x="2952899" y="2545775"/>
            <a:ext cx="149100" cy="149100"/>
          </a:xfrm>
          <a:prstGeom prst="ellipse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0"/>
          <p:cNvSpPr/>
          <p:nvPr/>
        </p:nvSpPr>
        <p:spPr>
          <a:xfrm>
            <a:off x="2952899" y="2863200"/>
            <a:ext cx="149100" cy="149100"/>
          </a:xfrm>
          <a:prstGeom prst="ellipse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0"/>
          <p:cNvSpPr/>
          <p:nvPr/>
        </p:nvSpPr>
        <p:spPr>
          <a:xfrm>
            <a:off x="2888249" y="3110010"/>
            <a:ext cx="278400" cy="278400"/>
          </a:xfrm>
          <a:prstGeom prst="mathMultiply">
            <a:avLst>
              <a:gd fmla="val 4661" name="adj1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0"/>
          <p:cNvSpPr/>
          <p:nvPr/>
        </p:nvSpPr>
        <p:spPr>
          <a:xfrm>
            <a:off x="321386" y="1173000"/>
            <a:ext cx="984600" cy="4656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若菜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SYS</a:t>
            </a:r>
            <a:endParaRPr/>
          </a:p>
        </p:txBody>
      </p:sp>
      <p:sp>
        <p:nvSpPr>
          <p:cNvPr id="382" name="Google Shape;382;p40"/>
          <p:cNvSpPr txBox="1"/>
          <p:nvPr/>
        </p:nvSpPr>
        <p:spPr>
          <a:xfrm>
            <a:off x="5062625" y="272075"/>
            <a:ext cx="3982200" cy="1149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ＰＪ全体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0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オーナー</a:t>
            </a: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権限を以下の３名が持っている</a:t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末松(データ管理部)</a:t>
            </a:r>
            <a:endParaRPr sz="8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松尾(データマネジメント部)</a:t>
            </a:r>
            <a:endParaRPr sz="8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鈴木(基盤システム部 GCP SRE)</a:t>
            </a:r>
            <a:endParaRPr sz="8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0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ストレージ バケット閲覧者</a:t>
            </a:r>
            <a:r>
              <a:rPr lang="ja" sz="1000">
                <a:solidFill>
                  <a:srgbClr val="5F6368"/>
                </a:solidFill>
                <a:latin typeface="Kosugi Maru"/>
                <a:ea typeface="Kosugi Maru"/>
                <a:cs typeface="Kosugi Maru"/>
                <a:sym typeface="Kosugi Maru"/>
              </a:rPr>
              <a:t>権限をdata-spiderの仕様上付与</a:t>
            </a:r>
            <a:br>
              <a:rPr lang="ja" sz="950">
                <a:solidFill>
                  <a:srgbClr val="5F6368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r>
              <a:rPr lang="ja" sz="800">
                <a:solidFill>
                  <a:srgbClr val="5F6368"/>
                </a:solidFill>
                <a:latin typeface="Kosugi Maru"/>
                <a:ea typeface="Kosugi Maru"/>
                <a:cs typeface="Kosugi Maru"/>
                <a:sym typeface="Kosugi Maru"/>
              </a:rPr>
              <a:t>　　</a:t>
            </a: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data-spider用のサービスアカウント</a:t>
            </a: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３つ</a:t>
            </a: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(dev,stg,prod)</a:t>
            </a:r>
            <a:endParaRPr sz="8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83" name="Google Shape;383;p40"/>
          <p:cNvSpPr txBox="1"/>
          <p:nvPr/>
        </p:nvSpPr>
        <p:spPr>
          <a:xfrm>
            <a:off x="5062625" y="1681025"/>
            <a:ext cx="3982200" cy="14823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バケット単位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0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Storageオブジェクト管理者</a:t>
            </a: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権限を以下に設定</a:t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800">
                <a:solidFill>
                  <a:srgbClr val="5F6368"/>
                </a:solidFill>
                <a:latin typeface="Kosugi Maru"/>
                <a:ea typeface="Kosugi Maru"/>
                <a:cs typeface="Kosugi Maru"/>
                <a:sym typeface="Kosugi Maru"/>
              </a:rPr>
              <a:t>　　</a:t>
            </a:r>
            <a:r>
              <a:rPr lang="ja" sz="800">
                <a:solidFill>
                  <a:srgbClr val="5F6368"/>
                </a:solidFill>
                <a:latin typeface="Kosugi Maru"/>
                <a:ea typeface="Kosugi Maru"/>
                <a:cs typeface="Kosugi Maru"/>
                <a:sym typeface="Kosugi Maru"/>
              </a:rPr>
              <a:t>西友側 </a:t>
            </a: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data-spider用のサービスアカウント</a:t>
            </a: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３つ</a:t>
            </a:r>
            <a:r>
              <a:rPr lang="ja" sz="8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(dev,stg,prod)</a:t>
            </a:r>
            <a:endParaRPr sz="10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</a:t>
            </a:r>
            <a:r>
              <a:rPr lang="ja" sz="1000" u="sng">
                <a:solidFill>
                  <a:schemeClr val="hlink"/>
                </a:solidFill>
                <a:latin typeface="Kosugi Maru"/>
                <a:ea typeface="Kosugi Maru"/>
                <a:cs typeface="Kosugi Maru"/>
                <a:sym typeface="Kosugi Maru"/>
                <a:hlinkClick r:id="rId3"/>
              </a:rPr>
              <a:t>データ連携管理者用グループ</a:t>
            </a:r>
            <a:endParaRPr sz="5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10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バケット読取</a:t>
            </a:r>
            <a:r>
              <a:rPr lang="ja" sz="10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権限は必要に応じて運用担当に付与する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84" name="Google Shape;384;p40"/>
          <p:cNvSpPr/>
          <p:nvPr/>
        </p:nvSpPr>
        <p:spPr>
          <a:xfrm rot="10800000">
            <a:off x="5170093" y="1476950"/>
            <a:ext cx="1066800" cy="1491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85" name="Google Shape;385;p40"/>
          <p:cNvSpPr txBox="1"/>
          <p:nvPr/>
        </p:nvSpPr>
        <p:spPr>
          <a:xfrm>
            <a:off x="6271728" y="1490000"/>
            <a:ext cx="129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権限は上位より継承される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86" name="Google Shape;386;p40"/>
          <p:cNvSpPr/>
          <p:nvPr/>
        </p:nvSpPr>
        <p:spPr>
          <a:xfrm rot="10800000">
            <a:off x="5170093" y="3163300"/>
            <a:ext cx="1066800" cy="1491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87" name="Google Shape;387;p40"/>
          <p:cNvSpPr txBox="1"/>
          <p:nvPr/>
        </p:nvSpPr>
        <p:spPr>
          <a:xfrm>
            <a:off x="6271728" y="3176350"/>
            <a:ext cx="129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権限は上位より継承される</a:t>
            </a:r>
            <a:endParaRPr sz="7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88" name="Google Shape;388;p40"/>
          <p:cNvSpPr txBox="1"/>
          <p:nvPr/>
        </p:nvSpPr>
        <p:spPr>
          <a:xfrm>
            <a:off x="5062625" y="3312400"/>
            <a:ext cx="3982200" cy="1205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フォルダ単位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1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ストレージ フォルダ管理者</a:t>
            </a: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権限を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インターフェース管理台帳の Owner情報を元に付与する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1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Storageオブジェクト管理者</a:t>
            </a: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権限を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　</a:t>
            </a: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トライアル側 </a:t>
            </a: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業務SYSの</a:t>
            </a: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ｻｰﾋﾞｽｱｶｳﾝﾄ</a:t>
            </a: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に付与する</a:t>
            </a:r>
            <a:endParaRPr sz="11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11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閲覧者</a:t>
            </a:r>
            <a:r>
              <a:rPr lang="ja" sz="11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権限は必要に応じて運用担当に付与する</a:t>
            </a:r>
            <a:endParaRPr sz="9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89" name="Google Shape;389;p40"/>
          <p:cNvSpPr txBox="1"/>
          <p:nvPr/>
        </p:nvSpPr>
        <p:spPr>
          <a:xfrm>
            <a:off x="5067550" y="4517500"/>
            <a:ext cx="3982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凄くざっくりまとめると</a:t>
            </a:r>
            <a:endParaRPr sz="1000">
              <a:solidFill>
                <a:srgbClr val="0000FF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data-spiderは全データに自由なアクセスがあるけど</a:t>
            </a:r>
            <a:endParaRPr sz="1000">
              <a:solidFill>
                <a:srgbClr val="0000FF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そのほかはフォルダ単位で必要な分だけ設定する</a:t>
            </a:r>
            <a:endParaRPr sz="1000">
              <a:solidFill>
                <a:srgbClr val="0000FF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90" name="Google Shape;390;p40"/>
          <p:cNvSpPr/>
          <p:nvPr/>
        </p:nvSpPr>
        <p:spPr>
          <a:xfrm>
            <a:off x="687575" y="272075"/>
            <a:ext cx="1190100" cy="306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latin typeface="BIZ UDPGothic"/>
                <a:ea typeface="BIZ UDPGothic"/>
                <a:cs typeface="BIZ UDPGothic"/>
                <a:sym typeface="BIZ UDPGothic"/>
              </a:rPr>
              <a:t>GCP : seiyu-trial</a:t>
            </a:r>
            <a:endParaRPr sz="900"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latin typeface="BIZ UDPGothic"/>
                <a:ea typeface="BIZ UDPGothic"/>
                <a:cs typeface="BIZ UDPGothic"/>
                <a:sym typeface="BIZ UDPGothic"/>
              </a:rPr>
              <a:t>data-exchange</a:t>
            </a:r>
            <a:endParaRPr sz="5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91" name="Google Shape;391;p40"/>
          <p:cNvSpPr txBox="1"/>
          <p:nvPr/>
        </p:nvSpPr>
        <p:spPr>
          <a:xfrm>
            <a:off x="3443675" y="4014450"/>
            <a:ext cx="15465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</a:rPr>
              <a:t>西友田村さん</a:t>
            </a:r>
            <a:br>
              <a:rPr lang="ja" sz="700">
                <a:solidFill>
                  <a:schemeClr val="dk2"/>
                </a:solidFill>
              </a:rPr>
            </a:br>
            <a:r>
              <a:rPr lang="ja" sz="700">
                <a:solidFill>
                  <a:schemeClr val="dk2"/>
                </a:solidFill>
              </a:rPr>
              <a:t>tamura_yuji@trial-net.co.jp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392" name="Google Shape;392;p40"/>
          <p:cNvSpPr txBox="1"/>
          <p:nvPr/>
        </p:nvSpPr>
        <p:spPr>
          <a:xfrm>
            <a:off x="3510400" y="608875"/>
            <a:ext cx="1488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0000FF"/>
                </a:solidFill>
              </a:rPr>
              <a:t>読み込みはグループアドレスでも可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393" name="Google Shape;393;p40"/>
          <p:cNvSpPr txBox="1"/>
          <p:nvPr/>
        </p:nvSpPr>
        <p:spPr>
          <a:xfrm>
            <a:off x="3510400" y="272075"/>
            <a:ext cx="1488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書き込みはサービスアカウントでのみ行う</a:t>
            </a:r>
            <a:endParaRPr sz="1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1"/>
          <p:cNvSpPr txBox="1"/>
          <p:nvPr/>
        </p:nvSpPr>
        <p:spPr>
          <a:xfrm>
            <a:off x="676800" y="505800"/>
            <a:ext cx="8403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33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TR社内協議：決めたいこと３点</a:t>
            </a:r>
            <a:endParaRPr sz="23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99" name="Google Shape;399;p41"/>
          <p:cNvSpPr txBox="1"/>
          <p:nvPr/>
        </p:nvSpPr>
        <p:spPr>
          <a:xfrm>
            <a:off x="1179300" y="1948350"/>
            <a:ext cx="7900500" cy="29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3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①西友とトライアルのデータ連携ハブ設計</a:t>
            </a:r>
            <a:endParaRPr sz="33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3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②バケット・フォルダ生成ルール</a:t>
            </a:r>
            <a:endParaRPr sz="33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3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③運用部門(業務データと分析データ)</a:t>
            </a:r>
            <a:endParaRPr sz="33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00" name="Google Shape;400;p41"/>
          <p:cNvSpPr txBox="1"/>
          <p:nvPr/>
        </p:nvSpPr>
        <p:spPr>
          <a:xfrm>
            <a:off x="6162235" y="4053719"/>
            <a:ext cx="17310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↑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ﾃﾞｰﾀﾏﾈｼﾞﾒﾝﾄ部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1" name="Google Shape;401;p41"/>
          <p:cNvSpPr txBox="1"/>
          <p:nvPr/>
        </p:nvSpPr>
        <p:spPr>
          <a:xfrm>
            <a:off x="3759869" y="4053719"/>
            <a:ext cx="17310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↑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ｼｽﾃﾑ管理</a:t>
            </a:r>
            <a:r>
              <a:rPr lang="ja" sz="1800">
                <a:solidFill>
                  <a:schemeClr val="dk2"/>
                </a:solidFill>
              </a:rPr>
              <a:t>部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2" name="Google Shape;402;p41"/>
          <p:cNvSpPr txBox="1"/>
          <p:nvPr/>
        </p:nvSpPr>
        <p:spPr>
          <a:xfrm>
            <a:off x="32550" y="32550"/>
            <a:ext cx="2597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25/10/</a:t>
            </a:r>
            <a:r>
              <a:rPr lang="ja" sz="1800">
                <a:solidFill>
                  <a:schemeClr val="dk2"/>
                </a:solidFill>
              </a:rPr>
              <a:t>22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/>
          <p:cNvSpPr txBox="1"/>
          <p:nvPr/>
        </p:nvSpPr>
        <p:spPr>
          <a:xfrm>
            <a:off x="0" y="0"/>
            <a:ext cx="4449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251014_Memo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08" name="Google Shape;408;p42"/>
          <p:cNvSpPr/>
          <p:nvPr/>
        </p:nvSpPr>
        <p:spPr>
          <a:xfrm>
            <a:off x="132000" y="516975"/>
            <a:ext cx="8880000" cy="2007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案①：TRIAL グループ内のGCP環境に、業務データ連携用ＰＪを立ち上げて共有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09" name="Google Shape;409;p42"/>
          <p:cNvSpPr/>
          <p:nvPr/>
        </p:nvSpPr>
        <p:spPr>
          <a:xfrm>
            <a:off x="132000" y="2556634"/>
            <a:ext cx="8880000" cy="19416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案②：各業務ごとに、直接データ連携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10" name="Google Shape;410;p42"/>
          <p:cNvSpPr/>
          <p:nvPr/>
        </p:nvSpPr>
        <p:spPr>
          <a:xfrm>
            <a:off x="2094725" y="1421916"/>
            <a:ext cx="1569900" cy="4926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GCP : seiyu-trial</a:t>
            </a:r>
            <a:endParaRPr sz="1100"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data-</a:t>
            </a: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exchange</a:t>
            </a:r>
            <a:endParaRPr sz="7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11" name="Google Shape;411;p42"/>
          <p:cNvSpPr/>
          <p:nvPr/>
        </p:nvSpPr>
        <p:spPr>
          <a:xfrm>
            <a:off x="263075" y="1392674"/>
            <a:ext cx="1078500" cy="5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西友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data spider</a:t>
            </a:r>
            <a:endParaRPr/>
          </a:p>
        </p:txBody>
      </p:sp>
      <p:sp>
        <p:nvSpPr>
          <p:cNvPr id="412" name="Google Shape;412;p42"/>
          <p:cNvSpPr/>
          <p:nvPr/>
        </p:nvSpPr>
        <p:spPr>
          <a:xfrm>
            <a:off x="1383650" y="1463716"/>
            <a:ext cx="669000" cy="408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2"/>
          <p:cNvSpPr/>
          <p:nvPr/>
        </p:nvSpPr>
        <p:spPr>
          <a:xfrm>
            <a:off x="2094725" y="2976340"/>
            <a:ext cx="4750800" cy="26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GCP : seiyu-trial-fresh-order</a:t>
            </a:r>
            <a:r>
              <a:rPr lang="ja" sz="700">
                <a:latin typeface="BIZ UDPGothic"/>
                <a:ea typeface="BIZ UDPGothic"/>
                <a:cs typeface="BIZ UDPGothic"/>
                <a:sym typeface="BIZ UDPGothic"/>
              </a:rPr>
              <a:t>(仮)</a:t>
            </a:r>
            <a:endParaRPr sz="7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14" name="Google Shape;414;p42"/>
          <p:cNvSpPr/>
          <p:nvPr/>
        </p:nvSpPr>
        <p:spPr>
          <a:xfrm>
            <a:off x="263075" y="2960502"/>
            <a:ext cx="1078500" cy="2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西友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data spider</a:t>
            </a:r>
            <a:endParaRPr sz="1000"/>
          </a:p>
        </p:txBody>
      </p:sp>
      <p:sp>
        <p:nvSpPr>
          <p:cNvPr id="415" name="Google Shape;415;p42"/>
          <p:cNvSpPr/>
          <p:nvPr/>
        </p:nvSpPr>
        <p:spPr>
          <a:xfrm>
            <a:off x="1383650" y="2998957"/>
            <a:ext cx="669000" cy="221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2"/>
          <p:cNvSpPr/>
          <p:nvPr/>
        </p:nvSpPr>
        <p:spPr>
          <a:xfrm>
            <a:off x="6888500" y="2998957"/>
            <a:ext cx="669000" cy="221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2"/>
          <p:cNvSpPr/>
          <p:nvPr/>
        </p:nvSpPr>
        <p:spPr>
          <a:xfrm>
            <a:off x="7590925" y="2960500"/>
            <a:ext cx="1275000" cy="2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トライアル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生鮮</a:t>
            </a:r>
            <a:r>
              <a:rPr lang="ja" sz="1000"/>
              <a:t>システム</a:t>
            </a:r>
            <a:endParaRPr sz="1000"/>
          </a:p>
        </p:txBody>
      </p:sp>
      <p:sp>
        <p:nvSpPr>
          <p:cNvPr id="418" name="Google Shape;418;p42"/>
          <p:cNvSpPr/>
          <p:nvPr/>
        </p:nvSpPr>
        <p:spPr>
          <a:xfrm>
            <a:off x="2094725" y="3313347"/>
            <a:ext cx="4750800" cy="266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GCP : seiyu-trial-auto-order</a:t>
            </a:r>
            <a:r>
              <a:rPr lang="ja" sz="700">
                <a:latin typeface="BIZ UDPGothic"/>
                <a:ea typeface="BIZ UDPGothic"/>
                <a:cs typeface="BIZ UDPGothic"/>
                <a:sym typeface="BIZ UDPGothic"/>
              </a:rPr>
              <a:t>(仮)</a:t>
            </a:r>
            <a:endParaRPr sz="7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19" name="Google Shape;419;p42"/>
          <p:cNvSpPr/>
          <p:nvPr/>
        </p:nvSpPr>
        <p:spPr>
          <a:xfrm>
            <a:off x="263075" y="3297510"/>
            <a:ext cx="1078500" cy="2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西友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data spider</a:t>
            </a:r>
            <a:endParaRPr sz="1000"/>
          </a:p>
        </p:txBody>
      </p:sp>
      <p:sp>
        <p:nvSpPr>
          <p:cNvPr id="420" name="Google Shape;420;p42"/>
          <p:cNvSpPr/>
          <p:nvPr/>
        </p:nvSpPr>
        <p:spPr>
          <a:xfrm>
            <a:off x="1383650" y="3335964"/>
            <a:ext cx="669000" cy="221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2"/>
          <p:cNvSpPr/>
          <p:nvPr/>
        </p:nvSpPr>
        <p:spPr>
          <a:xfrm>
            <a:off x="6888500" y="3335964"/>
            <a:ext cx="669000" cy="221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2"/>
          <p:cNvSpPr/>
          <p:nvPr/>
        </p:nvSpPr>
        <p:spPr>
          <a:xfrm>
            <a:off x="7590925" y="3297508"/>
            <a:ext cx="1275000" cy="2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トライアル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自動発注</a:t>
            </a:r>
            <a:r>
              <a:rPr lang="ja" sz="1000"/>
              <a:t>システム</a:t>
            </a:r>
            <a:endParaRPr sz="1000"/>
          </a:p>
        </p:txBody>
      </p:sp>
      <p:sp>
        <p:nvSpPr>
          <p:cNvPr id="423" name="Google Shape;423;p42"/>
          <p:cNvSpPr/>
          <p:nvPr/>
        </p:nvSpPr>
        <p:spPr>
          <a:xfrm>
            <a:off x="2094725" y="3650353"/>
            <a:ext cx="4750800" cy="266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GCP : seiyu-</a:t>
            </a: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ｍｄｌｉｎｋ</a:t>
            </a: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-</a:t>
            </a: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data</a:t>
            </a:r>
            <a:r>
              <a:rPr lang="ja" sz="700">
                <a:latin typeface="BIZ UDPGothic"/>
                <a:ea typeface="BIZ UDPGothic"/>
                <a:cs typeface="BIZ UDPGothic"/>
                <a:sym typeface="BIZ UDPGothic"/>
              </a:rPr>
              <a:t>(仮)</a:t>
            </a:r>
            <a:endParaRPr sz="7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24" name="Google Shape;424;p42"/>
          <p:cNvSpPr/>
          <p:nvPr/>
        </p:nvSpPr>
        <p:spPr>
          <a:xfrm>
            <a:off x="263075" y="3634517"/>
            <a:ext cx="1078500" cy="2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西友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data spider</a:t>
            </a:r>
            <a:endParaRPr sz="1000"/>
          </a:p>
        </p:txBody>
      </p:sp>
      <p:sp>
        <p:nvSpPr>
          <p:cNvPr id="425" name="Google Shape;425;p42"/>
          <p:cNvSpPr/>
          <p:nvPr/>
        </p:nvSpPr>
        <p:spPr>
          <a:xfrm>
            <a:off x="1383650" y="3672971"/>
            <a:ext cx="669000" cy="221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2"/>
          <p:cNvSpPr/>
          <p:nvPr/>
        </p:nvSpPr>
        <p:spPr>
          <a:xfrm>
            <a:off x="6888500" y="3672971"/>
            <a:ext cx="669000" cy="221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2"/>
          <p:cNvSpPr/>
          <p:nvPr/>
        </p:nvSpPr>
        <p:spPr>
          <a:xfrm>
            <a:off x="7590925" y="3634517"/>
            <a:ext cx="1275000" cy="2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トライアル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MD-Link</a:t>
            </a:r>
            <a:endParaRPr sz="1000"/>
          </a:p>
        </p:txBody>
      </p:sp>
      <p:sp>
        <p:nvSpPr>
          <p:cNvPr id="428" name="Google Shape;428;p42"/>
          <p:cNvSpPr/>
          <p:nvPr/>
        </p:nvSpPr>
        <p:spPr>
          <a:xfrm>
            <a:off x="6888500" y="1067374"/>
            <a:ext cx="669000" cy="217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2"/>
          <p:cNvSpPr/>
          <p:nvPr/>
        </p:nvSpPr>
        <p:spPr>
          <a:xfrm>
            <a:off x="7590925" y="1029549"/>
            <a:ext cx="1275000" cy="29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トライアル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生鮮システム</a:t>
            </a:r>
            <a:endParaRPr sz="1000"/>
          </a:p>
        </p:txBody>
      </p:sp>
      <p:sp>
        <p:nvSpPr>
          <p:cNvPr id="430" name="Google Shape;430;p42"/>
          <p:cNvSpPr/>
          <p:nvPr/>
        </p:nvSpPr>
        <p:spPr>
          <a:xfrm>
            <a:off x="6888500" y="1398777"/>
            <a:ext cx="669000" cy="217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2"/>
          <p:cNvSpPr/>
          <p:nvPr/>
        </p:nvSpPr>
        <p:spPr>
          <a:xfrm>
            <a:off x="7590925" y="1360954"/>
            <a:ext cx="1275000" cy="29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トライアル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自動発注システム</a:t>
            </a:r>
            <a:endParaRPr sz="1000"/>
          </a:p>
        </p:txBody>
      </p:sp>
      <p:sp>
        <p:nvSpPr>
          <p:cNvPr id="432" name="Google Shape;432;p42"/>
          <p:cNvSpPr/>
          <p:nvPr/>
        </p:nvSpPr>
        <p:spPr>
          <a:xfrm>
            <a:off x="6888500" y="1730180"/>
            <a:ext cx="669000" cy="217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2"/>
          <p:cNvSpPr/>
          <p:nvPr/>
        </p:nvSpPr>
        <p:spPr>
          <a:xfrm>
            <a:off x="7590925" y="1692358"/>
            <a:ext cx="1275000" cy="29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トライアル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MD-Link</a:t>
            </a:r>
            <a:endParaRPr sz="1000"/>
          </a:p>
        </p:txBody>
      </p:sp>
      <p:sp>
        <p:nvSpPr>
          <p:cNvPr id="434" name="Google Shape;434;p42"/>
          <p:cNvSpPr/>
          <p:nvPr/>
        </p:nvSpPr>
        <p:spPr>
          <a:xfrm>
            <a:off x="4044125" y="1069770"/>
            <a:ext cx="2801400" cy="238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GCP : seiyu-trial-fresh-order</a:t>
            </a:r>
            <a:r>
              <a:rPr lang="ja" sz="700">
                <a:latin typeface="BIZ UDPGothic"/>
                <a:ea typeface="BIZ UDPGothic"/>
                <a:cs typeface="BIZ UDPGothic"/>
                <a:sym typeface="BIZ UDPGothic"/>
              </a:rPr>
              <a:t>(仮)</a:t>
            </a:r>
            <a:endParaRPr sz="7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35" name="Google Shape;435;p42"/>
          <p:cNvSpPr/>
          <p:nvPr/>
        </p:nvSpPr>
        <p:spPr>
          <a:xfrm>
            <a:off x="4044125" y="1392682"/>
            <a:ext cx="2801400" cy="2382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GCP : seiyu-trial-auto-order</a:t>
            </a:r>
            <a:r>
              <a:rPr lang="ja" sz="700">
                <a:latin typeface="BIZ UDPGothic"/>
                <a:ea typeface="BIZ UDPGothic"/>
                <a:cs typeface="BIZ UDPGothic"/>
                <a:sym typeface="BIZ UDPGothic"/>
              </a:rPr>
              <a:t>(仮)</a:t>
            </a:r>
            <a:endParaRPr sz="7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36" name="Google Shape;436;p42"/>
          <p:cNvSpPr/>
          <p:nvPr/>
        </p:nvSpPr>
        <p:spPr>
          <a:xfrm>
            <a:off x="4044125" y="1740186"/>
            <a:ext cx="2801400" cy="2382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GCP : seiyu-ｍｄｌｉｎｋ-data</a:t>
            </a:r>
            <a:r>
              <a:rPr lang="ja" sz="700">
                <a:latin typeface="BIZ UDPGothic"/>
                <a:ea typeface="BIZ UDPGothic"/>
                <a:cs typeface="BIZ UDPGothic"/>
                <a:sym typeface="BIZ UDPGothic"/>
              </a:rPr>
              <a:t>(仮)</a:t>
            </a:r>
            <a:endParaRPr sz="7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cxnSp>
        <p:nvCxnSpPr>
          <p:cNvPr id="437" name="Google Shape;437;p42"/>
          <p:cNvCxnSpPr>
            <a:stCxn id="410" idx="3"/>
            <a:endCxn id="434" idx="1"/>
          </p:cNvCxnSpPr>
          <p:nvPr/>
        </p:nvCxnSpPr>
        <p:spPr>
          <a:xfrm flipH="1" rot="10800000">
            <a:off x="3664625" y="1188816"/>
            <a:ext cx="379500" cy="47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38" name="Google Shape;438;p42"/>
          <p:cNvCxnSpPr>
            <a:stCxn id="410" idx="3"/>
            <a:endCxn id="436" idx="1"/>
          </p:cNvCxnSpPr>
          <p:nvPr/>
        </p:nvCxnSpPr>
        <p:spPr>
          <a:xfrm>
            <a:off x="3664625" y="1668216"/>
            <a:ext cx="379500" cy="1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39" name="Google Shape;439;p42"/>
          <p:cNvCxnSpPr>
            <a:stCxn id="410" idx="3"/>
            <a:endCxn id="435" idx="1"/>
          </p:cNvCxnSpPr>
          <p:nvPr/>
        </p:nvCxnSpPr>
        <p:spPr>
          <a:xfrm flipH="1" rot="10800000">
            <a:off x="3664625" y="1511916"/>
            <a:ext cx="379500" cy="15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0" name="Google Shape;440;p42"/>
          <p:cNvSpPr/>
          <p:nvPr/>
        </p:nvSpPr>
        <p:spPr>
          <a:xfrm>
            <a:off x="132000" y="4531053"/>
            <a:ext cx="8880000" cy="5448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案</a:t>
            </a: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③</a:t>
            </a: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：</a:t>
            </a: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xxxxx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41" name="Google Shape;441;p42"/>
          <p:cNvSpPr txBox="1"/>
          <p:nvPr/>
        </p:nvSpPr>
        <p:spPr>
          <a:xfrm>
            <a:off x="2054775" y="1923240"/>
            <a:ext cx="1655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0000FF"/>
                </a:solidFill>
                <a:latin typeface="BIZ UDPGothic"/>
                <a:ea typeface="BIZ UDPGothic"/>
                <a:cs typeface="BIZ UDPGothic"/>
                <a:sym typeface="BIZ UDPGothic"/>
              </a:rPr>
              <a:t>※管轄はシステム管理部</a:t>
            </a:r>
            <a:endParaRPr sz="900">
              <a:solidFill>
                <a:srgbClr val="0000FF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42" name="Google Shape;442;p42"/>
          <p:cNvSpPr txBox="1"/>
          <p:nvPr/>
        </p:nvSpPr>
        <p:spPr>
          <a:xfrm>
            <a:off x="4616975" y="2296181"/>
            <a:ext cx="1655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0000FF"/>
                </a:solidFill>
                <a:latin typeface="BIZ UDPGothic"/>
                <a:ea typeface="BIZ UDPGothic"/>
                <a:cs typeface="BIZ UDPGothic"/>
                <a:sym typeface="BIZ UDPGothic"/>
              </a:rPr>
              <a:t>※管轄は</a:t>
            </a:r>
            <a:r>
              <a:rPr lang="ja" sz="900">
                <a:solidFill>
                  <a:srgbClr val="0000FF"/>
                </a:solidFill>
                <a:latin typeface="BIZ UDPGothic"/>
                <a:ea typeface="BIZ UDPGothic"/>
                <a:cs typeface="BIZ UDPGothic"/>
                <a:sym typeface="BIZ UDPGothic"/>
              </a:rPr>
              <a:t>各</a:t>
            </a:r>
            <a:r>
              <a:rPr lang="ja" sz="900">
                <a:solidFill>
                  <a:srgbClr val="0000FF"/>
                </a:solidFill>
                <a:latin typeface="BIZ UDPGothic"/>
                <a:ea typeface="BIZ UDPGothic"/>
                <a:cs typeface="BIZ UDPGothic"/>
                <a:sym typeface="BIZ UDPGothic"/>
              </a:rPr>
              <a:t>システム</a:t>
            </a:r>
            <a:r>
              <a:rPr lang="ja" sz="900">
                <a:solidFill>
                  <a:srgbClr val="0000FF"/>
                </a:solidFill>
                <a:latin typeface="BIZ UDPGothic"/>
                <a:ea typeface="BIZ UDPGothic"/>
                <a:cs typeface="BIZ UDPGothic"/>
                <a:sym typeface="BIZ UDPGothic"/>
              </a:rPr>
              <a:t>開発部門</a:t>
            </a:r>
            <a:endParaRPr sz="900">
              <a:solidFill>
                <a:srgbClr val="0000FF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43" name="Google Shape;443;p42"/>
          <p:cNvSpPr txBox="1"/>
          <p:nvPr/>
        </p:nvSpPr>
        <p:spPr>
          <a:xfrm>
            <a:off x="3642725" y="4255249"/>
            <a:ext cx="1655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0000FF"/>
                </a:solidFill>
                <a:latin typeface="BIZ UDPGothic"/>
                <a:ea typeface="BIZ UDPGothic"/>
                <a:cs typeface="BIZ UDPGothic"/>
                <a:sym typeface="BIZ UDPGothic"/>
              </a:rPr>
              <a:t>※管轄は各システム開発部門</a:t>
            </a:r>
            <a:endParaRPr sz="900">
              <a:solidFill>
                <a:srgbClr val="0000FF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44" name="Google Shape;444;p42"/>
          <p:cNvSpPr txBox="1"/>
          <p:nvPr/>
        </p:nvSpPr>
        <p:spPr>
          <a:xfrm>
            <a:off x="2054775" y="1166910"/>
            <a:ext cx="1655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0000FF"/>
                </a:solidFill>
                <a:latin typeface="BIZ UDPGothic"/>
                <a:ea typeface="BIZ UDPGothic"/>
                <a:cs typeface="BIZ UDPGothic"/>
                <a:sym typeface="BIZ UDPGothic"/>
              </a:rPr>
              <a:t>業務データをやり取りする共有ハブ</a:t>
            </a:r>
            <a:endParaRPr sz="800">
              <a:solidFill>
                <a:srgbClr val="0000FF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45" name="Google Shape;445;p42"/>
          <p:cNvSpPr/>
          <p:nvPr/>
        </p:nvSpPr>
        <p:spPr>
          <a:xfrm>
            <a:off x="2094725" y="3987378"/>
            <a:ext cx="4750800" cy="2667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GCP : inunaki</a:t>
            </a:r>
            <a:endParaRPr sz="7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46" name="Google Shape;446;p42"/>
          <p:cNvSpPr/>
          <p:nvPr/>
        </p:nvSpPr>
        <p:spPr>
          <a:xfrm>
            <a:off x="263075" y="3971542"/>
            <a:ext cx="1078500" cy="2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西友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data spider</a:t>
            </a:r>
            <a:endParaRPr sz="1000"/>
          </a:p>
        </p:txBody>
      </p:sp>
      <p:sp>
        <p:nvSpPr>
          <p:cNvPr id="447" name="Google Shape;447;p42"/>
          <p:cNvSpPr/>
          <p:nvPr/>
        </p:nvSpPr>
        <p:spPr>
          <a:xfrm>
            <a:off x="1383650" y="4009996"/>
            <a:ext cx="669000" cy="221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2"/>
          <p:cNvSpPr/>
          <p:nvPr/>
        </p:nvSpPr>
        <p:spPr>
          <a:xfrm>
            <a:off x="6888500" y="4009996"/>
            <a:ext cx="669000" cy="221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2"/>
          <p:cNvSpPr/>
          <p:nvPr/>
        </p:nvSpPr>
        <p:spPr>
          <a:xfrm>
            <a:off x="7590925" y="3971542"/>
            <a:ext cx="1275000" cy="2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トライアル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データレイク</a:t>
            </a:r>
            <a:endParaRPr sz="1000"/>
          </a:p>
        </p:txBody>
      </p:sp>
      <p:sp>
        <p:nvSpPr>
          <p:cNvPr id="450" name="Google Shape;450;p42"/>
          <p:cNvSpPr/>
          <p:nvPr/>
        </p:nvSpPr>
        <p:spPr>
          <a:xfrm>
            <a:off x="6888500" y="2055642"/>
            <a:ext cx="669000" cy="217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2"/>
          <p:cNvSpPr/>
          <p:nvPr/>
        </p:nvSpPr>
        <p:spPr>
          <a:xfrm>
            <a:off x="7590925" y="2017821"/>
            <a:ext cx="1275000" cy="29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トライアル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データレイク</a:t>
            </a:r>
            <a:endParaRPr sz="1000"/>
          </a:p>
        </p:txBody>
      </p:sp>
      <p:sp>
        <p:nvSpPr>
          <p:cNvPr id="452" name="Google Shape;452;p42"/>
          <p:cNvSpPr/>
          <p:nvPr/>
        </p:nvSpPr>
        <p:spPr>
          <a:xfrm>
            <a:off x="4044125" y="2065648"/>
            <a:ext cx="2801400" cy="2382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latin typeface="BIZ UDPGothic"/>
                <a:ea typeface="BIZ UDPGothic"/>
                <a:cs typeface="BIZ UDPGothic"/>
                <a:sym typeface="BIZ UDPGothic"/>
              </a:rPr>
              <a:t>GCP : inunaki</a:t>
            </a:r>
            <a:endParaRPr sz="7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cxnSp>
        <p:nvCxnSpPr>
          <p:cNvPr id="453" name="Google Shape;453;p42"/>
          <p:cNvCxnSpPr>
            <a:stCxn id="410" idx="3"/>
            <a:endCxn id="452" idx="1"/>
          </p:cNvCxnSpPr>
          <p:nvPr/>
        </p:nvCxnSpPr>
        <p:spPr>
          <a:xfrm>
            <a:off x="3664625" y="1668216"/>
            <a:ext cx="379500" cy="51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54" name="Google Shape;454;p42"/>
          <p:cNvSpPr txBox="1"/>
          <p:nvPr/>
        </p:nvSpPr>
        <p:spPr>
          <a:xfrm>
            <a:off x="7179182" y="566425"/>
            <a:ext cx="17775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0000FF"/>
                </a:solidFill>
                <a:highlight>
                  <a:srgbClr val="00FFFF"/>
                </a:highlight>
                <a:latin typeface="BIZ UDPGothic"/>
                <a:ea typeface="BIZ UDPGothic"/>
                <a:cs typeface="BIZ UDPGothic"/>
                <a:sym typeface="BIZ UDPGothic"/>
              </a:rPr>
              <a:t>※こちらを採用</a:t>
            </a:r>
            <a:endParaRPr sz="1800">
              <a:solidFill>
                <a:srgbClr val="0000FF"/>
              </a:solidFill>
              <a:highlight>
                <a:srgbClr val="00FFFF"/>
              </a:highlight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55" name="Google Shape;455;p42"/>
          <p:cNvSpPr txBox="1"/>
          <p:nvPr/>
        </p:nvSpPr>
        <p:spPr>
          <a:xfrm>
            <a:off x="84649" y="2252733"/>
            <a:ext cx="37698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38761D"/>
                </a:solidFill>
                <a:highlight>
                  <a:srgbClr val="D9EAD3"/>
                </a:highlight>
                <a:latin typeface="BIZ UDPGothic"/>
                <a:ea typeface="BIZ UDPGothic"/>
                <a:cs typeface="BIZ UDPGothic"/>
                <a:sym typeface="BIZ UDPGothic"/>
              </a:rPr>
              <a:t>※SHINISEに置き換わったら止める</a:t>
            </a:r>
            <a:endParaRPr sz="1200">
              <a:solidFill>
                <a:srgbClr val="38761D"/>
              </a:solidFill>
              <a:highlight>
                <a:srgbClr val="D9EAD3"/>
              </a:highlight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456" name="Google Shape;456;p42"/>
          <p:cNvSpPr txBox="1"/>
          <p:nvPr/>
        </p:nvSpPr>
        <p:spPr>
          <a:xfrm>
            <a:off x="7179182" y="2601363"/>
            <a:ext cx="17775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F4CCCC"/>
                </a:solidFill>
                <a:highlight>
                  <a:srgbClr val="DD7E6B"/>
                </a:highlight>
                <a:latin typeface="BIZ UDPGothic"/>
                <a:ea typeface="BIZ UDPGothic"/>
                <a:cs typeface="BIZ UDPGothic"/>
                <a:sym typeface="BIZ UDPGothic"/>
              </a:rPr>
              <a:t>※</a:t>
            </a:r>
            <a:r>
              <a:rPr lang="ja" sz="1800">
                <a:solidFill>
                  <a:srgbClr val="F4CCCC"/>
                </a:solidFill>
                <a:highlight>
                  <a:srgbClr val="DD7E6B"/>
                </a:highlight>
                <a:latin typeface="BIZ UDPGothic"/>
                <a:ea typeface="BIZ UDPGothic"/>
                <a:cs typeface="BIZ UDPGothic"/>
                <a:sym typeface="BIZ UDPGothic"/>
              </a:rPr>
              <a:t>不</a:t>
            </a:r>
            <a:r>
              <a:rPr lang="ja" sz="1800">
                <a:solidFill>
                  <a:srgbClr val="F4CCCC"/>
                </a:solidFill>
                <a:highlight>
                  <a:srgbClr val="DD7E6B"/>
                </a:highlight>
                <a:latin typeface="BIZ UDPGothic"/>
                <a:ea typeface="BIZ UDPGothic"/>
                <a:cs typeface="BIZ UDPGothic"/>
                <a:sym typeface="BIZ UDPGothic"/>
              </a:rPr>
              <a:t>採用</a:t>
            </a:r>
            <a:endParaRPr sz="1800">
              <a:solidFill>
                <a:srgbClr val="F4CCCC"/>
              </a:solidFill>
              <a:highlight>
                <a:srgbClr val="DD7E6B"/>
              </a:highlight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/>
          <p:nvPr/>
        </p:nvSpPr>
        <p:spPr>
          <a:xfrm>
            <a:off x="1041515" y="1273774"/>
            <a:ext cx="2099100" cy="10569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3"/>
          <p:cNvSpPr/>
          <p:nvPr/>
        </p:nvSpPr>
        <p:spPr>
          <a:xfrm>
            <a:off x="3471658" y="2891697"/>
            <a:ext cx="1184400" cy="583200"/>
          </a:xfrm>
          <a:prstGeom prst="rect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データセンタ</a:t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TRIAL</a:t>
            </a:r>
            <a:endParaRPr sz="1325"/>
          </a:p>
        </p:txBody>
      </p:sp>
      <p:sp>
        <p:nvSpPr>
          <p:cNvPr id="463" name="Google Shape;463;p43"/>
          <p:cNvSpPr txBox="1"/>
          <p:nvPr>
            <p:ph type="title"/>
          </p:nvPr>
        </p:nvSpPr>
        <p:spPr>
          <a:xfrm>
            <a:off x="703968" y="300200"/>
            <a:ext cx="54327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/>
              <a:t>データ連携経路 (データ活用連携)</a:t>
            </a:r>
            <a:endParaRPr/>
          </a:p>
        </p:txBody>
      </p:sp>
      <p:sp>
        <p:nvSpPr>
          <p:cNvPr id="464" name="Google Shape;464;p43"/>
          <p:cNvSpPr/>
          <p:nvPr/>
        </p:nvSpPr>
        <p:spPr>
          <a:xfrm>
            <a:off x="1025172" y="2861588"/>
            <a:ext cx="1184400" cy="583200"/>
          </a:xfrm>
          <a:prstGeom prst="rect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データセンタ</a:t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西友</a:t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5" name="Google Shape;465;p43"/>
          <p:cNvCxnSpPr>
            <a:stCxn id="464" idx="0"/>
          </p:cNvCxnSpPr>
          <p:nvPr/>
        </p:nvCxnSpPr>
        <p:spPr>
          <a:xfrm rot="10800000">
            <a:off x="1617372" y="2137088"/>
            <a:ext cx="0" cy="724500"/>
          </a:xfrm>
          <a:prstGeom prst="straightConnector1">
            <a:avLst/>
          </a:prstGeom>
          <a:noFill/>
          <a:ln cap="flat" cmpd="sng" w="114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6" name="Google Shape;466;p43"/>
          <p:cNvSpPr/>
          <p:nvPr/>
        </p:nvSpPr>
        <p:spPr>
          <a:xfrm>
            <a:off x="2104493" y="3071779"/>
            <a:ext cx="162900" cy="1629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43"/>
          <p:cNvCxnSpPr/>
          <p:nvPr/>
        </p:nvCxnSpPr>
        <p:spPr>
          <a:xfrm rot="10800000">
            <a:off x="2128444" y="3095729"/>
            <a:ext cx="114900" cy="114900"/>
          </a:xfrm>
          <a:prstGeom prst="straightConnector1">
            <a:avLst/>
          </a:prstGeom>
          <a:noFill/>
          <a:ln cap="flat" cmpd="sng" w="114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8" name="Google Shape;468;p43"/>
          <p:cNvCxnSpPr/>
          <p:nvPr/>
        </p:nvCxnSpPr>
        <p:spPr>
          <a:xfrm flipH="1">
            <a:off x="2128444" y="3095602"/>
            <a:ext cx="114900" cy="114900"/>
          </a:xfrm>
          <a:prstGeom prst="straightConnector1">
            <a:avLst/>
          </a:prstGeom>
          <a:noFill/>
          <a:ln cap="flat" cmpd="sng" w="114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9" name="Google Shape;469;p43"/>
          <p:cNvSpPr/>
          <p:nvPr/>
        </p:nvSpPr>
        <p:spPr>
          <a:xfrm>
            <a:off x="3380316" y="3065014"/>
            <a:ext cx="162900" cy="1629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0" name="Google Shape;470;p43"/>
          <p:cNvCxnSpPr/>
          <p:nvPr/>
        </p:nvCxnSpPr>
        <p:spPr>
          <a:xfrm rot="10800000">
            <a:off x="3404267" y="3088964"/>
            <a:ext cx="114900" cy="114900"/>
          </a:xfrm>
          <a:prstGeom prst="straightConnector1">
            <a:avLst/>
          </a:prstGeom>
          <a:noFill/>
          <a:ln cap="flat" cmpd="sng" w="114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1" name="Google Shape;471;p43"/>
          <p:cNvCxnSpPr/>
          <p:nvPr/>
        </p:nvCxnSpPr>
        <p:spPr>
          <a:xfrm flipH="1">
            <a:off x="3404267" y="3088836"/>
            <a:ext cx="114900" cy="114900"/>
          </a:xfrm>
          <a:prstGeom prst="straightConnector1">
            <a:avLst/>
          </a:prstGeom>
          <a:noFill/>
          <a:ln cap="flat" cmpd="sng" w="114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2" name="Google Shape;472;p43"/>
          <p:cNvCxnSpPr>
            <a:stCxn id="469" idx="2"/>
          </p:cNvCxnSpPr>
          <p:nvPr/>
        </p:nvCxnSpPr>
        <p:spPr>
          <a:xfrm flipH="1">
            <a:off x="2456616" y="3146464"/>
            <a:ext cx="923700" cy="2940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3" name="Google Shape;473;p43"/>
          <p:cNvSpPr/>
          <p:nvPr/>
        </p:nvSpPr>
        <p:spPr>
          <a:xfrm rot="5400000">
            <a:off x="2738530" y="2571204"/>
            <a:ext cx="186900" cy="1211700"/>
          </a:xfrm>
          <a:prstGeom prst="can">
            <a:avLst>
              <a:gd fmla="val 25000" name="adj"/>
            </a:avLst>
          </a:prstGeom>
          <a:solidFill>
            <a:srgbClr val="277FF8">
              <a:alpha val="40000"/>
            </a:srgbClr>
          </a:solidFill>
          <a:ln cap="flat" cmpd="sng" w="11475">
            <a:solidFill>
              <a:srgbClr val="692A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3"/>
          <p:cNvSpPr/>
          <p:nvPr/>
        </p:nvSpPr>
        <p:spPr>
          <a:xfrm>
            <a:off x="4873268" y="681803"/>
            <a:ext cx="3693900" cy="23628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3"/>
          <p:cNvSpPr/>
          <p:nvPr/>
        </p:nvSpPr>
        <p:spPr>
          <a:xfrm>
            <a:off x="5168451" y="1460779"/>
            <a:ext cx="1320000" cy="583200"/>
          </a:xfrm>
          <a:prstGeom prst="ellipse">
            <a:avLst/>
          </a:prstGeom>
          <a:solidFill>
            <a:srgbClr val="FFFF00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325">
                <a:solidFill>
                  <a:srgbClr val="3F3F3F"/>
                </a:solidFill>
              </a:rPr>
              <a:t>連携用</a:t>
            </a:r>
            <a:endParaRPr sz="1325">
              <a:solidFill>
                <a:srgbClr val="3F3F3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325">
                <a:solidFill>
                  <a:srgbClr val="3F3F3F"/>
                </a:solidFill>
              </a:rPr>
              <a:t>PJ(GCS)</a:t>
            </a:r>
            <a:endParaRPr sz="1325">
              <a:solidFill>
                <a:srgbClr val="3F3F3F"/>
              </a:solidFill>
            </a:endParaRPr>
          </a:p>
        </p:txBody>
      </p:sp>
      <p:sp>
        <p:nvSpPr>
          <p:cNvPr id="476" name="Google Shape;476;p43"/>
          <p:cNvSpPr/>
          <p:nvPr/>
        </p:nvSpPr>
        <p:spPr>
          <a:xfrm flipH="1" rot="2647439">
            <a:off x="4988324" y="1945419"/>
            <a:ext cx="208126" cy="1360558"/>
          </a:xfrm>
          <a:prstGeom prst="can">
            <a:avLst>
              <a:gd fmla="val 25000" name="adj"/>
            </a:avLst>
          </a:prstGeom>
          <a:solidFill>
            <a:srgbClr val="FF0000">
              <a:alpha val="38820"/>
            </a:srgbClr>
          </a:solidFill>
          <a:ln cap="flat" cmpd="sng" w="11475">
            <a:solidFill>
              <a:srgbClr val="692A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3"/>
          <p:cNvSpPr/>
          <p:nvPr/>
        </p:nvSpPr>
        <p:spPr>
          <a:xfrm>
            <a:off x="6085554" y="619075"/>
            <a:ext cx="933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8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TRIAL GCP</a:t>
            </a:r>
            <a:endParaRPr sz="1325"/>
          </a:p>
        </p:txBody>
      </p:sp>
      <p:sp>
        <p:nvSpPr>
          <p:cNvPr id="478" name="Google Shape;478;p43"/>
          <p:cNvSpPr/>
          <p:nvPr/>
        </p:nvSpPr>
        <p:spPr>
          <a:xfrm>
            <a:off x="6954945" y="1666226"/>
            <a:ext cx="1184400" cy="5832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ProjectB</a:t>
            </a:r>
            <a:endParaRPr b="0" i="0" sz="11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25">
                <a:solidFill>
                  <a:srgbClr val="3F3F3F"/>
                </a:solidFill>
              </a:rPr>
              <a:t>MD-Link</a:t>
            </a:r>
            <a:endParaRPr sz="1125">
              <a:solidFill>
                <a:srgbClr val="3F3F3F"/>
              </a:solidFill>
            </a:endParaRPr>
          </a:p>
        </p:txBody>
      </p:sp>
      <p:sp>
        <p:nvSpPr>
          <p:cNvPr id="479" name="Google Shape;479;p43"/>
          <p:cNvSpPr/>
          <p:nvPr/>
        </p:nvSpPr>
        <p:spPr>
          <a:xfrm>
            <a:off x="6335961" y="2274810"/>
            <a:ext cx="1184400" cy="583200"/>
          </a:xfrm>
          <a:prstGeom prst="ellipse">
            <a:avLst/>
          </a:prstGeom>
          <a:noFill/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ProjectC</a:t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325">
                <a:solidFill>
                  <a:srgbClr val="3F3F3F"/>
                </a:solidFill>
              </a:rPr>
              <a:t>inunaki</a:t>
            </a:r>
            <a:endParaRPr sz="1325">
              <a:solidFill>
                <a:srgbClr val="3F3F3F"/>
              </a:solidFill>
            </a:endParaRPr>
          </a:p>
        </p:txBody>
      </p:sp>
      <p:sp>
        <p:nvSpPr>
          <p:cNvPr id="480" name="Google Shape;480;p43"/>
          <p:cNvSpPr/>
          <p:nvPr/>
        </p:nvSpPr>
        <p:spPr>
          <a:xfrm>
            <a:off x="6935439" y="1053917"/>
            <a:ext cx="1184400" cy="583200"/>
          </a:xfrm>
          <a:prstGeom prst="ellipse">
            <a:avLst/>
          </a:prstGeom>
          <a:solidFill>
            <a:srgbClr val="FFFF00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ProjectA</a:t>
            </a:r>
            <a:endParaRPr b="0" i="0" sz="10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25">
                <a:solidFill>
                  <a:srgbClr val="3F3F3F"/>
                </a:solidFill>
              </a:rPr>
              <a:t>惣菜</a:t>
            </a:r>
            <a:endParaRPr b="0" i="0" sz="10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システム</a:t>
            </a:r>
            <a:endParaRPr sz="1025"/>
          </a:p>
        </p:txBody>
      </p:sp>
      <p:sp>
        <p:nvSpPr>
          <p:cNvPr id="481" name="Google Shape;481;p43"/>
          <p:cNvSpPr/>
          <p:nvPr/>
        </p:nvSpPr>
        <p:spPr>
          <a:xfrm>
            <a:off x="5512462" y="1970616"/>
            <a:ext cx="188700" cy="188700"/>
          </a:xfrm>
          <a:prstGeom prst="ellipse">
            <a:avLst/>
          </a:prstGeom>
          <a:solidFill>
            <a:schemeClr val="accent5"/>
          </a:solidFill>
          <a:ln cap="flat" cmpd="sng" w="11475">
            <a:solidFill>
              <a:srgbClr val="692A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3"/>
          <p:cNvSpPr/>
          <p:nvPr/>
        </p:nvSpPr>
        <p:spPr>
          <a:xfrm>
            <a:off x="1783804" y="2664216"/>
            <a:ext cx="933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</a:t>
            </a:r>
            <a:endParaRPr sz="1325"/>
          </a:p>
        </p:txBody>
      </p:sp>
      <p:sp>
        <p:nvSpPr>
          <p:cNvPr id="483" name="Google Shape;483;p43"/>
          <p:cNvSpPr/>
          <p:nvPr/>
        </p:nvSpPr>
        <p:spPr>
          <a:xfrm>
            <a:off x="2915491" y="2664216"/>
            <a:ext cx="933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</a:t>
            </a:r>
            <a:endParaRPr sz="1325"/>
          </a:p>
        </p:txBody>
      </p:sp>
      <p:sp>
        <p:nvSpPr>
          <p:cNvPr id="484" name="Google Shape;484;p43"/>
          <p:cNvSpPr/>
          <p:nvPr/>
        </p:nvSpPr>
        <p:spPr>
          <a:xfrm>
            <a:off x="6136743" y="1216084"/>
            <a:ext cx="959512" cy="419745"/>
          </a:xfrm>
          <a:custGeom>
            <a:rect b="b" l="l" r="r" t="t"/>
            <a:pathLst>
              <a:path extrusionOk="0" h="463807" w="1060234">
                <a:moveTo>
                  <a:pt x="966716" y="0"/>
                </a:moveTo>
                <a:cubicBezTo>
                  <a:pt x="475745" y="209550"/>
                  <a:pt x="-15225" y="419100"/>
                  <a:pt x="361" y="457200"/>
                </a:cubicBezTo>
                <a:cubicBezTo>
                  <a:pt x="15947" y="495300"/>
                  <a:pt x="538090" y="361950"/>
                  <a:pt x="1060234" y="228600"/>
                </a:cubicBezTo>
              </a:path>
            </a:pathLst>
          </a:custGeom>
          <a:noFill/>
          <a:ln cap="flat" cmpd="sng" w="258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3"/>
          <p:cNvSpPr/>
          <p:nvPr/>
        </p:nvSpPr>
        <p:spPr>
          <a:xfrm>
            <a:off x="1667410" y="1892209"/>
            <a:ext cx="3874039" cy="1406061"/>
          </a:xfrm>
          <a:custGeom>
            <a:rect b="b" l="l" r="r" t="t"/>
            <a:pathLst>
              <a:path extrusionOk="0" h="1553659" w="4280706">
                <a:moveTo>
                  <a:pt x="529588" y="0"/>
                </a:moveTo>
                <a:cubicBezTo>
                  <a:pt x="145124" y="579293"/>
                  <a:pt x="-239339" y="1158587"/>
                  <a:pt x="186688" y="1392382"/>
                </a:cubicBezTo>
                <a:cubicBezTo>
                  <a:pt x="612715" y="1626177"/>
                  <a:pt x="2403415" y="1584614"/>
                  <a:pt x="3085751" y="1402773"/>
                </a:cubicBezTo>
                <a:cubicBezTo>
                  <a:pt x="3768087" y="1220932"/>
                  <a:pt x="4024396" y="761134"/>
                  <a:pt x="4280706" y="301337"/>
                </a:cubicBezTo>
              </a:path>
            </a:pathLst>
          </a:custGeom>
          <a:noFill/>
          <a:ln cap="flat" cmpd="sng" w="28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3"/>
          <p:cNvSpPr/>
          <p:nvPr/>
        </p:nvSpPr>
        <p:spPr>
          <a:xfrm>
            <a:off x="2158410" y="1617135"/>
            <a:ext cx="1320000" cy="583200"/>
          </a:xfrm>
          <a:prstGeom prst="ellipse">
            <a:avLst/>
          </a:prstGeom>
          <a:solidFill>
            <a:srgbClr val="FFFF00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DataSpider</a:t>
            </a:r>
            <a:endParaRPr b="0" i="0" sz="11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3"/>
          <p:cNvSpPr/>
          <p:nvPr/>
        </p:nvSpPr>
        <p:spPr>
          <a:xfrm>
            <a:off x="658875" y="1175199"/>
            <a:ext cx="1320000" cy="5832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SystemX</a:t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3"/>
          <p:cNvSpPr/>
          <p:nvPr/>
        </p:nvSpPr>
        <p:spPr>
          <a:xfrm>
            <a:off x="1922350" y="927731"/>
            <a:ext cx="1320000" cy="5832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SystemY</a:t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3"/>
          <p:cNvSpPr/>
          <p:nvPr/>
        </p:nvSpPr>
        <p:spPr>
          <a:xfrm>
            <a:off x="1742221" y="1479022"/>
            <a:ext cx="716849" cy="286876"/>
          </a:xfrm>
          <a:custGeom>
            <a:rect b="b" l="l" r="r" t="t"/>
            <a:pathLst>
              <a:path extrusionOk="0" h="316990" w="792098">
                <a:moveTo>
                  <a:pt x="197427" y="0"/>
                </a:moveTo>
                <a:cubicBezTo>
                  <a:pt x="510020" y="142009"/>
                  <a:pt x="822614" y="284019"/>
                  <a:pt x="789709" y="311728"/>
                </a:cubicBezTo>
                <a:cubicBezTo>
                  <a:pt x="756805" y="339437"/>
                  <a:pt x="378402" y="252846"/>
                  <a:pt x="0" y="166255"/>
                </a:cubicBezTo>
              </a:path>
            </a:pathLst>
          </a:custGeom>
          <a:noFill/>
          <a:ln cap="flat" cmpd="sng" w="258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3"/>
          <p:cNvSpPr/>
          <p:nvPr/>
        </p:nvSpPr>
        <p:spPr>
          <a:xfrm>
            <a:off x="2156069" y="1826331"/>
            <a:ext cx="188700" cy="188700"/>
          </a:xfrm>
          <a:prstGeom prst="ellipse">
            <a:avLst/>
          </a:prstGeom>
          <a:solidFill>
            <a:srgbClr val="00549A"/>
          </a:solidFill>
          <a:ln cap="flat" cmpd="sng" w="11475">
            <a:solidFill>
              <a:srgbClr val="692A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3"/>
          <p:cNvSpPr/>
          <p:nvPr/>
        </p:nvSpPr>
        <p:spPr>
          <a:xfrm>
            <a:off x="840121" y="1789282"/>
            <a:ext cx="933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68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西友</a:t>
            </a:r>
            <a:endParaRPr b="0" i="0" sz="168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68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</a:t>
            </a:r>
            <a:endParaRPr sz="1325"/>
          </a:p>
        </p:txBody>
      </p:sp>
      <p:sp>
        <p:nvSpPr>
          <p:cNvPr id="492" name="Google Shape;492;p43"/>
          <p:cNvSpPr/>
          <p:nvPr/>
        </p:nvSpPr>
        <p:spPr>
          <a:xfrm>
            <a:off x="5064975" y="3088825"/>
            <a:ext cx="4014900" cy="17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①現状InunakiにはVPN経路はないので新たにデータセンタのRTXと構築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②Inunakiのプライベートアドレスをアサイン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③Inunaki のストレージにPSC(PrivateServiceConnection)を作成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※ただし、リソース名(=DNS登録)は 例)inunaki.storage.googleapis.com</a:t>
            </a:r>
            <a:endParaRPr sz="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などとする。 </a:t>
            </a:r>
            <a:r>
              <a:rPr lang="ja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storage.googleapis.comでの登録はNG</a:t>
            </a:r>
            <a:endParaRPr sz="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ja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before/afterで storage.googleapis.comの名前解決が変わらないことを必ず確認</a:t>
            </a:r>
            <a:endParaRPr sz="7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④Inunakiのプライベートネットワークをデータセンタ側に広報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[以降ネットワーク作業]</a:t>
            </a:r>
            <a:endParaRPr sz="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■PSCで得られたIPアドレスをセンター間FWにて変換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■西友DNSで例)inunaki.storage.googleapis.comを変換アドレスで登録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■DataSpiderは inunaki.storage.googleapis.comをターゲットに設定を行う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※西友起点での通信のみのためTRIAL側でのDNS登録は不要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3"/>
          <p:cNvSpPr txBox="1"/>
          <p:nvPr/>
        </p:nvSpPr>
        <p:spPr>
          <a:xfrm>
            <a:off x="4735119" y="2381518"/>
            <a:ext cx="402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275" lIns="82650" spcFirstLastPara="1" rIns="82650" wrap="square" tIns="41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1325"/>
          </a:p>
        </p:txBody>
      </p:sp>
      <p:sp>
        <p:nvSpPr>
          <p:cNvPr id="494" name="Google Shape;494;p43"/>
          <p:cNvSpPr txBox="1"/>
          <p:nvPr/>
        </p:nvSpPr>
        <p:spPr>
          <a:xfrm>
            <a:off x="5155127" y="1666226"/>
            <a:ext cx="402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275" lIns="82650" spcFirstLastPara="1" rIns="82650" wrap="square" tIns="41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1325"/>
          </a:p>
        </p:txBody>
      </p:sp>
      <p:sp>
        <p:nvSpPr>
          <p:cNvPr id="495" name="Google Shape;495;p43"/>
          <p:cNvSpPr txBox="1"/>
          <p:nvPr/>
        </p:nvSpPr>
        <p:spPr>
          <a:xfrm>
            <a:off x="5595859" y="2028096"/>
            <a:ext cx="402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275" lIns="82650" spcFirstLastPara="1" rIns="82650" wrap="square" tIns="41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1325"/>
          </a:p>
        </p:txBody>
      </p:sp>
      <p:sp>
        <p:nvSpPr>
          <p:cNvPr id="496" name="Google Shape;496;p43"/>
          <p:cNvSpPr txBox="1"/>
          <p:nvPr/>
        </p:nvSpPr>
        <p:spPr>
          <a:xfrm>
            <a:off x="5311435" y="2372282"/>
            <a:ext cx="402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275" lIns="82650" spcFirstLastPara="1" rIns="82650" wrap="square" tIns="41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sz="1325"/>
          </a:p>
        </p:txBody>
      </p:sp>
      <p:sp>
        <p:nvSpPr>
          <p:cNvPr id="497" name="Google Shape;497;p43"/>
          <p:cNvSpPr/>
          <p:nvPr/>
        </p:nvSpPr>
        <p:spPr>
          <a:xfrm>
            <a:off x="7394500" y="64150"/>
            <a:ext cx="1685400" cy="2334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小峰さん資料より</a:t>
            </a:r>
            <a:endParaRPr/>
          </a:p>
        </p:txBody>
      </p:sp>
      <p:sp>
        <p:nvSpPr>
          <p:cNvPr id="498" name="Google Shape;498;p43"/>
          <p:cNvSpPr/>
          <p:nvPr/>
        </p:nvSpPr>
        <p:spPr>
          <a:xfrm>
            <a:off x="7394500" y="334875"/>
            <a:ext cx="1685400" cy="2334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松尾修正加筆</a:t>
            </a:r>
            <a:endParaRPr/>
          </a:p>
        </p:txBody>
      </p:sp>
      <p:sp>
        <p:nvSpPr>
          <p:cNvPr id="499" name="Google Shape;499;p43"/>
          <p:cNvSpPr/>
          <p:nvPr/>
        </p:nvSpPr>
        <p:spPr>
          <a:xfrm>
            <a:off x="7971725" y="1025850"/>
            <a:ext cx="861900" cy="3429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劉征</a:t>
            </a:r>
            <a:endParaRPr/>
          </a:p>
        </p:txBody>
      </p:sp>
      <p:sp>
        <p:nvSpPr>
          <p:cNvPr id="500" name="Google Shape;500;p43"/>
          <p:cNvSpPr/>
          <p:nvPr/>
        </p:nvSpPr>
        <p:spPr>
          <a:xfrm>
            <a:off x="7907600" y="1657100"/>
            <a:ext cx="861900" cy="3429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王軍</a:t>
            </a:r>
            <a:endParaRPr/>
          </a:p>
        </p:txBody>
      </p:sp>
      <p:sp>
        <p:nvSpPr>
          <p:cNvPr id="501" name="Google Shape;501;p43"/>
          <p:cNvSpPr/>
          <p:nvPr/>
        </p:nvSpPr>
        <p:spPr>
          <a:xfrm>
            <a:off x="7351925" y="2497675"/>
            <a:ext cx="861900" cy="3429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松尾</a:t>
            </a:r>
            <a:endParaRPr/>
          </a:p>
        </p:txBody>
      </p:sp>
      <p:sp>
        <p:nvSpPr>
          <p:cNvPr id="502" name="Google Shape;502;p43"/>
          <p:cNvSpPr/>
          <p:nvPr/>
        </p:nvSpPr>
        <p:spPr>
          <a:xfrm>
            <a:off x="4657950" y="1195650"/>
            <a:ext cx="861900" cy="3429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0000FF"/>
                </a:solidFill>
              </a:rPr>
              <a:t>末松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503" name="Google Shape;503;p43"/>
          <p:cNvSpPr txBox="1"/>
          <p:nvPr/>
        </p:nvSpPr>
        <p:spPr>
          <a:xfrm>
            <a:off x="3991425" y="969700"/>
            <a:ext cx="13200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0000FF"/>
                </a:solidFill>
                <a:latin typeface="BIZ UDPGothic"/>
                <a:ea typeface="BIZ UDPGothic"/>
                <a:cs typeface="BIZ UDPGothic"/>
                <a:sym typeface="BIZ UDPGothic"/>
              </a:rPr>
              <a:t>システム管理部運用</a:t>
            </a:r>
            <a:endParaRPr sz="1000">
              <a:solidFill>
                <a:srgbClr val="0000FF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cxnSp>
        <p:nvCxnSpPr>
          <p:cNvPr id="504" name="Google Shape;504;p43"/>
          <p:cNvCxnSpPr>
            <a:stCxn id="479" idx="1"/>
            <a:endCxn id="475" idx="5"/>
          </p:cNvCxnSpPr>
          <p:nvPr/>
        </p:nvCxnSpPr>
        <p:spPr>
          <a:xfrm rot="10800000">
            <a:off x="6295212" y="1958517"/>
            <a:ext cx="214200" cy="40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43"/>
          <p:cNvCxnSpPr>
            <a:stCxn id="478" idx="2"/>
            <a:endCxn id="475" idx="6"/>
          </p:cNvCxnSpPr>
          <p:nvPr/>
        </p:nvCxnSpPr>
        <p:spPr>
          <a:xfrm rot="10800000">
            <a:off x="6488445" y="1752326"/>
            <a:ext cx="466500" cy="2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6" name="Google Shape;506;p43"/>
          <p:cNvSpPr txBox="1"/>
          <p:nvPr/>
        </p:nvSpPr>
        <p:spPr>
          <a:xfrm>
            <a:off x="7710170" y="1366200"/>
            <a:ext cx="13200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0000FF"/>
                </a:solidFill>
                <a:highlight>
                  <a:srgbClr val="CFE2F3"/>
                </a:highlight>
              </a:rPr>
              <a:t>→ 生鮮発注統合へ</a:t>
            </a:r>
            <a:endParaRPr sz="1000">
              <a:solidFill>
                <a:srgbClr val="0000FF"/>
              </a:solidFill>
              <a:highlight>
                <a:srgbClr val="CFE2F3"/>
              </a:highlight>
            </a:endParaRPr>
          </a:p>
        </p:txBody>
      </p:sp>
      <p:pic>
        <p:nvPicPr>
          <p:cNvPr id="507" name="Google Shape;50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775" y="4023425"/>
            <a:ext cx="402300" cy="40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8" name="Google Shape;508;p43"/>
          <p:cNvCxnSpPr/>
          <p:nvPr/>
        </p:nvCxnSpPr>
        <p:spPr>
          <a:xfrm flipH="1" rot="10800000">
            <a:off x="2181100" y="3346575"/>
            <a:ext cx="553500" cy="696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oval"/>
          </a:ln>
        </p:spPr>
      </p:cxnSp>
      <p:sp>
        <p:nvSpPr>
          <p:cNvPr id="509" name="Google Shape;509;p43"/>
          <p:cNvSpPr txBox="1"/>
          <p:nvPr/>
        </p:nvSpPr>
        <p:spPr>
          <a:xfrm>
            <a:off x="2109481" y="4114800"/>
            <a:ext cx="23172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u="sng">
                <a:solidFill>
                  <a:schemeClr val="hlink"/>
                </a:solidFill>
                <a:hlinkClick r:id="rId4"/>
              </a:rPr>
              <a:t>ｲﾝﾀｰﾌｪｰｽ管理台帳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0" name="Google Shape;510;p43"/>
          <p:cNvSpPr txBox="1"/>
          <p:nvPr/>
        </p:nvSpPr>
        <p:spPr>
          <a:xfrm>
            <a:off x="5270845" y="1203553"/>
            <a:ext cx="1184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600">
                <a:solidFill>
                  <a:srgbClr val="0000FF"/>
                </a:solidFill>
                <a:latin typeface="BIZ UDPGothic"/>
                <a:ea typeface="BIZ UDPGothic"/>
                <a:cs typeface="BIZ UDPGothic"/>
                <a:sym typeface="BIZ UDPGothic"/>
              </a:rPr>
              <a:t>seiyu-trial</a:t>
            </a:r>
            <a:endParaRPr sz="600">
              <a:solidFill>
                <a:srgbClr val="0000FF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600">
                <a:solidFill>
                  <a:srgbClr val="0000FF"/>
                </a:solidFill>
                <a:latin typeface="BIZ UDPGothic"/>
                <a:ea typeface="BIZ UDPGothic"/>
                <a:cs typeface="BIZ UDPGothic"/>
                <a:sym typeface="BIZ UDPGothic"/>
              </a:rPr>
              <a:t>data-exchange</a:t>
            </a:r>
            <a:endParaRPr sz="900">
              <a:solidFill>
                <a:srgbClr val="0000FF"/>
              </a:solidFill>
            </a:endParaRPr>
          </a:p>
        </p:txBody>
      </p:sp>
      <p:sp>
        <p:nvSpPr>
          <p:cNvPr id="511" name="Google Shape;511;p43"/>
          <p:cNvSpPr/>
          <p:nvPr/>
        </p:nvSpPr>
        <p:spPr>
          <a:xfrm>
            <a:off x="7317900" y="725383"/>
            <a:ext cx="1027500" cy="369000"/>
          </a:xfrm>
          <a:prstGeom prst="flowChartConnector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rgbClr val="0000FF"/>
                </a:solidFill>
              </a:rPr>
              <a:t>開発</a:t>
            </a:r>
            <a:endParaRPr sz="11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rgbClr val="0000FF"/>
                </a:solidFill>
              </a:rPr>
              <a:t>稟議済</a:t>
            </a:r>
            <a:endParaRPr sz="11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4"/>
          <p:cNvSpPr txBox="1"/>
          <p:nvPr/>
        </p:nvSpPr>
        <p:spPr>
          <a:xfrm>
            <a:off x="169575" y="219025"/>
            <a:ext cx="42459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バケット：</a:t>
            </a:r>
            <a:r>
              <a:rPr lang="ja" sz="1800">
                <a:solidFill>
                  <a:schemeClr val="dk2"/>
                </a:solidFill>
                <a:highlight>
                  <a:srgbClr val="D9EAD3"/>
                </a:highlight>
              </a:rPr>
              <a:t>ods-seiyu-prod</a:t>
            </a:r>
            <a:r>
              <a:rPr lang="ja" sz="1800">
                <a:solidFill>
                  <a:schemeClr val="dk2"/>
                </a:solidFill>
              </a:rPr>
              <a:t> (stg、dev)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7" name="Google Shape;517;p44"/>
          <p:cNvSpPr txBox="1"/>
          <p:nvPr/>
        </p:nvSpPr>
        <p:spPr>
          <a:xfrm>
            <a:off x="515750" y="558025"/>
            <a:ext cx="7475100" cy="15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フォルダ</a:t>
            </a:r>
            <a:r>
              <a:rPr lang="ja" sz="1800">
                <a:solidFill>
                  <a:schemeClr val="dk2"/>
                </a:solidFill>
              </a:rPr>
              <a:t>：</a:t>
            </a:r>
            <a:r>
              <a:rPr lang="ja" sz="1800">
                <a:solidFill>
                  <a:srgbClr val="FF0000"/>
                </a:solidFill>
                <a:highlight>
                  <a:srgbClr val="D9EAD3"/>
                </a:highlight>
              </a:rPr>
              <a:t>[SYS ID from]</a:t>
            </a:r>
            <a:r>
              <a:rPr lang="ja" sz="1800">
                <a:solidFill>
                  <a:schemeClr val="dk2"/>
                </a:solidFill>
                <a:highlight>
                  <a:srgbClr val="D9EAD3"/>
                </a:highlight>
              </a:rPr>
              <a:t> _ </a:t>
            </a:r>
            <a:r>
              <a:rPr lang="ja" sz="1800">
                <a:solidFill>
                  <a:srgbClr val="0000FF"/>
                </a:solidFill>
                <a:highlight>
                  <a:srgbClr val="D9EAD3"/>
                </a:highlight>
              </a:rPr>
              <a:t>[SYS ID to]</a:t>
            </a:r>
            <a:r>
              <a:rPr lang="ja" sz="1800">
                <a:solidFill>
                  <a:schemeClr val="dk2"/>
                </a:solidFill>
                <a:highlight>
                  <a:srgbClr val="D9EAD3"/>
                </a:highlight>
              </a:rPr>
              <a:t> _ </a:t>
            </a:r>
            <a:r>
              <a:rPr lang="ja" sz="1800">
                <a:solidFill>
                  <a:srgbClr val="38761D"/>
                </a:solidFill>
                <a:highlight>
                  <a:srgbClr val="D9EAD3"/>
                </a:highlight>
              </a:rPr>
              <a:t>[3桁連番]</a:t>
            </a:r>
            <a:r>
              <a:rPr lang="ja" sz="1300">
                <a:solidFill>
                  <a:schemeClr val="dk2"/>
                </a:solidFill>
                <a:highlight>
                  <a:srgbClr val="D9EAD3"/>
                </a:highlight>
              </a:rPr>
              <a:t>　</a:t>
            </a:r>
            <a:r>
              <a:rPr lang="ja" sz="1300">
                <a:solidFill>
                  <a:schemeClr val="dk2"/>
                </a:solidFill>
              </a:rPr>
              <a:t>(西友のｲﾝﾀｰﾌｪｰｽﾙｰﾙ)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　　例：</a:t>
            </a:r>
            <a:r>
              <a:rPr lang="ja" sz="1800">
                <a:solidFill>
                  <a:srgbClr val="FF0000"/>
                </a:solidFill>
              </a:rPr>
              <a:t>SY0001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0000FF"/>
                </a:solidFill>
              </a:rPr>
              <a:t>INU0001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38761D"/>
                </a:solidFill>
              </a:rPr>
              <a:t>001</a:t>
            </a:r>
            <a:r>
              <a:rPr lang="ja" sz="1800">
                <a:solidFill>
                  <a:schemeClr val="dk2"/>
                </a:solidFill>
              </a:rPr>
              <a:t>  :  id_posデータ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　　例：</a:t>
            </a:r>
            <a:r>
              <a:rPr lang="ja" sz="1800">
                <a:solidFill>
                  <a:srgbClr val="FF0000"/>
                </a:solidFill>
              </a:rPr>
              <a:t>SY0001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0000FF"/>
                </a:solidFill>
              </a:rPr>
              <a:t>INU0001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38761D"/>
                </a:solidFill>
              </a:rPr>
              <a:t>002</a:t>
            </a:r>
            <a:r>
              <a:rPr lang="ja" sz="1800">
                <a:solidFill>
                  <a:schemeClr val="dk2"/>
                </a:solidFill>
              </a:rPr>
              <a:t>  :  店舗マスタ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　　例：</a:t>
            </a:r>
            <a:r>
              <a:rPr lang="ja" sz="1800">
                <a:solidFill>
                  <a:srgbClr val="FF0000"/>
                </a:solidFill>
              </a:rPr>
              <a:t>SY0001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0000FF"/>
                </a:solidFill>
              </a:rPr>
              <a:t>INU0001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38761D"/>
                </a:solidFill>
              </a:rPr>
              <a:t>003</a:t>
            </a:r>
            <a:r>
              <a:rPr lang="ja" sz="1800">
                <a:solidFill>
                  <a:schemeClr val="dk2"/>
                </a:solidFill>
              </a:rPr>
              <a:t>  :  商品階層マスタ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　　例：</a:t>
            </a:r>
            <a:r>
              <a:rPr lang="ja" sz="1800">
                <a:solidFill>
                  <a:srgbClr val="FF0000"/>
                </a:solidFill>
              </a:rPr>
              <a:t>SY0002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0000FF"/>
                </a:solidFill>
              </a:rPr>
              <a:t>SZ0001</a:t>
            </a:r>
            <a:r>
              <a:rPr lang="ja" sz="1800">
                <a:solidFill>
                  <a:schemeClr val="dk2"/>
                </a:solidFill>
              </a:rPr>
              <a:t>_</a:t>
            </a:r>
            <a:r>
              <a:rPr lang="ja" sz="1800">
                <a:solidFill>
                  <a:srgbClr val="38761D"/>
                </a:solidFill>
              </a:rPr>
              <a:t>001</a:t>
            </a:r>
            <a:r>
              <a:rPr lang="ja" sz="1800">
                <a:solidFill>
                  <a:schemeClr val="dk2"/>
                </a:solidFill>
              </a:rPr>
              <a:t>   :  惣菜発注データ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8" name="Google Shape;518;p44"/>
          <p:cNvSpPr txBox="1"/>
          <p:nvPr/>
        </p:nvSpPr>
        <p:spPr>
          <a:xfrm>
            <a:off x="233162" y="303699"/>
            <a:ext cx="268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19" name="Google Shape;519;p44"/>
          <p:cNvCxnSpPr>
            <a:stCxn id="518" idx="2"/>
            <a:endCxn id="520" idx="1"/>
          </p:cNvCxnSpPr>
          <p:nvPr/>
        </p:nvCxnSpPr>
        <p:spPr>
          <a:xfrm flipH="1" rot="-5400000">
            <a:off x="312662" y="577449"/>
            <a:ext cx="261900" cy="152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44"/>
          <p:cNvSpPr txBox="1"/>
          <p:nvPr/>
        </p:nvSpPr>
        <p:spPr>
          <a:xfrm>
            <a:off x="6478925" y="1303600"/>
            <a:ext cx="2557500" cy="37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 u="sng">
                <a:solidFill>
                  <a:schemeClr val="hlink"/>
                </a:solidFill>
                <a:hlinkClick r:id="rId3"/>
              </a:rPr>
              <a:t>ｽﾌﾟﾚｯﾄﾞｼｰﾄで一覧管理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2" name="Google Shape;522;p44"/>
          <p:cNvSpPr txBox="1"/>
          <p:nvPr/>
        </p:nvSpPr>
        <p:spPr>
          <a:xfrm>
            <a:off x="1688469" y="1780559"/>
            <a:ext cx="268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23" name="Google Shape;523;p44"/>
          <p:cNvCxnSpPr>
            <a:stCxn id="522" idx="2"/>
            <a:endCxn id="524" idx="1"/>
          </p:cNvCxnSpPr>
          <p:nvPr/>
        </p:nvCxnSpPr>
        <p:spPr>
          <a:xfrm flipH="1" rot="-5400000">
            <a:off x="1909119" y="1913159"/>
            <a:ext cx="255000" cy="427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44"/>
          <p:cNvSpPr txBox="1"/>
          <p:nvPr/>
        </p:nvSpPr>
        <p:spPr>
          <a:xfrm>
            <a:off x="519802" y="675121"/>
            <a:ext cx="268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5" name="Google Shape;525;p44"/>
          <p:cNvSpPr/>
          <p:nvPr/>
        </p:nvSpPr>
        <p:spPr>
          <a:xfrm>
            <a:off x="6005475" y="946750"/>
            <a:ext cx="310800" cy="1088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4"/>
          <p:cNvSpPr txBox="1"/>
          <p:nvPr/>
        </p:nvSpPr>
        <p:spPr>
          <a:xfrm>
            <a:off x="2182775" y="2039225"/>
            <a:ext cx="68535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フォルダ：</a:t>
            </a:r>
            <a:r>
              <a:rPr lang="ja" sz="1800">
                <a:solidFill>
                  <a:schemeClr val="dk2"/>
                </a:solidFill>
                <a:highlight>
                  <a:srgbClr val="D9EAD3"/>
                </a:highlight>
              </a:rPr>
              <a:t>20251009</a:t>
            </a:r>
            <a:r>
              <a:rPr lang="ja" sz="1800">
                <a:solidFill>
                  <a:schemeClr val="dk2"/>
                </a:solidFill>
              </a:rPr>
              <a:t> ： 日別にフォルダを作</a:t>
            </a:r>
            <a:r>
              <a:rPr lang="ja" sz="1800">
                <a:solidFill>
                  <a:schemeClr val="dk2"/>
                </a:solidFill>
              </a:rPr>
              <a:t>り設置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フォルダ：20251010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フォルダ：20251011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7" name="Google Shape;527;p44"/>
          <p:cNvSpPr txBox="1"/>
          <p:nvPr/>
        </p:nvSpPr>
        <p:spPr>
          <a:xfrm>
            <a:off x="0" y="0"/>
            <a:ext cx="67323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命名規則 (西友ルールを採用)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528" name="Google Shape;528;p44"/>
          <p:cNvSpPr txBox="1"/>
          <p:nvPr/>
        </p:nvSpPr>
        <p:spPr>
          <a:xfrm>
            <a:off x="6531425" y="2451475"/>
            <a:ext cx="1906800" cy="968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  <a:t>※復旧時はどうする？</a:t>
            </a:r>
            <a:b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  <a:t>　①ファイル上書き？</a:t>
            </a:r>
            <a:b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  <a:t>　②新規ファイル？</a:t>
            </a:r>
            <a:endParaRPr sz="120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  <a:t>　　・１日分丸ごと？</a:t>
            </a:r>
            <a:endParaRPr sz="120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  <a:t>　　・修正差分？</a:t>
            </a:r>
            <a:endParaRPr sz="12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529" name="Google Shape;529;p44"/>
          <p:cNvCxnSpPr/>
          <p:nvPr/>
        </p:nvCxnSpPr>
        <p:spPr>
          <a:xfrm>
            <a:off x="177625" y="3517009"/>
            <a:ext cx="887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44"/>
          <p:cNvSpPr txBox="1"/>
          <p:nvPr/>
        </p:nvSpPr>
        <p:spPr>
          <a:xfrm>
            <a:off x="256195" y="3364769"/>
            <a:ext cx="40125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  <a:highlight>
                  <a:srgbClr val="FFFFFF"/>
                </a:highlight>
              </a:rPr>
              <a:t>ここから先はポリシー決めて処理</a:t>
            </a:r>
            <a:endParaRPr sz="18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  <p:sp>
        <p:nvSpPr>
          <p:cNvPr id="531" name="Google Shape;531;p44"/>
          <p:cNvSpPr txBox="1"/>
          <p:nvPr/>
        </p:nvSpPr>
        <p:spPr>
          <a:xfrm>
            <a:off x="4572000" y="2451475"/>
            <a:ext cx="1906800" cy="24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  <a:t>※</a:t>
            </a:r>
            <a:r>
              <a:rPr lang="ja" sz="1200">
                <a:solidFill>
                  <a:srgbClr val="FF0000"/>
                </a:solidFill>
                <a:highlight>
                  <a:srgbClr val="FFFF00"/>
                </a:highlight>
              </a:rPr>
              <a:t>ファイル名の規則は？</a:t>
            </a:r>
            <a:endParaRPr sz="12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32" name="Google Shape;532;p44"/>
          <p:cNvSpPr txBox="1"/>
          <p:nvPr/>
        </p:nvSpPr>
        <p:spPr>
          <a:xfrm>
            <a:off x="256200" y="3669266"/>
            <a:ext cx="5901600" cy="8739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　ファイル取り扱いのポリシーに関しては、次のスライドに明記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　(2026年1月16日にポリシー設定、即日より実施)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533" name="Google Shape;53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7932" y="3549025"/>
            <a:ext cx="2746366" cy="15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4"/>
          <p:cNvSpPr txBox="1"/>
          <p:nvPr/>
        </p:nvSpPr>
        <p:spPr>
          <a:xfrm>
            <a:off x="4080975" y="226000"/>
            <a:ext cx="1044000" cy="37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</a:rPr>
              <a:t>prod : 本番環境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</a:rPr>
              <a:t>stg : 検証/準本番環境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2"/>
                </a:solidFill>
              </a:rPr>
              <a:t>dev : 開発環境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535" name="Google Shape;535;p44"/>
          <p:cNvSpPr txBox="1"/>
          <p:nvPr/>
        </p:nvSpPr>
        <p:spPr>
          <a:xfrm rot="5400000">
            <a:off x="3812665" y="2897214"/>
            <a:ext cx="3873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36" name="Google Shape;536;p44"/>
          <p:cNvCxnSpPr/>
          <p:nvPr/>
        </p:nvCxnSpPr>
        <p:spPr>
          <a:xfrm>
            <a:off x="130225" y="2057400"/>
            <a:ext cx="89067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37" name="Google Shape;537;p44"/>
          <p:cNvSpPr txBox="1"/>
          <p:nvPr/>
        </p:nvSpPr>
        <p:spPr>
          <a:xfrm>
            <a:off x="97650" y="1094913"/>
            <a:ext cx="11133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ﾌｫﾙﾀﾞの作成と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権限設定まで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ｼｽﾃﾑ管理部(末松)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過渡期は松尾も</a:t>
            </a:r>
            <a:endParaRPr sz="8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一緒にやります</a:t>
            </a:r>
            <a:endParaRPr sz="8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538" name="Google Shape;538;p44"/>
          <p:cNvSpPr txBox="1"/>
          <p:nvPr/>
        </p:nvSpPr>
        <p:spPr>
          <a:xfrm>
            <a:off x="97650" y="2244775"/>
            <a:ext cx="11721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ﾌｫﾙﾀﾞ</a:t>
            </a: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内の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詳細取り決めは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各SYS窓口と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西友窓口で決める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・惣菜受発注</a:t>
            </a: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(</a:t>
            </a: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劉征</a:t>
            </a: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)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・MD-Link(王軍)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・inunaki(松尾)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8761D"/>
                </a:solidFill>
                <a:latin typeface="BIZ UDPGothic"/>
                <a:ea typeface="BIZ UDPGothic"/>
                <a:cs typeface="BIZ UDPGothic"/>
                <a:sym typeface="BIZ UDPGothic"/>
              </a:rPr>
              <a:t>…etc</a:t>
            </a:r>
            <a:endParaRPr sz="900">
              <a:solidFill>
                <a:srgbClr val="38761D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539" name="Google Shape;539;p44"/>
          <p:cNvSpPr txBox="1"/>
          <p:nvPr/>
        </p:nvSpPr>
        <p:spPr>
          <a:xfrm>
            <a:off x="256200" y="4543154"/>
            <a:ext cx="59016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・</a:t>
            </a:r>
            <a:r>
              <a:rPr lang="ja" sz="1100">
                <a:solidFill>
                  <a:schemeClr val="dk2"/>
                </a:solidFill>
              </a:rPr>
              <a:t>データ交換用GCP環境は、CloudStrage以外のサービスは使用しない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40" name="Google Shape;540;p44"/>
          <p:cNvSpPr txBox="1"/>
          <p:nvPr/>
        </p:nvSpPr>
        <p:spPr>
          <a:xfrm>
            <a:off x="256200" y="4798154"/>
            <a:ext cx="59016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・</a:t>
            </a:r>
            <a:r>
              <a:rPr lang="ja" sz="1100">
                <a:solidFill>
                  <a:schemeClr val="dk2"/>
                </a:solidFill>
              </a:rPr>
              <a:t>ｲﾝﾀｰﾌｪｰｽの担当や詳細は管理台帳に記載、障害発生時等のやり取りは担当者間で実施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41" name="Google Shape;541;p44"/>
          <p:cNvSpPr/>
          <p:nvPr/>
        </p:nvSpPr>
        <p:spPr>
          <a:xfrm>
            <a:off x="256200" y="1878413"/>
            <a:ext cx="587700" cy="1209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4"/>
          <p:cNvSpPr/>
          <p:nvPr/>
        </p:nvSpPr>
        <p:spPr>
          <a:xfrm rot="10800000">
            <a:off x="256200" y="2117488"/>
            <a:ext cx="587700" cy="1209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5"/>
          <p:cNvSpPr txBox="1"/>
          <p:nvPr/>
        </p:nvSpPr>
        <p:spPr>
          <a:xfrm>
            <a:off x="0" y="0"/>
            <a:ext cx="67323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ファイルのライフサイクル取扱ポリシー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pic>
        <p:nvPicPr>
          <p:cNvPr id="548" name="Google Shape;548;p45"/>
          <p:cNvPicPr preferRelativeResize="0"/>
          <p:nvPr/>
        </p:nvPicPr>
        <p:blipFill rotWithShape="1">
          <a:blip r:embed="rId3">
            <a:alphaModFix/>
          </a:blip>
          <a:srcRect b="0" l="5598" r="0" t="31163"/>
          <a:stretch/>
        </p:blipFill>
        <p:spPr>
          <a:xfrm>
            <a:off x="4272965" y="2604148"/>
            <a:ext cx="4710636" cy="19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5"/>
          <p:cNvSpPr txBox="1"/>
          <p:nvPr/>
        </p:nvSpPr>
        <p:spPr>
          <a:xfrm>
            <a:off x="160300" y="348475"/>
            <a:ext cx="8823300" cy="19446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100">
                <a:solidFill>
                  <a:srgbClr val="F44336"/>
                </a:solidFill>
              </a:rPr>
              <a:t>開発環境</a:t>
            </a:r>
            <a:r>
              <a:rPr b="1" lang="ja" sz="1100">
                <a:solidFill>
                  <a:schemeClr val="dk1"/>
                </a:solidFill>
              </a:rPr>
              <a:t>(ods-seiyu-dev)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100">
                <a:solidFill>
                  <a:schemeClr val="dk1"/>
                </a:solidFill>
              </a:rPr>
              <a:t>・取込済みファイルは、一定期間経過、および、同名のバージョン違いは</a:t>
            </a:r>
            <a:r>
              <a:rPr b="1" lang="ja" sz="1100">
                <a:solidFill>
                  <a:srgbClr val="F44336"/>
                </a:solidFill>
              </a:rPr>
              <a:t>過去分を削除</a:t>
            </a:r>
            <a:r>
              <a:rPr b="1" lang="ja" sz="1100">
                <a:solidFill>
                  <a:schemeClr val="dk1"/>
                </a:solidFill>
              </a:rPr>
              <a:t>する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00">
                <a:solidFill>
                  <a:schemeClr val="dk1"/>
                </a:solidFill>
              </a:rPr>
              <a:t>　① 初期投入は Standardクラス、</a:t>
            </a:r>
            <a:r>
              <a:rPr lang="ja" sz="1100" u="sng">
                <a:solidFill>
                  <a:schemeClr val="dk1"/>
                </a:solidFill>
              </a:rPr>
              <a:t>90日後</a:t>
            </a:r>
            <a:r>
              <a:rPr lang="ja" sz="1100">
                <a:solidFill>
                  <a:schemeClr val="dk1"/>
                </a:solidFill>
              </a:rPr>
              <a:t>に 自動的に削除する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00">
                <a:solidFill>
                  <a:schemeClr val="dk1"/>
                </a:solidFill>
              </a:rPr>
              <a:t>　※ </a:t>
            </a:r>
            <a:r>
              <a:rPr lang="ja" sz="1100" u="sng">
                <a:solidFill>
                  <a:schemeClr val="dk1"/>
                </a:solidFill>
              </a:rPr>
              <a:t>同名で上書きされた過去バージョン(履歴ファイル)</a:t>
            </a:r>
            <a:r>
              <a:rPr lang="ja" sz="1100">
                <a:solidFill>
                  <a:schemeClr val="dk1"/>
                </a:solidFill>
              </a:rPr>
              <a:t>は残りません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100">
                <a:solidFill>
                  <a:srgbClr val="2196F3"/>
                </a:solidFill>
              </a:rPr>
              <a:t>本番、検証環境</a:t>
            </a:r>
            <a:r>
              <a:rPr b="1" lang="ja" sz="1100">
                <a:solidFill>
                  <a:schemeClr val="dk1"/>
                </a:solidFill>
              </a:rPr>
              <a:t>(ods-seiyu-prod 、ods-seiyu-stg)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100">
                <a:solidFill>
                  <a:schemeClr val="dk1"/>
                </a:solidFill>
              </a:rPr>
              <a:t>・取込済みファイルは、</a:t>
            </a:r>
            <a:r>
              <a:rPr b="1" lang="ja" sz="1100">
                <a:solidFill>
                  <a:srgbClr val="2196F3"/>
                </a:solidFill>
              </a:rPr>
              <a:t>ライフサイクル長めのクラスへ自動的に変更</a:t>
            </a:r>
            <a:r>
              <a:rPr b="1" lang="ja" sz="1100">
                <a:solidFill>
                  <a:schemeClr val="dk1"/>
                </a:solidFill>
              </a:rPr>
              <a:t>する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00">
                <a:solidFill>
                  <a:schemeClr val="dk1"/>
                </a:solidFill>
              </a:rPr>
              <a:t>　① 初期投入は Standardクラス、</a:t>
            </a:r>
            <a:r>
              <a:rPr lang="ja" sz="1100" u="sng">
                <a:solidFill>
                  <a:schemeClr val="dk1"/>
                </a:solidFill>
              </a:rPr>
              <a:t>60日後</a:t>
            </a:r>
            <a:r>
              <a:rPr lang="ja" sz="1100">
                <a:solidFill>
                  <a:schemeClr val="dk1"/>
                </a:solidFill>
              </a:rPr>
              <a:t>に Coldlineクラス へ移動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00">
                <a:solidFill>
                  <a:schemeClr val="dk1"/>
                </a:solidFill>
              </a:rPr>
              <a:t>　➁ 現時点では Cloldlineクラス へ移動させた後、ファイルを削除しない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　※ </a:t>
            </a:r>
            <a:r>
              <a:rPr lang="ja" sz="1100" u="sng">
                <a:solidFill>
                  <a:schemeClr val="dk1"/>
                </a:solidFill>
              </a:rPr>
              <a:t>同名で上書きされた過去バージョン(履歴ファイル)</a:t>
            </a:r>
            <a:r>
              <a:rPr lang="ja" sz="1100">
                <a:solidFill>
                  <a:schemeClr val="dk1"/>
                </a:solidFill>
              </a:rPr>
              <a:t>は残りません</a:t>
            </a:r>
            <a:endParaRPr b="1" sz="1100">
              <a:solidFill>
                <a:srgbClr val="F44336"/>
              </a:solidFill>
            </a:endParaRPr>
          </a:p>
        </p:txBody>
      </p:sp>
      <p:sp>
        <p:nvSpPr>
          <p:cNvPr id="550" name="Google Shape;550;p45"/>
          <p:cNvSpPr txBox="1"/>
          <p:nvPr/>
        </p:nvSpPr>
        <p:spPr>
          <a:xfrm>
            <a:off x="370850" y="2457788"/>
            <a:ext cx="3439200" cy="64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①一番最初にファイルを置くと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Standard クラスに入る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51" name="Google Shape;551;p45"/>
          <p:cNvSpPr txBox="1"/>
          <p:nvPr/>
        </p:nvSpPr>
        <p:spPr>
          <a:xfrm>
            <a:off x="370850" y="3300867"/>
            <a:ext cx="3439200" cy="1652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➁開発環境の場合は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90日経過後に削除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本番、検証環境の場合は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60日経過後にColdlineへ変更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(２ヵ月より前の生ファイル参照は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 基本無いものと考えて)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552" name="Google Shape;552;p45"/>
          <p:cNvCxnSpPr>
            <a:stCxn id="550" idx="3"/>
          </p:cNvCxnSpPr>
          <p:nvPr/>
        </p:nvCxnSpPr>
        <p:spPr>
          <a:xfrm>
            <a:off x="3810050" y="2780888"/>
            <a:ext cx="4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p45"/>
          <p:cNvCxnSpPr/>
          <p:nvPr/>
        </p:nvCxnSpPr>
        <p:spPr>
          <a:xfrm>
            <a:off x="5294524" y="2822705"/>
            <a:ext cx="42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54" name="Google Shape;554;p45"/>
          <p:cNvSpPr txBox="1"/>
          <p:nvPr/>
        </p:nvSpPr>
        <p:spPr>
          <a:xfrm>
            <a:off x="5721962" y="2697200"/>
            <a:ext cx="3024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FF0000"/>
                </a:solidFill>
              </a:rPr>
              <a:t>開発環境の場合は90日後に削除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555" name="Google Shape;555;p45"/>
          <p:cNvSpPr txBox="1"/>
          <p:nvPr/>
        </p:nvSpPr>
        <p:spPr>
          <a:xfrm>
            <a:off x="4286246" y="2836598"/>
            <a:ext cx="2160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6" name="Google Shape;556;p45"/>
          <p:cNvSpPr txBox="1"/>
          <p:nvPr/>
        </p:nvSpPr>
        <p:spPr>
          <a:xfrm>
            <a:off x="4286246" y="3695242"/>
            <a:ext cx="2160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57" name="Google Shape;557;p45"/>
          <p:cNvCxnSpPr>
            <a:stCxn id="555" idx="1"/>
            <a:endCxn id="556" idx="1"/>
          </p:cNvCxnSpPr>
          <p:nvPr/>
        </p:nvCxnSpPr>
        <p:spPr>
          <a:xfrm>
            <a:off x="4286246" y="2890748"/>
            <a:ext cx="600" cy="858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8" name="Google Shape;558;p45"/>
          <p:cNvSpPr txBox="1"/>
          <p:nvPr/>
        </p:nvSpPr>
        <p:spPr>
          <a:xfrm>
            <a:off x="5721962" y="3629100"/>
            <a:ext cx="3024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3D85C6"/>
                </a:solidFill>
              </a:rPr>
              <a:t>本番、検証</a:t>
            </a:r>
            <a:r>
              <a:rPr lang="ja" sz="1300">
                <a:solidFill>
                  <a:srgbClr val="3D85C6"/>
                </a:solidFill>
              </a:rPr>
              <a:t>環境の場合は60日後に</a:t>
            </a:r>
            <a:r>
              <a:rPr lang="ja" sz="1300">
                <a:solidFill>
                  <a:srgbClr val="3D85C6"/>
                </a:solidFill>
              </a:rPr>
              <a:t>移動</a:t>
            </a:r>
            <a:endParaRPr sz="1300">
              <a:solidFill>
                <a:srgbClr val="3D85C6"/>
              </a:solidFill>
            </a:endParaRPr>
          </a:p>
        </p:txBody>
      </p:sp>
      <p:cxnSp>
        <p:nvCxnSpPr>
          <p:cNvPr id="559" name="Google Shape;559;p45"/>
          <p:cNvCxnSpPr/>
          <p:nvPr/>
        </p:nvCxnSpPr>
        <p:spPr>
          <a:xfrm>
            <a:off x="5294524" y="3749405"/>
            <a:ext cx="42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60" name="Google Shape;560;p45"/>
          <p:cNvSpPr txBox="1"/>
          <p:nvPr/>
        </p:nvSpPr>
        <p:spPr>
          <a:xfrm>
            <a:off x="4578496" y="3491730"/>
            <a:ext cx="1833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※最低保持期限30日間あり</a:t>
            </a:r>
            <a:endParaRPr sz="9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45"/>
          <p:cNvSpPr txBox="1"/>
          <p:nvPr/>
        </p:nvSpPr>
        <p:spPr>
          <a:xfrm>
            <a:off x="4578496" y="3965655"/>
            <a:ext cx="1833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※最低保持期限90日間あり</a:t>
            </a:r>
            <a:endParaRPr sz="9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45"/>
          <p:cNvSpPr txBox="1"/>
          <p:nvPr/>
        </p:nvSpPr>
        <p:spPr>
          <a:xfrm>
            <a:off x="4578496" y="4425641"/>
            <a:ext cx="1833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※最低保持期限365日間あり</a:t>
            </a:r>
            <a:endParaRPr sz="9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45"/>
          <p:cNvSpPr txBox="1"/>
          <p:nvPr/>
        </p:nvSpPr>
        <p:spPr>
          <a:xfrm>
            <a:off x="4578496" y="3048709"/>
            <a:ext cx="1833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※最低保持期限</a:t>
            </a:r>
            <a:r>
              <a:rPr lang="ja" sz="9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なし</a:t>
            </a:r>
            <a:endParaRPr sz="9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6"/>
          <p:cNvSpPr txBox="1"/>
          <p:nvPr/>
        </p:nvSpPr>
        <p:spPr>
          <a:xfrm>
            <a:off x="0" y="0"/>
            <a:ext cx="67323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ファイルのライフサイクル取扱ポリシー (</a:t>
            </a: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参考情報</a:t>
            </a: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)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graphicFrame>
        <p:nvGraphicFramePr>
          <p:cNvPr id="569" name="Google Shape;569;p46"/>
          <p:cNvGraphicFramePr/>
          <p:nvPr/>
        </p:nvGraphicFramePr>
        <p:xfrm>
          <a:off x="199888" y="66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{02E60129-F390-4E1E-8DC2-BDA422945C7D}</a:tableStyleId>
              </a:tblPr>
              <a:tblGrid>
                <a:gridCol w="1454300"/>
                <a:gridCol w="1822475"/>
                <a:gridCol w="1822475"/>
                <a:gridCol w="1822475"/>
                <a:gridCol w="1822475"/>
              </a:tblGrid>
              <a:tr h="463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比較項目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 anchor="ctr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Standard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(開発・頻繁利用)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 anchor="ctr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Nearline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(月1回程度)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 anchor="ctr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Coldline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(四半期に1回)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 anchor="ctr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Archive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(年1回・塩漬け)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 anchor="ctr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75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主な用途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 anchor="ctr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開発環境、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ホットなデータ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バックアップ、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アクセス頻度中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長期保管、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たまに参照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ログ保管、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監査用</a:t>
                      </a:r>
                      <a:r>
                        <a:rPr lang="ja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</a:t>
                      </a:r>
                      <a:r>
                        <a:rPr lang="ja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ほぼ</a:t>
                      </a:r>
                      <a:r>
                        <a:rPr lang="ja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見ない)</a:t>
                      </a:r>
                      <a:endParaRPr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保管料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(月額/1GB)</a:t>
                      </a:r>
                      <a:endParaRPr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 anchor="ctr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高い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($0.023)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普通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($0.016)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安い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($0.006)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激安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($0.0025)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データ読込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(容量課金/1GB)</a:t>
                      </a:r>
                      <a:endParaRPr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 anchor="ctr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0円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(無料)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$0.01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(1.5円)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$0.02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(3円)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$0.05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(7.5円)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読込リクエスト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(1万ファイルあたり)</a:t>
                      </a:r>
                      <a:endParaRPr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※ここが重要</a:t>
                      </a:r>
                      <a:endParaRPr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 anchor="ctr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$0.004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(0.6円 / 激安)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$0.01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(1.5円)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$0.10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(15円)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$0.50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(75円 / </a:t>
                      </a: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超高い</a:t>
                      </a: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)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最低保存期間</a:t>
                      </a:r>
                      <a:endParaRPr b="1"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1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(ペナルティ期間)</a:t>
                      </a:r>
                      <a:endParaRPr sz="11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 anchor="ctr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なし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(1秒で消してOK)</a:t>
                      </a:r>
                      <a:endParaRPr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30日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90日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rgbClr val="1F1F1F"/>
                          </a:solidFill>
                          <a:latin typeface="Kosugi Maru"/>
                          <a:ea typeface="Kosugi Maru"/>
                          <a:cs typeface="Kosugi Maru"/>
                          <a:sym typeface="Kosugi Maru"/>
                        </a:rPr>
                        <a:t>365日</a:t>
                      </a:r>
                      <a:endParaRPr b="1" sz="1600">
                        <a:solidFill>
                          <a:srgbClr val="1F1F1F"/>
                        </a:solidFill>
                        <a:latin typeface="Kosugi Maru"/>
                        <a:ea typeface="Kosugi Maru"/>
                        <a:cs typeface="Kosugi Maru"/>
                        <a:sym typeface="Kosugi Maru"/>
                      </a:endParaRPr>
                    </a:p>
                  </a:txBody>
                  <a:tcPr marT="39600" marB="39600" marR="43200" marL="432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0" name="Google Shape;570;p46"/>
          <p:cNvSpPr txBox="1"/>
          <p:nvPr/>
        </p:nvSpPr>
        <p:spPr>
          <a:xfrm>
            <a:off x="199950" y="327575"/>
            <a:ext cx="8744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ＧＣＳストレージクラス(東京リージョン)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1" name="Google Shape;571;p46"/>
          <p:cNvSpPr txBox="1"/>
          <p:nvPr/>
        </p:nvSpPr>
        <p:spPr>
          <a:xfrm>
            <a:off x="3589300" y="4523225"/>
            <a:ext cx="5164500" cy="24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FF0000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※最低期間前に消しても、最低保存期間分の保管料を請求される</a:t>
            </a:r>
            <a:endParaRPr sz="1300">
              <a:solidFill>
                <a:srgbClr val="FF0000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7"/>
          <p:cNvSpPr txBox="1"/>
          <p:nvPr/>
        </p:nvSpPr>
        <p:spPr>
          <a:xfrm>
            <a:off x="0" y="0"/>
            <a:ext cx="4449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2510</a:t>
            </a: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22</a:t>
            </a: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_Memo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577" name="Google Shape;577;p47"/>
          <p:cNvSpPr txBox="1"/>
          <p:nvPr/>
        </p:nvSpPr>
        <p:spPr>
          <a:xfrm>
            <a:off x="189375" y="500475"/>
            <a:ext cx="8799000" cy="44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・</a:t>
            </a:r>
            <a:r>
              <a:rPr lang="ja">
                <a:solidFill>
                  <a:srgbClr val="0000FF"/>
                </a:solidFill>
              </a:rPr>
              <a:t>今のニーズは「西友→トライアル」への発注データを「貰う」所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0000FF"/>
                </a:solidFill>
              </a:rPr>
              <a:t>　　①まず惣菜CK向けの発注データ 現状2店舗→今回8店舗→将来全店舗 ※店舗番号問題も別途あり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0000FF"/>
                </a:solidFill>
              </a:rPr>
              <a:t>　　②今後精肉PC向けの発注データも？(今Excel手作業)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0000FF"/>
                </a:solidFill>
              </a:rPr>
              <a:t>　　③今後トライアルPBベンダー向けの発注データも？</a:t>
            </a:r>
            <a:r>
              <a:rPr lang="ja">
                <a:solidFill>
                  <a:srgbClr val="0000FF"/>
                </a:solidFill>
              </a:rPr>
              <a:t>(今Excel手作業)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今後逆もありえる模様、だが、Excelでのやり取りで無いと出来ない領域が残る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CC0000"/>
                </a:solidFill>
              </a:rPr>
              <a:t>　※西友のCKシステムを使うものに関してはデータでの連携が出来ない？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・初期データ管理料見積もり (</a:t>
            </a:r>
            <a:r>
              <a:rPr lang="ja" u="sng">
                <a:solidFill>
                  <a:schemeClr val="hlink"/>
                </a:solidFill>
                <a:hlinkClick r:id="rId3"/>
              </a:rPr>
              <a:t>見積もりページ</a:t>
            </a:r>
            <a:r>
              <a:rPr lang="ja">
                <a:solidFill>
                  <a:schemeClr val="dk2"/>
                </a:solidFill>
              </a:rPr>
              <a:t>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　まず５００G保管だとして、月間３０ドル(５，０００円)/月 ６万円/年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　※当然データ交換が増えれば金額も増えていく、特にPOS等をやり取りし始めると増える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・バケット、フォルダの権限管理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　システム管理部(末松)、(初期段階はデータマネジメント部(松尾)も一緒にやる)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・最終的に西友システムがSHINISE化され、既存SYS停止時に環境は不要になる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・データやり取りのアーキテクチャー面の相談は百岳さん含めMT済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　・連携用GCP立てるのは特に異論無し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　・GCP内の各業務ごとの連携設計は個別に決める必要あり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78" name="Google Shape;578;p47"/>
          <p:cNvSpPr txBox="1"/>
          <p:nvPr/>
        </p:nvSpPr>
        <p:spPr>
          <a:xfrm>
            <a:off x="4511125" y="3333259"/>
            <a:ext cx="3341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dk2"/>
                </a:solidFill>
              </a:rPr>
              <a:t>↑ 西友PMI関連もあるため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579" name="Google Shape;579;p47"/>
          <p:cNvSpPr txBox="1"/>
          <p:nvPr/>
        </p:nvSpPr>
        <p:spPr>
          <a:xfrm>
            <a:off x="5755575" y="3895675"/>
            <a:ext cx="3232800" cy="1102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</a:rPr>
              <a:t>この件の稟議(GCS環境構築稟議)を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</a:rPr>
              <a:t>・松重さん？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</a:rPr>
              <a:t>・嵯峨根さん？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0000FF"/>
                </a:solidFill>
              </a:rPr>
              <a:t>・末松さんでOK</a:t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</a:rPr>
              <a:t>誰が提出するかアドバイス下さい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80" name="Google Shape;580;p47"/>
          <p:cNvSpPr txBox="1"/>
          <p:nvPr/>
        </p:nvSpPr>
        <p:spPr>
          <a:xfrm>
            <a:off x="5694600" y="534300"/>
            <a:ext cx="249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38761D"/>
                </a:solidFill>
              </a:rPr>
              <a:t>実務者：T劉征さん⇔S西村さん</a:t>
            </a:r>
            <a:endParaRPr sz="1200">
              <a:solidFill>
                <a:srgbClr val="38761D"/>
              </a:solidFill>
            </a:endParaRPr>
          </a:p>
        </p:txBody>
      </p:sp>
      <p:sp>
        <p:nvSpPr>
          <p:cNvPr id="581" name="Google Shape;581;p47"/>
          <p:cNvSpPr txBox="1"/>
          <p:nvPr/>
        </p:nvSpPr>
        <p:spPr>
          <a:xfrm>
            <a:off x="7358400" y="4260025"/>
            <a:ext cx="1542000" cy="373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  <a:latin typeface="BIZ UDPGothic"/>
                <a:ea typeface="BIZ UDPGothic"/>
                <a:cs typeface="BIZ UDPGothic"/>
                <a:sym typeface="BIZ UDPGothic"/>
              </a:rPr>
              <a:t>稟議ヘッダーに</a:t>
            </a:r>
            <a:endParaRPr sz="1000">
              <a:solidFill>
                <a:srgbClr val="FF0000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  <a:latin typeface="BIZ UDPGothic"/>
                <a:ea typeface="BIZ UDPGothic"/>
                <a:cs typeface="BIZ UDPGothic"/>
                <a:sym typeface="BIZ UDPGothic"/>
              </a:rPr>
              <a:t>[西友PJ]を付けて出す</a:t>
            </a:r>
            <a:endParaRPr sz="1000">
              <a:solidFill>
                <a:srgbClr val="FF0000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8"/>
          <p:cNvSpPr txBox="1"/>
          <p:nvPr/>
        </p:nvSpPr>
        <p:spPr>
          <a:xfrm>
            <a:off x="676800" y="505800"/>
            <a:ext cx="8403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33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Databrics⇔Bigquery 相互直結？</a:t>
            </a:r>
            <a:endParaRPr sz="23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587" name="Google Shape;587;p48"/>
          <p:cNvSpPr txBox="1"/>
          <p:nvPr/>
        </p:nvSpPr>
        <p:spPr>
          <a:xfrm>
            <a:off x="32550" y="32550"/>
            <a:ext cx="2597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25/12/11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9"/>
          <p:cNvSpPr/>
          <p:nvPr/>
        </p:nvSpPr>
        <p:spPr>
          <a:xfrm>
            <a:off x="104350" y="365275"/>
            <a:ext cx="3518400" cy="466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西友環境</a:t>
            </a:r>
            <a:endParaRPr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93" name="Google Shape;593;p49"/>
          <p:cNvSpPr txBox="1"/>
          <p:nvPr/>
        </p:nvSpPr>
        <p:spPr>
          <a:xfrm>
            <a:off x="0" y="0"/>
            <a:ext cx="91440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251211_Databrics</a:t>
            </a: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⇔Bigquery相互直結する？どの範囲を？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594" name="Google Shape;594;p49"/>
          <p:cNvSpPr/>
          <p:nvPr/>
        </p:nvSpPr>
        <p:spPr>
          <a:xfrm>
            <a:off x="205000" y="715625"/>
            <a:ext cx="3317100" cy="168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Databrics</a:t>
            </a:r>
            <a:endParaRPr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95" name="Google Shape;595;p49"/>
          <p:cNvSpPr/>
          <p:nvPr/>
        </p:nvSpPr>
        <p:spPr>
          <a:xfrm>
            <a:off x="4062625" y="365275"/>
            <a:ext cx="3518400" cy="466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トライアル</a:t>
            </a: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環境</a:t>
            </a:r>
            <a:endParaRPr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96" name="Google Shape;596;p49"/>
          <p:cNvSpPr/>
          <p:nvPr/>
        </p:nvSpPr>
        <p:spPr>
          <a:xfrm>
            <a:off x="4163275" y="715625"/>
            <a:ext cx="3317100" cy="168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Bigquery (inunaki)</a:t>
            </a:r>
            <a:endParaRPr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97" name="Google Shape;597;p49"/>
          <p:cNvSpPr/>
          <p:nvPr/>
        </p:nvSpPr>
        <p:spPr>
          <a:xfrm>
            <a:off x="1714500" y="1782275"/>
            <a:ext cx="2770200" cy="46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SA:seiyu-databricks-dev</a:t>
            </a:r>
            <a:endParaRPr/>
          </a:p>
        </p:txBody>
      </p:sp>
      <p:sp>
        <p:nvSpPr>
          <p:cNvPr id="598" name="Google Shape;598;p49"/>
          <p:cNvSpPr/>
          <p:nvPr/>
        </p:nvSpPr>
        <p:spPr>
          <a:xfrm>
            <a:off x="4610750" y="1133325"/>
            <a:ext cx="2663700" cy="46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dataset - A</a:t>
            </a:r>
            <a:endParaRPr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99" name="Google Shape;599;p49"/>
          <p:cNvSpPr/>
          <p:nvPr/>
        </p:nvSpPr>
        <p:spPr>
          <a:xfrm>
            <a:off x="4610750" y="1782275"/>
            <a:ext cx="2663700" cy="46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dataset</a:t>
            </a:r>
            <a:endParaRPr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Kosugi Maru"/>
                <a:ea typeface="Kosugi Maru"/>
                <a:cs typeface="Kosugi Maru"/>
                <a:sym typeface="Kosugi Maru"/>
              </a:rPr>
              <a:t>BQ_Sample</a:t>
            </a:r>
            <a:endParaRPr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00" name="Google Shape;600;p49"/>
          <p:cNvSpPr/>
          <p:nvPr/>
        </p:nvSpPr>
        <p:spPr>
          <a:xfrm>
            <a:off x="5831225" y="1181825"/>
            <a:ext cx="1395000" cy="14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table1</a:t>
            </a:r>
            <a:endParaRPr sz="12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01" name="Google Shape;601;p49"/>
          <p:cNvSpPr/>
          <p:nvPr/>
        </p:nvSpPr>
        <p:spPr>
          <a:xfrm>
            <a:off x="5831225" y="1404625"/>
            <a:ext cx="1395000" cy="14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table2</a:t>
            </a:r>
            <a:endParaRPr sz="12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02" name="Google Shape;602;p49"/>
          <p:cNvSpPr/>
          <p:nvPr/>
        </p:nvSpPr>
        <p:spPr>
          <a:xfrm>
            <a:off x="5831225" y="1830775"/>
            <a:ext cx="1395000" cy="145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dim_stores</a:t>
            </a:r>
            <a:endParaRPr sz="12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03" name="Google Shape;603;p49"/>
          <p:cNvSpPr/>
          <p:nvPr/>
        </p:nvSpPr>
        <p:spPr>
          <a:xfrm>
            <a:off x="5831225" y="2053575"/>
            <a:ext cx="1395000" cy="14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table3</a:t>
            </a:r>
            <a:endParaRPr sz="12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04" name="Google Shape;604;p49"/>
          <p:cNvSpPr txBox="1"/>
          <p:nvPr/>
        </p:nvSpPr>
        <p:spPr>
          <a:xfrm>
            <a:off x="1714500" y="2111650"/>
            <a:ext cx="19083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bigquery.dataviewer</a:t>
            </a:r>
            <a:endParaRPr>
              <a:solidFill>
                <a:srgbClr val="FF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05" name="Google Shape;605;p49"/>
          <p:cNvSpPr txBox="1"/>
          <p:nvPr/>
        </p:nvSpPr>
        <p:spPr>
          <a:xfrm>
            <a:off x="426200" y="1123625"/>
            <a:ext cx="2867100" cy="532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確認：Databricsから</a:t>
            </a:r>
            <a:endParaRPr sz="12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Kosugi Maru"/>
                <a:ea typeface="Kosugi Maru"/>
                <a:cs typeface="Kosugi Maru"/>
                <a:sym typeface="Kosugi Maru"/>
              </a:rPr>
              <a:t>直接 dim_stores が参照できるか</a:t>
            </a:r>
            <a:endParaRPr sz="1200">
              <a:solidFill>
                <a:schemeClr val="dk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00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0"/>
          <p:cNvSpPr txBox="1"/>
          <p:nvPr/>
        </p:nvSpPr>
        <p:spPr>
          <a:xfrm>
            <a:off x="676800" y="505800"/>
            <a:ext cx="8403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3300">
                <a:solidFill>
                  <a:srgbClr val="FFFFFF"/>
                </a:solidFill>
                <a:latin typeface="BIZ UDPGothic"/>
                <a:ea typeface="BIZ UDPGothic"/>
                <a:cs typeface="BIZ UDPGothic"/>
                <a:sym typeface="BIZ UDPGothic"/>
              </a:rPr>
              <a:t>APPENDIX</a:t>
            </a:r>
            <a:endParaRPr sz="2300">
              <a:solidFill>
                <a:srgbClr val="FFFFFF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CFE2F3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1"/>
          <p:cNvSpPr txBox="1"/>
          <p:nvPr/>
        </p:nvSpPr>
        <p:spPr>
          <a:xfrm>
            <a:off x="676800" y="505800"/>
            <a:ext cx="8403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33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西友のインターフェース情報インプット</a:t>
            </a:r>
            <a:endParaRPr sz="33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23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(西友 森さんより)</a:t>
            </a:r>
            <a:endParaRPr sz="23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616" name="Google Shape;616;p51"/>
          <p:cNvSpPr txBox="1"/>
          <p:nvPr/>
        </p:nvSpPr>
        <p:spPr>
          <a:xfrm>
            <a:off x="32550" y="32550"/>
            <a:ext cx="2597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25/10/08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5898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2"/>
          <p:cNvSpPr/>
          <p:nvPr/>
        </p:nvSpPr>
        <p:spPr>
          <a:xfrm>
            <a:off x="7394500" y="64150"/>
            <a:ext cx="1685400" cy="2334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森さん資料より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5898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53"/>
          <p:cNvSpPr/>
          <p:nvPr/>
        </p:nvSpPr>
        <p:spPr>
          <a:xfrm>
            <a:off x="7394500" y="64150"/>
            <a:ext cx="1685400" cy="2334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森さん資料より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Google Shape;63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5898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54"/>
          <p:cNvSpPr/>
          <p:nvPr/>
        </p:nvSpPr>
        <p:spPr>
          <a:xfrm>
            <a:off x="7394500" y="64150"/>
            <a:ext cx="1685400" cy="2334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森さん資料より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5898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55"/>
          <p:cNvSpPr/>
          <p:nvPr/>
        </p:nvSpPr>
        <p:spPr>
          <a:xfrm>
            <a:off x="7394500" y="64150"/>
            <a:ext cx="1685400" cy="2334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森さん資料より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5898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56"/>
          <p:cNvSpPr/>
          <p:nvPr/>
        </p:nvSpPr>
        <p:spPr>
          <a:xfrm>
            <a:off x="1408550" y="992900"/>
            <a:ext cx="900600" cy="39138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0000FF"/>
                </a:solidFill>
                <a:latin typeface="BIZ UDPGothic"/>
                <a:ea typeface="BIZ UDPGothic"/>
                <a:cs typeface="BIZ UDPGothic"/>
                <a:sym typeface="BIZ UDPGothic"/>
              </a:rPr>
              <a:t>フォルダ名</a:t>
            </a:r>
            <a:endParaRPr sz="800">
              <a:solidFill>
                <a:srgbClr val="0000FF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647" name="Google Shape;647;p56"/>
          <p:cNvSpPr/>
          <p:nvPr/>
        </p:nvSpPr>
        <p:spPr>
          <a:xfrm>
            <a:off x="5836225" y="992900"/>
            <a:ext cx="2453400" cy="39138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0000FF"/>
                </a:solidFill>
                <a:latin typeface="BIZ UDPGothic"/>
                <a:ea typeface="BIZ UDPGothic"/>
                <a:cs typeface="BIZ UDPGothic"/>
                <a:sym typeface="BIZ UDPGothic"/>
              </a:rPr>
              <a:t>連携データの内容</a:t>
            </a:r>
            <a:endParaRPr sz="800">
              <a:solidFill>
                <a:srgbClr val="0000FF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648" name="Google Shape;648;p56"/>
          <p:cNvSpPr/>
          <p:nvPr/>
        </p:nvSpPr>
        <p:spPr>
          <a:xfrm>
            <a:off x="4058225" y="992900"/>
            <a:ext cx="1102500" cy="39138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0000FF"/>
                </a:solidFill>
                <a:latin typeface="BIZ UDPGothic"/>
                <a:ea typeface="BIZ UDPGothic"/>
                <a:cs typeface="BIZ UDPGothic"/>
                <a:sym typeface="BIZ UDPGothic"/>
              </a:rPr>
              <a:t>実行日時等</a:t>
            </a:r>
            <a:endParaRPr sz="800">
              <a:solidFill>
                <a:srgbClr val="0000FF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649" name="Google Shape;649;p56"/>
          <p:cNvSpPr/>
          <p:nvPr/>
        </p:nvSpPr>
        <p:spPr>
          <a:xfrm>
            <a:off x="7394500" y="64150"/>
            <a:ext cx="1685400" cy="2334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森さん資料より</a:t>
            </a:r>
            <a:endParaRPr/>
          </a:p>
        </p:txBody>
      </p:sp>
      <p:sp>
        <p:nvSpPr>
          <p:cNvPr id="650" name="Google Shape;650;p56"/>
          <p:cNvSpPr txBox="1"/>
          <p:nvPr/>
        </p:nvSpPr>
        <p:spPr>
          <a:xfrm>
            <a:off x="6522400" y="398600"/>
            <a:ext cx="2557500" cy="37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 u="sng">
                <a:solidFill>
                  <a:schemeClr val="hlink"/>
                </a:solidFill>
                <a:hlinkClick r:id="rId4"/>
              </a:rPr>
              <a:t>ｽﾌﾟﾚｯﾄﾞｼｰﾄで一覧管理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7"/>
          <p:cNvSpPr/>
          <p:nvPr/>
        </p:nvSpPr>
        <p:spPr>
          <a:xfrm>
            <a:off x="1041515" y="1273774"/>
            <a:ext cx="2099100" cy="10569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7"/>
          <p:cNvSpPr/>
          <p:nvPr/>
        </p:nvSpPr>
        <p:spPr>
          <a:xfrm>
            <a:off x="3471658" y="2891697"/>
            <a:ext cx="1184400" cy="583200"/>
          </a:xfrm>
          <a:prstGeom prst="rect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データセンタ</a:t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TRIAL</a:t>
            </a:r>
            <a:endParaRPr sz="1325"/>
          </a:p>
        </p:txBody>
      </p:sp>
      <p:sp>
        <p:nvSpPr>
          <p:cNvPr id="657" name="Google Shape;657;p57"/>
          <p:cNvSpPr txBox="1"/>
          <p:nvPr>
            <p:ph type="title"/>
          </p:nvPr>
        </p:nvSpPr>
        <p:spPr>
          <a:xfrm>
            <a:off x="703968" y="300200"/>
            <a:ext cx="54327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/>
              <a:t>データ連携経路 (データ活用連携)</a:t>
            </a:r>
            <a:endParaRPr/>
          </a:p>
        </p:txBody>
      </p:sp>
      <p:sp>
        <p:nvSpPr>
          <p:cNvPr id="658" name="Google Shape;658;p57"/>
          <p:cNvSpPr/>
          <p:nvPr/>
        </p:nvSpPr>
        <p:spPr>
          <a:xfrm>
            <a:off x="1025172" y="2861588"/>
            <a:ext cx="1184400" cy="583200"/>
          </a:xfrm>
          <a:prstGeom prst="rect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データセンタ</a:t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西友</a:t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p57"/>
          <p:cNvCxnSpPr>
            <a:stCxn id="658" idx="0"/>
          </p:cNvCxnSpPr>
          <p:nvPr/>
        </p:nvCxnSpPr>
        <p:spPr>
          <a:xfrm rot="10800000">
            <a:off x="1617372" y="2137088"/>
            <a:ext cx="0" cy="724500"/>
          </a:xfrm>
          <a:prstGeom prst="straightConnector1">
            <a:avLst/>
          </a:prstGeom>
          <a:noFill/>
          <a:ln cap="flat" cmpd="sng" w="114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0" name="Google Shape;660;p57"/>
          <p:cNvSpPr/>
          <p:nvPr/>
        </p:nvSpPr>
        <p:spPr>
          <a:xfrm>
            <a:off x="2104493" y="3071779"/>
            <a:ext cx="162900" cy="1629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1" name="Google Shape;661;p57"/>
          <p:cNvCxnSpPr/>
          <p:nvPr/>
        </p:nvCxnSpPr>
        <p:spPr>
          <a:xfrm rot="10800000">
            <a:off x="2128444" y="3095729"/>
            <a:ext cx="114900" cy="114900"/>
          </a:xfrm>
          <a:prstGeom prst="straightConnector1">
            <a:avLst/>
          </a:prstGeom>
          <a:noFill/>
          <a:ln cap="flat" cmpd="sng" w="114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2" name="Google Shape;662;p57"/>
          <p:cNvCxnSpPr/>
          <p:nvPr/>
        </p:nvCxnSpPr>
        <p:spPr>
          <a:xfrm flipH="1">
            <a:off x="2128444" y="3095602"/>
            <a:ext cx="114900" cy="114900"/>
          </a:xfrm>
          <a:prstGeom prst="straightConnector1">
            <a:avLst/>
          </a:prstGeom>
          <a:noFill/>
          <a:ln cap="flat" cmpd="sng" w="114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3" name="Google Shape;663;p57"/>
          <p:cNvSpPr/>
          <p:nvPr/>
        </p:nvSpPr>
        <p:spPr>
          <a:xfrm>
            <a:off x="3380316" y="3065014"/>
            <a:ext cx="162900" cy="1629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4" name="Google Shape;664;p57"/>
          <p:cNvCxnSpPr/>
          <p:nvPr/>
        </p:nvCxnSpPr>
        <p:spPr>
          <a:xfrm rot="10800000">
            <a:off x="3404267" y="3088964"/>
            <a:ext cx="114900" cy="114900"/>
          </a:xfrm>
          <a:prstGeom prst="straightConnector1">
            <a:avLst/>
          </a:prstGeom>
          <a:noFill/>
          <a:ln cap="flat" cmpd="sng" w="114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5" name="Google Shape;665;p57"/>
          <p:cNvCxnSpPr/>
          <p:nvPr/>
        </p:nvCxnSpPr>
        <p:spPr>
          <a:xfrm flipH="1">
            <a:off x="3404267" y="3088836"/>
            <a:ext cx="114900" cy="114900"/>
          </a:xfrm>
          <a:prstGeom prst="straightConnector1">
            <a:avLst/>
          </a:prstGeom>
          <a:noFill/>
          <a:ln cap="flat" cmpd="sng" w="114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6" name="Google Shape;666;p57"/>
          <p:cNvCxnSpPr>
            <a:stCxn id="663" idx="2"/>
          </p:cNvCxnSpPr>
          <p:nvPr/>
        </p:nvCxnSpPr>
        <p:spPr>
          <a:xfrm flipH="1">
            <a:off x="2456616" y="3146464"/>
            <a:ext cx="923700" cy="2940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7" name="Google Shape;667;p57"/>
          <p:cNvSpPr/>
          <p:nvPr/>
        </p:nvSpPr>
        <p:spPr>
          <a:xfrm rot="5400000">
            <a:off x="2738530" y="2571204"/>
            <a:ext cx="186900" cy="1211700"/>
          </a:xfrm>
          <a:prstGeom prst="can">
            <a:avLst>
              <a:gd fmla="val 25000" name="adj"/>
            </a:avLst>
          </a:prstGeom>
          <a:solidFill>
            <a:srgbClr val="277FF8">
              <a:alpha val="40000"/>
            </a:srgbClr>
          </a:solidFill>
          <a:ln cap="flat" cmpd="sng" w="11475">
            <a:solidFill>
              <a:srgbClr val="692A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57"/>
          <p:cNvSpPr/>
          <p:nvPr/>
        </p:nvSpPr>
        <p:spPr>
          <a:xfrm>
            <a:off x="4873268" y="681803"/>
            <a:ext cx="3693900" cy="23628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7"/>
          <p:cNvSpPr/>
          <p:nvPr/>
        </p:nvSpPr>
        <p:spPr>
          <a:xfrm>
            <a:off x="5168451" y="1460779"/>
            <a:ext cx="1320000" cy="583200"/>
          </a:xfrm>
          <a:prstGeom prst="ellipse">
            <a:avLst/>
          </a:prstGeom>
          <a:solidFill>
            <a:srgbClr val="FFFF00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Inunaki</a:t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7"/>
          <p:cNvSpPr/>
          <p:nvPr/>
        </p:nvSpPr>
        <p:spPr>
          <a:xfrm flipH="1" rot="2647439">
            <a:off x="4988324" y="1945419"/>
            <a:ext cx="208126" cy="1360558"/>
          </a:xfrm>
          <a:prstGeom prst="can">
            <a:avLst>
              <a:gd fmla="val 25000" name="adj"/>
            </a:avLst>
          </a:prstGeom>
          <a:solidFill>
            <a:srgbClr val="FF0000">
              <a:alpha val="38820"/>
            </a:srgbClr>
          </a:solidFill>
          <a:ln cap="flat" cmpd="sng" w="11475">
            <a:solidFill>
              <a:srgbClr val="692A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7"/>
          <p:cNvSpPr/>
          <p:nvPr/>
        </p:nvSpPr>
        <p:spPr>
          <a:xfrm>
            <a:off x="6085554" y="619075"/>
            <a:ext cx="933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8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TRIAL GCP</a:t>
            </a:r>
            <a:endParaRPr sz="1325"/>
          </a:p>
        </p:txBody>
      </p:sp>
      <p:sp>
        <p:nvSpPr>
          <p:cNvPr id="672" name="Google Shape;672;p57"/>
          <p:cNvSpPr/>
          <p:nvPr/>
        </p:nvSpPr>
        <p:spPr>
          <a:xfrm>
            <a:off x="6954945" y="1666226"/>
            <a:ext cx="1184400" cy="5832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ProjectB</a:t>
            </a:r>
            <a:endParaRPr b="0" i="0" sz="11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25">
                <a:solidFill>
                  <a:srgbClr val="3F3F3F"/>
                </a:solidFill>
              </a:rPr>
              <a:t>MD-Link</a:t>
            </a:r>
            <a:endParaRPr sz="1125">
              <a:solidFill>
                <a:srgbClr val="3F3F3F"/>
              </a:solidFill>
            </a:endParaRPr>
          </a:p>
        </p:txBody>
      </p:sp>
      <p:sp>
        <p:nvSpPr>
          <p:cNvPr id="673" name="Google Shape;673;p57"/>
          <p:cNvSpPr/>
          <p:nvPr/>
        </p:nvSpPr>
        <p:spPr>
          <a:xfrm>
            <a:off x="6935439" y="1053917"/>
            <a:ext cx="1184400" cy="5832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ProjectA</a:t>
            </a:r>
            <a:endParaRPr b="0" i="0" sz="10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例)総菜</a:t>
            </a:r>
            <a:endParaRPr b="0" i="0" sz="10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システム</a:t>
            </a:r>
            <a:endParaRPr sz="1025"/>
          </a:p>
        </p:txBody>
      </p:sp>
      <p:sp>
        <p:nvSpPr>
          <p:cNvPr id="674" name="Google Shape;674;p57"/>
          <p:cNvSpPr/>
          <p:nvPr/>
        </p:nvSpPr>
        <p:spPr>
          <a:xfrm>
            <a:off x="5512462" y="1970616"/>
            <a:ext cx="188700" cy="188700"/>
          </a:xfrm>
          <a:prstGeom prst="ellipse">
            <a:avLst/>
          </a:prstGeom>
          <a:solidFill>
            <a:schemeClr val="accent5"/>
          </a:solidFill>
          <a:ln cap="flat" cmpd="sng" w="11475">
            <a:solidFill>
              <a:srgbClr val="692A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57"/>
          <p:cNvSpPr/>
          <p:nvPr/>
        </p:nvSpPr>
        <p:spPr>
          <a:xfrm>
            <a:off x="1783804" y="2664216"/>
            <a:ext cx="933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</a:t>
            </a:r>
            <a:endParaRPr sz="1325"/>
          </a:p>
        </p:txBody>
      </p:sp>
      <p:sp>
        <p:nvSpPr>
          <p:cNvPr id="676" name="Google Shape;676;p57"/>
          <p:cNvSpPr/>
          <p:nvPr/>
        </p:nvSpPr>
        <p:spPr>
          <a:xfrm>
            <a:off x="2915491" y="2664216"/>
            <a:ext cx="933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</a:t>
            </a:r>
            <a:endParaRPr sz="1325"/>
          </a:p>
        </p:txBody>
      </p:sp>
      <p:sp>
        <p:nvSpPr>
          <p:cNvPr id="677" name="Google Shape;677;p57"/>
          <p:cNvSpPr/>
          <p:nvPr/>
        </p:nvSpPr>
        <p:spPr>
          <a:xfrm>
            <a:off x="6136743" y="1216084"/>
            <a:ext cx="959512" cy="419745"/>
          </a:xfrm>
          <a:custGeom>
            <a:rect b="b" l="l" r="r" t="t"/>
            <a:pathLst>
              <a:path extrusionOk="0" h="463807" w="1060234">
                <a:moveTo>
                  <a:pt x="966716" y="0"/>
                </a:moveTo>
                <a:cubicBezTo>
                  <a:pt x="475745" y="209550"/>
                  <a:pt x="-15225" y="419100"/>
                  <a:pt x="361" y="457200"/>
                </a:cubicBezTo>
                <a:cubicBezTo>
                  <a:pt x="15947" y="495300"/>
                  <a:pt x="538090" y="361950"/>
                  <a:pt x="1060234" y="228600"/>
                </a:cubicBezTo>
              </a:path>
            </a:pathLst>
          </a:custGeom>
          <a:noFill/>
          <a:ln cap="flat" cmpd="sng" w="258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57"/>
          <p:cNvSpPr/>
          <p:nvPr/>
        </p:nvSpPr>
        <p:spPr>
          <a:xfrm>
            <a:off x="1667410" y="1892209"/>
            <a:ext cx="3874039" cy="1406061"/>
          </a:xfrm>
          <a:custGeom>
            <a:rect b="b" l="l" r="r" t="t"/>
            <a:pathLst>
              <a:path extrusionOk="0" h="1553659" w="4280706">
                <a:moveTo>
                  <a:pt x="529588" y="0"/>
                </a:moveTo>
                <a:cubicBezTo>
                  <a:pt x="145124" y="579293"/>
                  <a:pt x="-239339" y="1158587"/>
                  <a:pt x="186688" y="1392382"/>
                </a:cubicBezTo>
                <a:cubicBezTo>
                  <a:pt x="612715" y="1626177"/>
                  <a:pt x="2403415" y="1584614"/>
                  <a:pt x="3085751" y="1402773"/>
                </a:cubicBezTo>
                <a:cubicBezTo>
                  <a:pt x="3768087" y="1220932"/>
                  <a:pt x="4024396" y="761134"/>
                  <a:pt x="4280706" y="301337"/>
                </a:cubicBezTo>
              </a:path>
            </a:pathLst>
          </a:custGeom>
          <a:noFill/>
          <a:ln cap="flat" cmpd="sng" w="28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7"/>
          <p:cNvSpPr/>
          <p:nvPr/>
        </p:nvSpPr>
        <p:spPr>
          <a:xfrm>
            <a:off x="2158410" y="1617135"/>
            <a:ext cx="1320000" cy="583200"/>
          </a:xfrm>
          <a:prstGeom prst="ellipse">
            <a:avLst/>
          </a:prstGeom>
          <a:solidFill>
            <a:srgbClr val="FFFF00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DataSpider</a:t>
            </a:r>
            <a:endParaRPr b="0" i="0" sz="11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7"/>
          <p:cNvSpPr/>
          <p:nvPr/>
        </p:nvSpPr>
        <p:spPr>
          <a:xfrm>
            <a:off x="658875" y="1175199"/>
            <a:ext cx="1320000" cy="5832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SystemX</a:t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7"/>
          <p:cNvSpPr/>
          <p:nvPr/>
        </p:nvSpPr>
        <p:spPr>
          <a:xfrm>
            <a:off x="1922350" y="927731"/>
            <a:ext cx="1320000" cy="5832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SystemY</a:t>
            </a:r>
            <a:endParaRPr b="0" i="0" sz="1325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7"/>
          <p:cNvSpPr/>
          <p:nvPr/>
        </p:nvSpPr>
        <p:spPr>
          <a:xfrm>
            <a:off x="1742221" y="1479022"/>
            <a:ext cx="716849" cy="286876"/>
          </a:xfrm>
          <a:custGeom>
            <a:rect b="b" l="l" r="r" t="t"/>
            <a:pathLst>
              <a:path extrusionOk="0" h="316990" w="792098">
                <a:moveTo>
                  <a:pt x="197427" y="0"/>
                </a:moveTo>
                <a:cubicBezTo>
                  <a:pt x="510020" y="142009"/>
                  <a:pt x="822614" y="284019"/>
                  <a:pt x="789709" y="311728"/>
                </a:cubicBezTo>
                <a:cubicBezTo>
                  <a:pt x="756805" y="339437"/>
                  <a:pt x="378402" y="252846"/>
                  <a:pt x="0" y="166255"/>
                </a:cubicBezTo>
              </a:path>
            </a:pathLst>
          </a:custGeom>
          <a:noFill/>
          <a:ln cap="flat" cmpd="sng" w="258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7"/>
          <p:cNvSpPr/>
          <p:nvPr/>
        </p:nvSpPr>
        <p:spPr>
          <a:xfrm>
            <a:off x="2156069" y="1826331"/>
            <a:ext cx="188700" cy="188700"/>
          </a:xfrm>
          <a:prstGeom prst="ellipse">
            <a:avLst/>
          </a:prstGeom>
          <a:solidFill>
            <a:srgbClr val="00549A"/>
          </a:solidFill>
          <a:ln cap="flat" cmpd="sng" w="11475">
            <a:solidFill>
              <a:srgbClr val="692A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8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57"/>
          <p:cNvSpPr/>
          <p:nvPr/>
        </p:nvSpPr>
        <p:spPr>
          <a:xfrm>
            <a:off x="840121" y="1789282"/>
            <a:ext cx="933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68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西友</a:t>
            </a:r>
            <a:endParaRPr b="0" i="0" sz="168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68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</a:t>
            </a:r>
            <a:endParaRPr sz="1325"/>
          </a:p>
        </p:txBody>
      </p:sp>
      <p:sp>
        <p:nvSpPr>
          <p:cNvPr id="685" name="Google Shape;685;p57"/>
          <p:cNvSpPr/>
          <p:nvPr/>
        </p:nvSpPr>
        <p:spPr>
          <a:xfrm>
            <a:off x="5064975" y="3088825"/>
            <a:ext cx="4014900" cy="17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①現状InunakiにはVPN経路はないので新たにデータセンタのRTXと構築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②Inunakiのプライベートアドレスをアサイン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③Inunaki のストレージにPSC(PrivateServiceConnection)を作成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※ただし、リソース名(=DNS登録)は 例)inunaki.storage.googleapis.com</a:t>
            </a:r>
            <a:endParaRPr sz="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などとする。 </a:t>
            </a:r>
            <a:r>
              <a:rPr lang="ja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storage.googleapis.comでの登録はNG</a:t>
            </a:r>
            <a:endParaRPr sz="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ja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before/afterで storage.googleapis.comの名前解決が変わらないことを必ず確認</a:t>
            </a:r>
            <a:endParaRPr sz="7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④Inunakiのプライベートネットワークをデータセンタ側に広報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[以降ネットワーク作業]</a:t>
            </a:r>
            <a:endParaRPr sz="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■PSCで得られたIPアドレスをセンター間FWにて変換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■西友DNSで例)inunaki.storage.googleapis.comを変換アドレスで登録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■DataSpiderは inunaki.storage.googleapis.comをターゲットに設定を行う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※西友起点での通信のみのためTRIAL側でのDNS登録は不要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57"/>
          <p:cNvSpPr txBox="1"/>
          <p:nvPr/>
        </p:nvSpPr>
        <p:spPr>
          <a:xfrm>
            <a:off x="4735119" y="2381518"/>
            <a:ext cx="402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275" lIns="82650" spcFirstLastPara="1" rIns="82650" wrap="square" tIns="41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1325"/>
          </a:p>
        </p:txBody>
      </p:sp>
      <p:sp>
        <p:nvSpPr>
          <p:cNvPr id="687" name="Google Shape;687;p57"/>
          <p:cNvSpPr txBox="1"/>
          <p:nvPr/>
        </p:nvSpPr>
        <p:spPr>
          <a:xfrm>
            <a:off x="5155127" y="1666226"/>
            <a:ext cx="402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275" lIns="82650" spcFirstLastPara="1" rIns="82650" wrap="square" tIns="41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1325"/>
          </a:p>
        </p:txBody>
      </p:sp>
      <p:sp>
        <p:nvSpPr>
          <p:cNvPr id="688" name="Google Shape;688;p57"/>
          <p:cNvSpPr txBox="1"/>
          <p:nvPr/>
        </p:nvSpPr>
        <p:spPr>
          <a:xfrm>
            <a:off x="5595859" y="2028096"/>
            <a:ext cx="402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275" lIns="82650" spcFirstLastPara="1" rIns="82650" wrap="square" tIns="41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1325"/>
          </a:p>
        </p:txBody>
      </p:sp>
      <p:sp>
        <p:nvSpPr>
          <p:cNvPr id="689" name="Google Shape;689;p57"/>
          <p:cNvSpPr txBox="1"/>
          <p:nvPr/>
        </p:nvSpPr>
        <p:spPr>
          <a:xfrm>
            <a:off x="5311435" y="2372282"/>
            <a:ext cx="402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275" lIns="82650" spcFirstLastPara="1" rIns="82650" wrap="square" tIns="41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sz="1325"/>
          </a:p>
        </p:txBody>
      </p:sp>
      <p:sp>
        <p:nvSpPr>
          <p:cNvPr id="690" name="Google Shape;690;p57"/>
          <p:cNvSpPr/>
          <p:nvPr/>
        </p:nvSpPr>
        <p:spPr>
          <a:xfrm>
            <a:off x="7394500" y="64150"/>
            <a:ext cx="1685400" cy="2334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小峰さん資料より</a:t>
            </a:r>
            <a:endParaRPr/>
          </a:p>
        </p:txBody>
      </p:sp>
      <p:sp>
        <p:nvSpPr>
          <p:cNvPr id="691" name="Google Shape;691;p57"/>
          <p:cNvSpPr/>
          <p:nvPr/>
        </p:nvSpPr>
        <p:spPr>
          <a:xfrm>
            <a:off x="6335961" y="2274810"/>
            <a:ext cx="1184400" cy="583200"/>
          </a:xfrm>
          <a:prstGeom prst="ellipse">
            <a:avLst/>
          </a:prstGeom>
          <a:solidFill>
            <a:srgbClr val="F2F2F2"/>
          </a:solidFill>
          <a:ln cap="flat" cmpd="sng" w="114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1275" lIns="82650" spcFirstLastPara="1" rIns="82650" wrap="square" tIns="4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25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ProjectC</a:t>
            </a:r>
            <a:endParaRPr sz="1325">
              <a:solidFill>
                <a:srgbClr val="3F3F3F"/>
              </a:solidFill>
            </a:endParaRPr>
          </a:p>
        </p:txBody>
      </p:sp>
      <p:sp>
        <p:nvSpPr>
          <p:cNvPr id="692" name="Google Shape;692;p57"/>
          <p:cNvSpPr txBox="1"/>
          <p:nvPr/>
        </p:nvSpPr>
        <p:spPr>
          <a:xfrm>
            <a:off x="334825" y="3818450"/>
            <a:ext cx="4209000" cy="940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</a:rPr>
              <a:t>案：inunaki の CloudStrage バケットを経由して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</a:rPr>
              <a:t>　　TRIAL社内SYSに連携出来ないか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</a:rPr>
              <a:t>　　→百岳さん「業務SYSはinunakiじゃダメじゃない？」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8"/>
          <p:cNvSpPr txBox="1"/>
          <p:nvPr/>
        </p:nvSpPr>
        <p:spPr>
          <a:xfrm>
            <a:off x="0" y="0"/>
            <a:ext cx="4449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25年10月時点で連携予定のトライアルグループ内の仕組み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698" name="Google Shape;698;p58"/>
          <p:cNvSpPr/>
          <p:nvPr/>
        </p:nvSpPr>
        <p:spPr>
          <a:xfrm>
            <a:off x="321425" y="2072425"/>
            <a:ext cx="735900" cy="66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西友</a:t>
            </a:r>
            <a:endParaRPr/>
          </a:p>
        </p:txBody>
      </p:sp>
      <p:sp>
        <p:nvSpPr>
          <p:cNvPr id="699" name="Google Shape;699;p58"/>
          <p:cNvSpPr/>
          <p:nvPr/>
        </p:nvSpPr>
        <p:spPr>
          <a:xfrm>
            <a:off x="1361875" y="2072425"/>
            <a:ext cx="862800" cy="66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TRIAL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inunaki</a:t>
            </a:r>
            <a:endParaRPr/>
          </a:p>
        </p:txBody>
      </p:sp>
      <p:sp>
        <p:nvSpPr>
          <p:cNvPr id="700" name="Google Shape;700;p58"/>
          <p:cNvSpPr txBox="1"/>
          <p:nvPr/>
        </p:nvSpPr>
        <p:spPr>
          <a:xfrm>
            <a:off x="3705000" y="727450"/>
            <a:ext cx="4398600" cy="406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</a:t>
            </a:r>
            <a:r>
              <a:rPr lang="ja" sz="1800">
                <a:solidFill>
                  <a:srgbClr val="0000FF"/>
                </a:solidFill>
              </a:rPr>
              <a:t>MD-Link for SEIYU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窓口：王軍 (上園)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</a:t>
            </a:r>
            <a:r>
              <a:rPr lang="ja" sz="1800">
                <a:solidFill>
                  <a:srgbClr val="0000FF"/>
                </a:solidFill>
              </a:rPr>
              <a:t>生鮮システム(惣菜受注データ連携)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窓口：劉征 (藤本)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</a:t>
            </a:r>
            <a:r>
              <a:rPr lang="ja" sz="1800">
                <a:solidFill>
                  <a:srgbClr val="0000FF"/>
                </a:solidFill>
              </a:rPr>
              <a:t>inunaki(データレイク)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窓口：松尾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01" name="Google Shape;701;p58"/>
          <p:cNvCxnSpPr>
            <a:stCxn id="698" idx="0"/>
          </p:cNvCxnSpPr>
          <p:nvPr/>
        </p:nvCxnSpPr>
        <p:spPr>
          <a:xfrm rot="-5400000">
            <a:off x="1702325" y="-68225"/>
            <a:ext cx="1127700" cy="3153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702" name="Google Shape;702;p58"/>
          <p:cNvSpPr txBox="1"/>
          <p:nvPr/>
        </p:nvSpPr>
        <p:spPr>
          <a:xfrm>
            <a:off x="981225" y="738986"/>
            <a:ext cx="2196900" cy="40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</a:rPr>
              <a:t>今は直接連携中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</a:rPr>
              <a:t>→今後XXXXX経由に変える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03" name="Google Shape;703;p58"/>
          <p:cNvSpPr/>
          <p:nvPr/>
        </p:nvSpPr>
        <p:spPr>
          <a:xfrm>
            <a:off x="1255375" y="1868575"/>
            <a:ext cx="1075800" cy="1075800"/>
          </a:xfrm>
          <a:prstGeom prst="mathMultiply">
            <a:avLst>
              <a:gd fmla="val 6428" name="adj1"/>
            </a:avLst>
          </a:prstGeom>
          <a:solidFill>
            <a:srgbClr val="FFFF00">
              <a:alpha val="4118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58"/>
          <p:cNvSpPr/>
          <p:nvPr/>
        </p:nvSpPr>
        <p:spPr>
          <a:xfrm>
            <a:off x="1361875" y="2820450"/>
            <a:ext cx="862800" cy="66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TRIAL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XXXXX</a:t>
            </a:r>
            <a:endParaRPr/>
          </a:p>
        </p:txBody>
      </p:sp>
      <p:sp>
        <p:nvSpPr>
          <p:cNvPr id="705" name="Google Shape;705;p58"/>
          <p:cNvSpPr/>
          <p:nvPr/>
        </p:nvSpPr>
        <p:spPr>
          <a:xfrm>
            <a:off x="2347275" y="2883750"/>
            <a:ext cx="1235100" cy="54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B7B7B7"/>
                </a:solidFill>
              </a:rPr>
              <a:t>社内連携</a:t>
            </a:r>
            <a:endParaRPr>
              <a:solidFill>
                <a:srgbClr val="B7B7B7"/>
              </a:solidFill>
            </a:endParaRPr>
          </a:p>
        </p:txBody>
      </p:sp>
      <p:cxnSp>
        <p:nvCxnSpPr>
          <p:cNvPr id="706" name="Google Shape;706;p58"/>
          <p:cNvCxnSpPr>
            <a:stCxn id="698" idx="3"/>
            <a:endCxn id="704" idx="1"/>
          </p:cNvCxnSpPr>
          <p:nvPr/>
        </p:nvCxnSpPr>
        <p:spPr>
          <a:xfrm>
            <a:off x="1057325" y="2406475"/>
            <a:ext cx="304500" cy="74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CFE2F3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9"/>
          <p:cNvSpPr txBox="1"/>
          <p:nvPr/>
        </p:nvSpPr>
        <p:spPr>
          <a:xfrm>
            <a:off x="676800" y="505800"/>
            <a:ext cx="8403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33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その他、参考資料など</a:t>
            </a:r>
            <a:endParaRPr sz="23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712" name="Google Shape;712;p59"/>
          <p:cNvSpPr txBox="1"/>
          <p:nvPr/>
        </p:nvSpPr>
        <p:spPr>
          <a:xfrm>
            <a:off x="32550" y="32550"/>
            <a:ext cx="2597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793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" name="Google Shape;72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9800"/>
            <a:ext cx="9144000" cy="4029077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62"/>
          <p:cNvSpPr txBox="1"/>
          <p:nvPr/>
        </p:nvSpPr>
        <p:spPr>
          <a:xfrm>
            <a:off x="0" y="0"/>
            <a:ext cx="4609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※(参考)今のMD_Linkとのデータ連携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9" name="Google Shape;729;p62"/>
          <p:cNvSpPr/>
          <p:nvPr/>
        </p:nvSpPr>
        <p:spPr>
          <a:xfrm>
            <a:off x="7394500" y="64150"/>
            <a:ext cx="1685400" cy="2334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森さん資料より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CFE2F3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3"/>
          <p:cNvSpPr txBox="1"/>
          <p:nvPr/>
        </p:nvSpPr>
        <p:spPr>
          <a:xfrm>
            <a:off x="676800" y="505800"/>
            <a:ext cx="8403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33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百岳さんMT</a:t>
            </a:r>
            <a:endParaRPr sz="23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735" name="Google Shape;735;p63"/>
          <p:cNvSpPr txBox="1"/>
          <p:nvPr/>
        </p:nvSpPr>
        <p:spPr>
          <a:xfrm>
            <a:off x="32550" y="32550"/>
            <a:ext cx="2597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25/10/</a:t>
            </a:r>
            <a:r>
              <a:rPr lang="ja" sz="1800">
                <a:solidFill>
                  <a:schemeClr val="dk2"/>
                </a:solidFill>
              </a:rPr>
              <a:t>14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4"/>
          <p:cNvSpPr txBox="1"/>
          <p:nvPr/>
        </p:nvSpPr>
        <p:spPr>
          <a:xfrm>
            <a:off x="0" y="0"/>
            <a:ext cx="4449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251014_Memo　西友小峰さん、百岳さん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741" name="Google Shape;741;p64"/>
          <p:cNvSpPr txBox="1"/>
          <p:nvPr/>
        </p:nvSpPr>
        <p:spPr>
          <a:xfrm>
            <a:off x="62700" y="278775"/>
            <a:ext cx="9018600" cy="4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検討：Inunakiを経由したシステムデータ連携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懸念：ミッションクリティカルなデータ連携にはBCP設計的に適していない構成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どう進める？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0000FF"/>
                </a:solidFill>
              </a:rPr>
              <a:t>業務システム間連携　</a:t>
            </a:r>
            <a:r>
              <a:rPr lang="ja" sz="1800">
                <a:solidFill>
                  <a:schemeClr val="dk2"/>
                </a:solidFill>
              </a:rPr>
              <a:t>と　</a:t>
            </a:r>
            <a:r>
              <a:rPr lang="ja" sz="1800">
                <a:solidFill>
                  <a:srgbClr val="0000FF"/>
                </a:solidFill>
              </a:rPr>
              <a:t>データ活用連携</a:t>
            </a:r>
            <a:r>
              <a:rPr lang="ja" sz="1800">
                <a:solidFill>
                  <a:schemeClr val="dk2"/>
                </a:solidFill>
              </a:rPr>
              <a:t>は分けて考える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>
                <a:solidFill>
                  <a:schemeClr val="dk2"/>
                </a:solidFill>
              </a:rPr>
              <a:t>(例えば受発注データ)   　　 (売上・在庫分析など)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>
                <a:solidFill>
                  <a:schemeClr val="dk2"/>
                </a:solidFill>
              </a:rPr>
              <a:t>　　　　　　　　　　　　　　↑こっちは松尾・榊田(inunaki連携)でOK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今回の「惣菜受発注データ」は、データマネジメント領域とは別では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ダイレクトにデータのやり取りを生鮮SYSとやったほうが良いのでは？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ハブを作ると１個コピーが増えて障害確率が上がるのでは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42" name="Google Shape;742;p64"/>
          <p:cNvCxnSpPr/>
          <p:nvPr/>
        </p:nvCxnSpPr>
        <p:spPr>
          <a:xfrm flipH="1" rot="10800000">
            <a:off x="392425" y="2309600"/>
            <a:ext cx="6213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5"/>
          <p:cNvSpPr txBox="1"/>
          <p:nvPr/>
        </p:nvSpPr>
        <p:spPr>
          <a:xfrm>
            <a:off x="0" y="0"/>
            <a:ext cx="4449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  <a:latin typeface="BIZ UDPGothic"/>
                <a:ea typeface="BIZ UDPGothic"/>
                <a:cs typeface="BIZ UDPGothic"/>
                <a:sym typeface="BIZ UDPGothic"/>
              </a:rPr>
              <a:t>251014_Memo</a:t>
            </a:r>
            <a:endParaRPr sz="1200">
              <a:solidFill>
                <a:schemeClr val="dk2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pic>
        <p:nvPicPr>
          <p:cNvPr id="748" name="Google Shape;74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50" y="255308"/>
            <a:ext cx="4453426" cy="4269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7321" y="240600"/>
            <a:ext cx="4453426" cy="4283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STER01">
  <a:themeElements>
    <a:clrScheme name="walmart color palette">
      <a:dk1>
        <a:srgbClr val="000000"/>
      </a:dk1>
      <a:lt1>
        <a:srgbClr val="FFFFFF"/>
      </a:lt1>
      <a:dk2>
        <a:srgbClr val="0071CE"/>
      </a:dk2>
      <a:lt2>
        <a:srgbClr val="E7E6E6"/>
      </a:lt2>
      <a:accent1>
        <a:srgbClr val="FA6400"/>
      </a:accent1>
      <a:accent2>
        <a:srgbClr val="5FB346"/>
      </a:accent2>
      <a:accent3>
        <a:srgbClr val="041E41"/>
      </a:accent3>
      <a:accent4>
        <a:srgbClr val="FFC220"/>
      </a:accent4>
      <a:accent5>
        <a:srgbClr val="DE1C24"/>
      </a:accent5>
      <a:accent6>
        <a:srgbClr val="FFF200"/>
      </a:accent6>
      <a:hlink>
        <a:srgbClr val="05D3C1"/>
      </a:hlink>
      <a:folHlink>
        <a:srgbClr val="ED7EB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