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</p:sldIdLst>
  <p:sldSz cx="12192000" cy="6858000"/>
  <p:notesSz cx="6858000" cy="12192000"/>
  <p:custDataLst>
    <p:tags r:id="rId9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gs" Target="tags/tag1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5120640" cy="384048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7365D"/>
                </a:solidFill>
                <a:latin typeface="MS Mincho" panose="02020609040205080304" charset="-128"/>
                <a:ea typeface="MS Mincho" panose="02020609040205080304" charset="-128"/>
                <a:cs typeface="Aptos" pitchFamily="34" charset="-120"/>
              </a:rPr>
              <a:t>申請対象の構成図</a:t>
            </a:r>
            <a:endParaRPr lang="en-US" sz="2300" b="1" dirty="0">
              <a:solidFill>
                <a:srgbClr val="17365D"/>
              </a:solidFill>
              <a:latin typeface="MS Mincho" panose="02020609040205080304" charset="-128"/>
              <a:ea typeface="MS Mincho" panose="02020609040205080304" charset="-128"/>
              <a:cs typeface="Aptos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9966960" cy="210312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B6573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日次データを大阪から自有東京 GCS へバックアップし、SMART で処理後、Seiyu GCS へ最終 TXT のみ交付</a:t>
            </a:r>
            <a:endParaRPr lang="en-US" sz="900" dirty="0">
              <a:solidFill>
                <a:srgbClr val="5B6573"/>
              </a:solidFill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173968" y="256032"/>
            <a:ext cx="548640" cy="210312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3"/>
                </a:solidFill>
                <a:latin typeface="MS Mincho" panose="02020609040205080304" charset="-128"/>
                <a:ea typeface="MS Mincho" panose="02020609040205080304" charset="-128"/>
                <a:cs typeface="Aptos" pitchFamily="34" charset="-120"/>
              </a:rPr>
              <a:t>1 / 2</a:t>
            </a:r>
            <a:endParaRPr lang="en-US" sz="1000" dirty="0">
              <a:solidFill>
                <a:srgbClr val="5B6573"/>
              </a:solidFill>
              <a:latin typeface="MS Mincho" panose="02020609040205080304" charset="-128"/>
              <a:ea typeface="MS Mincho" panose="02020609040205080304" charset="-128"/>
              <a:cs typeface="Aptos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11201400" cy="0"/>
          </a:xfrm>
          <a:prstGeom prst="line">
            <a:avLst/>
          </a:prstGeom>
          <a:noFill/>
          <a:ln w="15875">
            <a:solidFill>
              <a:srgbClr val="2F75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33272"/>
            <a:ext cx="6583680" cy="18288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5B6573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リージョン：東京 asia-northeast1　・　dev / stg / prod</a:t>
            </a:r>
            <a:endParaRPr lang="en-US" sz="800" dirty="0">
              <a:solidFill>
                <a:srgbClr val="5B6573"/>
              </a:solidFill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818120" y="1024128"/>
            <a:ext cx="146304" cy="146304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28432" y="987552"/>
            <a:ext cx="658368" cy="201168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5B6573"/>
                </a:solidFill>
                <a:latin typeface="MS Mincho" panose="02020609040205080304" charset="-128"/>
                <a:ea typeface="MS Mincho" panose="02020609040205080304" charset="-128"/>
                <a:cs typeface="Aptos" pitchFamily="34" charset="-120"/>
              </a:rPr>
              <a:t>今回申請</a:t>
            </a:r>
            <a:endParaRPr lang="en-US" sz="800" dirty="0">
              <a:solidFill>
                <a:srgbClr val="5B6573"/>
              </a:solidFill>
              <a:latin typeface="MS Mincho" panose="02020609040205080304" charset="-128"/>
              <a:ea typeface="MS Mincho" panose="02020609040205080304" charset="-128"/>
              <a:cs typeface="Aptos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869680" y="1024128"/>
            <a:ext cx="146304" cy="146304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79992" y="987552"/>
            <a:ext cx="658368" cy="201168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5B6573"/>
                </a:solidFill>
                <a:latin typeface="MS Mincho" panose="02020609040205080304" charset="-128"/>
                <a:ea typeface="MS Mincho" panose="02020609040205080304" charset="-128"/>
                <a:cs typeface="Aptos" pitchFamily="34" charset="-120"/>
              </a:rPr>
              <a:t>常時稼働</a:t>
            </a:r>
            <a:endParaRPr lang="en-US" sz="800" dirty="0">
              <a:solidFill>
                <a:srgbClr val="5B6573"/>
              </a:solidFill>
              <a:latin typeface="MS Mincho" panose="02020609040205080304" charset="-128"/>
              <a:ea typeface="MS Mincho" panose="02020609040205080304" charset="-128"/>
              <a:cs typeface="Aptos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921240" y="1024128"/>
            <a:ext cx="146304" cy="14630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131552" y="987552"/>
            <a:ext cx="731520" cy="201168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5B6573"/>
                </a:solidFill>
                <a:latin typeface="MS Mincho" panose="02020609040205080304" charset="-128"/>
                <a:ea typeface="MS Mincho" panose="02020609040205080304" charset="-128"/>
                <a:cs typeface="Aptos" pitchFamily="34" charset="-120"/>
              </a:rPr>
              <a:t>予測フロー</a:t>
            </a:r>
            <a:endParaRPr lang="en-US" sz="800" dirty="0">
              <a:solidFill>
                <a:srgbClr val="5B6573"/>
              </a:solidFill>
              <a:latin typeface="MS Mincho" panose="02020609040205080304" charset="-128"/>
              <a:ea typeface="MS Mincho" panose="02020609040205080304" charset="-128"/>
              <a:cs typeface="Aptos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0991088" y="1024128"/>
            <a:ext cx="146304" cy="146304"/>
          </a:xfrm>
          <a:prstGeom prst="rect">
            <a:avLst/>
          </a:prstGeom>
          <a:solidFill>
            <a:srgbClr val="C65911"/>
          </a:solidFill>
          <a:ln w="12700">
            <a:solidFill>
              <a:srgbClr val="C659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201400" y="987552"/>
            <a:ext cx="731520" cy="201168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5B6573"/>
                </a:solidFill>
                <a:latin typeface="MS Mincho" panose="02020609040205080304" charset="-128"/>
                <a:ea typeface="MS Mincho" panose="02020609040205080304" charset="-128"/>
                <a:cs typeface="Aptos" pitchFamily="34" charset="-120"/>
              </a:rPr>
              <a:t>既存・外部</a:t>
            </a:r>
            <a:endParaRPr lang="en-US" sz="800" dirty="0">
              <a:solidFill>
                <a:srgbClr val="5B6573"/>
              </a:solidFill>
              <a:latin typeface="MS Mincho" panose="02020609040205080304" charset="-128"/>
              <a:ea typeface="MS Mincho" panose="02020609040205080304" charset="-128"/>
              <a:cs typeface="Aptos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02920" y="1344168"/>
            <a:ext cx="2377440" cy="201168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B6573"/>
                </a:solidFill>
                <a:latin typeface="MS Mincho" panose="02020609040205080304" charset="-128"/>
                <a:ea typeface="MS Mincho" panose="02020609040205080304" charset="-128"/>
                <a:cs typeface="Aptos" pitchFamily="34" charset="-120"/>
              </a:rPr>
              <a:t>既存・外部（今回申請しない）</a:t>
            </a:r>
            <a:endParaRPr lang="en-US" sz="1000" b="1" dirty="0">
              <a:solidFill>
                <a:srgbClr val="5B6573"/>
              </a:solidFill>
              <a:latin typeface="MS Mincho" panose="02020609040205080304" charset="-128"/>
              <a:ea typeface="MS Mincho" panose="02020609040205080304" charset="-128"/>
              <a:cs typeface="Aptos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02920" y="1664208"/>
            <a:ext cx="2148840" cy="1097280"/>
          </a:xfrm>
          <a:prstGeom prst="roundRect">
            <a:avLst>
              <a:gd name="adj" fmla="val 3333"/>
            </a:avLst>
          </a:prstGeom>
          <a:solidFill>
            <a:srgbClr val="FCE4D6"/>
          </a:solidFill>
          <a:ln w="15240">
            <a:solidFill>
              <a:srgbClr val="C6591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" y="1719072"/>
            <a:ext cx="2002536" cy="987552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7365D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大阪　集計 GCS</a:t>
            </a:r>
            <a:endParaRPr lang="en-US" sz="130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  <a:p>
            <a:pPr marL="0" indent="0" algn="l">
              <a:buNone/>
            </a:pPr>
            <a:r>
              <a:rPr lang="en-US" sz="1300" b="1" dirty="0">
                <a:solidFill>
                  <a:srgbClr val="17365D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asia-northeast2</a:t>
            </a:r>
            <a:endParaRPr lang="en-US" sz="130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  <a:p>
            <a:pPr marL="0" indent="0" algn="l">
              <a:buNone/>
            </a:pPr>
            <a:r>
              <a:rPr lang="en-US" sz="1300" b="1" dirty="0">
                <a:solidFill>
                  <a:srgbClr val="17365D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日次データ + _READY</a:t>
            </a:r>
            <a:endParaRPr lang="en-US" sz="130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2907792" y="1344168"/>
            <a:ext cx="2743200" cy="201168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7365D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GCP　東京（今回申請）</a:t>
            </a:r>
            <a:endParaRPr lang="en-US" sz="1200" b="1" dirty="0">
              <a:solidFill>
                <a:srgbClr val="17365D"/>
              </a:solidFill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834640" y="1536192"/>
            <a:ext cx="6355080" cy="3063240"/>
          </a:xfrm>
          <a:prstGeom prst="roundRect">
            <a:avLst>
              <a:gd name="adj" fmla="val 2388"/>
            </a:avLst>
          </a:prstGeom>
          <a:solidFill>
            <a:srgbClr val="F5F9FD"/>
          </a:solidFill>
          <a:ln w="19050">
            <a:solidFill>
              <a:srgbClr val="2F75B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63240" y="1664208"/>
            <a:ext cx="3200400" cy="210312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F75B5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自有 GCP　asia-northeast1</a:t>
            </a:r>
            <a:endParaRPr lang="en-US" sz="1100" b="1" dirty="0">
              <a:solidFill>
                <a:srgbClr val="2F75B5"/>
              </a:solidFill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154680" y="2057400"/>
            <a:ext cx="1554480" cy="658368"/>
          </a:xfrm>
          <a:prstGeom prst="roundRect">
            <a:avLst>
              <a:gd name="adj" fmla="val 5556"/>
            </a:avLst>
          </a:prstGeom>
          <a:solidFill>
            <a:srgbClr val="EAF2F8"/>
          </a:solidFill>
          <a:ln w="15240">
            <a:solidFill>
              <a:srgbClr val="2F75B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27832" y="2112264"/>
            <a:ext cx="1408176" cy="54864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365D"/>
                </a:solidFill>
                <a:latin typeface="MS Mincho" panose="02020609040205080304" charset="-128"/>
                <a:ea typeface="MS Mincho" panose="02020609040205080304" charset="-128"/>
                <a:cs typeface="Aptos" pitchFamily="34" charset="-120"/>
              </a:rPr>
              <a:t>Storage Transfer Service</a:t>
            </a:r>
            <a:endParaRPr lang="en-US" sz="1000" dirty="0">
              <a:latin typeface="MS Mincho" panose="02020609040205080304" charset="-128"/>
              <a:ea typeface="MS Mincho" panose="02020609040205080304" charset="-128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17365D"/>
                </a:solidFill>
                <a:latin typeface="MS Mincho" panose="02020609040205080304" charset="-128"/>
                <a:ea typeface="MS Mincho" panose="02020609040205080304" charset="-128"/>
                <a:cs typeface="Aptos" pitchFamily="34" charset="-120"/>
              </a:rPr>
              <a:t>manifest / prefix</a:t>
            </a:r>
            <a:endParaRPr lang="en-US" sz="1000" dirty="0">
              <a:latin typeface="MS Mincho" panose="02020609040205080304" charset="-128"/>
              <a:ea typeface="MS Mincho" panose="02020609040205080304" charset="-128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074920" y="1965960"/>
            <a:ext cx="2148840" cy="841248"/>
          </a:xfrm>
          <a:prstGeom prst="roundRect">
            <a:avLst>
              <a:gd name="adj" fmla="val 4348"/>
            </a:avLst>
          </a:prstGeom>
          <a:solidFill>
            <a:srgbClr val="E2F0F8"/>
          </a:solidFill>
          <a:ln w="15240">
            <a:solidFill>
              <a:srgbClr val="2F75B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48072" y="2020824"/>
            <a:ext cx="2002536" cy="73152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365D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自有 Cloud Storage</a:t>
            </a:r>
            <a:endParaRPr lang="en-US" sz="110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rgbClr val="17365D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source-landing/YYYYMMDD/</a:t>
            </a:r>
            <a:endParaRPr lang="en-US" sz="110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rgbClr val="17365D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源データ 7日保管</a:t>
            </a:r>
            <a:endParaRPr lang="en-US" sz="110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074920" y="3218688"/>
            <a:ext cx="2148840" cy="841248"/>
          </a:xfrm>
          <a:prstGeom prst="roundRect">
            <a:avLst>
              <a:gd name="adj" fmla="val 4348"/>
            </a:avLst>
          </a:prstGeom>
          <a:solidFill>
            <a:srgbClr val="EAF2F8"/>
          </a:solidFill>
          <a:ln w="15240">
            <a:solidFill>
              <a:srgbClr val="2F75B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48072" y="3273552"/>
            <a:ext cx="2002536" cy="73152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365D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Cloud Run Job</a:t>
            </a:r>
            <a:endParaRPr lang="en-US" sz="110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rgbClr val="17365D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SMART 日次処理</a:t>
            </a:r>
            <a:endParaRPr lang="en-US" sz="110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rgbClr val="17365D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4 vCPU / 16 GiB</a:t>
            </a:r>
            <a:endParaRPr lang="en-US" sz="110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543800" y="3227832"/>
            <a:ext cx="1353312" cy="822960"/>
          </a:xfrm>
          <a:prstGeom prst="roundRect">
            <a:avLst>
              <a:gd name="adj" fmla="val 4444"/>
            </a:avLst>
          </a:prstGeom>
          <a:solidFill>
            <a:srgbClr val="E2F0D9"/>
          </a:solidFill>
          <a:ln w="15240">
            <a:solidFill>
              <a:srgbClr val="0F76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16952" y="3282696"/>
            <a:ext cx="1207008" cy="713232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365D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resumable upload</a:t>
            </a:r>
            <a:endParaRPr lang="en-US" sz="100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17365D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最終 TXT のみ</a:t>
            </a:r>
            <a:endParaRPr lang="en-US" sz="100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</p:txBody>
      </p:sp>
      <p:sp>
        <p:nvSpPr>
          <p:cNvPr id="30" name="Shape 28"/>
          <p:cNvSpPr/>
          <p:nvPr/>
        </p:nvSpPr>
        <p:spPr>
          <a:xfrm flipV="1">
            <a:off x="2647950" y="2386330"/>
            <a:ext cx="506730" cy="635"/>
          </a:xfrm>
          <a:prstGeom prst="line">
            <a:avLst/>
          </a:prstGeom>
          <a:noFill/>
          <a:ln w="24130">
            <a:solidFill>
              <a:srgbClr val="C65911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4709160" y="2386584"/>
            <a:ext cx="365760" cy="0"/>
          </a:xfrm>
          <a:prstGeom prst="line">
            <a:avLst/>
          </a:prstGeom>
          <a:noFill/>
          <a:ln w="2413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144768" y="2807208"/>
            <a:ext cx="0" cy="411480"/>
          </a:xfrm>
          <a:prstGeom prst="line">
            <a:avLst/>
          </a:prstGeom>
          <a:noFill/>
          <a:ln w="2413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7223760" y="3639312"/>
            <a:ext cx="320040" cy="0"/>
          </a:xfrm>
          <a:prstGeom prst="line">
            <a:avLst/>
          </a:prstGeom>
          <a:noFill/>
          <a:ln w="2413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2697480" y="2011680"/>
            <a:ext cx="438912" cy="164592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65911"/>
                </a:solidFill>
                <a:latin typeface="MS Mincho" panose="02020609040205080304" charset="-128"/>
                <a:ea typeface="MS Mincho" panose="02020609040205080304" charset="-128"/>
                <a:cs typeface="Aptos" pitchFamily="34" charset="-120"/>
              </a:rPr>
              <a:t>読み取り</a:t>
            </a:r>
            <a:endParaRPr lang="en-US" sz="800" b="1" dirty="0">
              <a:solidFill>
                <a:srgbClr val="C65911"/>
              </a:solidFill>
              <a:latin typeface="MS Mincho" panose="02020609040205080304" charset="-128"/>
              <a:ea typeface="MS Mincho" panose="02020609040205080304" charset="-128"/>
              <a:cs typeface="Aptos" pitchFamily="34" charset="-12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4690872" y="2176272"/>
            <a:ext cx="502920" cy="164592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F75B5"/>
                </a:solidFill>
                <a:latin typeface="MS Mincho" panose="02020609040205080304" charset="-128"/>
                <a:ea typeface="MS Mincho" panose="02020609040205080304" charset="-128"/>
                <a:cs typeface="Aptos" pitchFamily="34" charset="-120"/>
              </a:rPr>
              <a:t>原本保管</a:t>
            </a:r>
            <a:endParaRPr lang="en-US" sz="800" b="1" dirty="0">
              <a:solidFill>
                <a:srgbClr val="2F75B5"/>
              </a:solidFill>
              <a:latin typeface="MS Mincho" panose="02020609040205080304" charset="-128"/>
              <a:ea typeface="MS Mincho" panose="02020609040205080304" charset="-128"/>
              <a:cs typeface="Aptos" pitchFamily="34" charset="-12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245352" y="2889504"/>
            <a:ext cx="594360" cy="164592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F75B5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SMART 読取</a:t>
            </a:r>
            <a:endParaRPr lang="en-US" sz="800" b="1" dirty="0">
              <a:solidFill>
                <a:srgbClr val="2F75B5"/>
              </a:solidFill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9372600" y="1344168"/>
            <a:ext cx="2194560" cy="201168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B6573"/>
                </a:solidFill>
                <a:latin typeface="MS Mincho" panose="02020609040205080304" charset="-128"/>
                <a:ea typeface="MS Mincho" panose="02020609040205080304" charset="-128"/>
                <a:cs typeface="Aptos" pitchFamily="34" charset="-120"/>
              </a:rPr>
              <a:t>既存・相手先（容量利用）</a:t>
            </a:r>
            <a:endParaRPr lang="en-US" sz="1000" b="1" dirty="0">
              <a:solidFill>
                <a:srgbClr val="5B6573"/>
              </a:solidFill>
              <a:latin typeface="MS Mincho" panose="02020609040205080304" charset="-128"/>
              <a:ea typeface="MS Mincho" panose="02020609040205080304" charset="-128"/>
              <a:cs typeface="Aptos" pitchFamily="34" charset="-12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9605772" y="2950845"/>
            <a:ext cx="2331720" cy="1261872"/>
          </a:xfrm>
          <a:prstGeom prst="roundRect">
            <a:avLst>
              <a:gd name="adj" fmla="val 2899"/>
            </a:avLst>
          </a:prstGeom>
          <a:solidFill>
            <a:srgbClr val="E2F0D9"/>
          </a:solidFill>
          <a:ln w="15240">
            <a:solidFill>
              <a:srgbClr val="0F766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678924" y="3005709"/>
            <a:ext cx="2185416" cy="1152144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65D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Seiyu 専用 GCS</a:t>
            </a:r>
            <a:endParaRPr lang="en-US" sz="120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17365D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東京 asia-northeast1</a:t>
            </a:r>
            <a:endParaRPr lang="en-US" sz="120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17365D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result/YYYYMMDD/final.txt</a:t>
            </a:r>
            <a:endParaRPr lang="en-US" sz="120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17365D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_SUCCESS</a:t>
            </a:r>
            <a:endParaRPr lang="en-US" sz="120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</p:txBody>
      </p:sp>
      <p:sp>
        <p:nvSpPr>
          <p:cNvPr id="40" name="Shape 38"/>
          <p:cNvSpPr/>
          <p:nvPr/>
        </p:nvSpPr>
        <p:spPr>
          <a:xfrm rot="16200000">
            <a:off x="9289415" y="3331845"/>
            <a:ext cx="11430" cy="577850"/>
          </a:xfrm>
          <a:prstGeom prst="line">
            <a:avLst/>
          </a:prstGeom>
          <a:noFill/>
          <a:ln w="2413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41" name="Text 39"/>
          <p:cNvSpPr/>
          <p:nvPr/>
        </p:nvSpPr>
        <p:spPr>
          <a:xfrm>
            <a:off x="548640" y="4270248"/>
            <a:ext cx="1554480" cy="201168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9A227"/>
                </a:solidFill>
                <a:latin typeface="MS Mincho" panose="02020609040205080304" charset="-128"/>
                <a:ea typeface="MS Mincho" panose="02020609040205080304" charset="-128"/>
                <a:cs typeface="Aptos" pitchFamily="34" charset="-120"/>
              </a:rPr>
              <a:t>Cloud Scheduler</a:t>
            </a:r>
            <a:endParaRPr lang="en-US" sz="900" b="1" dirty="0">
              <a:solidFill>
                <a:srgbClr val="C9A227"/>
              </a:solidFill>
              <a:latin typeface="MS Mincho" panose="02020609040205080304" charset="-128"/>
              <a:ea typeface="MS Mincho" panose="02020609040205080304" charset="-128"/>
              <a:cs typeface="Aptos" pitchFamily="34" charset="-12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502920" y="4553712"/>
            <a:ext cx="1691640" cy="530352"/>
          </a:xfrm>
          <a:prstGeom prst="roundRect">
            <a:avLst>
              <a:gd name="adj" fmla="val 6897"/>
            </a:avLst>
          </a:prstGeom>
          <a:solidFill>
            <a:srgbClr val="FFF2CC"/>
          </a:solidFill>
          <a:ln w="15240">
            <a:solidFill>
              <a:srgbClr val="C9A22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76072" y="4608576"/>
            <a:ext cx="1545336" cy="420624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365D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毎日 指定時刻</a:t>
            </a:r>
            <a:endParaRPr lang="en-US" sz="1100" b="1" dirty="0">
              <a:solidFill>
                <a:srgbClr val="17365D"/>
              </a:solidFill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3154680" y="4416298"/>
            <a:ext cx="2240280" cy="768096"/>
          </a:xfrm>
          <a:prstGeom prst="roundRect">
            <a:avLst>
              <a:gd name="adj" fmla="val 4762"/>
            </a:avLst>
          </a:prstGeom>
          <a:solidFill>
            <a:srgbClr val="FFF2CC"/>
          </a:solidFill>
          <a:ln w="15240">
            <a:solidFill>
              <a:srgbClr val="C9A22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27832" y="4471162"/>
            <a:ext cx="2093976" cy="658368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365D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Workflows</a:t>
            </a:r>
            <a:endParaRPr lang="en-US" sz="110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rgbClr val="17365D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READY → STS → Job → 検証</a:t>
            </a:r>
            <a:endParaRPr lang="en-US" sz="110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</p:txBody>
      </p:sp>
      <p:sp>
        <p:nvSpPr>
          <p:cNvPr id="46" name="Shape 44"/>
          <p:cNvSpPr/>
          <p:nvPr/>
        </p:nvSpPr>
        <p:spPr>
          <a:xfrm rot="300000" flipV="1">
            <a:off x="2197735" y="4839335"/>
            <a:ext cx="942975" cy="69850"/>
          </a:xfrm>
          <a:prstGeom prst="line">
            <a:avLst/>
          </a:prstGeom>
          <a:noFill/>
          <a:ln w="20320">
            <a:solidFill>
              <a:srgbClr val="C9A227"/>
            </a:solidFill>
            <a:prstDash val="solid"/>
            <a:headEnd type="none"/>
            <a:tailEnd type="triangle"/>
          </a:ln>
        </p:spPr>
      </p:sp>
      <p:sp>
        <p:nvSpPr>
          <p:cNvPr id="48" name="Text 46"/>
          <p:cNvSpPr/>
          <p:nvPr/>
        </p:nvSpPr>
        <p:spPr>
          <a:xfrm>
            <a:off x="2395728" y="4633722"/>
            <a:ext cx="566928" cy="164592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9A227"/>
                </a:solidFill>
                <a:latin typeface="MS Mincho" panose="02020609040205080304" charset="-128"/>
                <a:ea typeface="MS Mincho" panose="02020609040205080304" charset="-128"/>
                <a:cs typeface="Aptos" pitchFamily="34" charset="-120"/>
              </a:rPr>
              <a:t>制御フロー</a:t>
            </a:r>
            <a:endParaRPr lang="en-US" sz="800" b="1" dirty="0">
              <a:solidFill>
                <a:srgbClr val="C9A227"/>
              </a:solidFill>
              <a:latin typeface="MS Mincho" panose="02020609040205080304" charset="-128"/>
              <a:ea typeface="MS Mincho" panose="02020609040205080304" charset="-128"/>
              <a:cs typeface="Aptos" pitchFamily="34" charset="-120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502920" y="5532120"/>
            <a:ext cx="4800600" cy="566928"/>
          </a:xfrm>
          <a:prstGeom prst="roundRect">
            <a:avLst>
              <a:gd name="adj" fmla="val 6452"/>
            </a:avLst>
          </a:prstGeom>
          <a:solidFill>
            <a:srgbClr val="FFF7F7"/>
          </a:solidFill>
          <a:ln w="15240">
            <a:solidFill>
              <a:srgbClr val="D9969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76072" y="5586984"/>
            <a:ext cx="4654296" cy="45720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00000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安全境界</a:t>
            </a:r>
            <a:endParaRPr lang="en-US" sz="90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  <a:p>
            <a:pPr marL="0" indent="0" algn="l">
              <a:buNone/>
            </a:pPr>
            <a:r>
              <a:rPr lang="en-US" sz="900" b="1" dirty="0">
                <a:solidFill>
                  <a:srgbClr val="C00000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源データは Seiyu GCS に入らない。</a:t>
            </a:r>
            <a:endParaRPr lang="en-US" sz="90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  <a:p>
            <a:pPr marL="0" indent="0" algn="l">
              <a:buNone/>
            </a:pPr>
            <a:r>
              <a:rPr lang="en-US" sz="900" b="1" dirty="0">
                <a:solidFill>
                  <a:srgbClr val="C00000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Seiyu 側は objectCreator のみ。</a:t>
            </a:r>
            <a:endParaRPr lang="en-US" sz="90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5623560" y="5532120"/>
            <a:ext cx="5897880" cy="566928"/>
          </a:xfrm>
          <a:prstGeom prst="roundRect">
            <a:avLst>
              <a:gd name="adj" fmla="val 6452"/>
            </a:avLst>
          </a:prstGeom>
          <a:solidFill>
            <a:srgbClr val="E4DFEC"/>
          </a:solidFill>
          <a:ln w="15240">
            <a:solidFill>
              <a:srgbClr val="7030A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696712" y="5586984"/>
            <a:ext cx="5751576" cy="45720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030A0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大容量 TXT</a:t>
            </a:r>
            <a:endParaRPr lang="en-US" sz="90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  <a:p>
            <a:pPr marL="0" indent="0" algn="l">
              <a:buNone/>
            </a:pPr>
            <a:r>
              <a:rPr lang="en-US" sz="900" b="1" dirty="0">
                <a:solidFill>
                  <a:srgbClr val="7030A0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メモリに全量保持せず、ストリーム + resumable upload。</a:t>
            </a:r>
            <a:endParaRPr lang="en-US" sz="90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  <a:p>
            <a:pPr marL="0" indent="0" algn="l">
              <a:buNone/>
            </a:pPr>
            <a:r>
              <a:rPr lang="en-US" sz="900" b="1" dirty="0">
                <a:solidFill>
                  <a:srgbClr val="7030A0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必要時だけ ephemeral disk を外排に使用。</a:t>
            </a:r>
            <a:endParaRPr lang="en-US" sz="90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10160">
            <a:solidFill>
              <a:srgbClr val="D7DEE8"/>
            </a:solidFill>
            <a:prstDash val="solid"/>
            <a:headEnd type="none"/>
            <a:tailEnd type="none"/>
          </a:ln>
        </p:spPr>
      </p:sp>
      <p:sp>
        <p:nvSpPr>
          <p:cNvPr id="54" name="Text 52"/>
          <p:cNvSpPr/>
          <p:nvPr/>
        </p:nvSpPr>
        <p:spPr>
          <a:xfrm>
            <a:off x="502920" y="6492240"/>
            <a:ext cx="4572000" cy="164592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718096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GCP 環境申請　/　源データ隔離・単方向納品</a:t>
            </a:r>
            <a:endParaRPr lang="en-US" sz="700" dirty="0">
              <a:solidFill>
                <a:srgbClr val="718096"/>
              </a:solidFill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5120640" cy="384048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7365D"/>
                </a:solidFill>
                <a:latin typeface="MS Mincho" panose="02020609040205080304" charset="-128"/>
                <a:ea typeface="MS Mincho" panose="02020609040205080304" charset="-128"/>
                <a:cs typeface="Aptos" pitchFamily="34" charset="-120"/>
              </a:rPr>
              <a:t>申請対象の構成図</a:t>
            </a:r>
            <a:endParaRPr lang="en-US" sz="2300" b="1" dirty="0">
              <a:solidFill>
                <a:srgbClr val="17365D"/>
              </a:solidFill>
              <a:latin typeface="MS Mincho" panose="02020609040205080304" charset="-128"/>
              <a:ea typeface="MS Mincho" panose="02020609040205080304" charset="-128"/>
              <a:cs typeface="Aptos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9966960" cy="210312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B6573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SMART 処理、権限分離、保存範囲と費用試算の前提</a:t>
            </a:r>
            <a:endParaRPr lang="en-US" sz="900" dirty="0">
              <a:solidFill>
                <a:srgbClr val="5B6573"/>
              </a:solidFill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173968" y="256032"/>
            <a:ext cx="548640" cy="210312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3"/>
                </a:solidFill>
                <a:latin typeface="MS Mincho" panose="02020609040205080304" charset="-128"/>
                <a:ea typeface="MS Mincho" panose="02020609040205080304" charset="-128"/>
                <a:cs typeface="Aptos" pitchFamily="34" charset="-120"/>
              </a:rPr>
              <a:t>2 / 2</a:t>
            </a:r>
            <a:endParaRPr lang="en-US" sz="1000" dirty="0">
              <a:solidFill>
                <a:srgbClr val="5B6573"/>
              </a:solidFill>
              <a:latin typeface="MS Mincho" panose="02020609040205080304" charset="-128"/>
              <a:ea typeface="MS Mincho" panose="02020609040205080304" charset="-128"/>
              <a:cs typeface="Aptos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11201400" cy="0"/>
          </a:xfrm>
          <a:prstGeom prst="line">
            <a:avLst/>
          </a:prstGeom>
          <a:noFill/>
          <a:ln w="15875">
            <a:solidFill>
              <a:srgbClr val="2F75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33272"/>
            <a:ext cx="6583680" cy="18288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5B6573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リージョン：東京 asia-northeast1　・　dev / stg / prod</a:t>
            </a:r>
            <a:endParaRPr lang="en-US" sz="800" dirty="0">
              <a:solidFill>
                <a:srgbClr val="5B6573"/>
              </a:solidFill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818120" y="1024128"/>
            <a:ext cx="146304" cy="146304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28432" y="987552"/>
            <a:ext cx="658368" cy="201168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5B6573"/>
                </a:solidFill>
                <a:latin typeface="MS Mincho" panose="02020609040205080304" charset="-128"/>
                <a:ea typeface="MS Mincho" panose="02020609040205080304" charset="-128"/>
                <a:cs typeface="Aptos" pitchFamily="34" charset="-120"/>
              </a:rPr>
              <a:t>今回申請</a:t>
            </a:r>
            <a:endParaRPr lang="en-US" sz="800" dirty="0">
              <a:solidFill>
                <a:srgbClr val="5B6573"/>
              </a:solidFill>
              <a:latin typeface="MS Mincho" panose="02020609040205080304" charset="-128"/>
              <a:ea typeface="MS Mincho" panose="02020609040205080304" charset="-128"/>
              <a:cs typeface="Aptos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869680" y="1024128"/>
            <a:ext cx="146304" cy="146304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79992" y="987552"/>
            <a:ext cx="658368" cy="201168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5B6573"/>
                </a:solidFill>
                <a:latin typeface="MS Mincho" panose="02020609040205080304" charset="-128"/>
                <a:ea typeface="MS Mincho" panose="02020609040205080304" charset="-128"/>
                <a:cs typeface="Aptos" pitchFamily="34" charset="-120"/>
              </a:rPr>
              <a:t>常時稼働</a:t>
            </a:r>
            <a:endParaRPr lang="en-US" sz="800" dirty="0">
              <a:solidFill>
                <a:srgbClr val="5B6573"/>
              </a:solidFill>
              <a:latin typeface="MS Mincho" panose="02020609040205080304" charset="-128"/>
              <a:ea typeface="MS Mincho" panose="02020609040205080304" charset="-128"/>
              <a:cs typeface="Aptos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921240" y="1024128"/>
            <a:ext cx="146304" cy="14630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131552" y="987552"/>
            <a:ext cx="731520" cy="201168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5B6573"/>
                </a:solidFill>
                <a:latin typeface="MS Mincho" panose="02020609040205080304" charset="-128"/>
                <a:ea typeface="MS Mincho" panose="02020609040205080304" charset="-128"/>
                <a:cs typeface="Aptos" pitchFamily="34" charset="-120"/>
              </a:rPr>
              <a:t>予測フロー</a:t>
            </a:r>
            <a:endParaRPr lang="en-US" sz="800" dirty="0">
              <a:solidFill>
                <a:srgbClr val="5B6573"/>
              </a:solidFill>
              <a:latin typeface="MS Mincho" panose="02020609040205080304" charset="-128"/>
              <a:ea typeface="MS Mincho" panose="02020609040205080304" charset="-128"/>
              <a:cs typeface="Aptos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0991088" y="1024128"/>
            <a:ext cx="146304" cy="146304"/>
          </a:xfrm>
          <a:prstGeom prst="rect">
            <a:avLst/>
          </a:prstGeom>
          <a:solidFill>
            <a:srgbClr val="C65911"/>
          </a:solidFill>
          <a:ln w="12700">
            <a:solidFill>
              <a:srgbClr val="C659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201400" y="987552"/>
            <a:ext cx="731520" cy="201168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5B6573"/>
                </a:solidFill>
                <a:latin typeface="MS Mincho" panose="02020609040205080304" charset="-128"/>
                <a:ea typeface="MS Mincho" panose="02020609040205080304" charset="-128"/>
                <a:cs typeface="Aptos" pitchFamily="34" charset="-120"/>
              </a:rPr>
              <a:t>既存・外部</a:t>
            </a:r>
            <a:endParaRPr lang="en-US" sz="800" dirty="0">
              <a:solidFill>
                <a:srgbClr val="5B6573"/>
              </a:solidFill>
              <a:latin typeface="MS Mincho" panose="02020609040205080304" charset="-128"/>
              <a:ea typeface="MS Mincho" panose="02020609040205080304" charset="-128"/>
              <a:cs typeface="Aptos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02920" y="1353312"/>
            <a:ext cx="2926080" cy="22860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365D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日次実行フロー（左 → 右）</a:t>
            </a:r>
            <a:endParaRPr lang="en-US" sz="1400" b="1" dirty="0">
              <a:solidFill>
                <a:srgbClr val="17365D"/>
              </a:solidFill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48640" y="1737360"/>
            <a:ext cx="1600200" cy="841248"/>
          </a:xfrm>
          <a:prstGeom prst="roundRect">
            <a:avLst>
              <a:gd name="adj" fmla="val 4348"/>
            </a:avLst>
          </a:prstGeom>
          <a:solidFill>
            <a:srgbClr val="FFF2CC"/>
          </a:solidFill>
          <a:ln w="15240">
            <a:solidFill>
              <a:srgbClr val="C9A22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1792224"/>
            <a:ext cx="1453896" cy="73152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365D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01</a:t>
            </a:r>
            <a:endParaRPr lang="en-US" sz="100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17365D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Scheduler</a:t>
            </a:r>
            <a:endParaRPr lang="en-US" sz="100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17365D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指定時刻に起動</a:t>
            </a:r>
            <a:endParaRPr lang="en-US" sz="100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148840" y="2157984"/>
            <a:ext cx="219456" cy="0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404872" y="1737360"/>
            <a:ext cx="1600200" cy="841248"/>
          </a:xfrm>
          <a:prstGeom prst="roundRect">
            <a:avLst>
              <a:gd name="adj" fmla="val 4348"/>
            </a:avLst>
          </a:prstGeom>
          <a:solidFill>
            <a:srgbClr val="FFF2CC"/>
          </a:solidFill>
          <a:ln w="15240">
            <a:solidFill>
              <a:srgbClr val="C9A2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78024" y="1792224"/>
            <a:ext cx="1453896" cy="73152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365D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02</a:t>
            </a:r>
            <a:endParaRPr lang="en-US" sz="100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17365D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READY / manifest</a:t>
            </a:r>
            <a:endParaRPr lang="en-US" sz="100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17365D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対象ファイル確定</a:t>
            </a:r>
            <a:endParaRPr lang="en-US" sz="100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005072" y="2157984"/>
            <a:ext cx="219456" cy="0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261104" y="1737360"/>
            <a:ext cx="1600200" cy="841248"/>
          </a:xfrm>
          <a:prstGeom prst="roundRect">
            <a:avLst>
              <a:gd name="adj" fmla="val 4348"/>
            </a:avLst>
          </a:prstGeom>
          <a:solidFill>
            <a:srgbClr val="FFF2CC"/>
          </a:solidFill>
          <a:ln w="15240">
            <a:solidFill>
              <a:srgbClr val="C9A22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34256" y="1792224"/>
            <a:ext cx="1453896" cy="73152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365D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03</a:t>
            </a:r>
            <a:endParaRPr lang="en-US" sz="100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17365D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STS</a:t>
            </a:r>
            <a:endParaRPr lang="en-US" sz="100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17365D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自有 GCS へコピー</a:t>
            </a:r>
            <a:endParaRPr lang="en-US" sz="100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861304" y="2157984"/>
            <a:ext cx="219456" cy="0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117336" y="1737360"/>
            <a:ext cx="1600200" cy="841248"/>
          </a:xfrm>
          <a:prstGeom prst="roundRect">
            <a:avLst>
              <a:gd name="adj" fmla="val 4348"/>
            </a:avLst>
          </a:prstGeom>
          <a:solidFill>
            <a:srgbClr val="EAF2F8"/>
          </a:solidFill>
          <a:ln w="15240">
            <a:solidFill>
              <a:srgbClr val="2F75B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90488" y="1792224"/>
            <a:ext cx="1453896" cy="73152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365D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04</a:t>
            </a:r>
            <a:endParaRPr lang="en-US" sz="100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17365D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Cloud Run Job</a:t>
            </a:r>
            <a:endParaRPr lang="en-US" sz="100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17365D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SMART 店/JAN 処理</a:t>
            </a:r>
            <a:endParaRPr lang="en-US" sz="100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717536" y="2157984"/>
            <a:ext cx="219456" cy="0"/>
          </a:xfrm>
          <a:prstGeom prst="line">
            <a:avLst/>
          </a:prstGeom>
          <a:noFill/>
          <a:ln w="1905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973568" y="1737360"/>
            <a:ext cx="1600200" cy="841248"/>
          </a:xfrm>
          <a:prstGeom prst="roundRect">
            <a:avLst>
              <a:gd name="adj" fmla="val 4348"/>
            </a:avLst>
          </a:prstGeom>
          <a:solidFill>
            <a:srgbClr val="EAF2F8"/>
          </a:solidFill>
          <a:ln w="15240">
            <a:solidFill>
              <a:srgbClr val="2F75B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46720" y="1792224"/>
            <a:ext cx="1453896" cy="73152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365D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05</a:t>
            </a:r>
            <a:endParaRPr lang="en-US" sz="100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17365D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納品</a:t>
            </a:r>
            <a:endParaRPr lang="en-US" sz="100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17365D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最終 TXT を upload</a:t>
            </a:r>
            <a:endParaRPr lang="en-US" sz="100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9573768" y="2157984"/>
            <a:ext cx="219456" cy="0"/>
          </a:xfrm>
          <a:prstGeom prst="line">
            <a:avLst/>
          </a:prstGeom>
          <a:noFill/>
          <a:ln w="1905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829800" y="1737360"/>
            <a:ext cx="1600200" cy="841248"/>
          </a:xfrm>
          <a:prstGeom prst="roundRect">
            <a:avLst>
              <a:gd name="adj" fmla="val 4348"/>
            </a:avLst>
          </a:prstGeom>
          <a:solidFill>
            <a:srgbClr val="E2F0D9"/>
          </a:solidFill>
          <a:ln w="15240">
            <a:solidFill>
              <a:srgbClr val="0F766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902952" y="1792224"/>
            <a:ext cx="1453896" cy="73152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365D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06</a:t>
            </a:r>
            <a:endParaRPr lang="en-US" sz="100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17365D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_SUCCESS</a:t>
            </a:r>
            <a:endParaRPr lang="en-US" sz="100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17365D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検証後に作成</a:t>
            </a:r>
            <a:endParaRPr lang="en-US" sz="100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502920" y="2962656"/>
            <a:ext cx="3749040" cy="22860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365D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SMART skills による処理チェーン</a:t>
            </a:r>
            <a:endParaRPr lang="en-US" sz="1400" b="1" dirty="0">
              <a:solidFill>
                <a:srgbClr val="17365D"/>
              </a:solidFill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48640" y="3337560"/>
            <a:ext cx="1600200" cy="566928"/>
          </a:xfrm>
          <a:prstGeom prst="roundRect">
            <a:avLst>
              <a:gd name="adj" fmla="val 6452"/>
            </a:avLst>
          </a:prstGeom>
          <a:solidFill>
            <a:srgbClr val="E2F0F8"/>
          </a:solidFill>
          <a:ln w="15240">
            <a:solidFill>
              <a:srgbClr val="2F75B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" y="3392424"/>
            <a:ext cx="1453896" cy="45720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365D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解凍 / 索引</a:t>
            </a:r>
            <a:endParaRPr lang="en-US" sz="1000" b="1" dirty="0">
              <a:solidFill>
                <a:srgbClr val="17365D"/>
              </a:solidFill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2148840" y="3621024"/>
            <a:ext cx="219456" cy="0"/>
          </a:xfrm>
          <a:prstGeom prst="line">
            <a:avLst/>
          </a:prstGeom>
          <a:noFill/>
          <a:ln w="1651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2404872" y="3337560"/>
            <a:ext cx="1600200" cy="566928"/>
          </a:xfrm>
          <a:prstGeom prst="roundRect">
            <a:avLst>
              <a:gd name="adj" fmla="val 6452"/>
            </a:avLst>
          </a:prstGeom>
          <a:solidFill>
            <a:srgbClr val="E2F0F8"/>
          </a:solidFill>
          <a:ln w="15240">
            <a:solidFill>
              <a:srgbClr val="2F75B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478024" y="3392424"/>
            <a:ext cx="1453896" cy="45720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365D"/>
                </a:solidFill>
                <a:latin typeface="MS Mincho" panose="02020609040205080304" charset="-128"/>
                <a:ea typeface="MS Mincho" panose="02020609040205080304" charset="-128"/>
                <a:cs typeface="Aptos" pitchFamily="34" charset="-120"/>
              </a:rPr>
              <a:t>selcol / selrow</a:t>
            </a:r>
            <a:endParaRPr lang="en-US" sz="1000" b="1" dirty="0">
              <a:solidFill>
                <a:srgbClr val="17365D"/>
              </a:solidFill>
              <a:latin typeface="MS Mincho" panose="02020609040205080304" charset="-128"/>
              <a:ea typeface="MS Mincho" panose="02020609040205080304" charset="-128"/>
              <a:cs typeface="Aptos" pitchFamily="34" charset="-12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4005072" y="3621024"/>
            <a:ext cx="219456" cy="0"/>
          </a:xfrm>
          <a:prstGeom prst="line">
            <a:avLst/>
          </a:prstGeom>
          <a:noFill/>
          <a:ln w="1651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4261104" y="3337560"/>
            <a:ext cx="1600200" cy="566928"/>
          </a:xfrm>
          <a:prstGeom prst="roundRect">
            <a:avLst>
              <a:gd name="adj" fmla="val 6452"/>
            </a:avLst>
          </a:prstGeom>
          <a:solidFill>
            <a:srgbClr val="E2F0F8"/>
          </a:solidFill>
          <a:ln w="15240">
            <a:solidFill>
              <a:srgbClr val="2F75B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334256" y="3392424"/>
            <a:ext cx="1453896" cy="45720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365D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外排 / JOIN</a:t>
            </a:r>
            <a:endParaRPr lang="en-US" sz="1000" b="1" dirty="0">
              <a:solidFill>
                <a:srgbClr val="17365D"/>
              </a:solidFill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5861304" y="3621024"/>
            <a:ext cx="219456" cy="0"/>
          </a:xfrm>
          <a:prstGeom prst="line">
            <a:avLst/>
          </a:prstGeom>
          <a:noFill/>
          <a:ln w="1651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6117336" y="3337560"/>
            <a:ext cx="1600200" cy="566928"/>
          </a:xfrm>
          <a:prstGeom prst="roundRect">
            <a:avLst>
              <a:gd name="adj" fmla="val 6452"/>
            </a:avLst>
          </a:prstGeom>
          <a:solidFill>
            <a:srgbClr val="E2F0F8"/>
          </a:solidFill>
          <a:ln w="15240">
            <a:solidFill>
              <a:srgbClr val="2F75B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90488" y="3392424"/>
            <a:ext cx="1453896" cy="45720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365D"/>
                </a:solidFill>
                <a:latin typeface="MS Mincho" panose="02020609040205080304" charset="-128"/>
                <a:ea typeface="MS Mincho" panose="02020609040205080304" charset="-128"/>
                <a:cs typeface="Aptos" pitchFamily="34" charset="-120"/>
              </a:rPr>
              <a:t>groupby / sumup</a:t>
            </a:r>
            <a:endParaRPr lang="en-US" sz="1000" b="1" dirty="0">
              <a:solidFill>
                <a:srgbClr val="17365D"/>
              </a:solidFill>
              <a:latin typeface="MS Mincho" panose="02020609040205080304" charset="-128"/>
              <a:ea typeface="MS Mincho" panose="02020609040205080304" charset="-128"/>
              <a:cs typeface="Aptos" pitchFamily="34" charset="-120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7717536" y="3621024"/>
            <a:ext cx="219456" cy="0"/>
          </a:xfrm>
          <a:prstGeom prst="line">
            <a:avLst/>
          </a:prstGeom>
          <a:noFill/>
          <a:ln w="1651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7973568" y="3337560"/>
            <a:ext cx="1600200" cy="566928"/>
          </a:xfrm>
          <a:prstGeom prst="roundRect">
            <a:avLst>
              <a:gd name="adj" fmla="val 6452"/>
            </a:avLst>
          </a:prstGeom>
          <a:solidFill>
            <a:srgbClr val="E2F0F8"/>
          </a:solidFill>
          <a:ln w="15240">
            <a:solidFill>
              <a:srgbClr val="2F75B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046720" y="3392424"/>
            <a:ext cx="1453896" cy="45720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365D"/>
                </a:solidFill>
                <a:latin typeface="MS Mincho" panose="02020609040205080304" charset="-128"/>
                <a:ea typeface="MS Mincho" panose="02020609040205080304" charset="-128"/>
                <a:cs typeface="Aptos" pitchFamily="34" charset="-120"/>
              </a:rPr>
              <a:t>scalc / format</a:t>
            </a:r>
            <a:endParaRPr lang="en-US" sz="1000" b="1" dirty="0">
              <a:solidFill>
                <a:srgbClr val="17365D"/>
              </a:solidFill>
              <a:latin typeface="MS Mincho" panose="02020609040205080304" charset="-128"/>
              <a:ea typeface="MS Mincho" panose="02020609040205080304" charset="-128"/>
              <a:cs typeface="Aptos" pitchFamily="34" charset="-120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9573768" y="3621024"/>
            <a:ext cx="219456" cy="0"/>
          </a:xfrm>
          <a:prstGeom prst="line">
            <a:avLst/>
          </a:prstGeom>
          <a:noFill/>
          <a:ln w="1651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9829800" y="3337560"/>
            <a:ext cx="1600200" cy="566928"/>
          </a:xfrm>
          <a:prstGeom prst="roundRect">
            <a:avLst>
              <a:gd name="adj" fmla="val 6452"/>
            </a:avLst>
          </a:prstGeom>
          <a:solidFill>
            <a:srgbClr val="E2F0D9"/>
          </a:solidFill>
          <a:ln w="15240">
            <a:solidFill>
              <a:srgbClr val="0F766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902952" y="3392424"/>
            <a:ext cx="1453896" cy="45720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365D"/>
                </a:solidFill>
                <a:latin typeface="MS Mincho" panose="02020609040205080304" charset="-128"/>
                <a:ea typeface="MS Mincho" panose="02020609040205080304" charset="-128"/>
                <a:cs typeface="Aptos" pitchFamily="34" charset="-120"/>
              </a:rPr>
              <a:t>stream uploader</a:t>
            </a:r>
            <a:endParaRPr lang="en-US" sz="1000" b="1" dirty="0">
              <a:solidFill>
                <a:srgbClr val="17365D"/>
              </a:solidFill>
              <a:latin typeface="MS Mincho" panose="02020609040205080304" charset="-128"/>
              <a:ea typeface="MS Mincho" panose="02020609040205080304" charset="-128"/>
              <a:cs typeface="Aptos" pitchFamily="34" charset="-120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548640" y="4315968"/>
            <a:ext cx="3017520" cy="1115568"/>
          </a:xfrm>
          <a:prstGeom prst="roundRect">
            <a:avLst>
              <a:gd name="adj" fmla="val 3279"/>
            </a:avLst>
          </a:prstGeom>
          <a:solidFill>
            <a:srgbClr val="E4DFEC"/>
          </a:solidFill>
          <a:ln w="15240">
            <a:solidFill>
              <a:srgbClr val="7030A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1792" y="4370832"/>
            <a:ext cx="2871216" cy="100584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7365D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大ファイル方針</a:t>
            </a:r>
            <a:endParaRPr lang="en-US" sz="110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  <a:p>
            <a:pPr marL="0" indent="0" algn="l">
              <a:buNone/>
            </a:pPr>
            <a:r>
              <a:rPr lang="en-US" sz="1100" b="1" dirty="0">
                <a:solidFill>
                  <a:srgbClr val="17365D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Cloud Run の RAM に全量を載せない。</a:t>
            </a:r>
            <a:endParaRPr lang="en-US" sz="110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  <a:p>
            <a:pPr marL="0" indent="0" algn="l">
              <a:buNone/>
            </a:pPr>
            <a:r>
              <a:rPr lang="en-US" sz="1100" b="1" dirty="0">
                <a:solidFill>
                  <a:srgbClr val="17365D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split_and_sort / exchsort で外排。</a:t>
            </a:r>
            <a:endParaRPr lang="en-US" sz="110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  <a:p>
            <a:pPr marL="0" indent="0" algn="l">
              <a:buNone/>
            </a:pPr>
            <a:r>
              <a:rPr lang="en-US" sz="1100" b="1" dirty="0">
                <a:solidFill>
                  <a:srgbClr val="17365D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4 vCPU / 16 GiB は流式処理の初期値。</a:t>
            </a:r>
            <a:endParaRPr lang="en-US" sz="110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3886200" y="4315968"/>
            <a:ext cx="3246120" cy="1115568"/>
          </a:xfrm>
          <a:prstGeom prst="roundRect">
            <a:avLst>
              <a:gd name="adj" fmla="val 3279"/>
            </a:avLst>
          </a:prstGeom>
          <a:solidFill>
            <a:srgbClr val="FCE4D6"/>
          </a:solidFill>
          <a:ln w="15240">
            <a:solidFill>
              <a:srgbClr val="C6591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959352" y="4370832"/>
            <a:ext cx="3099816" cy="100584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7365D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権限方針</a:t>
            </a:r>
            <a:endParaRPr lang="en-US" sz="110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  <a:p>
            <a:pPr marL="0" indent="0" algn="l">
              <a:buNone/>
            </a:pPr>
            <a:r>
              <a:rPr lang="en-US" sz="1100" b="1" dirty="0">
                <a:solidFill>
                  <a:srgbClr val="17365D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STS：大阪 read → 自有 write</a:t>
            </a:r>
            <a:endParaRPr lang="en-US" sz="110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  <a:p>
            <a:pPr marL="0" indent="0" algn="l">
              <a:buNone/>
            </a:pPr>
            <a:r>
              <a:rPr lang="en-US" sz="1100" b="1" dirty="0">
                <a:solidFill>
                  <a:srgbClr val="17365D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Job：自有 objectViewer → Seiyu objectCreator</a:t>
            </a:r>
            <a:endParaRPr lang="en-US" sz="110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  <a:p>
            <a:pPr marL="0" indent="0" algn="l">
              <a:buNone/>
            </a:pPr>
            <a:r>
              <a:rPr lang="en-US" sz="1100" b="1" dirty="0">
                <a:solidFill>
                  <a:srgbClr val="17365D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Scheduler：Workflows invoker のみ</a:t>
            </a:r>
            <a:endParaRPr lang="en-US" sz="110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7452360" y="4315968"/>
            <a:ext cx="4023360" cy="1115568"/>
          </a:xfrm>
          <a:prstGeom prst="roundRect">
            <a:avLst>
              <a:gd name="adj" fmla="val 3279"/>
            </a:avLst>
          </a:prstGeom>
          <a:solidFill>
            <a:srgbClr val="E2F0D9"/>
          </a:solidFill>
          <a:ln w="15240">
            <a:solidFill>
              <a:srgbClr val="0F766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525512" y="4370832"/>
            <a:ext cx="3877056" cy="100584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7365D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容量・費用の入力値</a:t>
            </a:r>
            <a:endParaRPr lang="en-US" sz="110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  <a:p>
            <a:pPr marL="0" indent="0" algn="l">
              <a:buNone/>
            </a:pPr>
            <a:r>
              <a:rPr lang="en-US" sz="1100" b="1" dirty="0">
                <a:solidFill>
                  <a:srgbClr val="17365D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自有 GCS 源データ：約 251.6 GiB（7日）</a:t>
            </a:r>
            <a:endParaRPr lang="en-US" sz="110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  <a:p>
            <a:pPr marL="0" indent="0" algn="l">
              <a:buNone/>
            </a:pPr>
            <a:r>
              <a:rPr lang="en-US" sz="1100" b="1" dirty="0">
                <a:solidFill>
                  <a:srgbClr val="17365D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大阪→東京転送：約 1,078.4 GiB/月</a:t>
            </a:r>
            <a:endParaRPr lang="en-US" sz="110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  <a:p>
            <a:pPr marL="0" indent="0" algn="l">
              <a:buNone/>
            </a:pPr>
            <a:r>
              <a:rPr lang="en-US" sz="1100" b="1" dirty="0">
                <a:solidFill>
                  <a:srgbClr val="17365D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結果を自有 GCS に重複保存しない</a:t>
            </a:r>
            <a:endParaRPr lang="en-US" sz="110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548640" y="5669280"/>
            <a:ext cx="4800600" cy="512064"/>
          </a:xfrm>
          <a:prstGeom prst="roundRect">
            <a:avLst>
              <a:gd name="adj" fmla="val 7143"/>
            </a:avLst>
          </a:prstGeom>
          <a:solidFill>
            <a:srgbClr val="EAF2F8"/>
          </a:solidFill>
          <a:ln w="15240">
            <a:solidFill>
              <a:srgbClr val="2F75B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21792" y="5724144"/>
            <a:ext cx="4654296" cy="402336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365D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申請する主なサービス</a:t>
            </a:r>
            <a:endParaRPr lang="en-US" sz="100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  <a:p>
            <a:pPr marL="0" indent="0" algn="l">
              <a:buNone/>
            </a:pPr>
            <a:r>
              <a:rPr lang="en-US" sz="1000" b="1" dirty="0">
                <a:solidFill>
                  <a:srgbClr val="17365D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Cloud Run Jobs / Cloud Storage / STS</a:t>
            </a:r>
            <a:endParaRPr lang="en-US" sz="100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  <a:p>
            <a:pPr marL="0" indent="0" algn="l">
              <a:buNone/>
            </a:pPr>
            <a:r>
              <a:rPr lang="en-US" sz="1000" b="1" dirty="0">
                <a:solidFill>
                  <a:srgbClr val="17365D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Workflows / Cloud Scheduler</a:t>
            </a:r>
            <a:endParaRPr lang="en-US" sz="100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  <a:p>
            <a:pPr marL="0" indent="0" algn="l">
              <a:buNone/>
            </a:pPr>
            <a:r>
              <a:rPr lang="en-US" sz="1000" b="1" dirty="0">
                <a:solidFill>
                  <a:srgbClr val="17365D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Artifact Registry / Logging / Monitoring</a:t>
            </a:r>
            <a:endParaRPr lang="en-US" sz="100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5623560" y="5669280"/>
            <a:ext cx="5852160" cy="512064"/>
          </a:xfrm>
          <a:prstGeom prst="roundRect">
            <a:avLst>
              <a:gd name="adj" fmla="val 7143"/>
            </a:avLst>
          </a:prstGeom>
          <a:solidFill>
            <a:srgbClr val="E2F0D9"/>
          </a:solidFill>
          <a:ln w="15240">
            <a:solidFill>
              <a:srgbClr val="0F766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696712" y="5724144"/>
            <a:ext cx="5705856" cy="402336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365D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本構成の結論</a:t>
            </a:r>
            <a:endParaRPr lang="en-US" sz="100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  <a:p>
            <a:pPr marL="0" indent="0" algn="l">
              <a:buNone/>
            </a:pPr>
            <a:r>
              <a:rPr lang="en-US" sz="1000" b="1" dirty="0">
                <a:solidFill>
                  <a:srgbClr val="17365D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新規 GKE は作らず、Cloud Run Job を採用。</a:t>
            </a:r>
            <a:endParaRPr lang="en-US" sz="100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  <a:p>
            <a:pPr marL="0" indent="0" algn="l">
              <a:buNone/>
            </a:pPr>
            <a:r>
              <a:rPr lang="en-US" sz="1000" b="1" dirty="0">
                <a:solidFill>
                  <a:srgbClr val="17365D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source は自有 GCS、result は Seiyu GCS へ単方向交付。</a:t>
            </a:r>
            <a:endParaRPr lang="en-US" sz="1000" dirty="0"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10160">
            <a:solidFill>
              <a:srgbClr val="D7DEE8"/>
            </a:solidFill>
            <a:prstDash val="solid"/>
            <a:headEnd type="none"/>
            <a:tailEnd type="none"/>
          </a:ln>
        </p:spPr>
      </p:sp>
      <p:sp>
        <p:nvSpPr>
          <p:cNvPr id="63" name="Text 61"/>
          <p:cNvSpPr/>
          <p:nvPr/>
        </p:nvSpPr>
        <p:spPr>
          <a:xfrm>
            <a:off x="502920" y="6492240"/>
            <a:ext cx="4572000" cy="164592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718096"/>
                </a:solidFill>
                <a:latin typeface="MS Mincho" panose="02020609040205080304" charset="-128"/>
                <a:ea typeface="MS Mincho" panose="02020609040205080304" charset="-128"/>
                <a:cs typeface="MS Mincho" panose="02020609040205080304" charset="-128"/>
              </a:rPr>
              <a:t>GCP 環境申請　/　源データ隔離・単方向納品</a:t>
            </a:r>
            <a:endParaRPr lang="en-US" sz="700" dirty="0">
              <a:solidFill>
                <a:srgbClr val="718096"/>
              </a:solidFill>
              <a:latin typeface="MS Mincho" panose="02020609040205080304" charset="-128"/>
              <a:ea typeface="MS Mincho" panose="02020609040205080304" charset="-128"/>
              <a:cs typeface="MS Mincho" panose="02020609040205080304" charset="-128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YTMwZjU5OTQyYWRhNzIxMjM4YzhlZDJlZmMzMzJmOWY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1479</Words>
  <Application>WPS 演示</Application>
  <PresentationFormat>On-screen Show (16:9)</PresentationFormat>
  <Paragraphs>154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7" baseType="lpstr">
      <vt:lpstr>Arial</vt:lpstr>
      <vt:lpstr>宋体</vt:lpstr>
      <vt:lpstr>Wingdings</vt:lpstr>
      <vt:lpstr>Aptos</vt:lpstr>
      <vt:lpstr>Segoe Print</vt:lpstr>
      <vt:lpstr>Aptos</vt:lpstr>
      <vt:lpstr>Aptos</vt:lpstr>
      <vt:lpstr>MS PGothic</vt:lpstr>
      <vt:lpstr>微软雅黑</vt:lpstr>
      <vt:lpstr>Arial Unicode MS</vt:lpstr>
      <vt:lpstr>等线</vt:lpstr>
      <vt:lpstr>Calibri</vt:lpstr>
      <vt:lpstr>MingLiU-ExtB</vt:lpstr>
      <vt:lpstr>MS Mincho</vt:lpstr>
      <vt:lpstr>Office Theme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申請対象の構成図</dc:title>
  <dc:creator>OpenAI</dc:creator>
  <dc:subject>大阪集計 GCS から東京 SMART 処理・Seiyu GCS 納品</dc:subject>
  <cp:lastModifiedBy>10225132</cp:lastModifiedBy>
  <cp:revision>2</cp:revision>
  <dcterms:created xsi:type="dcterms:W3CDTF">2026-09-22T06:21:00Z</dcterms:created>
  <dcterms:modified xsi:type="dcterms:W3CDTF">2026-09-22T07:25:39Z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A9475B56DA174B11B9C965567602C371_12</vt:lpwstr>
  </property>
  <property fmtid="{D5CDD505-2E9C-101B-9397-08002B2CF9AE}" pid="3" name="KSOProductBuildVer">
    <vt:lpwstr>2052-12.1.0.18276</vt:lpwstr>
  </property>
</Properties>
</file>