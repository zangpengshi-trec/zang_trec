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7" r:id="rId3"/>
    <p:sldId id="269" r:id="rId4"/>
    <p:sldId id="264" r:id="rId5"/>
    <p:sldId id="265" r:id="rId6"/>
    <p:sldId id="272" r:id="rId7"/>
    <p:sldId id="271" r:id="rId8"/>
    <p:sldId id="266" r:id="rId9"/>
    <p:sldId id="270" r:id="rId10"/>
    <p:sldId id="259" r:id="rId11"/>
    <p:sldId id="260" r:id="rId12"/>
    <p:sldId id="261" r:id="rId13"/>
    <p:sldId id="285" r:id="rId14"/>
    <p:sldId id="284" r:id="rId15"/>
    <p:sldId id="283" r:id="rId16"/>
    <p:sldId id="282" r:id="rId17"/>
    <p:sldId id="281" r:id="rId18"/>
    <p:sldId id="262" r:id="rId19"/>
    <p:sldId id="279" r:id="rId20"/>
    <p:sldId id="257" r:id="rId21"/>
    <p:sldId id="258" r:id="rId22"/>
    <p:sldId id="275" r:id="rId23"/>
    <p:sldId id="276" r:id="rId24"/>
    <p:sldId id="277" r:id="rId25"/>
    <p:sldId id="278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73060"/>
  </p:normalViewPr>
  <p:slideViewPr>
    <p:cSldViewPr snapToGrid="0" snapToObjects="1">
      <p:cViewPr varScale="1">
        <p:scale>
          <a:sx n="114" d="100"/>
          <a:sy n="114" d="100"/>
        </p:scale>
        <p:origin x="2296" y="-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389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8AC46-8F88-8D31-5A87-6C41F3D7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A695C-0989-7218-F1A6-6C7A63A56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961D1-9A2A-C2C5-D5CC-B28EFBC5D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ED56D-1754-F8F3-5BDE-6F8341176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50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BDD4A-7BF4-4F02-5F7B-40981309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D5935-C6C0-91F9-5A08-0C3D74D4C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21544-CF40-A84B-3028-FD505921E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DB37E-A437-BEDC-E021-875D9C0EB5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21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CBD6-D58B-43E3-43A1-3E43C2662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916DF-3E6D-3FF4-9B7D-3D753ADF9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83327-F1B0-15BD-A5C0-66E7F39CB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05446-017A-F522-9F69-EAC2E33CB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4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AA2C-1090-EA28-5686-86B21E87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0B925-573A-F33B-3B1D-AF27971D7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3D42B-635E-3200-7ECD-5DEB28CD2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2EA51-60E7-D65F-7181-06E7EF326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92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</a:t>
            </a:r>
          </a:p>
          <a:p>
            <a:r>
              <a:rPr lang="en-US" dirty="0" err="1"/>
              <a:t>統合発注→MD→ベンダ</a:t>
            </a:r>
            <a:r>
              <a:rPr lang="en-US" dirty="0"/>
              <a:t>ー</a:t>
            </a:r>
            <a:r>
              <a:rPr lang="ja-JP" altLang="en-US"/>
              <a:t>　</a:t>
            </a:r>
            <a:r>
              <a:rPr lang="en-US" altLang="ja-JP" dirty="0"/>
              <a:t>MD</a:t>
            </a:r>
            <a:r>
              <a:rPr lang="ja-JP" altLang="en-US"/>
              <a:t>から発注実績</a:t>
            </a:r>
            <a:endParaRPr lang="en-US" dirty="0"/>
          </a:p>
          <a:p>
            <a:r>
              <a:rPr lang="en-US" dirty="0" err="1"/>
              <a:t>統合発注→CK→ベンダ</a:t>
            </a:r>
            <a:r>
              <a:rPr lang="en-US" dirty="0"/>
              <a:t>ー</a:t>
            </a:r>
            <a:r>
              <a:rPr lang="ja-JP" altLang="en-US"/>
              <a:t>　</a:t>
            </a:r>
            <a:r>
              <a:rPr lang="en-US" dirty="0" err="1"/>
              <a:t>生鮮基幹から発注実績</a:t>
            </a:r>
            <a:endParaRPr lang="en-US" dirty="0"/>
          </a:p>
          <a:p>
            <a:r>
              <a:rPr lang="en-US" dirty="0" err="1"/>
              <a:t>精肉</a:t>
            </a:r>
            <a:endParaRPr lang="en-US" dirty="0"/>
          </a:p>
          <a:p>
            <a:r>
              <a:rPr lang="en-US" dirty="0" err="1"/>
              <a:t>ベンダ</a:t>
            </a:r>
            <a:r>
              <a:rPr lang="en-US" dirty="0"/>
              <a:t>ー</a:t>
            </a:r>
          </a:p>
          <a:p>
            <a:r>
              <a:rPr lang="en-US" dirty="0"/>
              <a:t>PC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925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8845A-DF6D-2C80-6881-01DF4759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149B3-A749-6377-4180-76EA29B12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567B9-7846-F3CA-5CE6-DBAA6FC33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</a:t>
            </a:r>
          </a:p>
          <a:p>
            <a:r>
              <a:rPr lang="en-US" dirty="0" err="1"/>
              <a:t>統合発注→MD→ベンダ</a:t>
            </a:r>
            <a:r>
              <a:rPr lang="en-US" dirty="0"/>
              <a:t>ー</a:t>
            </a:r>
            <a:r>
              <a:rPr lang="ja-JP" altLang="en-US"/>
              <a:t>　</a:t>
            </a:r>
            <a:r>
              <a:rPr lang="en-US" altLang="ja-JP" dirty="0"/>
              <a:t>MD</a:t>
            </a:r>
            <a:r>
              <a:rPr lang="ja-JP" altLang="en-US"/>
              <a:t>から発注実績</a:t>
            </a:r>
            <a:endParaRPr lang="en-US" dirty="0"/>
          </a:p>
          <a:p>
            <a:r>
              <a:rPr lang="en-US" dirty="0" err="1"/>
              <a:t>統合発注→CK</a:t>
            </a:r>
            <a:r>
              <a:rPr lang="ja-JP" altLang="en-US"/>
              <a:t>　</a:t>
            </a:r>
            <a:r>
              <a:rPr lang="en-US" dirty="0" err="1"/>
              <a:t>生鮮基幹から発注実績</a:t>
            </a:r>
            <a:endParaRPr lang="en-US" dirty="0"/>
          </a:p>
          <a:p>
            <a:r>
              <a:rPr lang="en-US" dirty="0" err="1"/>
              <a:t>精肉</a:t>
            </a:r>
            <a:endParaRPr lang="en-US" dirty="0"/>
          </a:p>
          <a:p>
            <a:r>
              <a:rPr lang="en-US" dirty="0" err="1"/>
              <a:t>ベンダ</a:t>
            </a:r>
            <a:r>
              <a:rPr lang="en-US" dirty="0"/>
              <a:t>ー</a:t>
            </a:r>
          </a:p>
          <a:p>
            <a:r>
              <a:rPr lang="en-US" dirty="0"/>
              <a:t>PC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DFB15-E612-E640-7192-D3DC7DDBA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7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19A3-FE00-4F58-EAF4-2AE0FA34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EC565-2803-798F-56B0-EC43431D9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FE4E4-FB90-1E63-53A7-FA46DBFBE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週間発注</a:t>
            </a:r>
            <a:endParaRPr lang="en-US" dirty="0"/>
          </a:p>
          <a:p>
            <a:r>
              <a:rPr lang="en-US" dirty="0" err="1"/>
              <a:t>TR生鮮</a:t>
            </a:r>
            <a:r>
              <a:rPr lang="ja-JP" altLang="en-US"/>
              <a:t>　販売計画運用　予算目標金額を元に何個　を元に</a:t>
            </a:r>
            <a:r>
              <a:rPr lang="en-US" altLang="ja-JP" dirty="0"/>
              <a:t>DB</a:t>
            </a:r>
            <a:r>
              <a:rPr lang="ja-JP" altLang="en-US"/>
              <a:t>が週に１回曜日ごとに入れる。</a:t>
            </a:r>
            <a:endParaRPr lang="en-US" altLang="ja-JP" dirty="0"/>
          </a:p>
          <a:p>
            <a:r>
              <a:rPr lang="en-US" altLang="ja-JP" dirty="0"/>
              <a:t>SY</a:t>
            </a:r>
            <a:r>
              <a:rPr lang="ja-JP" altLang="en-US"/>
              <a:t>は精肉、青果やらない。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なので週間発注と翌日以降の推奨数が被ることはない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57A76-73BB-5F8A-BC3C-541023581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44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9AB29-50BA-A7A5-1C16-C091F015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16D4B-4E1B-95D9-4CBB-BE978E05A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77C2B-1C14-57B4-0F09-2F8948694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29784-A6F8-539E-0082-FFE9E107F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103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45D85-FCE6-3052-7036-D50C3BEA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44893-5253-5D38-26DE-7CB7CF22F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97E5D-3A79-BB05-4170-26521CE6F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717F6-229F-549E-BB0A-1D16B65FE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375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棚割IF</a:t>
            </a:r>
            <a:r>
              <a:rPr lang="ja-JP" altLang="en-US" sz="3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38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StoreManagerGX</a:t>
            </a:r>
            <a:r>
              <a:rPr lang="ja-JP" altLang="en-US" sz="3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の仕様と</a:t>
            </a:r>
            <a:endParaRPr lang="en-US" altLang="ja-JP" sz="3800" b="1" dirty="0">
              <a:solidFill>
                <a:srgbClr val="FFFF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>
              <a:buNone/>
            </a:pPr>
            <a:r>
              <a:rPr lang="en-US" altLang="ja-JP" sz="38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</a:t>
            </a:r>
            <a:r>
              <a:rPr lang="ja-JP" altLang="en-US" sz="3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の仕様について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82880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8FB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83464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5A85D6"/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棚割マスタIF：棚段・棚列の採番差分と連携方針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StoreManagerGX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棚段・棚列は 1〜 で採番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0" y="91440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412480" y="914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基本機能は 0〜 で採番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9326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棚割マスタIF（1〜のまま連携）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417320"/>
            <a:ext cx="4297680" cy="0"/>
          </a:xfrm>
          <a:prstGeom prst="line">
            <a:avLst/>
          </a:prstGeom>
          <a:noFill/>
          <a:ln w="22225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StoreManagerGX の見え方（1始まり）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 基本機能の見え方（0始まり）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109728" cy="232257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468112" y="2514600"/>
            <a:ext cx="109728" cy="232257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2514600"/>
            <a:ext cx="4754880" cy="8229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932688" y="3246120"/>
            <a:ext cx="4535424" cy="8229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932688" y="3977640"/>
            <a:ext cx="4535424" cy="8229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49808" y="4709160"/>
            <a:ext cx="4901184" cy="12801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074420" y="267919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74420" y="267919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段1・列1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83180" y="267919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2583180" y="267919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段1・列2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91940" y="267919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4091940" y="267919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段1・列3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4420" y="341071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1074420" y="34107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段2・列1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83180" y="341071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2583180" y="34107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段2・列2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91940" y="341071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 txBox="1"/>
          <p:nvPr/>
        </p:nvSpPr>
        <p:spPr>
          <a:xfrm>
            <a:off x="4091940" y="34107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段2・列3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74420" y="414223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 txBox="1"/>
          <p:nvPr/>
        </p:nvSpPr>
        <p:spPr>
          <a:xfrm>
            <a:off x="1074420" y="41422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段3・列1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83180" y="414223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 txBox="1"/>
          <p:nvPr/>
        </p:nvSpPr>
        <p:spPr>
          <a:xfrm>
            <a:off x="2583180" y="41422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段3・列2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091940" y="414223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 txBox="1"/>
          <p:nvPr/>
        </p:nvSpPr>
        <p:spPr>
          <a:xfrm>
            <a:off x="4091940" y="41422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段3・列3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10412" y="2615184"/>
            <a:ext cx="1362456" cy="694944"/>
          </a:xfrm>
          <a:prstGeom prst="roundRect">
            <a:avLst>
              <a:gd name="adj" fmla="val 7895"/>
            </a:avLst>
          </a:prstGeom>
          <a:solidFill>
            <a:srgbClr val="FFFFFF">
              <a:alpha val="0"/>
            </a:srgbClr>
          </a:solidFill>
          <a:ln w="22225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6583680" y="2514600"/>
            <a:ext cx="109728" cy="232257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11228832" y="2514600"/>
            <a:ext cx="109728" cy="232257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6583680" y="2514600"/>
            <a:ext cx="4754880" cy="8229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6693408" y="3246120"/>
            <a:ext cx="4535424" cy="8229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6693408" y="3977640"/>
            <a:ext cx="4535424" cy="8229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6510528" y="4709160"/>
            <a:ext cx="4901184" cy="128016"/>
          </a:xfrm>
          <a:prstGeom prst="rect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6835140" y="267919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 txBox="1"/>
          <p:nvPr/>
        </p:nvSpPr>
        <p:spPr>
          <a:xfrm>
            <a:off x="6835140" y="267919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段0・列0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43900" y="267919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 txBox="1"/>
          <p:nvPr/>
        </p:nvSpPr>
        <p:spPr>
          <a:xfrm>
            <a:off x="8343900" y="267919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段0・列1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852660" y="267919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 txBox="1"/>
          <p:nvPr/>
        </p:nvSpPr>
        <p:spPr>
          <a:xfrm>
            <a:off x="9852660" y="267919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段0・列2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35140" y="341071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 txBox="1"/>
          <p:nvPr/>
        </p:nvSpPr>
        <p:spPr>
          <a:xfrm>
            <a:off x="6835140" y="34107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段1・列0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43900" y="341071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 txBox="1"/>
          <p:nvPr/>
        </p:nvSpPr>
        <p:spPr>
          <a:xfrm>
            <a:off x="8343900" y="34107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段1・列1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852660" y="341071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 txBox="1"/>
          <p:nvPr/>
        </p:nvSpPr>
        <p:spPr>
          <a:xfrm>
            <a:off x="9852660" y="341071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段1・列2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835140" y="414223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 txBox="1"/>
          <p:nvPr/>
        </p:nvSpPr>
        <p:spPr>
          <a:xfrm>
            <a:off x="6835140" y="41422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段2・列0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343900" y="414223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 txBox="1"/>
          <p:nvPr/>
        </p:nvSpPr>
        <p:spPr>
          <a:xfrm>
            <a:off x="8343900" y="41422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段2・列1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852660" y="4142232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 txBox="1"/>
          <p:nvPr/>
        </p:nvSpPr>
        <p:spPr>
          <a:xfrm>
            <a:off x="9852660" y="414223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段2・列2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771132" y="2615184"/>
            <a:ext cx="1362456" cy="694944"/>
          </a:xfrm>
          <a:prstGeom prst="roundRect">
            <a:avLst>
              <a:gd name="adj" fmla="val 7895"/>
            </a:avLst>
          </a:prstGeom>
          <a:solidFill>
            <a:srgbClr val="FFFFFF">
              <a:alpha val="0"/>
            </a:srgbClr>
          </a:solidFill>
          <a:ln w="22225">
            <a:solidFill>
              <a:srgbClr val="BA7517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 txBox="1"/>
          <p:nvPr/>
        </p:nvSpPr>
        <p:spPr>
          <a:xfrm>
            <a:off x="457200" y="49560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破線枠＝同じ場所。左では「段1・列1」、右では「段0・列0」と、番号が1ずれる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" y="544068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 txBox="1"/>
          <p:nvPr/>
        </p:nvSpPr>
        <p:spPr>
          <a:xfrm>
            <a:off x="914400" y="55321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連携方針</a:t>
            </a:r>
            <a:endParaRPr lang="en-US" sz="13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sinopsの棚住所関連機能を利用する場合は 0〜 への変換が必要（sinops側より依頼あり）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現時点で棚住所機能の利用予定はないため、1〜 のまま連携する</a:t>
            </a:r>
            <a:endParaRPr lang="en-US" sz="1300" dirty="0"/>
          </a:p>
        </p:txBody>
      </p:sp>
      <p:pic>
        <p:nvPicPr>
          <p:cNvPr id="66" name="図 65">
            <a:extLst>
              <a:ext uri="{FF2B5EF4-FFF2-40B4-BE49-F238E27FC236}">
                <a16:creationId xmlns:a16="http://schemas.microsoft.com/office/drawing/2014/main" id="{1BAF721D-A9A1-17B9-966B-BFB21B16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55448"/>
            <a:ext cx="141732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9D88C-9268-05F9-DAD6-4DF6C7BD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3A94CA-3FDB-936B-57F8-A1144D6649A6}"/>
              </a:ext>
            </a:extLst>
          </p:cNvPr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センター（DC）発注連携の認識合わせ</a:t>
            </a:r>
            <a:endParaRPr lang="en-US" sz="3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19C388-1D4A-D33F-ADEF-AFF74267B299}"/>
              </a:ext>
            </a:extLst>
          </p:cNvPr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sinops-w 発注勧告数の連携方式 ― 現状と今後の3案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477B91-5D35-E1BF-646E-EC2C23500D37}"/>
              </a:ext>
            </a:extLst>
          </p:cNvPr>
          <p:cNvSpPr/>
          <p:nvPr/>
        </p:nvSpPr>
        <p:spPr>
          <a:xfrm>
            <a:off x="82296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8C8353-E476-C8A6-C48E-DC4CEA4C89D1}"/>
              </a:ext>
            </a:extLst>
          </p:cNvPr>
          <p:cNvSpPr/>
          <p:nvPr/>
        </p:nvSpPr>
        <p:spPr>
          <a:xfrm>
            <a:off x="182880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8FB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586EF35-37A7-7E53-5697-DE6372E6D5BC}"/>
              </a:ext>
            </a:extLst>
          </p:cNvPr>
          <p:cNvSpPr/>
          <p:nvPr/>
        </p:nvSpPr>
        <p:spPr>
          <a:xfrm>
            <a:off x="283464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5A85D6"/>
          </a:solidFill>
          <a:ln/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2923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現状：センター発注勧告の連携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 w="12700">
            <a:solidFill>
              <a:srgbClr val="D5DE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西友（現状）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057401"/>
            <a:ext cx="3566160" cy="5029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1188720" y="2057401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sinops-w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発注勧告数を算出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2674620"/>
            <a:ext cx="21945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49377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IF連携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205740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7315200" y="20574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TC（基幹システム）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DC発注に反映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6F8FC"/>
          </a:solidFill>
          <a:ln w="12700">
            <a:solidFill>
              <a:srgbClr val="D5DE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TRIAL（現状）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88720" y="47091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1188720" y="47091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センター自動入れシステム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勧告データを抽出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5326380"/>
            <a:ext cx="21945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493776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手動で抽出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470916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7315200" y="47091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人が本部発注</a:t>
            </a:r>
            <a:endParaRPr lang="en-US" sz="16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729A093A-9DF3-D41D-D7D8-ACC45893A066}"/>
              </a:ext>
            </a:extLst>
          </p:cNvPr>
          <p:cNvSpPr/>
          <p:nvPr/>
        </p:nvSpPr>
        <p:spPr>
          <a:xfrm>
            <a:off x="1188720" y="2931496"/>
            <a:ext cx="3566160" cy="5029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8721A5CB-08C3-BB57-31D1-04D9FAD3ADF2}"/>
              </a:ext>
            </a:extLst>
          </p:cNvPr>
          <p:cNvSpPr txBox="1"/>
          <p:nvPr/>
        </p:nvSpPr>
        <p:spPr>
          <a:xfrm>
            <a:off x="118872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EXCELツール</a:t>
            </a:r>
            <a:endParaRPr lang="en-US" sz="1600" b="1" dirty="0">
              <a:solidFill>
                <a:srgbClr val="FFFF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発注勧告数を算出</a:t>
            </a:r>
            <a:endParaRPr lang="en-US" sz="16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CCDA3D-F10F-124B-A7E2-D08D1F249277}"/>
              </a:ext>
            </a:extLst>
          </p:cNvPr>
          <p:cNvSpPr txBox="1"/>
          <p:nvPr/>
        </p:nvSpPr>
        <p:spPr>
          <a:xfrm>
            <a:off x="705853" y="2057400"/>
            <a:ext cx="360947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/>
              <a:t>１割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3851603-FFE1-DAFB-0113-B66D085C6337}"/>
              </a:ext>
            </a:extLst>
          </p:cNvPr>
          <p:cNvSpPr txBox="1"/>
          <p:nvPr/>
        </p:nvSpPr>
        <p:spPr>
          <a:xfrm>
            <a:off x="705852" y="2840891"/>
            <a:ext cx="360947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/>
              <a:t>９割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今後の方向性：連携3案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26280" y="1371600"/>
            <a:ext cx="2091804" cy="500063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4526280" y="1371600"/>
            <a:ext cx="209180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sinops-w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発注勧告数を算出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H="1">
            <a:off x="3954379" y="1871663"/>
            <a:ext cx="591345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flipH="1">
            <a:off x="5606716" y="1871663"/>
            <a:ext cx="1605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618085" y="1871662"/>
            <a:ext cx="586532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678005" y="2441734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678005" y="2441734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案1：人が本発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DB発注ツールを手動操作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3717" y="2444942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443717" y="2444942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案2：RPAで本発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DB発注ツールを自動操作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09429" y="2441734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209429" y="2441734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案3：システム連携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発注取り込み（具体案確認中）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いずれも sinops-w が計算した発注勧告数を起点とする</a:t>
            </a:r>
            <a:endParaRPr lang="en-US" sz="13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D4F0BBAC-24DA-7011-9140-3EFFB18A886B}"/>
              </a:ext>
            </a:extLst>
          </p:cNvPr>
          <p:cNvSpPr/>
          <p:nvPr/>
        </p:nvSpPr>
        <p:spPr>
          <a:xfrm>
            <a:off x="4526280" y="3429000"/>
            <a:ext cx="2091804" cy="500063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A0675DAA-8A80-8420-E55C-790FF66948E4}"/>
              </a:ext>
            </a:extLst>
          </p:cNvPr>
          <p:cNvSpPr txBox="1"/>
          <p:nvPr/>
        </p:nvSpPr>
        <p:spPr>
          <a:xfrm>
            <a:off x="4526280" y="3429000"/>
            <a:ext cx="209180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Excelツール</a:t>
            </a:r>
            <a:endParaRPr lang="en-US" sz="1600" b="1" dirty="0">
              <a:solidFill>
                <a:srgbClr val="FFFF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発注勧告数を算出</a:t>
            </a:r>
            <a:endParaRPr lang="en-US" sz="16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07083C32-5DF9-2A29-AF27-E1B1D9EFAEBA}"/>
              </a:ext>
            </a:extLst>
          </p:cNvPr>
          <p:cNvSpPr/>
          <p:nvPr/>
        </p:nvSpPr>
        <p:spPr>
          <a:xfrm flipH="1">
            <a:off x="3954379" y="3929063"/>
            <a:ext cx="591345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73CAF36C-DED9-0FBF-D23F-DFCEE13866D2}"/>
              </a:ext>
            </a:extLst>
          </p:cNvPr>
          <p:cNvSpPr/>
          <p:nvPr/>
        </p:nvSpPr>
        <p:spPr>
          <a:xfrm flipH="1">
            <a:off x="5606716" y="3929063"/>
            <a:ext cx="1605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84F8DA12-06AC-EE7C-1150-D208FB34CADB}"/>
              </a:ext>
            </a:extLst>
          </p:cNvPr>
          <p:cNvSpPr/>
          <p:nvPr/>
        </p:nvSpPr>
        <p:spPr>
          <a:xfrm>
            <a:off x="6618085" y="3929062"/>
            <a:ext cx="586532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A8738C7C-A714-470B-2F87-81F9545A741F}"/>
              </a:ext>
            </a:extLst>
          </p:cNvPr>
          <p:cNvSpPr/>
          <p:nvPr/>
        </p:nvSpPr>
        <p:spPr>
          <a:xfrm>
            <a:off x="1678005" y="4499134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3D4C0B21-86D5-0F0C-17BB-055BEE27311A}"/>
              </a:ext>
            </a:extLst>
          </p:cNvPr>
          <p:cNvSpPr txBox="1"/>
          <p:nvPr/>
        </p:nvSpPr>
        <p:spPr>
          <a:xfrm>
            <a:off x="1678005" y="4499134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案1：人が本発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DB発注ツールを手動操作</a:t>
            </a:r>
            <a:endParaRPr lang="en-US" sz="16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BE969D53-EB64-A7B9-5B98-31D766FD1BCF}"/>
              </a:ext>
            </a:extLst>
          </p:cNvPr>
          <p:cNvSpPr/>
          <p:nvPr/>
        </p:nvSpPr>
        <p:spPr>
          <a:xfrm>
            <a:off x="4443717" y="4502342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6BD57039-DF78-5669-A0C2-2EB427594DB0}"/>
              </a:ext>
            </a:extLst>
          </p:cNvPr>
          <p:cNvSpPr txBox="1"/>
          <p:nvPr/>
        </p:nvSpPr>
        <p:spPr>
          <a:xfrm>
            <a:off x="4443717" y="4502342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案2：RPAで本発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DB発注ツールを自動操作</a:t>
            </a:r>
            <a:endParaRPr lang="en-US" sz="16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8B9594E4-FE75-5C04-1E4D-52E13EC2BCF3}"/>
              </a:ext>
            </a:extLst>
          </p:cNvPr>
          <p:cNvSpPr/>
          <p:nvPr/>
        </p:nvSpPr>
        <p:spPr>
          <a:xfrm>
            <a:off x="7209429" y="4499134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8894A84-B3B4-8906-99B2-A3387B653723}"/>
              </a:ext>
            </a:extLst>
          </p:cNvPr>
          <p:cNvSpPr txBox="1"/>
          <p:nvPr/>
        </p:nvSpPr>
        <p:spPr>
          <a:xfrm>
            <a:off x="7209429" y="4499134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案3：システム連携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発注取り込み（具体案確認中）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9608E-3A80-76D8-DF69-E6363F2D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B56105-6BCB-5806-BB8F-9DC0C257A4AE}"/>
              </a:ext>
            </a:extLst>
          </p:cNvPr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今後の方向性：連携3案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FACB52-9318-DC7D-7D4D-DED464918270}"/>
              </a:ext>
            </a:extLst>
          </p:cNvPr>
          <p:cNvSpPr/>
          <p:nvPr/>
        </p:nvSpPr>
        <p:spPr>
          <a:xfrm>
            <a:off x="4526280" y="1371600"/>
            <a:ext cx="2091804" cy="500063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233020-FE58-A69C-2BCE-6AD0679E57AD}"/>
              </a:ext>
            </a:extLst>
          </p:cNvPr>
          <p:cNvSpPr txBox="1"/>
          <p:nvPr/>
        </p:nvSpPr>
        <p:spPr>
          <a:xfrm>
            <a:off x="4526280" y="1371600"/>
            <a:ext cx="209180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sinops-w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発注勧告数を算出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B4EBB14-8BE8-C7A9-E6A1-328BE90F1CB7}"/>
              </a:ext>
            </a:extLst>
          </p:cNvPr>
          <p:cNvSpPr/>
          <p:nvPr/>
        </p:nvSpPr>
        <p:spPr>
          <a:xfrm flipH="1">
            <a:off x="3954379" y="1871663"/>
            <a:ext cx="591345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EF19E43-36FF-A4F1-B388-29C54B3727D5}"/>
              </a:ext>
            </a:extLst>
          </p:cNvPr>
          <p:cNvSpPr/>
          <p:nvPr/>
        </p:nvSpPr>
        <p:spPr>
          <a:xfrm flipH="1">
            <a:off x="5606716" y="1871663"/>
            <a:ext cx="1605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0D9CABA-518A-916F-2CA3-FFB2569C6872}"/>
              </a:ext>
            </a:extLst>
          </p:cNvPr>
          <p:cNvSpPr/>
          <p:nvPr/>
        </p:nvSpPr>
        <p:spPr>
          <a:xfrm>
            <a:off x="6618085" y="1871662"/>
            <a:ext cx="586532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E863D10-30FC-986C-424B-5C06BC4FA627}"/>
              </a:ext>
            </a:extLst>
          </p:cNvPr>
          <p:cNvSpPr/>
          <p:nvPr/>
        </p:nvSpPr>
        <p:spPr>
          <a:xfrm>
            <a:off x="1678005" y="2441734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68E79C-3708-8839-F691-4CC1BAC0E6A3}"/>
              </a:ext>
            </a:extLst>
          </p:cNvPr>
          <p:cNvSpPr txBox="1"/>
          <p:nvPr/>
        </p:nvSpPr>
        <p:spPr>
          <a:xfrm>
            <a:off x="1678005" y="2441734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案1：人が本発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DB発注ツールを手動操作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562317-74FE-6EC7-38CA-DC2E86EF5A17}"/>
              </a:ext>
            </a:extLst>
          </p:cNvPr>
          <p:cNvSpPr/>
          <p:nvPr/>
        </p:nvSpPr>
        <p:spPr>
          <a:xfrm>
            <a:off x="4443717" y="2444942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1948CCA-1643-E311-CAEC-817C9EA11219}"/>
              </a:ext>
            </a:extLst>
          </p:cNvPr>
          <p:cNvSpPr txBox="1"/>
          <p:nvPr/>
        </p:nvSpPr>
        <p:spPr>
          <a:xfrm>
            <a:off x="4443717" y="2444942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案2：RPAで本発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DB発注ツールを自動操作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7E961CD-17B3-AA5D-50EA-4400946F0A21}"/>
              </a:ext>
            </a:extLst>
          </p:cNvPr>
          <p:cNvSpPr/>
          <p:nvPr/>
        </p:nvSpPr>
        <p:spPr>
          <a:xfrm>
            <a:off x="7209429" y="2441734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5F9E3A5-2AD7-C2CE-0237-BC1D559589B9}"/>
              </a:ext>
            </a:extLst>
          </p:cNvPr>
          <p:cNvSpPr txBox="1"/>
          <p:nvPr/>
        </p:nvSpPr>
        <p:spPr>
          <a:xfrm>
            <a:off x="7209429" y="2441734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案3：システム連携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発注取り込み（具体案確認中）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633268D-4709-4C88-DA78-BF4C778C4BAE}"/>
              </a:ext>
            </a:extLst>
          </p:cNvPr>
          <p:cNvSpPr txBox="1"/>
          <p:nvPr/>
        </p:nvSpPr>
        <p:spPr>
          <a:xfrm>
            <a:off x="73152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いずれも sinops-w が計算した発注勧告数を起点とする</a:t>
            </a:r>
            <a:endParaRPr lang="en-US" sz="13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F51535C8-EE51-2888-E88F-17395EC0B879}"/>
              </a:ext>
            </a:extLst>
          </p:cNvPr>
          <p:cNvSpPr/>
          <p:nvPr/>
        </p:nvSpPr>
        <p:spPr>
          <a:xfrm>
            <a:off x="4526280" y="3429000"/>
            <a:ext cx="2091804" cy="500063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88D20F71-A778-C2E1-825D-1EC0A7E237A6}"/>
              </a:ext>
            </a:extLst>
          </p:cNvPr>
          <p:cNvSpPr txBox="1"/>
          <p:nvPr/>
        </p:nvSpPr>
        <p:spPr>
          <a:xfrm>
            <a:off x="4526280" y="3429000"/>
            <a:ext cx="209180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Excelツール</a:t>
            </a:r>
            <a:endParaRPr lang="en-US" sz="1600" b="1" dirty="0">
              <a:solidFill>
                <a:srgbClr val="FFFF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発注勧告数を算出</a:t>
            </a:r>
            <a:endParaRPr lang="en-US" sz="16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81786AB6-82D1-2040-A946-1B66179CA054}"/>
              </a:ext>
            </a:extLst>
          </p:cNvPr>
          <p:cNvSpPr/>
          <p:nvPr/>
        </p:nvSpPr>
        <p:spPr>
          <a:xfrm flipH="1">
            <a:off x="3954379" y="3929063"/>
            <a:ext cx="591345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856F444A-75FC-1429-ACED-65FC29B31449}"/>
              </a:ext>
            </a:extLst>
          </p:cNvPr>
          <p:cNvSpPr/>
          <p:nvPr/>
        </p:nvSpPr>
        <p:spPr>
          <a:xfrm flipH="1">
            <a:off x="5606716" y="3929063"/>
            <a:ext cx="1605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C8A48C04-4952-323F-1A26-6249AC1F7FC1}"/>
              </a:ext>
            </a:extLst>
          </p:cNvPr>
          <p:cNvSpPr/>
          <p:nvPr/>
        </p:nvSpPr>
        <p:spPr>
          <a:xfrm>
            <a:off x="6618085" y="3929062"/>
            <a:ext cx="586532" cy="57007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A37FC5C6-2EF6-4B7B-3ACF-1B3B127175DD}"/>
              </a:ext>
            </a:extLst>
          </p:cNvPr>
          <p:cNvSpPr/>
          <p:nvPr/>
        </p:nvSpPr>
        <p:spPr>
          <a:xfrm>
            <a:off x="1678005" y="4499134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0AC6F1F-FA97-3DEE-B35C-0724086ECAE6}"/>
              </a:ext>
            </a:extLst>
          </p:cNvPr>
          <p:cNvSpPr txBox="1"/>
          <p:nvPr/>
        </p:nvSpPr>
        <p:spPr>
          <a:xfrm>
            <a:off x="1678005" y="4499134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案1：人が本発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DB発注ツールを手動操作</a:t>
            </a:r>
            <a:endParaRPr lang="en-US" sz="16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86DBBE94-42E8-4121-D592-93F27ABD7653}"/>
              </a:ext>
            </a:extLst>
          </p:cNvPr>
          <p:cNvSpPr/>
          <p:nvPr/>
        </p:nvSpPr>
        <p:spPr>
          <a:xfrm>
            <a:off x="4443717" y="4502342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5F71F707-54EA-4F12-0704-CF6AA1C36887}"/>
              </a:ext>
            </a:extLst>
          </p:cNvPr>
          <p:cNvSpPr txBox="1"/>
          <p:nvPr/>
        </p:nvSpPr>
        <p:spPr>
          <a:xfrm>
            <a:off x="4443717" y="4502342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案2：RPAで本発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DB発注ツールを自動操作</a:t>
            </a:r>
            <a:endParaRPr lang="en-US" sz="16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095D174-A268-DA7A-B4E1-CE789262B080}"/>
              </a:ext>
            </a:extLst>
          </p:cNvPr>
          <p:cNvSpPr/>
          <p:nvPr/>
        </p:nvSpPr>
        <p:spPr>
          <a:xfrm>
            <a:off x="7209429" y="4499134"/>
            <a:ext cx="2276375" cy="640080"/>
          </a:xfrm>
          <a:prstGeom prst="roundRect">
            <a:avLst>
              <a:gd name="adj" fmla="val 5625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B3E6AFA-38BB-BD87-9D31-105AD6A1EDC5}"/>
              </a:ext>
            </a:extLst>
          </p:cNvPr>
          <p:cNvSpPr txBox="1"/>
          <p:nvPr/>
        </p:nvSpPr>
        <p:spPr>
          <a:xfrm>
            <a:off x="7209429" y="4499134"/>
            <a:ext cx="2276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案3：システム連携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発注取り込み（具体案確認中）</a:t>
            </a:r>
            <a:endParaRPr lang="en-US" sz="1600" dirty="0"/>
          </a:p>
        </p:txBody>
      </p:sp>
      <p:sp>
        <p:nvSpPr>
          <p:cNvPr id="27" name="角丸四角形吹き出し 26">
            <a:extLst>
              <a:ext uri="{FF2B5EF4-FFF2-40B4-BE49-F238E27FC236}">
                <a16:creationId xmlns:a16="http://schemas.microsoft.com/office/drawing/2014/main" id="{C890B870-6E97-01BC-13B7-FC10531F4653}"/>
              </a:ext>
            </a:extLst>
          </p:cNvPr>
          <p:cNvSpPr/>
          <p:nvPr/>
        </p:nvSpPr>
        <p:spPr>
          <a:xfrm>
            <a:off x="7204617" y="3328737"/>
            <a:ext cx="2388562" cy="802105"/>
          </a:xfrm>
          <a:prstGeom prst="wedgeRoundRectCallout">
            <a:avLst>
              <a:gd name="adj1" fmla="val -75842"/>
              <a:gd name="adj2" fmla="val -337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r>
              <a:rPr kumimoji="1" lang="ja-JP" altLang="en-US"/>
              <a:t>番の問題はここに</a:t>
            </a:r>
            <a:r>
              <a:rPr kumimoji="1" lang="en-US" altLang="ja-JP" dirty="0"/>
              <a:t>TR</a:t>
            </a:r>
            <a:r>
              <a:rPr kumimoji="1" lang="ja-JP" altLang="en-US"/>
              <a:t>基幹、</a:t>
            </a:r>
            <a:r>
              <a:rPr kumimoji="1" lang="en-US" altLang="ja-JP" dirty="0"/>
              <a:t>Himalayas</a:t>
            </a:r>
          </a:p>
          <a:p>
            <a:pPr algn="ctr"/>
            <a:r>
              <a:rPr kumimoji="1" lang="ja-JP" altLang="en-US"/>
              <a:t>のデータ連携が必要</a:t>
            </a:r>
          </a:p>
        </p:txBody>
      </p:sp>
      <p:sp>
        <p:nvSpPr>
          <p:cNvPr id="15" name="角丸四角形吹き出し 14">
            <a:extLst>
              <a:ext uri="{FF2B5EF4-FFF2-40B4-BE49-F238E27FC236}">
                <a16:creationId xmlns:a16="http://schemas.microsoft.com/office/drawing/2014/main" id="{08D18C03-F87A-7BB6-9C76-487C59508276}"/>
              </a:ext>
            </a:extLst>
          </p:cNvPr>
          <p:cNvSpPr/>
          <p:nvPr/>
        </p:nvSpPr>
        <p:spPr>
          <a:xfrm>
            <a:off x="9593179" y="1669858"/>
            <a:ext cx="2388562" cy="802105"/>
          </a:xfrm>
          <a:prstGeom prst="wedgeRoundRectCallout">
            <a:avLst>
              <a:gd name="adj1" fmla="val -78193"/>
              <a:gd name="adj2" fmla="val 4762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CoreSaver</a:t>
            </a:r>
            <a:r>
              <a:rPr kumimoji="1" lang="ja-JP" altLang="en-US"/>
              <a:t>に流す方法があるかを確認中</a:t>
            </a:r>
          </a:p>
        </p:txBody>
      </p:sp>
    </p:spTree>
    <p:extLst>
      <p:ext uri="{BB962C8B-B14F-4D97-AF65-F5344CB8AC3E}">
        <p14:creationId xmlns:p14="http://schemas.microsoft.com/office/powerpoint/2010/main" val="399705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86252-7B24-DFA3-BED5-87CECEB8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F25ABC-A32F-F2A8-6627-76E8D5B75049}"/>
              </a:ext>
            </a:extLst>
          </p:cNvPr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8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便振り分けの運用について</a:t>
            </a:r>
            <a:endParaRPr lang="en-US" sz="3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CA10C1-AA01-3A2C-543E-405E821D1C7A}"/>
              </a:ext>
            </a:extLst>
          </p:cNvPr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28A14F-EA0B-8CC3-4D46-897E4ECE6128}"/>
              </a:ext>
            </a:extLst>
          </p:cNvPr>
          <p:cNvSpPr/>
          <p:nvPr/>
        </p:nvSpPr>
        <p:spPr>
          <a:xfrm>
            <a:off x="82296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7420FB-B76E-A147-2BF5-FC5ACDD577D5}"/>
              </a:ext>
            </a:extLst>
          </p:cNvPr>
          <p:cNvSpPr/>
          <p:nvPr/>
        </p:nvSpPr>
        <p:spPr>
          <a:xfrm>
            <a:off x="182880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8FB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A544B1-30B2-9431-4C7E-F9855AEFD002}"/>
              </a:ext>
            </a:extLst>
          </p:cNvPr>
          <p:cNvSpPr/>
          <p:nvPr/>
        </p:nvSpPr>
        <p:spPr>
          <a:xfrm>
            <a:off x="283464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5A85D6"/>
          </a:solidFill>
          <a:ln/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8634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便設定の整理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6F8FC"/>
          </a:solidFill>
          <a:ln w="12700">
            <a:solidFill>
              <a:srgbClr val="D5DE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2344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確認結果（中島さん経由で畜産に確認）：</a:t>
            </a:r>
            <a:r>
              <a:rPr lang="en-US" sz="14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対外に向けては便を利用しておらず、PCで利用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F6F8FC"/>
          </a:solidFill>
          <a:ln w="12700">
            <a:solidFill>
              <a:srgbClr val="D5DE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2926080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051560" y="29260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便の振り分け設定は利用しない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14700" y="3840480"/>
            <a:ext cx="0" cy="36576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051560" y="4251960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1051560" y="42519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生鮮発注統合システム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振り分けの設定を作成する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2377440"/>
            <a:ext cx="5349240" cy="3017520"/>
          </a:xfrm>
          <a:prstGeom prst="roundRect">
            <a:avLst>
              <a:gd name="adj" fmla="val 3636"/>
            </a:avLst>
          </a:prstGeom>
          <a:solidFill>
            <a:srgbClr val="F6F8FC"/>
          </a:solidFill>
          <a:ln w="12700">
            <a:solidFill>
              <a:srgbClr val="D5DE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4652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非生鮮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2926080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583680" y="29260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便選択は運用上行っていない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発注時に便は選ばない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4251960"/>
            <a:ext cx="4526280" cy="914400"/>
          </a:xfrm>
          <a:prstGeom prst="roundRect">
            <a:avLst>
              <a:gd name="adj" fmla="val 9000"/>
            </a:avLst>
          </a:prstGeom>
          <a:solidFill>
            <a:srgbClr val="E8F0FC"/>
          </a:solidFill>
          <a:ln w="12700">
            <a:solidFill>
              <a:srgbClr val="9DB8E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6583680" y="42519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便は物流側で利用？確認中</a:t>
            </a:r>
            <a:endParaRPr lang="en-US" sz="1600" b="1" dirty="0">
              <a:solidFill>
                <a:srgbClr val="1E2761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 algn="ctr">
              <a:buNone/>
            </a:pPr>
            <a:r>
              <a:rPr lang="en-US" sz="1600" b="1" dirty="0" err="1">
                <a:solidFill>
                  <a:srgbClr val="1E2761"/>
                </a:solidFill>
                <a:latin typeface="Yu Gothic" pitchFamily="34" charset="0"/>
                <a:ea typeface="Yu Gothic" pitchFamily="34" charset="-122"/>
              </a:rPr>
              <a:t>HitlusterではなくHimalayas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5A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納品時間の調整に使用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結論：sinops上で便の設定は持たない</a:t>
            </a:r>
            <a:r>
              <a:rPr lang="en-US" sz="15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（生鮮の振り分けは生鮮発注統合システム側で設定）</a:t>
            </a:r>
            <a:endParaRPr lang="en-US" sz="1500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AC70E344-324F-5020-E70B-AFC6E7373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155448"/>
            <a:ext cx="141732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92957-AFA4-0F75-46AB-86B5F592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BCE74B-8453-BF9C-9450-730A26EE56D5}"/>
              </a:ext>
            </a:extLst>
          </p:cNvPr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新旧JAN紐付けについて</a:t>
            </a:r>
            <a:endParaRPr lang="en-US" sz="3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F4842F-A27B-835F-4BA1-BB0742231EF6}"/>
              </a:ext>
            </a:extLst>
          </p:cNvPr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17949B-B121-A43A-4BE9-C6F82C8DA195}"/>
              </a:ext>
            </a:extLst>
          </p:cNvPr>
          <p:cNvSpPr/>
          <p:nvPr/>
        </p:nvSpPr>
        <p:spPr>
          <a:xfrm>
            <a:off x="82296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A63E9E-E89D-9961-269B-AB663EEE9F20}"/>
              </a:ext>
            </a:extLst>
          </p:cNvPr>
          <p:cNvSpPr/>
          <p:nvPr/>
        </p:nvSpPr>
        <p:spPr>
          <a:xfrm>
            <a:off x="182880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8FB4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331C598-F519-3447-EBA6-F59CB5190B70}"/>
              </a:ext>
            </a:extLst>
          </p:cNvPr>
          <p:cNvSpPr/>
          <p:nvPr/>
        </p:nvSpPr>
        <p:spPr>
          <a:xfrm>
            <a:off x="2834640" y="438912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5A85D6"/>
          </a:solidFill>
          <a:ln/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97453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新旧JAN紐付け：現状と対応3案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西友（現行運用あり）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29200" cy="658368"/>
          </a:xfrm>
          <a:prstGeom prst="roundRect">
            <a:avLst>
              <a:gd name="adj" fmla="val 9722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TC（西友基幹）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新旧紐付けを設定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2258568"/>
            <a:ext cx="0" cy="3657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1828800" y="2304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紐付け設定を取込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029200" cy="658368"/>
          </a:xfrm>
          <a:prstGeom prst="roundRect">
            <a:avLst>
              <a:gd name="adj" fmla="val 972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旧JANの実績・在庫を新JANの販売予測に活用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TRIAL（紐付けなし）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5029200" cy="658368"/>
          </a:xfrm>
          <a:prstGeom prst="roundRect">
            <a:avLst>
              <a:gd name="adj" fmla="val 9722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9136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TRIAL基幹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新旧紐付けの仕組みなし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45920" y="4572000"/>
            <a:ext cx="0" cy="365760"/>
          </a:xfrm>
          <a:prstGeom prst="line">
            <a:avLst/>
          </a:prstGeom>
          <a:noFill/>
          <a:ln w="19050">
            <a:solidFill>
              <a:srgbClr val="5F5E5A"/>
            </a:solidFill>
            <a:prstDash val="dash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182880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紐付け情報がない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65192"/>
            <a:ext cx="5029200" cy="658368"/>
          </a:xfrm>
          <a:prstGeom prst="roundRect">
            <a:avLst>
              <a:gd name="adj" fmla="val 9722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96519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12B1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3C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新JANは実績ゼロから予測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旧JANの実績・在庫を新JANへ引き継ぐ方法の検討が必要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914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対応3案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26480" y="1325880"/>
            <a:ext cx="5577840" cy="1051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6355080" y="14538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案1：新旧の設定を行わず、sinopsの新商品PIで設定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1819656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6355080" y="1819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懸念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1801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旧商品の在庫が残っている間、予測精度に問題が出そう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560320"/>
            <a:ext cx="5577840" cy="1051560"/>
          </a:xfrm>
          <a:prstGeom prst="roundRect">
            <a:avLst>
              <a:gd name="adj" fmla="val 6087"/>
            </a:avLst>
          </a:prstGeom>
          <a:solidFill>
            <a:schemeClr val="bg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6355080" y="26883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案2：新旧の紐付けをsinopsの画面上で手動設定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3054096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 txBox="1"/>
          <p:nvPr/>
        </p:nvSpPr>
        <p:spPr>
          <a:xfrm>
            <a:off x="6355080" y="30540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懸念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967728" y="30358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対象商品が多く、作業量が問題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794760"/>
            <a:ext cx="5577840" cy="1371600"/>
          </a:xfrm>
          <a:prstGeom prst="roundRect">
            <a:avLst>
              <a:gd name="adj" fmla="val 4667"/>
            </a:avLst>
          </a:prstGeom>
          <a:solidFill>
            <a:schemeClr val="bg2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 txBox="1"/>
          <p:nvPr/>
        </p:nvSpPr>
        <p:spPr>
          <a:xfrm>
            <a:off x="6355080" y="3922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案3：取引先にR-melos／eb-mdmで紐付け登録を徹底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2885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100" dirty="0" err="1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登録された紐付けのうち、採用された商品のみを抜き出してsinopsへ連携</a:t>
            </a:r>
            <a:endParaRPr lang="en-US" altLang="ja-JP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4617720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 txBox="1"/>
          <p:nvPr/>
        </p:nvSpPr>
        <p:spPr>
          <a:xfrm>
            <a:off x="6355080" y="46177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懸念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967728" y="45994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フローが複雑で、イレギュラー発生時に事故が起きる懸念</a:t>
            </a:r>
            <a:endParaRPr lang="en-US" sz="1100" dirty="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676D5178-BE36-A410-8408-B97D6520FABC}"/>
              </a:ext>
            </a:extLst>
          </p:cNvPr>
          <p:cNvSpPr/>
          <p:nvPr/>
        </p:nvSpPr>
        <p:spPr>
          <a:xfrm>
            <a:off x="6126480" y="5349240"/>
            <a:ext cx="5577840" cy="104040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3F01AB1B-2E31-6AAF-330E-189827FD4E46}"/>
              </a:ext>
            </a:extLst>
          </p:cNvPr>
          <p:cNvSpPr txBox="1"/>
          <p:nvPr/>
        </p:nvSpPr>
        <p:spPr>
          <a:xfrm>
            <a:off x="6355080" y="5532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案4：専用のメンテナンス画面を作成し、メンテする</a:t>
            </a:r>
            <a:endParaRPr lang="en-US" sz="130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7C6E6F5F-A8B0-9663-EA36-071A9DCDBD86}"/>
              </a:ext>
            </a:extLst>
          </p:cNvPr>
          <p:cNvSpPr txBox="1"/>
          <p:nvPr/>
        </p:nvSpPr>
        <p:spPr>
          <a:xfrm>
            <a:off x="635508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1100"/>
              <a:t>他システムでも新旧紐付を利用している場合、</a:t>
            </a:r>
            <a:r>
              <a:rPr lang="en-US" altLang="ja-JP" sz="1100" dirty="0" err="1"/>
              <a:t>sinops</a:t>
            </a:r>
            <a:r>
              <a:rPr lang="ja-JP" altLang="en-US" sz="1100"/>
              <a:t>外でメンテ、</a:t>
            </a:r>
            <a:r>
              <a:rPr lang="en-US" altLang="ja-JP" sz="1100" dirty="0" err="1"/>
              <a:t>Sinops</a:t>
            </a:r>
            <a:r>
              <a:rPr lang="ja-JP" altLang="en-US" sz="1100"/>
              <a:t>に同期が必要</a:t>
            </a:r>
            <a:endParaRPr lang="en-US" altLang="ja-JP" sz="1100" dirty="0"/>
          </a:p>
          <a:p>
            <a:endParaRPr lang="en-US" altLang="ja-JP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ベンダー休みのメンテナンス：設定場所の違い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554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sinops-w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メンテナンス画面あり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4920" y="2103120"/>
            <a:ext cx="2011680" cy="0"/>
          </a:xfrm>
          <a:prstGeom prst="line">
            <a:avLst/>
          </a:prstGeom>
          <a:noFill/>
          <a:ln w="22225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8920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画面上で設定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0" y="15544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0" y="1554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sinops-wメンテナンス画面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ベンダー休みを設定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3383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sinops-r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メンテナンス画面なし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3931920"/>
            <a:ext cx="2011680" cy="0"/>
          </a:xfrm>
          <a:prstGeom prst="line">
            <a:avLst/>
          </a:prstGeom>
          <a:noFill/>
          <a:ln w="22225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920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基幹側で設定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33832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7315200" y="3383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TRIAL自動発注システム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85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ベンダー休みを設定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同じベンダー休みのメンテでも、システムによって設定場所が異なる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 err="1"/>
              <a:t>SinopsまでのIF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勧告数の連携ルート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非生鮮</a:t>
            </a:r>
            <a:endParaRPr lang="en-US" sz="1250" dirty="0"/>
          </a:p>
        </p:txBody>
      </p: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AB763BC9-582B-44EA-CC68-455A6CD39D34}"/>
              </a:ext>
            </a:extLst>
          </p:cNvPr>
          <p:cNvGrpSpPr/>
          <p:nvPr/>
        </p:nvGrpSpPr>
        <p:grpSpPr>
          <a:xfrm>
            <a:off x="6332220" y="429673"/>
            <a:ext cx="1828800" cy="731520"/>
            <a:chOff x="502920" y="1463040"/>
            <a:chExt cx="1828800" cy="731520"/>
          </a:xfrm>
        </p:grpSpPr>
        <p:sp>
          <p:nvSpPr>
            <p:cNvPr id="5" name="Shape 3"/>
            <p:cNvSpPr/>
            <p:nvPr/>
          </p:nvSpPr>
          <p:spPr>
            <a:xfrm>
              <a:off x="502920" y="1463040"/>
              <a:ext cx="1828800" cy="731520"/>
            </a:xfrm>
            <a:prstGeom prst="roundRect">
              <a:avLst>
                <a:gd name="adj" fmla="val 7500"/>
              </a:avLst>
            </a:prstGeom>
            <a:solidFill>
              <a:srgbClr val="E1F5EE"/>
            </a:solidFill>
            <a:ln w="1270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502920" y="1463040"/>
              <a:ext cx="18288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085041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sinops</a:t>
              </a:r>
              <a:endParaRPr lang="en-US" sz="1350" dirty="0"/>
            </a:p>
          </p:txBody>
        </p:sp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C151BC43-D24C-4207-738C-9A85B136C205}"/>
              </a:ext>
            </a:extLst>
          </p:cNvPr>
          <p:cNvGrpSpPr/>
          <p:nvPr/>
        </p:nvGrpSpPr>
        <p:grpSpPr>
          <a:xfrm>
            <a:off x="5166360" y="1463040"/>
            <a:ext cx="1828800" cy="731520"/>
            <a:chOff x="5166360" y="1463040"/>
            <a:chExt cx="1828800" cy="731520"/>
          </a:xfrm>
        </p:grpSpPr>
        <p:sp>
          <p:nvSpPr>
            <p:cNvPr id="9" name="Shape 7"/>
            <p:cNvSpPr/>
            <p:nvPr/>
          </p:nvSpPr>
          <p:spPr>
            <a:xfrm>
              <a:off x="5166360" y="1463040"/>
              <a:ext cx="1828800" cy="731520"/>
            </a:xfrm>
            <a:prstGeom prst="roundRect">
              <a:avLst>
                <a:gd name="adj" fmla="val 7500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5166360" y="1463040"/>
              <a:ext cx="18288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発注データ</a:t>
              </a:r>
              <a:endParaRPr lang="en-US" sz="130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749808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749808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EOB（発注SV）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82980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982980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CoreSaver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386584" y="1828800"/>
            <a:ext cx="2724912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502920" y="364846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生鮮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50292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16636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516636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自動発注システム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9808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749808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生鮮統合発注</a:t>
            </a:r>
            <a:endParaRPr lang="en-US" sz="1300" b="1" dirty="0">
              <a:solidFill>
                <a:srgbClr val="0C447C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PACER生鮮発注</a:t>
            </a:r>
            <a:endParaRPr lang="en-US" sz="1300" b="1" dirty="0">
              <a:solidFill>
                <a:srgbClr val="0C447C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82980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 txBox="1"/>
          <p:nvPr/>
        </p:nvSpPr>
        <p:spPr>
          <a:xfrm>
            <a:off x="982980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CoreSaver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386584" y="4288545"/>
            <a:ext cx="2724912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A822D906-5D92-0257-6B00-D02993E0DFC7}"/>
              </a:ext>
            </a:extLst>
          </p:cNvPr>
          <p:cNvGrpSpPr/>
          <p:nvPr/>
        </p:nvGrpSpPr>
        <p:grpSpPr>
          <a:xfrm>
            <a:off x="7475614" y="5157220"/>
            <a:ext cx="1828800" cy="731520"/>
            <a:chOff x="7498080" y="4679402"/>
            <a:chExt cx="1828800" cy="731520"/>
          </a:xfrm>
        </p:grpSpPr>
        <p:sp>
          <p:nvSpPr>
            <p:cNvPr id="50" name="Shape 23">
              <a:extLst>
                <a:ext uri="{FF2B5EF4-FFF2-40B4-BE49-F238E27FC236}">
                  <a16:creationId xmlns:a16="http://schemas.microsoft.com/office/drawing/2014/main" id="{894BFE6C-5CAD-6D9B-6B8F-9C5CBFDFD6C6}"/>
                </a:ext>
              </a:extLst>
            </p:cNvPr>
            <p:cNvSpPr/>
            <p:nvPr/>
          </p:nvSpPr>
          <p:spPr>
            <a:xfrm>
              <a:off x="7498080" y="4679402"/>
              <a:ext cx="1828800" cy="731520"/>
            </a:xfrm>
            <a:prstGeom prst="roundRect">
              <a:avLst>
                <a:gd name="adj" fmla="val 7500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Text 24">
              <a:extLst>
                <a:ext uri="{FF2B5EF4-FFF2-40B4-BE49-F238E27FC236}">
                  <a16:creationId xmlns:a16="http://schemas.microsoft.com/office/drawing/2014/main" id="{9E90D757-9A9E-7653-482C-BF7397F991ED}"/>
                </a:ext>
              </a:extLst>
            </p:cNvPr>
            <p:cNvSpPr txBox="1"/>
            <p:nvPr/>
          </p:nvSpPr>
          <p:spPr>
            <a:xfrm>
              <a:off x="7498080" y="4679402"/>
              <a:ext cx="1828800" cy="73152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</a:rPr>
                <a:t>@rms(</a:t>
              </a: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</a:rPr>
                <a:t>青果</a:t>
              </a:r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</a:rPr>
                <a:t>)</a:t>
              </a:r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D317E299-AA2C-4204-BDB5-B461BFDCD8D1}"/>
              </a:ext>
            </a:extLst>
          </p:cNvPr>
          <p:cNvGrpSpPr/>
          <p:nvPr/>
        </p:nvGrpSpPr>
        <p:grpSpPr>
          <a:xfrm>
            <a:off x="7475614" y="5963023"/>
            <a:ext cx="1828800" cy="731520"/>
            <a:chOff x="10143045" y="5242989"/>
            <a:chExt cx="1828800" cy="731520"/>
          </a:xfrm>
          <a:solidFill>
            <a:schemeClr val="bg2">
              <a:lumMod val="90000"/>
            </a:schemeClr>
          </a:solidFill>
        </p:grpSpPr>
        <p:sp>
          <p:nvSpPr>
            <p:cNvPr id="53" name="Shape 23">
              <a:extLst>
                <a:ext uri="{FF2B5EF4-FFF2-40B4-BE49-F238E27FC236}">
                  <a16:creationId xmlns:a16="http://schemas.microsoft.com/office/drawing/2014/main" id="{458584FB-AE69-14A9-8C5E-27EAFA2FCE0C}"/>
                </a:ext>
              </a:extLst>
            </p:cNvPr>
            <p:cNvSpPr/>
            <p:nvPr/>
          </p:nvSpPr>
          <p:spPr>
            <a:xfrm>
              <a:off x="10143045" y="5242989"/>
              <a:ext cx="1828800" cy="731520"/>
            </a:xfrm>
            <a:prstGeom prst="roundRect">
              <a:avLst>
                <a:gd name="adj" fmla="val 7500"/>
              </a:avLst>
            </a:prstGeom>
            <a:grpFill/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0D541A5A-00D0-2284-3F3F-1AFF4E08AAF0}"/>
                </a:ext>
              </a:extLst>
            </p:cNvPr>
            <p:cNvSpPr txBox="1"/>
            <p:nvPr/>
          </p:nvSpPr>
          <p:spPr>
            <a:xfrm>
              <a:off x="10143045" y="5242989"/>
              <a:ext cx="1828800" cy="7315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市場EOS（鮮魚</a:t>
              </a:r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）</a:t>
              </a:r>
            </a:p>
          </p:txBody>
        </p:sp>
      </p:grpSp>
      <p:sp>
        <p:nvSpPr>
          <p:cNvPr id="58" name="ストライプ矢印 57">
            <a:extLst>
              <a:ext uri="{FF2B5EF4-FFF2-40B4-BE49-F238E27FC236}">
                <a16:creationId xmlns:a16="http://schemas.microsoft.com/office/drawing/2014/main" id="{B1EA4277-3E2B-DC79-BB69-A3A4F69F0E95}"/>
              </a:ext>
            </a:extLst>
          </p:cNvPr>
          <p:cNvSpPr/>
          <p:nvPr/>
        </p:nvSpPr>
        <p:spPr>
          <a:xfrm>
            <a:off x="6835140" y="4037086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1" name="ストライプ矢印 60">
            <a:extLst>
              <a:ext uri="{FF2B5EF4-FFF2-40B4-BE49-F238E27FC236}">
                <a16:creationId xmlns:a16="http://schemas.microsoft.com/office/drawing/2014/main" id="{5DEF4E3E-71C6-D1AD-B6AB-579464BAC67A}"/>
              </a:ext>
            </a:extLst>
          </p:cNvPr>
          <p:cNvSpPr/>
          <p:nvPr/>
        </p:nvSpPr>
        <p:spPr>
          <a:xfrm>
            <a:off x="6835140" y="1556772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2" name="ストライプ矢印 61">
            <a:extLst>
              <a:ext uri="{FF2B5EF4-FFF2-40B4-BE49-F238E27FC236}">
                <a16:creationId xmlns:a16="http://schemas.microsoft.com/office/drawing/2014/main" id="{11AA1A14-7764-EDC3-623B-5CFDA4E58E99}"/>
              </a:ext>
            </a:extLst>
          </p:cNvPr>
          <p:cNvSpPr/>
          <p:nvPr/>
        </p:nvSpPr>
        <p:spPr>
          <a:xfrm>
            <a:off x="9166860" y="4017679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3" name="ストライプ矢印 62">
            <a:extLst>
              <a:ext uri="{FF2B5EF4-FFF2-40B4-BE49-F238E27FC236}">
                <a16:creationId xmlns:a16="http://schemas.microsoft.com/office/drawing/2014/main" id="{5E475EBD-61F8-6E0B-F244-2988E44AE4AF}"/>
              </a:ext>
            </a:extLst>
          </p:cNvPr>
          <p:cNvSpPr/>
          <p:nvPr/>
        </p:nvSpPr>
        <p:spPr>
          <a:xfrm>
            <a:off x="9166860" y="1572768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4" name="ストライプ矢印 63">
            <a:extLst>
              <a:ext uri="{FF2B5EF4-FFF2-40B4-BE49-F238E27FC236}">
                <a16:creationId xmlns:a16="http://schemas.microsoft.com/office/drawing/2014/main" id="{3AB18FA8-22A4-E9AE-371E-BBCB92BB5356}"/>
              </a:ext>
            </a:extLst>
          </p:cNvPr>
          <p:cNvSpPr/>
          <p:nvPr/>
        </p:nvSpPr>
        <p:spPr>
          <a:xfrm>
            <a:off x="2202179" y="1572768"/>
            <a:ext cx="3059631" cy="502917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Sinops-24</a:t>
            </a:r>
            <a:r>
              <a:rPr kumimoji="1" lang="ja-JP" altLang="en-US" sz="1100"/>
              <a:t>　発注勧告</a:t>
            </a:r>
            <a:r>
              <a:rPr kumimoji="1" lang="en-US" altLang="ja-JP" sz="1100" dirty="0"/>
              <a:t>(</a:t>
            </a:r>
            <a:r>
              <a:rPr kumimoji="1" lang="ja-JP" altLang="en-US" sz="1100"/>
              <a:t>当日分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C1E18368-0BCE-F70D-15EE-71F27E860344}"/>
              </a:ext>
            </a:extLst>
          </p:cNvPr>
          <p:cNvSpPr/>
          <p:nvPr/>
        </p:nvSpPr>
        <p:spPr>
          <a:xfrm>
            <a:off x="5166360" y="2898657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6F001977-0CDD-5A98-046F-BE255437D52B}"/>
              </a:ext>
            </a:extLst>
          </p:cNvPr>
          <p:cNvSpPr txBox="1"/>
          <p:nvPr/>
        </p:nvSpPr>
        <p:spPr>
          <a:xfrm>
            <a:off x="5166360" y="2898657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PACERDBSV?</a:t>
            </a:r>
          </a:p>
          <a:p>
            <a:pPr marL="0" indent="0" algn="ctr">
              <a:buNone/>
            </a:pPr>
            <a:r>
              <a:rPr lang="en-US" sz="1300" dirty="0" err="1"/>
              <a:t>OrderSV</a:t>
            </a:r>
            <a:r>
              <a:rPr lang="en-US" sz="1300" dirty="0"/>
              <a:t>?</a:t>
            </a:r>
          </a:p>
          <a:p>
            <a:pPr marL="0" indent="0" algn="ctr">
              <a:buNone/>
            </a:pPr>
            <a:r>
              <a:rPr lang="en-US" sz="1300" dirty="0" err="1"/>
              <a:t>新規SV</a:t>
            </a:r>
            <a:r>
              <a:rPr lang="en-US" sz="1300" dirty="0"/>
              <a:t>?</a:t>
            </a:r>
          </a:p>
        </p:txBody>
      </p:sp>
      <p:sp>
        <p:nvSpPr>
          <p:cNvPr id="65" name="ストライプ矢印 64">
            <a:extLst>
              <a:ext uri="{FF2B5EF4-FFF2-40B4-BE49-F238E27FC236}">
                <a16:creationId xmlns:a16="http://schemas.microsoft.com/office/drawing/2014/main" id="{E2C2542E-8CF0-C201-3A24-02945DBF8ACD}"/>
              </a:ext>
            </a:extLst>
          </p:cNvPr>
          <p:cNvSpPr/>
          <p:nvPr/>
        </p:nvSpPr>
        <p:spPr>
          <a:xfrm rot="1180141">
            <a:off x="2112928" y="2398420"/>
            <a:ext cx="3059631" cy="502917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Sinops-25</a:t>
            </a:r>
            <a:r>
              <a:rPr kumimoji="1" lang="ja-JP" altLang="en-US" sz="1100"/>
              <a:t>　発注勧告</a:t>
            </a:r>
            <a:r>
              <a:rPr kumimoji="1" lang="en-US" altLang="ja-JP" sz="1100" dirty="0"/>
              <a:t>(</a:t>
            </a:r>
            <a:r>
              <a:rPr kumimoji="1" lang="ja-JP" altLang="en-US" sz="1100"/>
              <a:t>翌日以降分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70" name="Shape 32">
            <a:extLst>
              <a:ext uri="{FF2B5EF4-FFF2-40B4-BE49-F238E27FC236}">
                <a16:creationId xmlns:a16="http://schemas.microsoft.com/office/drawing/2014/main" id="{49FF23BD-A866-AD33-CDF4-21A92C0F915E}"/>
              </a:ext>
            </a:extLst>
          </p:cNvPr>
          <p:cNvSpPr/>
          <p:nvPr/>
        </p:nvSpPr>
        <p:spPr>
          <a:xfrm>
            <a:off x="7498080" y="2406949"/>
            <a:ext cx="1828800" cy="404396"/>
          </a:xfrm>
          <a:prstGeom prst="roundRect">
            <a:avLst>
              <a:gd name="adj" fmla="val 769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E8DB6248-20FF-B27D-8AC9-09EEAD2B8194}"/>
              </a:ext>
            </a:extLst>
          </p:cNvPr>
          <p:cNvSpPr txBox="1"/>
          <p:nvPr/>
        </p:nvSpPr>
        <p:spPr>
          <a:xfrm>
            <a:off x="7498080" y="2406949"/>
            <a:ext cx="1828800" cy="404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1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PACER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34AB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店舗の発注端末</a:t>
            </a:r>
            <a:endParaRPr lang="en-US" sz="1300" dirty="0"/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4A572C9D-C8EE-BD99-273A-AA0B59DB629B}"/>
              </a:ext>
            </a:extLst>
          </p:cNvPr>
          <p:cNvSpPr/>
          <p:nvPr/>
        </p:nvSpPr>
        <p:spPr>
          <a:xfrm flipH="1" flipV="1">
            <a:off x="8390018" y="2194558"/>
            <a:ext cx="2" cy="187293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28ABF951-815D-4FDF-D5D6-2A304062FC2B}"/>
              </a:ext>
            </a:extLst>
          </p:cNvPr>
          <p:cNvSpPr txBox="1"/>
          <p:nvPr/>
        </p:nvSpPr>
        <p:spPr>
          <a:xfrm>
            <a:off x="8474648" y="2172735"/>
            <a:ext cx="2641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勧告数を参照し、上方・下方修正が可能</a:t>
            </a:r>
            <a:endParaRPr lang="en-US" sz="1050" dirty="0"/>
          </a:p>
        </p:txBody>
      </p:sp>
      <p:sp>
        <p:nvSpPr>
          <p:cNvPr id="75" name="Shape 34">
            <a:extLst>
              <a:ext uri="{FF2B5EF4-FFF2-40B4-BE49-F238E27FC236}">
                <a16:creationId xmlns:a16="http://schemas.microsoft.com/office/drawing/2014/main" id="{06890303-BA3C-E9FE-18A3-CBF3F5C91DEF}"/>
              </a:ext>
            </a:extLst>
          </p:cNvPr>
          <p:cNvSpPr/>
          <p:nvPr/>
        </p:nvSpPr>
        <p:spPr>
          <a:xfrm flipH="1">
            <a:off x="6995159" y="2811344"/>
            <a:ext cx="1394857" cy="47408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arrow"/>
          </a:ln>
        </p:spPr>
        <p:txBody>
          <a:bodyPr/>
          <a:lstStyle/>
          <a:p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76" name="Text 35">
            <a:extLst>
              <a:ext uri="{FF2B5EF4-FFF2-40B4-BE49-F238E27FC236}">
                <a16:creationId xmlns:a16="http://schemas.microsoft.com/office/drawing/2014/main" id="{5C31CDBD-718A-ECEF-9A2F-6B22F6AC0A62}"/>
              </a:ext>
            </a:extLst>
          </p:cNvPr>
          <p:cNvSpPr txBox="1"/>
          <p:nvPr/>
        </p:nvSpPr>
        <p:spPr>
          <a:xfrm>
            <a:off x="7501721" y="3240444"/>
            <a:ext cx="2641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新規参照対応必要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8" name="ストライプ矢印 77">
            <a:extLst>
              <a:ext uri="{FF2B5EF4-FFF2-40B4-BE49-F238E27FC236}">
                <a16:creationId xmlns:a16="http://schemas.microsoft.com/office/drawing/2014/main" id="{810F1C18-CA2D-95FB-B21B-97C50B64FD3E}"/>
              </a:ext>
            </a:extLst>
          </p:cNvPr>
          <p:cNvSpPr/>
          <p:nvPr/>
        </p:nvSpPr>
        <p:spPr>
          <a:xfrm>
            <a:off x="2224636" y="4028197"/>
            <a:ext cx="3048808" cy="502917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新規</a:t>
            </a:r>
            <a:r>
              <a:rPr kumimoji="1" lang="en-US" altLang="ja-JP" sz="1100" dirty="0"/>
              <a:t>IF(</a:t>
            </a:r>
            <a:r>
              <a:rPr kumimoji="1" lang="ja-JP" altLang="en-US" sz="1100"/>
              <a:t>当日分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79" name="ストライプ矢印 78">
            <a:extLst>
              <a:ext uri="{FF2B5EF4-FFF2-40B4-BE49-F238E27FC236}">
                <a16:creationId xmlns:a16="http://schemas.microsoft.com/office/drawing/2014/main" id="{096F54A9-17F0-2A03-EDD8-8F27D3981E18}"/>
              </a:ext>
            </a:extLst>
          </p:cNvPr>
          <p:cNvSpPr/>
          <p:nvPr/>
        </p:nvSpPr>
        <p:spPr>
          <a:xfrm rot="20793361">
            <a:off x="2140748" y="3427506"/>
            <a:ext cx="3048808" cy="502917"/>
          </a:xfrm>
          <a:prstGeom prst="striped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新規</a:t>
            </a:r>
            <a:r>
              <a:rPr kumimoji="1" lang="en-US" altLang="ja-JP" sz="1100" dirty="0"/>
              <a:t>IF(</a:t>
            </a:r>
            <a:r>
              <a:rPr kumimoji="1" lang="ja-JP" altLang="en-US" sz="1100"/>
              <a:t>翌日移行分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80" name="Shape 34">
            <a:extLst>
              <a:ext uri="{FF2B5EF4-FFF2-40B4-BE49-F238E27FC236}">
                <a16:creationId xmlns:a16="http://schemas.microsoft.com/office/drawing/2014/main" id="{DF0D59DE-BAAB-B845-F8CA-2B0A7F52D55D}"/>
              </a:ext>
            </a:extLst>
          </p:cNvPr>
          <p:cNvSpPr/>
          <p:nvPr/>
        </p:nvSpPr>
        <p:spPr>
          <a:xfrm flipH="1" flipV="1">
            <a:off x="6995158" y="3285429"/>
            <a:ext cx="1394856" cy="636243"/>
          </a:xfrm>
          <a:prstGeom prst="line">
            <a:avLst/>
          </a:prstGeom>
          <a:noFill/>
          <a:ln w="19050">
            <a:solidFill>
              <a:schemeClr val="accent2">
                <a:lumMod val="40000"/>
                <a:lumOff val="60000"/>
              </a:schemeClr>
            </a:solidFill>
            <a:prstDash val="solid"/>
            <a:tailEnd type="arrow"/>
          </a:ln>
        </p:spPr>
        <p:txBody>
          <a:bodyPr/>
          <a:lstStyle/>
          <a:p>
            <a:endParaRPr lang="ja-JP" altLang="en-US">
              <a:solidFill>
                <a:srgbClr val="FF0000"/>
              </a:solidFill>
            </a:endParaRP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A5292B53-E8B3-2AD7-F6C7-242B8544A1B6}"/>
              </a:ext>
            </a:extLst>
          </p:cNvPr>
          <p:cNvGrpSpPr/>
          <p:nvPr/>
        </p:nvGrpSpPr>
        <p:grpSpPr>
          <a:xfrm>
            <a:off x="9989820" y="5522980"/>
            <a:ext cx="1828800" cy="731520"/>
            <a:chOff x="4808187" y="5423756"/>
            <a:chExt cx="1828800" cy="731520"/>
          </a:xfrm>
        </p:grpSpPr>
        <p:sp>
          <p:nvSpPr>
            <p:cNvPr id="82" name="Shape 23">
              <a:extLst>
                <a:ext uri="{FF2B5EF4-FFF2-40B4-BE49-F238E27FC236}">
                  <a16:creationId xmlns:a16="http://schemas.microsoft.com/office/drawing/2014/main" id="{09316F31-BE1C-389F-F0B9-F2F8CEAE6212}"/>
                </a:ext>
              </a:extLst>
            </p:cNvPr>
            <p:cNvSpPr/>
            <p:nvPr/>
          </p:nvSpPr>
          <p:spPr>
            <a:xfrm>
              <a:off x="4808187" y="5423756"/>
              <a:ext cx="1828800" cy="731520"/>
            </a:xfrm>
            <a:prstGeom prst="roundRect">
              <a:avLst>
                <a:gd name="adj" fmla="val 7500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4">
              <a:extLst>
                <a:ext uri="{FF2B5EF4-FFF2-40B4-BE49-F238E27FC236}">
                  <a16:creationId xmlns:a16="http://schemas.microsoft.com/office/drawing/2014/main" id="{9BE4C183-44F2-4F88-424F-ABC3B9E56992}"/>
                </a:ext>
              </a:extLst>
            </p:cNvPr>
            <p:cNvSpPr txBox="1"/>
            <p:nvPr/>
          </p:nvSpPr>
          <p:spPr>
            <a:xfrm>
              <a:off x="4808187" y="5423756"/>
              <a:ext cx="18288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せんどねっと</a:t>
              </a:r>
              <a:endPara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endParaRPr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（</a:t>
              </a: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青果</a:t>
              </a:r>
              <a:r>
                <a:rPr lang="ja-JP" altLang="en-US" sz="1300" b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　野菜・果物</a:t>
              </a:r>
              <a:endParaRPr lang="en-US" altLang="ja-JP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endParaRPr>
            </a:p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鮮魚</a:t>
              </a:r>
              <a:r>
                <a:rPr lang="ja-JP" altLang="en-US" sz="1300" b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　丸魚</a:t>
              </a:r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）</a:t>
              </a:r>
              <a:endParaRPr lang="en-US" sz="1300" dirty="0"/>
            </a:p>
          </p:txBody>
        </p:sp>
      </p:grp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B7186B6E-FA94-C2F9-7D65-8B04C931A04F}"/>
              </a:ext>
            </a:extLst>
          </p:cNvPr>
          <p:cNvSpPr txBox="1"/>
          <p:nvPr/>
        </p:nvSpPr>
        <p:spPr>
          <a:xfrm>
            <a:off x="457200" y="4835302"/>
            <a:ext cx="29220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非生鮮</a:t>
            </a:r>
            <a:endParaRPr kumimoji="1" lang="en-US" altLang="ja-JP" dirty="0"/>
          </a:p>
          <a:p>
            <a:r>
              <a:rPr kumimoji="1" lang="ja-JP" altLang="en-US"/>
              <a:t>本日発注分の推奨数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生鮮</a:t>
            </a:r>
            <a:endParaRPr kumimoji="1" lang="en-US" altLang="ja-JP" dirty="0"/>
          </a:p>
          <a:p>
            <a:r>
              <a:rPr kumimoji="1" lang="ja-JP" altLang="en-US"/>
              <a:t>最短納品日の推奨数</a:t>
            </a:r>
            <a:endParaRPr kumimoji="1" lang="en-US" altLang="ja-JP" dirty="0"/>
          </a:p>
        </p:txBody>
      </p:sp>
      <p:sp>
        <p:nvSpPr>
          <p:cNvPr id="93" name="ストライプ矢印 92">
            <a:extLst>
              <a:ext uri="{FF2B5EF4-FFF2-40B4-BE49-F238E27FC236}">
                <a16:creationId xmlns:a16="http://schemas.microsoft.com/office/drawing/2014/main" id="{1A1EC941-C040-F0B1-BD92-7C1E0DBA2CC8}"/>
              </a:ext>
            </a:extLst>
          </p:cNvPr>
          <p:cNvSpPr/>
          <p:nvPr/>
        </p:nvSpPr>
        <p:spPr>
          <a:xfrm>
            <a:off x="2293148" y="3579906"/>
            <a:ext cx="5364952" cy="502917"/>
          </a:xfrm>
          <a:prstGeom prst="striped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新規</a:t>
            </a:r>
            <a:r>
              <a:rPr kumimoji="1" lang="en-US" altLang="ja-JP" sz="1100" dirty="0"/>
              <a:t>IF(</a:t>
            </a:r>
            <a:r>
              <a:rPr kumimoji="1" lang="ja-JP" altLang="en-US" sz="1100"/>
              <a:t>翌日移行分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96" name="Shape 34">
            <a:extLst>
              <a:ext uri="{FF2B5EF4-FFF2-40B4-BE49-F238E27FC236}">
                <a16:creationId xmlns:a16="http://schemas.microsoft.com/office/drawing/2014/main" id="{3358349F-59CD-55BD-B4FF-4BAAE4C25EC7}"/>
              </a:ext>
            </a:extLst>
          </p:cNvPr>
          <p:cNvSpPr/>
          <p:nvPr/>
        </p:nvSpPr>
        <p:spPr>
          <a:xfrm>
            <a:off x="9302590" y="5522980"/>
            <a:ext cx="687229" cy="36576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arrow"/>
          </a:ln>
        </p:spPr>
        <p:txBody>
          <a:bodyPr/>
          <a:lstStyle/>
          <a:p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97" name="Shape 34">
            <a:extLst>
              <a:ext uri="{FF2B5EF4-FFF2-40B4-BE49-F238E27FC236}">
                <a16:creationId xmlns:a16="http://schemas.microsoft.com/office/drawing/2014/main" id="{7EB0D5E8-662D-3458-466C-8211BD0937F1}"/>
              </a:ext>
            </a:extLst>
          </p:cNvPr>
          <p:cNvSpPr/>
          <p:nvPr/>
        </p:nvSpPr>
        <p:spPr>
          <a:xfrm flipV="1">
            <a:off x="9326880" y="5888740"/>
            <a:ext cx="662939" cy="42389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arrow"/>
          </a:ln>
        </p:spPr>
        <p:txBody>
          <a:bodyPr/>
          <a:lstStyle/>
          <a:p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98" name="Text 35">
            <a:extLst>
              <a:ext uri="{FF2B5EF4-FFF2-40B4-BE49-F238E27FC236}">
                <a16:creationId xmlns:a16="http://schemas.microsoft.com/office/drawing/2014/main" id="{A1C87820-15C6-EA43-0C69-D6370F81ADA8}"/>
              </a:ext>
            </a:extLst>
          </p:cNvPr>
          <p:cNvSpPr txBox="1"/>
          <p:nvPr/>
        </p:nvSpPr>
        <p:spPr>
          <a:xfrm>
            <a:off x="9550676" y="5164147"/>
            <a:ext cx="2641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移行予定があるが、自動補充対象外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55EC68E6-83B6-9C1E-690D-D043FF931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02737"/>
              </p:ext>
            </p:extLst>
          </p:nvPr>
        </p:nvGraphicFramePr>
        <p:xfrm>
          <a:off x="223024" y="100361"/>
          <a:ext cx="10615961" cy="8379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8187932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60634263"/>
                    </a:ext>
                  </a:extLst>
                </a:gridCol>
                <a:gridCol w="4519961">
                  <a:extLst>
                    <a:ext uri="{9D8B030D-6E8A-4147-A177-3AD203B41FA5}">
                      <a16:colId xmlns:a16="http://schemas.microsoft.com/office/drawing/2014/main" val="2955505663"/>
                    </a:ext>
                  </a:extLst>
                </a:gridCol>
              </a:tblGrid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IF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名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生鮮追加必要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Himalayas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変更影響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276816569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Sinops-01　商品マスタ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TM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商品必要？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830999730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Sinops-02　店舗商品マスタ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3073576389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Sinops-03　カテゴリマスタ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282691251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Sinops-04　仕入先マスタ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3294703306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Sinops-05　ケースバラ変換マスタ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459013230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Sinops-06　販売実績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3496844612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Sinops-07　時間帯別販売数量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27927599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Sinops-08　来客数実績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2419908996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Sinops-09　廃棄情報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3997756602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Sinops-10　在庫修正（店舗）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4009630353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Sinops-10　在庫修正（センター）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696116678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Sinops-11　入荷実績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PC/CK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は生鮮基幹から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3232362961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Sinops-12　入荷予定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生鮮基幹から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2257218651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Sinops-13　発注スケジュール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3315432738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Sinops-14　棚割明細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ダミー棚が入っているかどうか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4208443566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Sinops-15　新商品用在庫データ連携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自動ありなし画面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から開始日を取得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50215024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Sinops-16　商品マスタ【倉庫】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集計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SV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が必要、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Excel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ツールでは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646419254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Sinops-17　仕入先マスタ【倉庫】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集計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SV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が必要、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Excel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ツールでは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2773184670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Sinops-18　仕入先休日設定【倉庫】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要確認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集計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SV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が必要、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Excel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ツールでは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523887534"/>
                  </a:ext>
                </a:extLst>
              </a:tr>
              <a:tr h="45147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Sinops-19　仕入先発注曜日設定【倉庫】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集計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SV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が必要、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Excel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ツールでは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389828514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Sinops-20　発注実績【倉庫】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集計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SV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が必要、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Excel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ツールでは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57481593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Sinops-21　受払明細【倉庫】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集計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SV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が必要、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Excel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ツールでは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DWH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から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077991234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Sinops-22　発注勧告(当日分)【倉庫】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不要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89421214"/>
                  </a:ext>
                </a:extLst>
              </a:tr>
              <a:tr h="45147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Sinops-23　発注勧告(翌日以降分)【倉庫】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不要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69636462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Sinops-24　発注勧告(当日分)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2096424241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ja-JP" sz="1400">
                          <a:effectLst/>
                        </a:rPr>
                        <a:t>Sinops-25　発注勧告(翌日以降分)</a:t>
                      </a: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1681895722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L1,L3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　生鮮発注勧告　当日、翌日以降分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2587475577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L1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のみ生鮮　入荷実績　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GCS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へ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UL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含む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454988318"/>
                  </a:ext>
                </a:extLst>
              </a:tr>
              <a:tr h="232301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L1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のみ生鮮　入荷予定　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GCS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へ</a:t>
                      </a:r>
                      <a:r>
                        <a:rPr lang="en-US" altLang="ja-JP" sz="1400" b="0" dirty="0">
                          <a:effectLst/>
                          <a:latin typeface="Arial" panose="020B0604020202020204" pitchFamily="34" charset="0"/>
                        </a:rPr>
                        <a:t>UL</a:t>
                      </a:r>
                      <a:r>
                        <a:rPr lang="ja-JP" altLang="en-US" sz="1400" b="0">
                          <a:effectLst/>
                          <a:latin typeface="Arial" panose="020B0604020202020204" pitchFamily="34" charset="0"/>
                        </a:rPr>
                        <a:t>含む</a:t>
                      </a:r>
                      <a:endParaRPr lang="en-US" altLang="ja-JP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ja-JP" sz="14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083" marR="20083" marT="0" marB="0" anchor="ctr"/>
                </a:tc>
                <a:extLst>
                  <a:ext uri="{0D108BD9-81ED-4DB2-BD59-A6C34878D82A}">
                    <a16:rowId xmlns:a16="http://schemas.microsoft.com/office/drawing/2014/main" val="772976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991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A146-DDDA-36D9-5C15-63049608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ACC204-A8EF-9F1C-74D6-B81FE4D9E201}"/>
              </a:ext>
            </a:extLst>
          </p:cNvPr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自動発注勧告数の連携方法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88C003-9106-6B63-689A-C2AE1677B712}"/>
              </a:ext>
            </a:extLst>
          </p:cNvPr>
          <p:cNvSpPr txBox="1"/>
          <p:nvPr/>
        </p:nvSpPr>
        <p:spPr>
          <a:xfrm>
            <a:off x="50292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勧告数の連携ルート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7F39D1-94F3-E5E3-886E-A7CCDA3E3F55}"/>
              </a:ext>
            </a:extLst>
          </p:cNvPr>
          <p:cNvSpPr txBox="1"/>
          <p:nvPr/>
        </p:nvSpPr>
        <p:spPr>
          <a:xfrm>
            <a:off x="50292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非生鮮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2D21213-9AAE-EAA1-FE60-C75831FB5234}"/>
              </a:ext>
            </a:extLst>
          </p:cNvPr>
          <p:cNvSpPr/>
          <p:nvPr/>
        </p:nvSpPr>
        <p:spPr>
          <a:xfrm>
            <a:off x="50292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D5CE3A-611F-DD74-E397-ABBE40BBC0AB}"/>
              </a:ext>
            </a:extLst>
          </p:cNvPr>
          <p:cNvSpPr txBox="1"/>
          <p:nvPr/>
        </p:nvSpPr>
        <p:spPr>
          <a:xfrm>
            <a:off x="5029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</a:t>
            </a:r>
            <a:endParaRPr lang="en-US" sz="13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9553886-9CA6-9209-B702-BFD2AF0B9D2F}"/>
              </a:ext>
            </a:extLst>
          </p:cNvPr>
          <p:cNvSpPr/>
          <p:nvPr/>
        </p:nvSpPr>
        <p:spPr>
          <a:xfrm>
            <a:off x="516636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BA034C9-34F9-9AFC-F648-4266EB257CC4}"/>
              </a:ext>
            </a:extLst>
          </p:cNvPr>
          <p:cNvSpPr txBox="1"/>
          <p:nvPr/>
        </p:nvSpPr>
        <p:spPr>
          <a:xfrm>
            <a:off x="516636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自動発注システム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3A1686-16BA-E313-CBAD-22711909E20F}"/>
              </a:ext>
            </a:extLst>
          </p:cNvPr>
          <p:cNvSpPr/>
          <p:nvPr/>
        </p:nvSpPr>
        <p:spPr>
          <a:xfrm>
            <a:off x="749808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4306CF-06DC-5CE8-BC31-FF92E92329D3}"/>
              </a:ext>
            </a:extLst>
          </p:cNvPr>
          <p:cNvSpPr txBox="1"/>
          <p:nvPr/>
        </p:nvSpPr>
        <p:spPr>
          <a:xfrm>
            <a:off x="749808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EOB（発注SV）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030C650-523D-5791-4E53-74AE5DE476B4}"/>
              </a:ext>
            </a:extLst>
          </p:cNvPr>
          <p:cNvSpPr/>
          <p:nvPr/>
        </p:nvSpPr>
        <p:spPr>
          <a:xfrm>
            <a:off x="982980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3BA2514-8837-6962-E26F-96DA90F01247}"/>
              </a:ext>
            </a:extLst>
          </p:cNvPr>
          <p:cNvSpPr txBox="1"/>
          <p:nvPr/>
        </p:nvSpPr>
        <p:spPr>
          <a:xfrm>
            <a:off x="982980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CoreSaver</a:t>
            </a:r>
            <a:endParaRPr lang="en-US" sz="13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2760CB-C182-21EB-6427-4BAEA2CC3E59}"/>
              </a:ext>
            </a:extLst>
          </p:cNvPr>
          <p:cNvSpPr/>
          <p:nvPr/>
        </p:nvSpPr>
        <p:spPr>
          <a:xfrm>
            <a:off x="2386584" y="1828800"/>
            <a:ext cx="2724912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AB3C287-65A7-9045-A099-E90AC972E424}"/>
              </a:ext>
            </a:extLst>
          </p:cNvPr>
          <p:cNvSpPr txBox="1"/>
          <p:nvPr/>
        </p:nvSpPr>
        <p:spPr>
          <a:xfrm>
            <a:off x="502920" y="364846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生鮮</a:t>
            </a:r>
            <a:endParaRPr lang="en-US" sz="12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D93FFDD-C4F6-9D39-7357-78BD04DF505D}"/>
              </a:ext>
            </a:extLst>
          </p:cNvPr>
          <p:cNvSpPr/>
          <p:nvPr/>
        </p:nvSpPr>
        <p:spPr>
          <a:xfrm>
            <a:off x="50292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7DB5B22-2983-1DC4-25C5-399714BFABF5}"/>
              </a:ext>
            </a:extLst>
          </p:cNvPr>
          <p:cNvSpPr txBox="1"/>
          <p:nvPr/>
        </p:nvSpPr>
        <p:spPr>
          <a:xfrm>
            <a:off x="50292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</a:t>
            </a:r>
            <a:endParaRPr lang="en-US" sz="13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75A0FBE-3285-AF89-370A-4208157714DB}"/>
              </a:ext>
            </a:extLst>
          </p:cNvPr>
          <p:cNvSpPr/>
          <p:nvPr/>
        </p:nvSpPr>
        <p:spPr>
          <a:xfrm>
            <a:off x="516636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3F6FD38-9651-5B7E-9487-93DD18E45EE0}"/>
              </a:ext>
            </a:extLst>
          </p:cNvPr>
          <p:cNvSpPr txBox="1"/>
          <p:nvPr/>
        </p:nvSpPr>
        <p:spPr>
          <a:xfrm>
            <a:off x="516636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自動発注システム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D9AA514-9226-9153-7FA2-891C9C03D4DF}"/>
              </a:ext>
            </a:extLst>
          </p:cNvPr>
          <p:cNvSpPr/>
          <p:nvPr/>
        </p:nvSpPr>
        <p:spPr>
          <a:xfrm>
            <a:off x="749808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4362E6F-6AE5-DCA6-B9D2-7C6065F958BE}"/>
              </a:ext>
            </a:extLst>
          </p:cNvPr>
          <p:cNvSpPr txBox="1"/>
          <p:nvPr/>
        </p:nvSpPr>
        <p:spPr>
          <a:xfrm>
            <a:off x="749808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生鮮統合発注</a:t>
            </a:r>
            <a:endParaRPr lang="en-US" sz="1300" b="1" dirty="0">
              <a:solidFill>
                <a:srgbClr val="0C447C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PACER生鮮発注</a:t>
            </a:r>
            <a:endParaRPr lang="en-US" sz="1300" b="1" dirty="0">
              <a:solidFill>
                <a:srgbClr val="0C447C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5781F9D-33E7-61C6-153C-5368A2BA7810}"/>
              </a:ext>
            </a:extLst>
          </p:cNvPr>
          <p:cNvSpPr/>
          <p:nvPr/>
        </p:nvSpPr>
        <p:spPr>
          <a:xfrm>
            <a:off x="982980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C85AAA3-D507-3BA2-CF4E-88906924C009}"/>
              </a:ext>
            </a:extLst>
          </p:cNvPr>
          <p:cNvSpPr txBox="1"/>
          <p:nvPr/>
        </p:nvSpPr>
        <p:spPr>
          <a:xfrm>
            <a:off x="982980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CoreSaver</a:t>
            </a:r>
            <a:endParaRPr lang="en-US" sz="1300" dirty="0"/>
          </a:p>
        </p:txBody>
      </p:sp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97BACB60-7F2C-21ED-7E74-6F7C28AE82D5}"/>
              </a:ext>
            </a:extLst>
          </p:cNvPr>
          <p:cNvGrpSpPr/>
          <p:nvPr/>
        </p:nvGrpSpPr>
        <p:grpSpPr>
          <a:xfrm>
            <a:off x="7475614" y="5157220"/>
            <a:ext cx="1828800" cy="731520"/>
            <a:chOff x="7498080" y="4679402"/>
            <a:chExt cx="1828800" cy="731520"/>
          </a:xfrm>
        </p:grpSpPr>
        <p:sp>
          <p:nvSpPr>
            <p:cNvPr id="50" name="Shape 23">
              <a:extLst>
                <a:ext uri="{FF2B5EF4-FFF2-40B4-BE49-F238E27FC236}">
                  <a16:creationId xmlns:a16="http://schemas.microsoft.com/office/drawing/2014/main" id="{89F822CA-493C-3AA8-9F83-C2ADD70E2CB2}"/>
                </a:ext>
              </a:extLst>
            </p:cNvPr>
            <p:cNvSpPr/>
            <p:nvPr/>
          </p:nvSpPr>
          <p:spPr>
            <a:xfrm>
              <a:off x="7498080" y="4679402"/>
              <a:ext cx="1828800" cy="731520"/>
            </a:xfrm>
            <a:prstGeom prst="roundRect">
              <a:avLst>
                <a:gd name="adj" fmla="val 7500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Text 24">
              <a:extLst>
                <a:ext uri="{FF2B5EF4-FFF2-40B4-BE49-F238E27FC236}">
                  <a16:creationId xmlns:a16="http://schemas.microsoft.com/office/drawing/2014/main" id="{37043163-529B-CD27-0C13-FA13BF5B1B0C}"/>
                </a:ext>
              </a:extLst>
            </p:cNvPr>
            <p:cNvSpPr txBox="1"/>
            <p:nvPr/>
          </p:nvSpPr>
          <p:spPr>
            <a:xfrm>
              <a:off x="7498080" y="4679402"/>
              <a:ext cx="1828800" cy="73152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</a:rPr>
                <a:t>@rms(</a:t>
              </a: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</a:rPr>
                <a:t>青果</a:t>
              </a:r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</a:rPr>
                <a:t>)</a:t>
              </a:r>
            </a:p>
          </p:txBody>
        </p: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79E999A0-DBBB-0A62-78D6-214014A60E46}"/>
              </a:ext>
            </a:extLst>
          </p:cNvPr>
          <p:cNvGrpSpPr/>
          <p:nvPr/>
        </p:nvGrpSpPr>
        <p:grpSpPr>
          <a:xfrm>
            <a:off x="7475614" y="5963023"/>
            <a:ext cx="1828800" cy="731520"/>
            <a:chOff x="10143045" y="5242989"/>
            <a:chExt cx="1828800" cy="731520"/>
          </a:xfrm>
          <a:solidFill>
            <a:schemeClr val="bg2">
              <a:lumMod val="90000"/>
            </a:schemeClr>
          </a:solidFill>
        </p:grpSpPr>
        <p:sp>
          <p:nvSpPr>
            <p:cNvPr id="53" name="Shape 23">
              <a:extLst>
                <a:ext uri="{FF2B5EF4-FFF2-40B4-BE49-F238E27FC236}">
                  <a16:creationId xmlns:a16="http://schemas.microsoft.com/office/drawing/2014/main" id="{AD9E3732-C6B7-0D01-455B-1D48B95514B2}"/>
                </a:ext>
              </a:extLst>
            </p:cNvPr>
            <p:cNvSpPr/>
            <p:nvPr/>
          </p:nvSpPr>
          <p:spPr>
            <a:xfrm>
              <a:off x="10143045" y="5242989"/>
              <a:ext cx="1828800" cy="731520"/>
            </a:xfrm>
            <a:prstGeom prst="roundRect">
              <a:avLst>
                <a:gd name="adj" fmla="val 7500"/>
              </a:avLst>
            </a:prstGeom>
            <a:grpFill/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B7B61D69-E063-E17A-46F4-1240DB8A09F9}"/>
                </a:ext>
              </a:extLst>
            </p:cNvPr>
            <p:cNvSpPr txBox="1"/>
            <p:nvPr/>
          </p:nvSpPr>
          <p:spPr>
            <a:xfrm>
              <a:off x="10143045" y="5242989"/>
              <a:ext cx="1828800" cy="7315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市場EOS（鮮魚</a:t>
              </a:r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）</a:t>
              </a:r>
            </a:p>
          </p:txBody>
        </p:sp>
      </p:grpSp>
      <p:sp>
        <p:nvSpPr>
          <p:cNvPr id="58" name="ストライプ矢印 57">
            <a:extLst>
              <a:ext uri="{FF2B5EF4-FFF2-40B4-BE49-F238E27FC236}">
                <a16:creationId xmlns:a16="http://schemas.microsoft.com/office/drawing/2014/main" id="{10BB36A9-9750-F234-1401-EB4396E82D02}"/>
              </a:ext>
            </a:extLst>
          </p:cNvPr>
          <p:cNvSpPr/>
          <p:nvPr/>
        </p:nvSpPr>
        <p:spPr>
          <a:xfrm>
            <a:off x="6835140" y="4037086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1" name="ストライプ矢印 60">
            <a:extLst>
              <a:ext uri="{FF2B5EF4-FFF2-40B4-BE49-F238E27FC236}">
                <a16:creationId xmlns:a16="http://schemas.microsoft.com/office/drawing/2014/main" id="{024D1D0F-1793-FE11-16C2-7D552E74B8D2}"/>
              </a:ext>
            </a:extLst>
          </p:cNvPr>
          <p:cNvSpPr/>
          <p:nvPr/>
        </p:nvSpPr>
        <p:spPr>
          <a:xfrm>
            <a:off x="6835140" y="1556772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2" name="ストライプ矢印 61">
            <a:extLst>
              <a:ext uri="{FF2B5EF4-FFF2-40B4-BE49-F238E27FC236}">
                <a16:creationId xmlns:a16="http://schemas.microsoft.com/office/drawing/2014/main" id="{B8282DF6-B0A2-881A-7F62-7CC4C89D7D9D}"/>
              </a:ext>
            </a:extLst>
          </p:cNvPr>
          <p:cNvSpPr/>
          <p:nvPr/>
        </p:nvSpPr>
        <p:spPr>
          <a:xfrm>
            <a:off x="9166860" y="4017679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3" name="ストライプ矢印 62">
            <a:extLst>
              <a:ext uri="{FF2B5EF4-FFF2-40B4-BE49-F238E27FC236}">
                <a16:creationId xmlns:a16="http://schemas.microsoft.com/office/drawing/2014/main" id="{90C90D11-855E-303D-E6CA-D358E00F1C65}"/>
              </a:ext>
            </a:extLst>
          </p:cNvPr>
          <p:cNvSpPr/>
          <p:nvPr/>
        </p:nvSpPr>
        <p:spPr>
          <a:xfrm>
            <a:off x="9166860" y="1572768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4" name="ストライプ矢印 63">
            <a:extLst>
              <a:ext uri="{FF2B5EF4-FFF2-40B4-BE49-F238E27FC236}">
                <a16:creationId xmlns:a16="http://schemas.microsoft.com/office/drawing/2014/main" id="{64CF4CD2-B230-22A4-627B-FD28E6962A0D}"/>
              </a:ext>
            </a:extLst>
          </p:cNvPr>
          <p:cNvSpPr/>
          <p:nvPr/>
        </p:nvSpPr>
        <p:spPr>
          <a:xfrm>
            <a:off x="2202179" y="1572768"/>
            <a:ext cx="3059631" cy="502917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Sinops-24</a:t>
            </a:r>
            <a:r>
              <a:rPr kumimoji="1" lang="ja-JP" altLang="en-US" sz="1100"/>
              <a:t>　発注勧告</a:t>
            </a:r>
            <a:r>
              <a:rPr kumimoji="1" lang="en-US" altLang="ja-JP" sz="1100" dirty="0"/>
              <a:t>(</a:t>
            </a:r>
            <a:r>
              <a:rPr kumimoji="1" lang="ja-JP" altLang="en-US" sz="1100"/>
              <a:t>当日分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0B13A1C4-DE93-6276-85A5-8C5D243D23C9}"/>
              </a:ext>
            </a:extLst>
          </p:cNvPr>
          <p:cNvSpPr/>
          <p:nvPr/>
        </p:nvSpPr>
        <p:spPr>
          <a:xfrm>
            <a:off x="5166360" y="2898657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99C301A2-A86B-AD3F-EEC1-652851DF471A}"/>
              </a:ext>
            </a:extLst>
          </p:cNvPr>
          <p:cNvSpPr txBox="1"/>
          <p:nvPr/>
        </p:nvSpPr>
        <p:spPr>
          <a:xfrm>
            <a:off x="5166360" y="2898657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PACERDBSV?</a:t>
            </a:r>
          </a:p>
          <a:p>
            <a:pPr marL="0" indent="0" algn="ctr">
              <a:buNone/>
            </a:pPr>
            <a:r>
              <a:rPr lang="en-US" sz="1300" dirty="0" err="1"/>
              <a:t>OrderSV</a:t>
            </a:r>
            <a:r>
              <a:rPr lang="en-US" sz="1300" dirty="0"/>
              <a:t>?</a:t>
            </a:r>
          </a:p>
          <a:p>
            <a:pPr marL="0" indent="0" algn="ctr">
              <a:buNone/>
            </a:pPr>
            <a:r>
              <a:rPr lang="en-US" sz="1300" dirty="0" err="1"/>
              <a:t>新規SV</a:t>
            </a:r>
            <a:r>
              <a:rPr lang="en-US" sz="1300" dirty="0"/>
              <a:t>?</a:t>
            </a:r>
          </a:p>
        </p:txBody>
      </p:sp>
      <p:sp>
        <p:nvSpPr>
          <p:cNvPr id="65" name="ストライプ矢印 64">
            <a:extLst>
              <a:ext uri="{FF2B5EF4-FFF2-40B4-BE49-F238E27FC236}">
                <a16:creationId xmlns:a16="http://schemas.microsoft.com/office/drawing/2014/main" id="{4DFCC999-5B75-4BA1-CD1E-CCECD0627C10}"/>
              </a:ext>
            </a:extLst>
          </p:cNvPr>
          <p:cNvSpPr/>
          <p:nvPr/>
        </p:nvSpPr>
        <p:spPr>
          <a:xfrm rot="1180141">
            <a:off x="2112928" y="2398420"/>
            <a:ext cx="3059631" cy="502917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Sinops-25</a:t>
            </a:r>
            <a:r>
              <a:rPr kumimoji="1" lang="ja-JP" altLang="en-US" sz="1100"/>
              <a:t>　発注勧告</a:t>
            </a:r>
            <a:r>
              <a:rPr kumimoji="1" lang="en-US" altLang="ja-JP" sz="1100" dirty="0"/>
              <a:t>(</a:t>
            </a:r>
            <a:r>
              <a:rPr kumimoji="1" lang="ja-JP" altLang="en-US" sz="1100"/>
              <a:t>翌日以降分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70" name="Shape 32">
            <a:extLst>
              <a:ext uri="{FF2B5EF4-FFF2-40B4-BE49-F238E27FC236}">
                <a16:creationId xmlns:a16="http://schemas.microsoft.com/office/drawing/2014/main" id="{A17E3311-CE24-35E2-2642-A7C28135CB79}"/>
              </a:ext>
            </a:extLst>
          </p:cNvPr>
          <p:cNvSpPr/>
          <p:nvPr/>
        </p:nvSpPr>
        <p:spPr>
          <a:xfrm>
            <a:off x="7498080" y="2406949"/>
            <a:ext cx="1828800" cy="404396"/>
          </a:xfrm>
          <a:prstGeom prst="roundRect">
            <a:avLst>
              <a:gd name="adj" fmla="val 769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33">
            <a:extLst>
              <a:ext uri="{FF2B5EF4-FFF2-40B4-BE49-F238E27FC236}">
                <a16:creationId xmlns:a16="http://schemas.microsoft.com/office/drawing/2014/main" id="{F530D14C-8EBF-CB0A-FC4D-5430A82DB8B0}"/>
              </a:ext>
            </a:extLst>
          </p:cNvPr>
          <p:cNvSpPr txBox="1"/>
          <p:nvPr/>
        </p:nvSpPr>
        <p:spPr>
          <a:xfrm>
            <a:off x="7498080" y="2406949"/>
            <a:ext cx="1828800" cy="404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1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PACER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34AB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店舗の発注端末</a:t>
            </a:r>
            <a:endParaRPr lang="en-US" sz="1300" dirty="0"/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377EA9C3-F1A4-0BB1-D7BE-1F275A325661}"/>
              </a:ext>
            </a:extLst>
          </p:cNvPr>
          <p:cNvSpPr/>
          <p:nvPr/>
        </p:nvSpPr>
        <p:spPr>
          <a:xfrm flipH="1" flipV="1">
            <a:off x="8390018" y="2194558"/>
            <a:ext cx="2" cy="187293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A0540A16-BC3E-2057-6E98-E2FB4DB7F734}"/>
              </a:ext>
            </a:extLst>
          </p:cNvPr>
          <p:cNvSpPr txBox="1"/>
          <p:nvPr/>
        </p:nvSpPr>
        <p:spPr>
          <a:xfrm>
            <a:off x="8474648" y="2172735"/>
            <a:ext cx="2641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勧告数を参照し、上方・下方修正が可能</a:t>
            </a:r>
            <a:endParaRPr lang="en-US" sz="1050" dirty="0"/>
          </a:p>
        </p:txBody>
      </p:sp>
      <p:sp>
        <p:nvSpPr>
          <p:cNvPr id="75" name="Shape 34">
            <a:extLst>
              <a:ext uri="{FF2B5EF4-FFF2-40B4-BE49-F238E27FC236}">
                <a16:creationId xmlns:a16="http://schemas.microsoft.com/office/drawing/2014/main" id="{36F8F11E-1FC2-E319-1294-CA39786CC3BD}"/>
              </a:ext>
            </a:extLst>
          </p:cNvPr>
          <p:cNvSpPr/>
          <p:nvPr/>
        </p:nvSpPr>
        <p:spPr>
          <a:xfrm flipH="1">
            <a:off x="6995159" y="2811344"/>
            <a:ext cx="1394857" cy="47408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arrow"/>
          </a:ln>
        </p:spPr>
        <p:txBody>
          <a:bodyPr/>
          <a:lstStyle/>
          <a:p>
            <a:endParaRPr lang="ja-JP" altLang="en-US">
              <a:solidFill>
                <a:srgbClr val="FF0000"/>
              </a:solidFill>
            </a:endParaRP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8271C07F-490B-AAAF-0346-7681696FB7FD}"/>
              </a:ext>
            </a:extLst>
          </p:cNvPr>
          <p:cNvGrpSpPr/>
          <p:nvPr/>
        </p:nvGrpSpPr>
        <p:grpSpPr>
          <a:xfrm>
            <a:off x="9989820" y="5522980"/>
            <a:ext cx="1828800" cy="731520"/>
            <a:chOff x="4808187" y="5423756"/>
            <a:chExt cx="1828800" cy="731520"/>
          </a:xfrm>
        </p:grpSpPr>
        <p:sp>
          <p:nvSpPr>
            <p:cNvPr id="82" name="Shape 23">
              <a:extLst>
                <a:ext uri="{FF2B5EF4-FFF2-40B4-BE49-F238E27FC236}">
                  <a16:creationId xmlns:a16="http://schemas.microsoft.com/office/drawing/2014/main" id="{2E6D4BB0-3012-AF98-F46E-9DEF37C4B9AE}"/>
                </a:ext>
              </a:extLst>
            </p:cNvPr>
            <p:cNvSpPr/>
            <p:nvPr/>
          </p:nvSpPr>
          <p:spPr>
            <a:xfrm>
              <a:off x="4808187" y="5423756"/>
              <a:ext cx="1828800" cy="731520"/>
            </a:xfrm>
            <a:prstGeom prst="roundRect">
              <a:avLst>
                <a:gd name="adj" fmla="val 7500"/>
              </a:avLst>
            </a:prstGeom>
            <a:solidFill>
              <a:srgbClr val="E6F1FB"/>
            </a:solidFill>
            <a:ln w="12700">
              <a:solidFill>
                <a:srgbClr val="185FA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4">
              <a:extLst>
                <a:ext uri="{FF2B5EF4-FFF2-40B4-BE49-F238E27FC236}">
                  <a16:creationId xmlns:a16="http://schemas.microsoft.com/office/drawing/2014/main" id="{2B477DEE-0E28-AA76-3AE1-06EE1A19E961}"/>
                </a:ext>
              </a:extLst>
            </p:cNvPr>
            <p:cNvSpPr txBox="1"/>
            <p:nvPr/>
          </p:nvSpPr>
          <p:spPr>
            <a:xfrm>
              <a:off x="4808187" y="5423756"/>
              <a:ext cx="18288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せんどねっと</a:t>
              </a:r>
              <a:endPara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endParaRPr>
            </a:p>
            <a:p>
              <a:pPr marL="0" indent="0" algn="ctr">
                <a:buNone/>
              </a:pPr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（</a:t>
              </a: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青果</a:t>
              </a:r>
              <a:r>
                <a:rPr lang="ja-JP" altLang="en-US" sz="1300" b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　野菜・果物</a:t>
              </a:r>
              <a:endParaRPr lang="en-US" altLang="ja-JP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endParaRPr>
            </a:p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鮮魚</a:t>
              </a:r>
              <a:r>
                <a:rPr lang="ja-JP" altLang="en-US" sz="1300" b="1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　丸魚</a:t>
              </a:r>
              <a:r>
                <a:rPr lang="en-US" sz="1300" b="1" dirty="0">
                  <a:solidFill>
                    <a:srgbClr val="0C447C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）</a:t>
              </a:r>
              <a:endParaRPr lang="en-US" sz="1300" dirty="0"/>
            </a:p>
          </p:txBody>
        </p:sp>
      </p:grp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DAC2C15B-7B25-2A47-51C2-4EF3CBDF06EC}"/>
              </a:ext>
            </a:extLst>
          </p:cNvPr>
          <p:cNvSpPr txBox="1"/>
          <p:nvPr/>
        </p:nvSpPr>
        <p:spPr>
          <a:xfrm>
            <a:off x="457200" y="4835302"/>
            <a:ext cx="29220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非生鮮</a:t>
            </a:r>
            <a:endParaRPr kumimoji="1" lang="en-US" altLang="ja-JP" dirty="0"/>
          </a:p>
          <a:p>
            <a:r>
              <a:rPr kumimoji="1" lang="ja-JP" altLang="en-US"/>
              <a:t>本日発注分の推奨数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/>
              <a:t>生鮮</a:t>
            </a:r>
            <a:endParaRPr kumimoji="1" lang="en-US" altLang="ja-JP" dirty="0"/>
          </a:p>
          <a:p>
            <a:r>
              <a:rPr kumimoji="1" lang="ja-JP" altLang="en-US"/>
              <a:t>最短納品日の推奨数</a:t>
            </a:r>
            <a:endParaRPr kumimoji="1" lang="en-US" altLang="ja-JP" dirty="0"/>
          </a:p>
        </p:txBody>
      </p:sp>
      <p:sp>
        <p:nvSpPr>
          <p:cNvPr id="93" name="ストライプ矢印 92">
            <a:extLst>
              <a:ext uri="{FF2B5EF4-FFF2-40B4-BE49-F238E27FC236}">
                <a16:creationId xmlns:a16="http://schemas.microsoft.com/office/drawing/2014/main" id="{3F6932D0-A8BA-4171-00B2-E64ABD6D77A1}"/>
              </a:ext>
            </a:extLst>
          </p:cNvPr>
          <p:cNvSpPr/>
          <p:nvPr/>
        </p:nvSpPr>
        <p:spPr>
          <a:xfrm>
            <a:off x="2293148" y="3579906"/>
            <a:ext cx="5364952" cy="502917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当日分、翌日以降分　新規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96" name="Shape 34">
            <a:extLst>
              <a:ext uri="{FF2B5EF4-FFF2-40B4-BE49-F238E27FC236}">
                <a16:creationId xmlns:a16="http://schemas.microsoft.com/office/drawing/2014/main" id="{4F1E1DF3-3BAF-D0CD-3559-8F05B529237E}"/>
              </a:ext>
            </a:extLst>
          </p:cNvPr>
          <p:cNvSpPr/>
          <p:nvPr/>
        </p:nvSpPr>
        <p:spPr>
          <a:xfrm>
            <a:off x="9302590" y="5522980"/>
            <a:ext cx="687229" cy="36576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arrow"/>
          </a:ln>
        </p:spPr>
        <p:txBody>
          <a:bodyPr/>
          <a:lstStyle/>
          <a:p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97" name="Shape 34">
            <a:extLst>
              <a:ext uri="{FF2B5EF4-FFF2-40B4-BE49-F238E27FC236}">
                <a16:creationId xmlns:a16="http://schemas.microsoft.com/office/drawing/2014/main" id="{73392499-0241-7424-95C4-02342A35754F}"/>
              </a:ext>
            </a:extLst>
          </p:cNvPr>
          <p:cNvSpPr/>
          <p:nvPr/>
        </p:nvSpPr>
        <p:spPr>
          <a:xfrm flipV="1">
            <a:off x="9326880" y="5888740"/>
            <a:ext cx="662939" cy="42389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arrow"/>
          </a:ln>
        </p:spPr>
        <p:txBody>
          <a:bodyPr/>
          <a:lstStyle/>
          <a:p>
            <a:endParaRPr lang="ja-JP" altLang="en-US">
              <a:solidFill>
                <a:srgbClr val="FF0000"/>
              </a:solidFill>
            </a:endParaRPr>
          </a:p>
        </p:txBody>
      </p:sp>
      <p:sp>
        <p:nvSpPr>
          <p:cNvPr id="98" name="Text 35">
            <a:extLst>
              <a:ext uri="{FF2B5EF4-FFF2-40B4-BE49-F238E27FC236}">
                <a16:creationId xmlns:a16="http://schemas.microsoft.com/office/drawing/2014/main" id="{A55A9F3C-6B0B-814A-B3AF-68719DDFFF83}"/>
              </a:ext>
            </a:extLst>
          </p:cNvPr>
          <p:cNvSpPr txBox="1"/>
          <p:nvPr/>
        </p:nvSpPr>
        <p:spPr>
          <a:xfrm>
            <a:off x="9550676" y="5164147"/>
            <a:ext cx="26413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FF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移行予定があるが、自動補充対象外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84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E15DD-79B4-CEFE-A81E-E0FECD9A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2E543C-1C7C-C71A-CC56-FDB9E82BBC20}"/>
              </a:ext>
            </a:extLst>
          </p:cNvPr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 err="1"/>
              <a:t>統合発注</a:t>
            </a:r>
            <a:endParaRPr lang="en-US" sz="2400" dirty="0"/>
          </a:p>
        </p:txBody>
      </p:sp>
      <p:pic>
        <p:nvPicPr>
          <p:cNvPr id="91" name="図 90">
            <a:extLst>
              <a:ext uri="{FF2B5EF4-FFF2-40B4-BE49-F238E27FC236}">
                <a16:creationId xmlns:a16="http://schemas.microsoft.com/office/drawing/2014/main" id="{DD0FBFD5-B56E-2721-34E3-5794685D4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07" y="1376954"/>
            <a:ext cx="10020816" cy="447841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95215B6-0103-9BD6-B7C8-4872E24F11FC}"/>
              </a:ext>
            </a:extLst>
          </p:cNvPr>
          <p:cNvSpPr txBox="1"/>
          <p:nvPr/>
        </p:nvSpPr>
        <p:spPr>
          <a:xfrm>
            <a:off x="5478379" y="2711116"/>
            <a:ext cx="770021" cy="4308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100"/>
              <a:t>自動発注</a:t>
            </a:r>
            <a:endParaRPr kumimoji="1" lang="en-US" altLang="ja-JP" sz="1100" dirty="0"/>
          </a:p>
          <a:p>
            <a:r>
              <a:rPr kumimoji="1" lang="ja-JP" altLang="en-US" sz="1100"/>
              <a:t>推奨数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53D7128-ACBF-8374-77EE-703503E78FDE}"/>
              </a:ext>
            </a:extLst>
          </p:cNvPr>
          <p:cNvSpPr txBox="1"/>
          <p:nvPr/>
        </p:nvSpPr>
        <p:spPr>
          <a:xfrm>
            <a:off x="1147011" y="5999747"/>
            <a:ext cx="9416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翌日以降の推奨数と週間発注が競合する？西友は週間発注を運用しないなら問題ない</a:t>
            </a:r>
            <a:endParaRPr kumimoji="1" lang="en-US" altLang="ja-JP" dirty="0"/>
          </a:p>
          <a:p>
            <a:r>
              <a:rPr kumimoji="1" lang="ja-JP" altLang="en-US"/>
              <a:t>→</a:t>
            </a:r>
            <a:r>
              <a:rPr kumimoji="1" lang="en-US" altLang="ja-JP" dirty="0"/>
              <a:t>SY</a:t>
            </a:r>
            <a:r>
              <a:rPr kumimoji="1" lang="ja-JP" altLang="en-US"/>
              <a:t>で自動補充を行うカテゴリーは週間発注をしないので競合しない。</a:t>
            </a:r>
          </a:p>
        </p:txBody>
      </p:sp>
    </p:spTree>
    <p:extLst>
      <p:ext uri="{BB962C8B-B14F-4D97-AF65-F5344CB8AC3E}">
        <p14:creationId xmlns:p14="http://schemas.microsoft.com/office/powerpoint/2010/main" val="293975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696D-9F50-341F-DD06-4A3DA2DC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736002-8360-4B24-8D5E-579483E04B73}"/>
              </a:ext>
            </a:extLst>
          </p:cNvPr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自動発注勧告数の連携方法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231327-7C97-5375-952A-A9433FC40016}"/>
              </a:ext>
            </a:extLst>
          </p:cNvPr>
          <p:cNvSpPr txBox="1"/>
          <p:nvPr/>
        </p:nvSpPr>
        <p:spPr>
          <a:xfrm>
            <a:off x="50292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勧告数の連携ルート（DC在庫版</a:t>
            </a:r>
            <a:r>
              <a:rPr lang="en-US" sz="16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07F3CDD-213C-FF98-248D-9346C221BD21}"/>
              </a:ext>
            </a:extLst>
          </p:cNvPr>
          <p:cNvSpPr txBox="1"/>
          <p:nvPr/>
        </p:nvSpPr>
        <p:spPr>
          <a:xfrm>
            <a:off x="141972" y="366466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 err="1"/>
              <a:t>Excelツール</a:t>
            </a:r>
            <a:endParaRPr lang="en-US" sz="1250" dirty="0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8834E4A4-F953-F3FA-4C16-6533A31A5BE9}"/>
              </a:ext>
            </a:extLst>
          </p:cNvPr>
          <p:cNvGrpSpPr/>
          <p:nvPr/>
        </p:nvGrpSpPr>
        <p:grpSpPr>
          <a:xfrm>
            <a:off x="4362650" y="3968497"/>
            <a:ext cx="1828800" cy="731520"/>
            <a:chOff x="2740793" y="3956142"/>
            <a:chExt cx="1828800" cy="731520"/>
          </a:xfrm>
        </p:grpSpPr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7E787797-476F-6B9C-E2F1-A98DB01F60C7}"/>
                </a:ext>
              </a:extLst>
            </p:cNvPr>
            <p:cNvSpPr/>
            <p:nvPr/>
          </p:nvSpPr>
          <p:spPr>
            <a:xfrm>
              <a:off x="2740793" y="3956142"/>
              <a:ext cx="1828800" cy="731520"/>
            </a:xfrm>
            <a:prstGeom prst="roundRect">
              <a:avLst>
                <a:gd name="adj" fmla="val 7500"/>
              </a:avLst>
            </a:prstGeom>
            <a:solidFill>
              <a:srgbClr val="E1F5EE"/>
            </a:solidFill>
            <a:ln w="12700">
              <a:solidFill>
                <a:srgbClr val="0F6E56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42A4DED1-0953-309B-E376-7A9AC97230FC}"/>
                </a:ext>
              </a:extLst>
            </p:cNvPr>
            <p:cNvSpPr txBox="1"/>
            <p:nvPr/>
          </p:nvSpPr>
          <p:spPr>
            <a:xfrm>
              <a:off x="2740793" y="3956142"/>
              <a:ext cx="18288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 err="1">
                  <a:solidFill>
                    <a:srgbClr val="085041"/>
                  </a:solidFill>
                  <a:latin typeface="Meiryo" pitchFamily="34" charset="0"/>
                  <a:ea typeface="Meiryo" pitchFamily="34" charset="-122"/>
                  <a:cs typeface="Meiryo" pitchFamily="34" charset="-120"/>
                </a:rPr>
                <a:t>Excelツール</a:t>
              </a:r>
              <a:endParaRPr lang="en-US" sz="1350" dirty="0"/>
            </a:p>
          </p:txBody>
        </p:sp>
      </p:grpSp>
      <p:sp>
        <p:nvSpPr>
          <p:cNvPr id="23" name="Shape 21">
            <a:extLst>
              <a:ext uri="{FF2B5EF4-FFF2-40B4-BE49-F238E27FC236}">
                <a16:creationId xmlns:a16="http://schemas.microsoft.com/office/drawing/2014/main" id="{F324728C-F0BD-1365-D2A7-0534D6997B60}"/>
              </a:ext>
            </a:extLst>
          </p:cNvPr>
          <p:cNvSpPr/>
          <p:nvPr/>
        </p:nvSpPr>
        <p:spPr>
          <a:xfrm>
            <a:off x="7404233" y="3956142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91CA287-CFF5-8838-046D-A1CF511FEC77}"/>
              </a:ext>
            </a:extLst>
          </p:cNvPr>
          <p:cNvSpPr txBox="1"/>
          <p:nvPr/>
        </p:nvSpPr>
        <p:spPr>
          <a:xfrm>
            <a:off x="7404233" y="395614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DB発注ツール</a:t>
            </a:r>
            <a:endParaRPr lang="en-US" sz="13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9A8007F-23C3-CEFA-7E87-F8BDDB561782}"/>
              </a:ext>
            </a:extLst>
          </p:cNvPr>
          <p:cNvSpPr/>
          <p:nvPr/>
        </p:nvSpPr>
        <p:spPr>
          <a:xfrm>
            <a:off x="9829800" y="3922785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95DDC82-9076-EA9D-A3DA-156FB3C34075}"/>
              </a:ext>
            </a:extLst>
          </p:cNvPr>
          <p:cNvSpPr txBox="1"/>
          <p:nvPr/>
        </p:nvSpPr>
        <p:spPr>
          <a:xfrm>
            <a:off x="9829800" y="3922785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CoreSaver</a:t>
            </a:r>
            <a:endParaRPr lang="en-US" sz="1300" dirty="0"/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E9F56384-4031-58D0-0375-D533BE008CFB}"/>
              </a:ext>
            </a:extLst>
          </p:cNvPr>
          <p:cNvSpPr/>
          <p:nvPr/>
        </p:nvSpPr>
        <p:spPr>
          <a:xfrm>
            <a:off x="10143045" y="5242989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46495C7E-0393-6F51-B444-8B35F50B5C33}"/>
              </a:ext>
            </a:extLst>
          </p:cNvPr>
          <p:cNvSpPr txBox="1"/>
          <p:nvPr/>
        </p:nvSpPr>
        <p:spPr>
          <a:xfrm>
            <a:off x="10143045" y="5242989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市場EOS（鮮魚の丸魚</a:t>
            </a: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</a:rPr>
              <a:t>武田</a:t>
            </a:r>
            <a:endParaRPr lang="en-US" sz="130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7515BE9F-9CD3-6D8A-A62D-564BC8B471B7}"/>
              </a:ext>
            </a:extLst>
          </p:cNvPr>
          <p:cNvSpPr/>
          <p:nvPr/>
        </p:nvSpPr>
        <p:spPr>
          <a:xfrm>
            <a:off x="10390472" y="6045307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B42925E4-82C5-0976-CA62-BC63B5E994CB}"/>
              </a:ext>
            </a:extLst>
          </p:cNvPr>
          <p:cNvSpPr txBox="1"/>
          <p:nvPr/>
        </p:nvSpPr>
        <p:spPr>
          <a:xfrm>
            <a:off x="10390472" y="6045307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せんどねっと（鮮魚の丸魚）武田</a:t>
            </a:r>
            <a:endParaRPr lang="en-US" sz="1300" dirty="0"/>
          </a:p>
        </p:txBody>
      </p:sp>
      <p:sp>
        <p:nvSpPr>
          <p:cNvPr id="58" name="ストライプ矢印 57">
            <a:extLst>
              <a:ext uri="{FF2B5EF4-FFF2-40B4-BE49-F238E27FC236}">
                <a16:creationId xmlns:a16="http://schemas.microsoft.com/office/drawing/2014/main" id="{720246B9-7C32-5F32-8B34-B133ABAFF9CB}"/>
              </a:ext>
            </a:extLst>
          </p:cNvPr>
          <p:cNvSpPr/>
          <p:nvPr/>
        </p:nvSpPr>
        <p:spPr>
          <a:xfrm>
            <a:off x="9073013" y="4070443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4368C1C4-DDA8-B72D-9B63-19B85B8A5A25}"/>
              </a:ext>
            </a:extLst>
          </p:cNvPr>
          <p:cNvSpPr/>
          <p:nvPr/>
        </p:nvSpPr>
        <p:spPr>
          <a:xfrm>
            <a:off x="7475616" y="5569819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83852C83-7625-7828-8C17-B61EC10E5E35}"/>
              </a:ext>
            </a:extLst>
          </p:cNvPr>
          <p:cNvSpPr txBox="1"/>
          <p:nvPr/>
        </p:nvSpPr>
        <p:spPr>
          <a:xfrm>
            <a:off x="7475616" y="5569819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PACER生鮮発注</a:t>
            </a:r>
            <a:endParaRPr lang="en-US" sz="1300" b="1" dirty="0">
              <a:solidFill>
                <a:srgbClr val="0C447C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</a:rPr>
              <a:t>徐福理</a:t>
            </a:r>
            <a:endParaRPr lang="en-US" sz="1300" dirty="0"/>
          </a:p>
        </p:txBody>
      </p:sp>
      <p:sp>
        <p:nvSpPr>
          <p:cNvPr id="78" name="ストライプ矢印 77">
            <a:extLst>
              <a:ext uri="{FF2B5EF4-FFF2-40B4-BE49-F238E27FC236}">
                <a16:creationId xmlns:a16="http://schemas.microsoft.com/office/drawing/2014/main" id="{C787C6B2-D0DE-7740-0B7A-A3CA202A6AE0}"/>
              </a:ext>
            </a:extLst>
          </p:cNvPr>
          <p:cNvSpPr/>
          <p:nvPr/>
        </p:nvSpPr>
        <p:spPr>
          <a:xfrm>
            <a:off x="5986913" y="4061554"/>
            <a:ext cx="1524404" cy="502917"/>
          </a:xfrm>
          <a:prstGeom prst="striped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ファイル出力</a:t>
            </a:r>
            <a:endParaRPr kumimoji="1" lang="en-US" altLang="ja-JP" sz="1100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9A97FCB-CE77-4510-115D-BE821E2E0D63}"/>
              </a:ext>
            </a:extLst>
          </p:cNvPr>
          <p:cNvGrpSpPr/>
          <p:nvPr/>
        </p:nvGrpSpPr>
        <p:grpSpPr>
          <a:xfrm>
            <a:off x="2245567" y="5163505"/>
            <a:ext cx="1769442" cy="658368"/>
            <a:chOff x="533400" y="4639232"/>
            <a:chExt cx="5042835" cy="658368"/>
          </a:xfrm>
        </p:grpSpPr>
        <p:sp>
          <p:nvSpPr>
            <p:cNvPr id="7" name="Shape 14">
              <a:extLst>
                <a:ext uri="{FF2B5EF4-FFF2-40B4-BE49-F238E27FC236}">
                  <a16:creationId xmlns:a16="http://schemas.microsoft.com/office/drawing/2014/main" id="{B7E2EBE2-2BEA-5E10-3059-C90391480089}"/>
                </a:ext>
              </a:extLst>
            </p:cNvPr>
            <p:cNvSpPr/>
            <p:nvPr/>
          </p:nvSpPr>
          <p:spPr>
            <a:xfrm>
              <a:off x="533400" y="4639232"/>
              <a:ext cx="5029200" cy="658368"/>
            </a:xfrm>
            <a:prstGeom prst="roundRect">
              <a:avLst>
                <a:gd name="adj" fmla="val 9722"/>
              </a:avLst>
            </a:prstGeom>
            <a:solidFill>
              <a:srgbClr val="FAECE7"/>
            </a:solidFill>
            <a:ln w="1270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Text 15">
              <a:extLst>
                <a:ext uri="{FF2B5EF4-FFF2-40B4-BE49-F238E27FC236}">
                  <a16:creationId xmlns:a16="http://schemas.microsoft.com/office/drawing/2014/main" id="{77368D44-9579-D9BC-8461-4382029E1326}"/>
                </a:ext>
              </a:extLst>
            </p:cNvPr>
            <p:cNvSpPr txBox="1"/>
            <p:nvPr/>
          </p:nvSpPr>
          <p:spPr>
            <a:xfrm>
              <a:off x="547034" y="4639232"/>
              <a:ext cx="5029201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/>
                <a:t>DWH?</a:t>
              </a:r>
            </a:p>
            <a:p>
              <a:pPr marL="0" indent="0" algn="ctr">
                <a:buNone/>
              </a:pPr>
              <a:r>
                <a:rPr lang="en-US" sz="1300" dirty="0"/>
                <a:t>INUNAKI?</a:t>
              </a: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38D611E-855C-226A-64AD-00365BFCB163}"/>
              </a:ext>
            </a:extLst>
          </p:cNvPr>
          <p:cNvGrpSpPr/>
          <p:nvPr/>
        </p:nvGrpSpPr>
        <p:grpSpPr>
          <a:xfrm>
            <a:off x="141972" y="3983828"/>
            <a:ext cx="1769442" cy="658368"/>
            <a:chOff x="533400" y="4639232"/>
            <a:chExt cx="5042835" cy="658368"/>
          </a:xfrm>
        </p:grpSpPr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7277FA51-2957-C4A5-625E-BB09958A2A83}"/>
                </a:ext>
              </a:extLst>
            </p:cNvPr>
            <p:cNvSpPr/>
            <p:nvPr/>
          </p:nvSpPr>
          <p:spPr>
            <a:xfrm>
              <a:off x="533400" y="4639232"/>
              <a:ext cx="5029200" cy="658368"/>
            </a:xfrm>
            <a:prstGeom prst="roundRect">
              <a:avLst>
                <a:gd name="adj" fmla="val 9722"/>
              </a:avLst>
            </a:prstGeom>
            <a:solidFill>
              <a:srgbClr val="FAECE7"/>
            </a:solidFill>
            <a:ln w="1270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F30885B6-0E64-7C24-8DC0-D785E4860FC7}"/>
                </a:ext>
              </a:extLst>
            </p:cNvPr>
            <p:cNvSpPr txBox="1"/>
            <p:nvPr/>
          </p:nvSpPr>
          <p:spPr>
            <a:xfrm>
              <a:off x="547034" y="4639232"/>
              <a:ext cx="5029201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 err="1"/>
                <a:t>集計SV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300" dirty="0"/>
                <a:t>(Himalayas)</a:t>
              </a:r>
            </a:p>
          </p:txBody>
        </p:sp>
      </p:grpSp>
      <p:sp>
        <p:nvSpPr>
          <p:cNvPr id="32" name="ストライプ矢印 31">
            <a:extLst>
              <a:ext uri="{FF2B5EF4-FFF2-40B4-BE49-F238E27FC236}">
                <a16:creationId xmlns:a16="http://schemas.microsoft.com/office/drawing/2014/main" id="{0A4C5445-547B-67AA-0F36-489E8749DCF2}"/>
              </a:ext>
            </a:extLst>
          </p:cNvPr>
          <p:cNvSpPr/>
          <p:nvPr/>
        </p:nvSpPr>
        <p:spPr>
          <a:xfrm>
            <a:off x="1804737" y="4070442"/>
            <a:ext cx="2639126" cy="502917"/>
          </a:xfrm>
          <a:prstGeom prst="striped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？</a:t>
            </a:r>
            <a:endParaRPr kumimoji="1" lang="en-US" altLang="ja-JP" sz="1100" dirty="0"/>
          </a:p>
        </p:txBody>
      </p:sp>
      <p:sp>
        <p:nvSpPr>
          <p:cNvPr id="33" name="ストライプ矢印 32">
            <a:extLst>
              <a:ext uri="{FF2B5EF4-FFF2-40B4-BE49-F238E27FC236}">
                <a16:creationId xmlns:a16="http://schemas.microsoft.com/office/drawing/2014/main" id="{92B6A57B-E97D-5E71-61D9-04FFF8A16EA6}"/>
              </a:ext>
            </a:extLst>
          </p:cNvPr>
          <p:cNvSpPr/>
          <p:nvPr/>
        </p:nvSpPr>
        <p:spPr>
          <a:xfrm rot="18956554">
            <a:off x="3903851" y="4662297"/>
            <a:ext cx="789254" cy="502917"/>
          </a:xfrm>
          <a:prstGeom prst="striped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Data</a:t>
            </a:r>
          </a:p>
          <a:p>
            <a:pPr algn="ctr"/>
            <a:r>
              <a:rPr kumimoji="1" lang="en-US" altLang="ja-JP" sz="1100" dirty="0"/>
              <a:t>bricks</a:t>
            </a:r>
          </a:p>
        </p:txBody>
      </p:sp>
      <p:sp>
        <p:nvSpPr>
          <p:cNvPr id="34" name="ストライプ矢印 33">
            <a:extLst>
              <a:ext uri="{FF2B5EF4-FFF2-40B4-BE49-F238E27FC236}">
                <a16:creationId xmlns:a16="http://schemas.microsoft.com/office/drawing/2014/main" id="{4EDD2A22-E872-BAC4-A6A3-94835AD590F9}"/>
              </a:ext>
            </a:extLst>
          </p:cNvPr>
          <p:cNvSpPr/>
          <p:nvPr/>
        </p:nvSpPr>
        <p:spPr>
          <a:xfrm rot="2426732">
            <a:off x="1663543" y="4651392"/>
            <a:ext cx="789254" cy="502917"/>
          </a:xfrm>
          <a:prstGeom prst="striped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新規</a:t>
            </a:r>
            <a:r>
              <a:rPr kumimoji="1" lang="en-US" altLang="ja-JP" sz="1100" dirty="0"/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1266840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7721A4-4B5F-F5E3-91CB-1D17B25D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0C16B2-C22C-C8C9-DE9B-C0D2A1565588}"/>
              </a:ext>
            </a:extLst>
          </p:cNvPr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自動発注勧告数の連携方法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A8E8A1-4963-79E9-1413-4A86AD523341}"/>
              </a:ext>
            </a:extLst>
          </p:cNvPr>
          <p:cNvSpPr txBox="1"/>
          <p:nvPr/>
        </p:nvSpPr>
        <p:spPr>
          <a:xfrm>
            <a:off x="502920" y="804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勧告数の連携ルート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7EAAAC-3691-F90F-B453-76B3DFA0AA88}"/>
              </a:ext>
            </a:extLst>
          </p:cNvPr>
          <p:cNvSpPr txBox="1"/>
          <p:nvPr/>
        </p:nvSpPr>
        <p:spPr>
          <a:xfrm>
            <a:off x="50292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非生鮮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05187C-6C14-3D1B-D14D-CA5F35CA8FA7}"/>
              </a:ext>
            </a:extLst>
          </p:cNvPr>
          <p:cNvSpPr/>
          <p:nvPr/>
        </p:nvSpPr>
        <p:spPr>
          <a:xfrm>
            <a:off x="50292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C94417-E851-4D76-D51B-552D0D7FF55D}"/>
              </a:ext>
            </a:extLst>
          </p:cNvPr>
          <p:cNvSpPr txBox="1"/>
          <p:nvPr/>
        </p:nvSpPr>
        <p:spPr>
          <a:xfrm>
            <a:off x="5029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</a:t>
            </a:r>
            <a:endParaRPr lang="en-US" sz="13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0EB6006-B6D9-2FCC-D978-0CB8945E10FA}"/>
              </a:ext>
            </a:extLst>
          </p:cNvPr>
          <p:cNvSpPr/>
          <p:nvPr/>
        </p:nvSpPr>
        <p:spPr>
          <a:xfrm>
            <a:off x="516636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40612C-CD7B-448C-6975-3489C1EEB714}"/>
              </a:ext>
            </a:extLst>
          </p:cNvPr>
          <p:cNvSpPr txBox="1"/>
          <p:nvPr/>
        </p:nvSpPr>
        <p:spPr>
          <a:xfrm>
            <a:off x="516636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自動発注システム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CE283DC-1C0B-2EB8-08EE-6C75F0420A1B}"/>
              </a:ext>
            </a:extLst>
          </p:cNvPr>
          <p:cNvSpPr/>
          <p:nvPr/>
        </p:nvSpPr>
        <p:spPr>
          <a:xfrm>
            <a:off x="749808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169E2FF-0C44-AEA7-3806-4DF4C58DCAA7}"/>
              </a:ext>
            </a:extLst>
          </p:cNvPr>
          <p:cNvSpPr txBox="1"/>
          <p:nvPr/>
        </p:nvSpPr>
        <p:spPr>
          <a:xfrm>
            <a:off x="749808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EOB（発注SV）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4B8BEB7-D4B4-210E-A3A4-834458898205}"/>
              </a:ext>
            </a:extLst>
          </p:cNvPr>
          <p:cNvSpPr/>
          <p:nvPr/>
        </p:nvSpPr>
        <p:spPr>
          <a:xfrm>
            <a:off x="9829800" y="14630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F963B6E-B823-A4E9-59B3-41C8E1F512DE}"/>
              </a:ext>
            </a:extLst>
          </p:cNvPr>
          <p:cNvSpPr txBox="1"/>
          <p:nvPr/>
        </p:nvSpPr>
        <p:spPr>
          <a:xfrm>
            <a:off x="982980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CoreSaver</a:t>
            </a:r>
            <a:endParaRPr lang="en-US" sz="13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4A485EF-0D26-A5D2-9291-4DD72210E94D}"/>
              </a:ext>
            </a:extLst>
          </p:cNvPr>
          <p:cNvSpPr/>
          <p:nvPr/>
        </p:nvSpPr>
        <p:spPr>
          <a:xfrm>
            <a:off x="2386584" y="1828800"/>
            <a:ext cx="2724912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F755A7C-A3A3-4D32-39CC-AB1E456A565E}"/>
              </a:ext>
            </a:extLst>
          </p:cNvPr>
          <p:cNvSpPr txBox="1"/>
          <p:nvPr/>
        </p:nvSpPr>
        <p:spPr>
          <a:xfrm>
            <a:off x="50292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生鮮</a:t>
            </a:r>
            <a:endParaRPr lang="en-US" sz="12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948D2D-B180-AC5E-8013-4F0A021C4612}"/>
              </a:ext>
            </a:extLst>
          </p:cNvPr>
          <p:cNvSpPr/>
          <p:nvPr/>
        </p:nvSpPr>
        <p:spPr>
          <a:xfrm>
            <a:off x="502920" y="2670048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9989E24-C03D-CFEE-7B84-200599562F1A}"/>
              </a:ext>
            </a:extLst>
          </p:cNvPr>
          <p:cNvSpPr txBox="1"/>
          <p:nvPr/>
        </p:nvSpPr>
        <p:spPr>
          <a:xfrm>
            <a:off x="502920" y="26700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sinops</a:t>
            </a:r>
            <a:endParaRPr lang="en-US" sz="13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F7F1F98-D08F-4E11-B844-E2DD66256398}"/>
              </a:ext>
            </a:extLst>
          </p:cNvPr>
          <p:cNvSpPr/>
          <p:nvPr/>
        </p:nvSpPr>
        <p:spPr>
          <a:xfrm>
            <a:off x="5166360" y="2670048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D47B0E5-9DB0-1C73-2E5E-3485E54FCC50}"/>
              </a:ext>
            </a:extLst>
          </p:cNvPr>
          <p:cNvSpPr txBox="1"/>
          <p:nvPr/>
        </p:nvSpPr>
        <p:spPr>
          <a:xfrm>
            <a:off x="5166360" y="26700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自動発注システム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D5F44DF-821C-60BC-8018-A299FB2FA49A}"/>
              </a:ext>
            </a:extLst>
          </p:cNvPr>
          <p:cNvSpPr/>
          <p:nvPr/>
        </p:nvSpPr>
        <p:spPr>
          <a:xfrm>
            <a:off x="7498080" y="2670048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396DB89-5430-FEF8-2E0B-BF84F792C46B}"/>
              </a:ext>
            </a:extLst>
          </p:cNvPr>
          <p:cNvSpPr txBox="1"/>
          <p:nvPr/>
        </p:nvSpPr>
        <p:spPr>
          <a:xfrm>
            <a:off x="7498080" y="26700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生鮮統合発注</a:t>
            </a:r>
            <a:endParaRPr lang="en-US" sz="1300" b="1" dirty="0">
              <a:solidFill>
                <a:srgbClr val="0C447C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DC49B58-E9A6-00B9-EF7D-9FB7A7EB6FB8}"/>
              </a:ext>
            </a:extLst>
          </p:cNvPr>
          <p:cNvSpPr/>
          <p:nvPr/>
        </p:nvSpPr>
        <p:spPr>
          <a:xfrm>
            <a:off x="9829800" y="2670048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3091BA4-5049-2FD1-0749-7EBFD1E83C3B}"/>
              </a:ext>
            </a:extLst>
          </p:cNvPr>
          <p:cNvSpPr txBox="1"/>
          <p:nvPr/>
        </p:nvSpPr>
        <p:spPr>
          <a:xfrm>
            <a:off x="9829800" y="26700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CoreSaver？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</a:t>
            </a:r>
            <a:endParaRPr lang="en-US" sz="13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3A5C8FA-1DA5-87C1-504F-DA98E8927E63}"/>
              </a:ext>
            </a:extLst>
          </p:cNvPr>
          <p:cNvSpPr/>
          <p:nvPr/>
        </p:nvSpPr>
        <p:spPr>
          <a:xfrm>
            <a:off x="2386584" y="3035808"/>
            <a:ext cx="2724912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C220911-13F7-D5B2-FC24-07A632C258B2}"/>
              </a:ext>
            </a:extLst>
          </p:cNvPr>
          <p:cNvSpPr txBox="1"/>
          <p:nvPr/>
        </p:nvSpPr>
        <p:spPr>
          <a:xfrm>
            <a:off x="502920" y="35204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破線枠のtanactl経由には課題があり、全て使わないことを検討中（詳細は次ページ）</a:t>
            </a:r>
            <a:endParaRPr lang="en-US" sz="11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4A56796-42AD-73C9-E3A3-63AD79E70285}"/>
              </a:ext>
            </a:extLst>
          </p:cNvPr>
          <p:cNvSpPr txBox="1"/>
          <p:nvPr/>
        </p:nvSpPr>
        <p:spPr>
          <a:xfrm>
            <a:off x="50292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発注確定までの流れ（EOB以降）</a:t>
            </a:r>
            <a:endParaRPr lang="en-US" sz="16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07CAA72-7A9C-B9DD-FDD0-7EAAA84D4D22}"/>
              </a:ext>
            </a:extLst>
          </p:cNvPr>
          <p:cNvSpPr/>
          <p:nvPr/>
        </p:nvSpPr>
        <p:spPr>
          <a:xfrm>
            <a:off x="502920" y="438912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A2013F6-B38D-73C0-D973-6C27534158EC}"/>
              </a:ext>
            </a:extLst>
          </p:cNvPr>
          <p:cNvSpPr txBox="1"/>
          <p:nvPr/>
        </p:nvSpPr>
        <p:spPr>
          <a:xfrm>
            <a:off x="502920" y="43891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1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PACER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34AB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店舗の発注端末</a:t>
            </a:r>
            <a:endParaRPr lang="en-US" sz="13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6CE1275-BC52-899E-88E9-62D7A7352E6D}"/>
              </a:ext>
            </a:extLst>
          </p:cNvPr>
          <p:cNvSpPr/>
          <p:nvPr/>
        </p:nvSpPr>
        <p:spPr>
          <a:xfrm>
            <a:off x="1691640" y="5102352"/>
            <a:ext cx="0" cy="36576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8C36479-0E0B-3423-4519-D7646409B5BD}"/>
              </a:ext>
            </a:extLst>
          </p:cNvPr>
          <p:cNvSpPr txBox="1"/>
          <p:nvPr/>
        </p:nvSpPr>
        <p:spPr>
          <a:xfrm>
            <a:off x="1874520" y="5138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勧告数を参照し、上方・下方修正が可能</a:t>
            </a:r>
            <a:endParaRPr lang="en-US" sz="10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5F088DF-E9DB-C0D3-902C-63943943B985}"/>
              </a:ext>
            </a:extLst>
          </p:cNvPr>
          <p:cNvSpPr/>
          <p:nvPr/>
        </p:nvSpPr>
        <p:spPr>
          <a:xfrm>
            <a:off x="502920" y="54864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5446519-C449-ECB6-A81C-972B354D9AA0}"/>
              </a:ext>
            </a:extLst>
          </p:cNvPr>
          <p:cNvSpPr txBox="1"/>
          <p:nvPr/>
        </p:nvSpPr>
        <p:spPr>
          <a:xfrm>
            <a:off x="502920" y="5486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EOB（発注SV）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85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自動発注の勧告数を保持</a:t>
            </a:r>
            <a:endParaRPr lang="en-US" sz="13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E773564-E209-25DC-B5A9-48DCA290C439}"/>
              </a:ext>
            </a:extLst>
          </p:cNvPr>
          <p:cNvSpPr/>
          <p:nvPr/>
        </p:nvSpPr>
        <p:spPr>
          <a:xfrm>
            <a:off x="3017520" y="5875020"/>
            <a:ext cx="9601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03683A7-AB26-BE23-095D-0643881D5D6F}"/>
              </a:ext>
            </a:extLst>
          </p:cNvPr>
          <p:cNvSpPr/>
          <p:nvPr/>
        </p:nvSpPr>
        <p:spPr>
          <a:xfrm>
            <a:off x="4069080" y="548640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E02C7FB-5530-711E-5375-ED339C74A00C}"/>
              </a:ext>
            </a:extLst>
          </p:cNvPr>
          <p:cNvSpPr txBox="1"/>
          <p:nvPr/>
        </p:nvSpPr>
        <p:spPr>
          <a:xfrm>
            <a:off x="4069080" y="5486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CoreSaver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規定時間に取込・締め更新</a:t>
            </a:r>
            <a:endParaRPr lang="en-US" sz="13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B3B0186-095B-B44A-B821-46B2C8792F7E}"/>
              </a:ext>
            </a:extLst>
          </p:cNvPr>
          <p:cNvSpPr/>
          <p:nvPr/>
        </p:nvSpPr>
        <p:spPr>
          <a:xfrm>
            <a:off x="6949440" y="5875020"/>
            <a:ext cx="9601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arrow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D3598DBD-887A-F4AE-DFD1-4E0ABC41B225}"/>
              </a:ext>
            </a:extLst>
          </p:cNvPr>
          <p:cNvSpPr/>
          <p:nvPr/>
        </p:nvSpPr>
        <p:spPr>
          <a:xfrm>
            <a:off x="8001000" y="548640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7B14EE03-AE82-D7F5-C9C8-4265D586B5B6}"/>
              </a:ext>
            </a:extLst>
          </p:cNvPr>
          <p:cNvSpPr txBox="1"/>
          <p:nvPr/>
        </p:nvSpPr>
        <p:spPr>
          <a:xfrm>
            <a:off x="8001000" y="5486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6E5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発注データを受信</a:t>
            </a:r>
            <a:endParaRPr lang="en-US" sz="1300" dirty="0"/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2C63B3FC-4EFC-A19D-6349-DD10D07BBC2C}"/>
              </a:ext>
            </a:extLst>
          </p:cNvPr>
          <p:cNvSpPr/>
          <p:nvPr/>
        </p:nvSpPr>
        <p:spPr>
          <a:xfrm>
            <a:off x="7498080" y="3773023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25E8703E-F0E9-0CFD-E270-7CFC1EE35CD4}"/>
              </a:ext>
            </a:extLst>
          </p:cNvPr>
          <p:cNvSpPr txBox="1"/>
          <p:nvPr/>
        </p:nvSpPr>
        <p:spPr>
          <a:xfrm>
            <a:off x="7498080" y="3773023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</a:rPr>
              <a:t>@rms(</a:t>
            </a: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</a:rPr>
              <a:t>青果</a:t>
            </a: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</a:rPr>
              <a:t>)</a:t>
            </a:r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840273DF-E39C-5292-7BDF-7DCEB54622C6}"/>
              </a:ext>
            </a:extLst>
          </p:cNvPr>
          <p:cNvSpPr/>
          <p:nvPr/>
        </p:nvSpPr>
        <p:spPr>
          <a:xfrm>
            <a:off x="9004432" y="46634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F4F3DB0A-E0D8-6F22-5ADB-DB44B512A7FC}"/>
              </a:ext>
            </a:extLst>
          </p:cNvPr>
          <p:cNvSpPr txBox="1"/>
          <p:nvPr/>
        </p:nvSpPr>
        <p:spPr>
          <a:xfrm>
            <a:off x="9004432" y="4663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市場EOS（鮮魚の丸魚</a:t>
            </a: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</a:rPr>
              <a:t>武田</a:t>
            </a:r>
            <a:endParaRPr lang="en-US" sz="130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B8B913DA-5EB6-44D9-18A9-0C59B16D36D7}"/>
              </a:ext>
            </a:extLst>
          </p:cNvPr>
          <p:cNvSpPr/>
          <p:nvPr/>
        </p:nvSpPr>
        <p:spPr>
          <a:xfrm>
            <a:off x="10390472" y="5138928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2A8123AC-99B3-0706-9D8A-D644A7BC46AC}"/>
              </a:ext>
            </a:extLst>
          </p:cNvPr>
          <p:cNvSpPr txBox="1"/>
          <p:nvPr/>
        </p:nvSpPr>
        <p:spPr>
          <a:xfrm>
            <a:off x="10390472" y="513892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せんどねっと（鮮魚の丸魚）武田</a:t>
            </a:r>
            <a:endParaRPr lang="en-US" sz="1300" dirty="0"/>
          </a:p>
        </p:txBody>
      </p:sp>
      <p:sp>
        <p:nvSpPr>
          <p:cNvPr id="58" name="ストライプ矢印 57">
            <a:extLst>
              <a:ext uri="{FF2B5EF4-FFF2-40B4-BE49-F238E27FC236}">
                <a16:creationId xmlns:a16="http://schemas.microsoft.com/office/drawing/2014/main" id="{FB6D2B42-A65C-9614-6F4B-6917FCB40D1A}"/>
              </a:ext>
            </a:extLst>
          </p:cNvPr>
          <p:cNvSpPr/>
          <p:nvPr/>
        </p:nvSpPr>
        <p:spPr>
          <a:xfrm>
            <a:off x="6835140" y="2784349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03C9307D-C1D3-2062-F6A8-C78F71B7ED98}"/>
              </a:ext>
            </a:extLst>
          </p:cNvPr>
          <p:cNvSpPr/>
          <p:nvPr/>
        </p:nvSpPr>
        <p:spPr>
          <a:xfrm>
            <a:off x="9381744" y="3953657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C29D8A69-9552-E548-7433-FDA70FC64E65}"/>
              </a:ext>
            </a:extLst>
          </p:cNvPr>
          <p:cNvSpPr txBox="1"/>
          <p:nvPr/>
        </p:nvSpPr>
        <p:spPr>
          <a:xfrm>
            <a:off x="9381744" y="3953657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PACER生鮮発注</a:t>
            </a:r>
            <a:endParaRPr lang="en-US" sz="1300" b="1" dirty="0">
              <a:solidFill>
                <a:srgbClr val="0C447C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0C447C"/>
                </a:solidFill>
                <a:latin typeface="Meiryo" pitchFamily="34" charset="0"/>
                <a:ea typeface="Meiryo" pitchFamily="34" charset="-122"/>
              </a:rPr>
              <a:t>徐福理</a:t>
            </a:r>
            <a:endParaRPr lang="en-US" sz="1300" dirty="0"/>
          </a:p>
        </p:txBody>
      </p:sp>
      <p:sp>
        <p:nvSpPr>
          <p:cNvPr id="61" name="ストライプ矢印 60">
            <a:extLst>
              <a:ext uri="{FF2B5EF4-FFF2-40B4-BE49-F238E27FC236}">
                <a16:creationId xmlns:a16="http://schemas.microsoft.com/office/drawing/2014/main" id="{5F99ABBC-4B79-D787-AD30-C282DE647E47}"/>
              </a:ext>
            </a:extLst>
          </p:cNvPr>
          <p:cNvSpPr/>
          <p:nvPr/>
        </p:nvSpPr>
        <p:spPr>
          <a:xfrm>
            <a:off x="6835140" y="1556772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2" name="ストライプ矢印 61">
            <a:extLst>
              <a:ext uri="{FF2B5EF4-FFF2-40B4-BE49-F238E27FC236}">
                <a16:creationId xmlns:a16="http://schemas.microsoft.com/office/drawing/2014/main" id="{1D9198BA-966A-546C-E43C-70A8BC8D6BAF}"/>
              </a:ext>
            </a:extLst>
          </p:cNvPr>
          <p:cNvSpPr/>
          <p:nvPr/>
        </p:nvSpPr>
        <p:spPr>
          <a:xfrm>
            <a:off x="9166860" y="2764942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3" name="ストライプ矢印 62">
            <a:extLst>
              <a:ext uri="{FF2B5EF4-FFF2-40B4-BE49-F238E27FC236}">
                <a16:creationId xmlns:a16="http://schemas.microsoft.com/office/drawing/2014/main" id="{F6534B82-19CD-DE45-045E-4F5CE2AF2497}"/>
              </a:ext>
            </a:extLst>
          </p:cNvPr>
          <p:cNvSpPr/>
          <p:nvPr/>
        </p:nvSpPr>
        <p:spPr>
          <a:xfrm>
            <a:off x="9166860" y="1572768"/>
            <a:ext cx="822960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/>
              <a:t>既存</a:t>
            </a:r>
            <a:r>
              <a:rPr kumimoji="1" lang="en-US" altLang="ja-JP" sz="1100" dirty="0"/>
              <a:t>IF</a:t>
            </a:r>
            <a:endParaRPr kumimoji="1" lang="ja-JP" altLang="en-US" sz="1100"/>
          </a:p>
        </p:txBody>
      </p:sp>
      <p:sp>
        <p:nvSpPr>
          <p:cNvPr id="64" name="ストライプ矢印 63">
            <a:extLst>
              <a:ext uri="{FF2B5EF4-FFF2-40B4-BE49-F238E27FC236}">
                <a16:creationId xmlns:a16="http://schemas.microsoft.com/office/drawing/2014/main" id="{5A5DAF78-3D28-131C-ACFB-91A29F297EDD}"/>
              </a:ext>
            </a:extLst>
          </p:cNvPr>
          <p:cNvSpPr/>
          <p:nvPr/>
        </p:nvSpPr>
        <p:spPr>
          <a:xfrm>
            <a:off x="2202179" y="1572768"/>
            <a:ext cx="3059631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Sinops-24</a:t>
            </a:r>
            <a:r>
              <a:rPr kumimoji="1" lang="ja-JP" altLang="en-US" sz="1100"/>
              <a:t>　発注勧告</a:t>
            </a:r>
            <a:r>
              <a:rPr kumimoji="1" lang="en-US" altLang="ja-JP" sz="1100" dirty="0"/>
              <a:t>(</a:t>
            </a:r>
            <a:r>
              <a:rPr kumimoji="1" lang="ja-JP" altLang="en-US" sz="1100"/>
              <a:t>当日分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65" name="ストライプ矢印 64">
            <a:extLst>
              <a:ext uri="{FF2B5EF4-FFF2-40B4-BE49-F238E27FC236}">
                <a16:creationId xmlns:a16="http://schemas.microsoft.com/office/drawing/2014/main" id="{54719F31-B915-F461-347B-48E974C8A31F}"/>
              </a:ext>
            </a:extLst>
          </p:cNvPr>
          <p:cNvSpPr/>
          <p:nvPr/>
        </p:nvSpPr>
        <p:spPr>
          <a:xfrm>
            <a:off x="2202178" y="2161195"/>
            <a:ext cx="3059631" cy="50291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/>
              <a:t>Sinops-25</a:t>
            </a:r>
            <a:r>
              <a:rPr kumimoji="1" lang="ja-JP" altLang="en-US" sz="1100"/>
              <a:t>　発注勧告</a:t>
            </a:r>
            <a:r>
              <a:rPr kumimoji="1" lang="en-US" altLang="ja-JP" sz="1100" dirty="0"/>
              <a:t>(</a:t>
            </a:r>
            <a:r>
              <a:rPr kumimoji="1" lang="ja-JP" altLang="en-US" sz="1100"/>
              <a:t>翌日以降分</a:t>
            </a:r>
            <a:r>
              <a:rPr kumimoji="1" lang="en-US" altLang="ja-JP" sz="1100" dirty="0"/>
              <a:t>)</a:t>
            </a:r>
            <a:endParaRPr kumimoji="1" lang="ja-JP" altLang="en-US" sz="1100"/>
          </a:p>
        </p:txBody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55B721F7-E93D-D80F-F267-9C3A2DEC82E5}"/>
              </a:ext>
            </a:extLst>
          </p:cNvPr>
          <p:cNvSpPr/>
          <p:nvPr/>
        </p:nvSpPr>
        <p:spPr>
          <a:xfrm>
            <a:off x="5318760" y="16154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05C05F5E-8E8F-A806-0BB5-7E6C6241365A}"/>
              </a:ext>
            </a:extLst>
          </p:cNvPr>
          <p:cNvSpPr txBox="1"/>
          <p:nvPr/>
        </p:nvSpPr>
        <p:spPr>
          <a:xfrm>
            <a:off x="5318760" y="1615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4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自動発注システム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11082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tanactlの役割・課題・方針案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68680" y="1252728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1EFE8"/>
          </a:solidFill>
          <a:ln w="9525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2527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23444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TRIAL自動発注への切替や、コンサイメント発注の切替を実施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7335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RAIが管理する発注コントロールシステム。利用にはNTTとの調整も必要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68680" y="2624328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6243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60604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通過すると発注者CDがR-CIXのCDになってしまう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04495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通常の自動発注のCDにする改修が必要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868680" y="3995928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39959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38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97764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棚名称ごとの管理のため、畜産は利用できる可能性があるが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41655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他の部門では利用できない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868680" y="5367528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868680" y="53675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504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方針案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34924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C2C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全てtanactlを使わない方向で検討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788152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F5E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生鮮側とより協議が必要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MD基幹 × IF中継 × sinops 連携仕様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sinops-R6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自動発注（勧告）対象の判定フロー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FE9DF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商品が発注勧告の対象になるまでに通過する4層のフィルタを、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FE9DF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基幹側・IF中継・sinops内部の各仕様書に基づいて整理する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 — 4層の絞り込みファネル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0" y="1234440"/>
            <a:ext cx="6309360" cy="841248"/>
          </a:xfrm>
          <a:prstGeom prst="roundRect">
            <a:avLst>
              <a:gd name="adj" fmla="val 10870"/>
            </a:avLst>
          </a:prstGeom>
          <a:solidFill>
            <a:srgbClr val="F7F8F5"/>
          </a:solidFill>
          <a:ln w="12700">
            <a:solidFill>
              <a:srgbClr val="D9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2926080" y="130759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MD基幹側の連携絞り込み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69164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自動補充対象フラグOFFは出力しない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2093976"/>
            <a:ext cx="0" cy="201168"/>
          </a:xfrm>
          <a:prstGeom prst="line">
            <a:avLst/>
          </a:prstGeom>
          <a:noFill/>
          <a:ln w="19050">
            <a:solidFill>
              <a:srgbClr val="5C615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2926080" y="2331720"/>
            <a:ext cx="6309360" cy="841248"/>
          </a:xfrm>
          <a:prstGeom prst="roundRect">
            <a:avLst>
              <a:gd name="adj" fmla="val 10870"/>
            </a:avLst>
          </a:prstGeom>
          <a:solidFill>
            <a:srgbClr val="F7F8F5"/>
          </a:solidFill>
          <a:ln w="12700">
            <a:solidFill>
              <a:srgbClr val="D9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2926080" y="240487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IF中継の変換除外条件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78892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扱い無し・削除・マスタ不在は除外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3191256"/>
            <a:ext cx="0" cy="201168"/>
          </a:xfrm>
          <a:prstGeom prst="line">
            <a:avLst/>
          </a:prstGeom>
          <a:noFill/>
          <a:ln w="19050">
            <a:solidFill>
              <a:srgbClr val="5C615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926080" y="3429000"/>
            <a:ext cx="6309360" cy="841248"/>
          </a:xfrm>
          <a:prstGeom prst="roundRect">
            <a:avLst>
              <a:gd name="adj" fmla="val 10870"/>
            </a:avLst>
          </a:prstGeom>
          <a:solidFill>
            <a:srgbClr val="F7F8F5"/>
          </a:solidFill>
          <a:ln w="12700">
            <a:solidFill>
              <a:srgbClr val="D9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2926080" y="350215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sinopsの期間判定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88620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発注開始日〜発注停止日の期間内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4288536"/>
            <a:ext cx="0" cy="201168"/>
          </a:xfrm>
          <a:prstGeom prst="line">
            <a:avLst/>
          </a:prstGeom>
          <a:noFill/>
          <a:ln w="19050">
            <a:solidFill>
              <a:srgbClr val="5C615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926080" y="4526280"/>
            <a:ext cx="6309360" cy="841248"/>
          </a:xfrm>
          <a:prstGeom prst="roundRect">
            <a:avLst>
              <a:gd name="adj" fmla="val 10870"/>
            </a:avLst>
          </a:prstGeom>
          <a:solidFill>
            <a:srgbClr val="EEEDFE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2926080" y="45994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34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棚割の存在（R6固有）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98348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C34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有効な現在棚に載っていること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5385816"/>
            <a:ext cx="0" cy="201168"/>
          </a:xfrm>
          <a:prstGeom prst="line">
            <a:avLst/>
          </a:prstGeom>
          <a:noFill/>
          <a:ln w="19050">
            <a:solidFill>
              <a:srgbClr val="5C6156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2926080" y="5623560"/>
            <a:ext cx="6309360" cy="841248"/>
          </a:xfrm>
          <a:prstGeom prst="roundRect">
            <a:avLst>
              <a:gd name="adj" fmla="val 1087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2926080" y="569671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50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自動発注（勧告）対象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608076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6E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4層すべて通過した商品のみ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①は基幹側の出力条件、②はIF中継、③④がsinops内部での判定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 ①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MD基幹側の連携絞り込み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自動補充対象フラグOFFの商品は、基幹側で商品マスタIFに出力しない（処理時間短縮のための連携条件として明記）</a:t>
            </a:r>
            <a:endParaRPr lang="en-US" sz="14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sinops内部でフラグを判定するのではなく、「マスタが連携されない＝sinopsに商品が存在しない」という形で間接的に効く</a:t>
            </a:r>
            <a:endParaRPr lang="en-US" sz="14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注意点シートには「終売等で対象外となった商品は連携しない等、自動発注対象に絞り込んで連携する」旨の記載あり（商品マスタ・店舗商品マスタ共通）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1064240" cy="777240"/>
          </a:xfrm>
          <a:prstGeom prst="rect">
            <a:avLst/>
          </a:prstGeom>
          <a:solidFill>
            <a:srgbClr val="FAEE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4937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54F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　</a:t>
            </a:r>
            <a:r>
              <a:rPr lang="en-US" sz="130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「自動補充フラグ」はここで効く。sinopsの機能ではなく、基幹→IF連携の入口の絞り込み条件。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出典：sinopsR6_IFレイアウト商品マスタ（IF020_00）マッピング・注意点シート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 ②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IF中継の変換除外条件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店舗商品マスタ（R向け）変換では、以下のいずれかに該当するとIF中継機の全件データから削除され、変換対象外となる。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7F8F5"/>
          </a:solidFill>
          <a:ln w="12700">
            <a:solidFill>
              <a:srgbClr val="D9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商品扱い有無フラグ = 0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393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商品扱いなし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7F8F5"/>
          </a:solidFill>
          <a:ln w="12700">
            <a:solidFill>
              <a:srgbClr val="D9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617720" y="26974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177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削除フラグ = 1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6393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論理削除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F7F8F5"/>
          </a:solidFill>
          <a:ln w="12700">
            <a:solidFill>
              <a:srgbClr val="D9DA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366760" y="26974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83667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法人別業態別商品マスタに不在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6393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直近連携分に含まれない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11064240" cy="777240"/>
          </a:xfrm>
          <a:prstGeom prst="rect">
            <a:avLst/>
          </a:prstGeom>
          <a:solidFill>
            <a:srgbClr val="FAEE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868680" y="4480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54F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棚割明細　</a:t>
            </a:r>
            <a:r>
              <a:rPr lang="en-US" sz="130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上記1〜3に加え「棚割終了日の計算結果が過去日付」の場合も除外される（第4の条件）。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出典：IF中継システム仕様書_IF変換「IFファイル変換_店舗商品マスタ」「IFファイル変換_棚割明細」抽出条件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 ③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sinops内部の発注対象期間判定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sinops標準仕様：当日が「商品マスタの開始日／終了日」と「店舗商品マスタの発注開始日／発注終了日」の両方で期間内にある場合に自動発注対象</a:t>
            </a:r>
            <a:endParaRPr lang="en-US" sz="14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本プロジェクトの実装では、R向け商品マスタ変換の発注開始日・終了日は空固定（＝商品マスタ側の期間制約は事実上なし）</a:t>
            </a:r>
            <a:endParaRPr lang="en-US" sz="14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店舗商品マスタ側には、店別商品マスタの「発注開始日」と「発注停止日」をマッピング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1064240" cy="777240"/>
          </a:xfrm>
          <a:prstGeom prst="rect">
            <a:avLst/>
          </a:prstGeom>
          <a:solidFill>
            <a:srgbClr val="FAEE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49377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54F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　</a:t>
            </a:r>
            <a:r>
              <a:rPr lang="en-US" sz="130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実質的な期間制御は、店別レベルの「発注開始日〜発注停止日」で行われる。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出典：sinopsR6_IFレイアウト店舗商品マスタ（IF030_01）、IF変換「IFファイル変換_商品マスタ／店舗商品マスタ」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C348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 ④ — R6固有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棚割の存在＝勧告対象の指定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IF一覧表で棚割明細（IF410_01）の用途は「自動発注対象指定、安全在庫計算」と明記。棚割に載っていることがR6の対象指定そのもの</a:t>
            </a:r>
            <a:endParaRPr lang="en-US" sz="14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必須（日次）IF。有効な現在棚を全件・洗い替え更新で連携。現在棚の棚割開始日は勧告計算日当日のシステム日付で連携する</a:t>
            </a:r>
            <a:endParaRPr lang="en-US" sz="14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IF変換で棚割開始日・終了日に「店舗発注フラグ事前有効日数／事前無効日数」を加減算し、発注有効期間を前倒し調整する</a:t>
            </a:r>
            <a:endParaRPr lang="en-US" sz="1450" dirty="0"/>
          </a:p>
          <a:p>
            <a:pPr marL="177800" indent="-177800">
              <a:lnSpc>
                <a:spcPts val="2200"/>
              </a:lnSpc>
              <a:spcAft>
                <a:spcPts val="1200"/>
              </a:spcAft>
              <a:buSzPct val="100000"/>
              <a:buChar char="■"/>
            </a:pPr>
            <a:r>
              <a:rPr lang="en-US" sz="145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サブ勧告へは未来21日分まで反映されるため、棚割確定次第の連携が求められる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出典：IF一覧表_sinopsR、sinopsR6_IFレイアウト棚割明細、IF変換「IFファイル変換_棚割明細」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sinops-Wとの違い（非対称性）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sinops-R6（店舗）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sinops-W（センター）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棚割による対象指定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あり（IF410_01が必須・日次）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なし（棚割IF自体が存在しない）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発注停止日の効き方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店舗商品マスタの「発注終了日」として連携し、sinops内部の期間判定で制御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W向け商品マスタ変換の除外条件に「発注停止日を過ぎている場合」が組み込み済み（変換側で落とす）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共通の除外条件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商品扱い有無フラグ=0／削除フラグ=1／法人別業態別商品マスタに不在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71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120640"/>
            <a:ext cx="11064240" cy="777240"/>
          </a:xfrm>
          <a:prstGeom prst="rect">
            <a:avLst/>
          </a:prstGeom>
          <a:solidFill>
            <a:srgbClr val="FAEE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5120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854F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留意　</a:t>
            </a:r>
            <a:r>
              <a:rPr lang="en-US" sz="1300" dirty="0">
                <a:solidFill>
                  <a:srgbClr val="22271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R6は停止日超過レコードも連携されるため、マスタ残留（蓄積）の可能性が注意点シートで指摘済み。R6とWを同一挙動と仮定しないこと。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15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出典：IF変換「IFファイル変換_商品マスタ_w」抽出条件、各IFレイアウト注意点シート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■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EEE8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自動発注対象は単一のフラグではなく、①基幹出力 → ②IF変換 → ③期間判定 → ④棚割 の4層をすべて通過して初めて決まる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■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EEE8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「棚割にあるかどうか」はR6の対象判定として正しい（IF一覧表に「自動発注対象指定」と明記）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■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EEE8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「自動補充フラグ」も影響するが、位置づけは基幹→IF連携の入口の絞り込み条件であり、sinops内部の判定ではない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Tx/>
              <a:buChar char="■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EEE8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調査時は基幹・IF中継・sinopsの3か所の仕様を突き合わせること。単一資料では判定構造の全体が見えない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9FE1CB"/>
                </a:solidFill>
                <a:effectLst/>
                <a:uLnTx/>
                <a:uFillTx/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本資料はプロジェクト格納のIFレイアウト・IF変換仕様書・IF一覧表に基づく整理（2026-09時点）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3224</TotalTime>
  <Words>1948</Words>
  <Application>Microsoft Macintosh PowerPoint</Application>
  <PresentationFormat>ワイド画面</PresentationFormat>
  <Paragraphs>460</Paragraphs>
  <Slides>26</Slides>
  <Notes>26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2" baseType="lpstr">
      <vt:lpstr>Meiryo</vt:lpstr>
      <vt:lpstr>游ゴシック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波多野 弘一</cp:lastModifiedBy>
  <cp:revision>2</cp:revision>
  <dcterms:created xsi:type="dcterms:W3CDTF">2026-09-15T08:25:28Z</dcterms:created>
  <dcterms:modified xsi:type="dcterms:W3CDTF">2026-09-18T05:40:11Z</dcterms:modified>
</cp:coreProperties>
</file>