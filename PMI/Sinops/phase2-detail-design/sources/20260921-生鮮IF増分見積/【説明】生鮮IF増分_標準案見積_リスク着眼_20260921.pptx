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Yu Gothic"/>
              </a:rPr>
              <a:t>生鮮 IF 増分見積　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D6E3F0"/>
                </a:solidFill>
                <a:latin typeface="Yu Gothic"/>
              </a:rPr>
              <a:t>標準案｜調査・Mapping → 詳細設計・開発・単体（＋PJ按分）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CE4D6"/>
                </a:solidFill>
                <a:latin typeface="Yu Gothic"/>
              </a:rPr>
              <a:t>焦点：生鮮の不確実性を見積前提として明示し、提示値の読み方を揃える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Yu Gothic"/>
              </a:rPr>
              <a:t>西友 MD基幹統合　／　Sinops 自動補充 PMI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D6E3F0"/>
                </a:solidFill>
                <a:latin typeface="Yu Gothic"/>
              </a:rPr>
              <a:t>資料日 2026-09-21（Rev.e）　出典：標準案 Excel・20260918 生鮮IF会議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1. 結論（本見積の提示値）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PMI課題 Sinops非生鮮のPhase2は契約据え置き。本見積は生鮮増分のみ。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300" b="1">
                <a:solidFill>
                  <a:srgbClr val="2E75B6"/>
                </a:solidFill>
                <a:latin typeface="Yu Gothic"/>
              </a:rPr>
              <a:t>人日合計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2600" b="1">
                <a:solidFill>
                  <a:srgbClr val="1F4E78"/>
                </a:solidFill>
                <a:latin typeface="Yu Gothic"/>
              </a:rPr>
              <a:t>221.5 人日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Yu Gothic"/>
              </a:rPr>
              <a:t>直接201.5（P1 59.5＋P2 142）＋PJ20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3716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300" b="1">
                <a:solidFill>
                  <a:srgbClr val="2E75B6"/>
                </a:solidFill>
                <a:latin typeface="Yu Gothic"/>
              </a:rPr>
              <a:t>金額（税抜）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2600" b="1">
                <a:solidFill>
                  <a:srgbClr val="1F4E78"/>
                </a:solidFill>
                <a:latin typeface="Yu Gothic"/>
              </a:rPr>
              <a:t>¥7,085,000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Yu Gothic"/>
              </a:rPr>
              <a:t>Phase1×40,000＋Phase2×27,500＋PJ×40,000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300" b="1">
                <a:solidFill>
                  <a:srgbClr val="2E75B6"/>
                </a:solidFill>
                <a:latin typeface="Yu Gothic"/>
              </a:rPr>
              <a:t>本見積の前提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2600" b="1">
                <a:solidFill>
                  <a:srgbClr val="1F4E78"/>
                </a:solidFill>
                <a:latin typeface="Yu Gothic"/>
              </a:rPr>
              <a:t>マスタ流用が
概ね成立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Yu Gothic"/>
              </a:rPr>
              <a:t>既存波及が限定的な場合
の工数として算定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474720"/>
            <a:ext cx="11430000" cy="265176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l"/>
            <a:r>
              <a:rPr sz="1500" b="1">
                <a:solidFill>
                  <a:srgbClr val="C65911"/>
                </a:solidFill>
                <a:latin typeface="Yu Gothic"/>
              </a:rPr>
              <a:t>説明時に最初に伝えること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・提示値は確定請負ではない。生鮮は不確実性が大きく、前提が崩れたら再見積。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・最大の不確実性は生鮮専用マスタの流用可否（B1→B2仮置き）。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・B2（マスタIF本体51人日）は仮置き。B1判定後に確定値へ置換する。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・PMI課題 Sinops非生鮮のPhase2の契約額は据え置き。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2. 見積前提条件（生鮮の不確実性・必読）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提示値は「現時点の前提が成り立つ場合」の工数。確定請負額ではない。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" y="1188720"/>
          <a:ext cx="117957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6692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区分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前提として明示すること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見積上の扱い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マスタ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専用マスタ多数。非生鮮変換の流用可否・新規本数は未確定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B1で1本ずつ三択判定。B2は仮置き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横断影響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マスタ前提変更は PMI課題 Sinops非生鮮のPhase2 にも波及し得る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B3に波及バッファ。非生鮮Phase2契約額は据え置き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源・GCS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生鮮側サーバー→GCS。GCS無ければアップロードが必要（無い見込み）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確認・アップロードを本見積に含む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入荷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実績＝2系統ソース、予定＝生鮮基幹新規。非生鮮11/12の単純流用不可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Aで新規IF計上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勧告の連携先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生鮮発注統合直／自動発注経由は未確定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連携先変更時は再見積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棚割・在庫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SM vs 新棚割未確定。営業在庫の生鮮適用は未検証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方針確定・検証結果で再見積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本案前提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マスタ流用が概ね成立し、既存波及が限定的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この条件が崩れたら提示値は無効→再見積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58978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65911"/>
                </a:solidFill>
                <a:latin typeface="Yu Gothic"/>
              </a:rPr>
              <a:t>Excel「見積前提条件・注記」シートに全文あり。説明時は本頁を数字より先に置く。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3. 見積のブロック構成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A（先行トラン）は比較的確定。B（マスタ横断）が不確実性の本体。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3385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1188720"/>
                <a:gridCol w="1645920"/>
                <a:gridCol w="4572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#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ブロック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人日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金額（円）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リスク感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先行トラン（新規IF 4本）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100.5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3,070,000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中（P1+P2単価混在）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B1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マスタ棚卸・判定（必須）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35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1,400,000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高（Phase1単価40,000）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B2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マスタIF本体（仮置き）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1,402,500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最高（Phase2直接27,500）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B3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非生鮮Phase2（PMI課題）への波及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412,500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高（Phase2直接27,500）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直接小計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201.5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6,285,000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C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PJ管理（按分）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20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800,000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既存比率 50/499.5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合計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本見積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221.5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7,085,000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65911"/>
                </a:solidFill>
                <a:latin typeface="Yu Gothic"/>
              </a:rPr>
              <a:t>オレンジ相当の B1〜B3 が「見積リスクを数値化した場所」。A だけ見せるとリスクを過小評価する。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4. A｜先行トラン4本（比較的見えている範囲）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会議結論：非生鮮24/25・11/12の流用不可 → 新規IF必須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34440"/>
          <a:ext cx="115214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822960"/>
                <a:gridCol w="822960"/>
                <a:gridCol w="822960"/>
                <a:gridCol w="914400"/>
                <a:gridCol w="5029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IF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仮No.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Phase1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Layer①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Layer③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計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なぜ新規か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発注勧告（当日）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27.5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項目・ファイルが非生鮮と違う／連携先＝生鮮発注統合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発注勧告（翌日以降）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S25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4.5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14.0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3.0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21.5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未来スロット差分。当日と類似だが別行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入荷実績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4.0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29.0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2系統（PC/CK＝生鮮基幹、取引先＝MD基幹）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入荷予定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S12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6.0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14.0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生鮮基幹が新ソース。Layer①別作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A小計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24.5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62.0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14.0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100.5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Layer②＝0（全件）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65760" y="5029200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1F4E78"/>
                </a:solidFill>
                <a:latin typeface="Yu Gothic"/>
              </a:rPr>
              <a:t>A の見積リスク（本案で上振れを大きく載せない理由）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要件の骨格は 9/18 会議で先行確定。残リスクは項目精査・2系統合流設計・連携先経路の細部。本数確定前の大幅上振れは、B1判定後の再見積で扱う。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5. 最重要リスク｜生鮮専用マスタ（見積の心臓部）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ここを説明しないと、提示値は「根拠のない楽観」に見える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34440"/>
            <a:ext cx="5669280" cy="493776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37160"/>
          <a:lstStyle/>
          <a:p>
            <a:pPr algn="l"/>
            <a:r>
              <a:rPr sz="1600" b="1">
                <a:solidFill>
                  <a:srgbClr val="C65911"/>
                </a:solidFill>
                <a:latin typeface="Yu Gothic"/>
              </a:rPr>
              <a:t>何が未確定か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・生鮮は専用マスタを大量に持つ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・非生鮮の③変換ルールで足りるか未確認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・流用／差分／新規の本数が未確定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・影響は先行4本に閉じず Sinops 全体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・源：生鮮側サーバー→GCS（無い見込み）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・候補例：TM商品、店別差分、カテゴリ、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仕入先、停止フラグ、発注スケジュール、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棚割14／新商品在庫15 など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3444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見積上どう織り込んだか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B1 35人日＝判定そのもの（必須・並行着手）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一覧化／1本ずつ三択判定／既存影響／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GCSアップロード確認／ゲート資料・再見積更新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 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B2 51人日＝仮置き（3本×17人日想定）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→ B1後に確定値へ置換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 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B3 15人日＝非生鮮Phase2（PMI課題）への軽微波及バッファ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 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※ B を A と並行必須（後追いすると手戻り）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6. 非生鮮Phase2への波及リスク（B3）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PMI課題 Sinops非生鮮のPhase2。契約額は据え置き。手戻り工数は増分側に計上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34440"/>
          <a:ext cx="1170432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572000"/>
                <a:gridCol w="4572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既存IF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なぜ効くか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顕在化したときの姿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01/02 商品・店別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TM商品・停止・発注期間が生鮮専用の可能性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変換流用不可 → 別IF or 分岐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03/04 カテゴリ・仕入先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生鮮階層・仕入先体系が別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コード体系の再マッピング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05 ケースバラ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計量・パック差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パターン追加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13 発注スケジュール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締め・便・曜日が別源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Layer①ソース分岐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14/15 棚割・新商品在庫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店舗調達を使わない可能性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15個別対応／14ダミー可否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06–10 実績・在庫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営業在庫の生鮮適用未検証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計算前提の再確認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7. 判定ゲートと再見積トリガー（リスク管理の運用）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数字を固定契約にしすぎないための説明スライド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① B1 着手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A の Phase1 と並行
マスタ一覧・三択判定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② ゲート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流用／差分／新規の
本数を確定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③ B2 置換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仮置き51を
確定値へ書き換え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④ 手戻り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影響は B3 で吸収
超過なら再見積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3840480"/>
            <a:ext cx="11521440" cy="228600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l"/>
            <a:r>
              <a:rPr sz="1500" b="1">
                <a:solidFill>
                  <a:srgbClr val="C65911"/>
                </a:solidFill>
                <a:latin typeface="Yu Gothic"/>
              </a:rPr>
              <a:t>再見積を上げるトリガー（説明用）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・B1 判定で「新規／大幅差分」が本案の仮置き（≒3本）を明確に超える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・既存01–25のうち複数IFで再設計・再単体が必要（B3=15では足りない）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・GCSアップロード・生鮮側接続が想定より重い／連携先経路が会議前提から変わる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・目安：直接工数が本案想定を大きく超える場合は増分再見積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8. 含むもの／含まないもの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スコープ外を明示しないと、後から「全部入り」に読まれる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80160"/>
            <a:ext cx="5669280" cy="4846320"/>
          </a:xfrm>
          <a:prstGeom prst="roundRect">
            <a:avLst>
              <a:gd name="adj" fmla="val 8000"/>
            </a:avLst>
          </a:prstGeom>
          <a:solidFill>
            <a:srgbClr val="E2F0D9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548935"/>
                </a:solidFill>
                <a:latin typeface="Yu Gothic"/>
              </a:rPr>
              <a:t>含む（本案の範囲）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・調査用表・Mapping（Phase1）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・詳細設計・開発・単体（Phase2）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・先行トラン新規IF 4本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・マスタ棚卸・判定（B1）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・マスタIF仮置き（B2）と非生鮮Phase2波及（B3）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・増分PJ管理按分（C）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・生鮮マスタのGCSアップロード確認・作業前提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577840" cy="484632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C65911"/>
                </a:solidFill>
                <a:latin typeface="Yu Gothic"/>
              </a:rPr>
              <a:t>含まない（明示除外）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・結合・総合・移行・運用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・生鮮基幹／生鮮発注統合本体改修（先方）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・青果@rms／鮮魚市場EOS（自動補充対象外）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・共通基盤の二重構築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・PMI課題 Sinops非生鮮のPhase2・共通基盤43・既存PJ50の契約変更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・店舗系非生鮮Rの確定契約の読替え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9. 説明トーク（前提を先に言う）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数字の前に「不確実性の置き方」を置く。前提が崩れたら再見積。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3444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導入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23444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「生鮮は PMI課題 Sinops非生鮮のPhase2 の外の増分です。本日の提示は221.5人日／7,085,000円です。」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01168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前提先出し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01168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「ただし生鮮は不確実性が大きい。提示値は前提が成り立つ場合の工数で、確定請負ではありません。」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78892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最大変数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78892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「最大の変数は専用マスタです。流用可否・本数が未確定で、既存Sinops全体にも効きます。」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56616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本案の前提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56616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「本案はマスタ流用が概ね成立し、既存波及が限定的な場合の工数です。崩れたら再見積です。」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434340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仮置き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34340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「B2の51人日は仮置き。B1判定後に確定値へ置換します。」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12064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進め方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12064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「B1はAのPhase1と並行必須。ゲート後に確定させる進め方でお願いします。」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5897879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範囲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897879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「Phase2は詳細設計・開発・単体まで。結合以降は含みません。」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10.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本案を説明するとき、必ず一緒に伝える3点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3657600" cy="2377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① 提示値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221.5人日／¥7,085,000（税抜）
非生鮮Phase2（PMI課題）は据え置き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371600"/>
            <a:ext cx="3657600" cy="2377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② 見積前提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生鮮は不確実性が大
前提崩壊＝再見積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657600" cy="2377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③ 運用条件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B1並行 → 判定ゲート → B2置換
超過時は再見積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02336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l"/>
            <a:r>
              <a:rPr sz="1400" b="1">
                <a:solidFill>
                  <a:srgbClr val="C65911"/>
                </a:solidFill>
                <a:latin typeface="Yu Gothic"/>
              </a:rPr>
              <a:t>添付・参照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・【見積】生鮮IF増分_標準案_…_20260921.xlsx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・sources/20260918-自動補充PMI-生鮮IF会議/会議記録.md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・本フォルダ README.md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西友MD基幹統合｜生鮮IF増分見積（標準案）説明｜2026-09-21 Rev.e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