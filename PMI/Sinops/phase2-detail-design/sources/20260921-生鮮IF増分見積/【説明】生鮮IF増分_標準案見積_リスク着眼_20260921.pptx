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Yu Gothic"/>
              </a:rPr>
              <a:t>生鮮IF増分見積　説明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D6E3F0"/>
                </a:solidFill>
                <a:latin typeface="Yu Gothic"/>
              </a:rPr>
              <a:t>標準案｜調査・Mapping〜詳細設計・開発・単体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749039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FCE4D6"/>
                </a:solidFill>
                <a:latin typeface="Yu Gothic"/>
              </a:rPr>
              <a:t>160.5人日／¥5,120,000（税抜）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7150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Yu Gothic"/>
              </a:rPr>
              <a:t>西友MD基幹統合　／　Sinops 自動補充 PMI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200" b="0">
                <a:solidFill>
                  <a:srgbClr val="D6E3F0"/>
                </a:solidFill>
                <a:latin typeface="Yu Gothic"/>
              </a:rPr>
              <a:t>2026-09-30　出典：マスタデータ判定、標準案Excel、2026-09-18 生鮮IF会議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64592"/>
          <a:lstStyle/>
          <a:p>
            <a:pPr algn="l"/>
            <a:r>
              <a:rPr sz="2200" b="1">
                <a:solidFill>
                  <a:srgbClr val="FFFFFF"/>
                </a:solidFill>
                <a:latin typeface="Yu Gothic"/>
              </a:rPr>
              <a:t>1. 提示値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841248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Yu Gothic"/>
              </a:rPr>
              <a:t>生鮮増分のみ。非生鮮Phase2の契約額は据え置き。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371600"/>
            <a:ext cx="3657600" cy="1828800"/>
          </a:xfrm>
          <a:prstGeom prst="roundRect">
            <a:avLst>
              <a:gd name="adj" fmla="val 8000"/>
            </a:avLst>
          </a:prstGeom>
          <a:solidFill>
            <a:srgbClr val="D6E3F0"/>
          </a:solidFill>
          <a:ln>
            <a:solidFill>
              <a:srgbClr val="B0C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l"/>
            <a:r>
              <a:rPr sz="1300" b="1">
                <a:solidFill>
                  <a:srgbClr val="2E75B6"/>
                </a:solidFill>
                <a:latin typeface="Yu Gothic"/>
              </a:rPr>
              <a:t>人日</a:t>
            </a:r>
          </a:p>
          <a:p>
            <a:pPr algn="l">
              <a:spcBef>
                <a:spcPts val="800"/>
              </a:spcBef>
              <a:spcAft>
                <a:spcPts val="200"/>
              </a:spcAft>
            </a:pPr>
            <a:r>
              <a:rPr sz="2600" b="1">
                <a:solidFill>
                  <a:srgbClr val="1F4E78"/>
                </a:solidFill>
                <a:latin typeface="Yu Gothic"/>
              </a:rPr>
              <a:t>160.5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Yu Gothic"/>
              </a:rPr>
              <a:t>直接145.5（P1 41.5＋P2 104）＋PJ15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06240" y="1371600"/>
            <a:ext cx="3657600" cy="1828800"/>
          </a:xfrm>
          <a:prstGeom prst="roundRect">
            <a:avLst>
              <a:gd name="adj" fmla="val 8000"/>
            </a:avLst>
          </a:prstGeom>
          <a:solidFill>
            <a:srgbClr val="D6E3F0"/>
          </a:solidFill>
          <a:ln>
            <a:solidFill>
              <a:srgbClr val="B0C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l"/>
            <a:r>
              <a:rPr sz="1300" b="1">
                <a:solidFill>
                  <a:srgbClr val="2E75B6"/>
                </a:solidFill>
                <a:latin typeface="Yu Gothic"/>
              </a:rPr>
              <a:t>金額（税抜）</a:t>
            </a:r>
          </a:p>
          <a:p>
            <a:pPr algn="l">
              <a:spcBef>
                <a:spcPts val="800"/>
              </a:spcBef>
              <a:spcAft>
                <a:spcPts val="200"/>
              </a:spcAft>
            </a:pPr>
            <a:r>
              <a:rPr sz="2600" b="1">
                <a:solidFill>
                  <a:srgbClr val="1F4E78"/>
                </a:solidFill>
                <a:latin typeface="Yu Gothic"/>
              </a:rPr>
              <a:t>¥5,120,000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Yu Gothic"/>
              </a:rPr>
              <a:t>Phase1 4万／Phase2 2.75万／PJ 4万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371600"/>
            <a:ext cx="3657600" cy="1828800"/>
          </a:xfrm>
          <a:prstGeom prst="roundRect">
            <a:avLst>
              <a:gd name="adj" fmla="val 8000"/>
            </a:avLst>
          </a:prstGeom>
          <a:solidFill>
            <a:srgbClr val="D6E3F0"/>
          </a:solidFill>
          <a:ln>
            <a:solidFill>
              <a:srgbClr val="B0C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l"/>
            <a:r>
              <a:rPr sz="1300" b="1">
                <a:solidFill>
                  <a:srgbClr val="2E75B6"/>
                </a:solidFill>
                <a:latin typeface="Yu Gothic"/>
              </a:rPr>
              <a:t>前提</a:t>
            </a:r>
          </a:p>
          <a:p>
            <a:pPr algn="l">
              <a:spcBef>
                <a:spcPts val="800"/>
              </a:spcBef>
              <a:spcAft>
                <a:spcPts val="200"/>
              </a:spcAft>
            </a:pPr>
            <a:r>
              <a:rPr sz="2600" b="1">
                <a:solidFill>
                  <a:srgbClr val="1F4E78"/>
                </a:solidFill>
                <a:latin typeface="Yu Gothic"/>
              </a:rPr>
              <a:t>流用は未確認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Yu Gothic"/>
              </a:rPr>
              <a:t>先方協議の結果を仮置き。B1で突合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3474720"/>
            <a:ext cx="11430000" cy="2651760"/>
          </a:xfrm>
          <a:prstGeom prst="roundRect">
            <a:avLst>
              <a:gd name="adj" fmla="val 8000"/>
            </a:avLst>
          </a:prstGeom>
          <a:solidFill>
            <a:srgbClr val="FCE4D6"/>
          </a:solidFill>
          <a:ln>
            <a:solidFill>
              <a:srgbClr val="B0C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 algn="l"/>
            <a:r>
              <a:rPr sz="1500" b="1">
                <a:solidFill>
                  <a:srgbClr val="C65911"/>
                </a:solidFill>
                <a:latin typeface="Yu Gothic"/>
              </a:rPr>
              <a:t>先に伝えること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・確定請負ではない。突合で覆ったら再見積。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・店舗系12本は先方協議では流用（当社未同席）。勧告2ファイルは1.5本。発注統合変換は新規。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・B2は0。倉庫は対象外。水煮相当（倉庫商品マスタ）は残件。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・非生鮮Phase2の契約額は動かさない。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Yu Gothic"/>
              </a:rPr>
              <a:t>西友MD基幹統合｜生鮮IF増分見積｜2026-09-30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53796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Yu Gothic"/>
              </a:rPr>
              <a:t>2/11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64592"/>
          <a:lstStyle/>
          <a:p>
            <a:pPr algn="l"/>
            <a:r>
              <a:rPr sz="2200" b="1">
                <a:solidFill>
                  <a:srgbClr val="FFFFFF"/>
                </a:solidFill>
                <a:latin typeface="Yu Gothic"/>
              </a:rPr>
              <a:t>2. 前提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841248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Yu Gothic"/>
              </a:rPr>
              <a:t>店舗系12本は先方協議では流用。当社未同席。確定請負ではない。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28600" y="1188720"/>
          <a:ext cx="1179576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5669280"/>
                <a:gridCol w="475488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区分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内容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見積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マスタ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先方協議では非生鮮と同じ。当社未同席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本体IFなし。B1で突合</a:t>
                      </a:r>
                    </a:p>
                  </a:txBody>
                  <a:tcPr anchor="ctr"/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波及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流用が覆ると非生鮮Phase2にも効き得る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B3に5人日。契約額は据え置き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GCS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生鮮側サーバー→GCS。無い見込み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確認と必要時のアップロードを含む</a:t>
                      </a:r>
                    </a:p>
                  </a:txBody>
                  <a:tcPr anchor="ctr"/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入荷・日程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ベンダー流用。PC/CKは別SQLからDBGET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Aの差分。Layer①に待ち合わせ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勧告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現行の生鮮→統合IFは使わない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Aで変換IFを新規</a:t>
                      </a:r>
                    </a:p>
                  </a:txBody>
                  <a:tcPr anchor="ctr"/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倉庫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DC在庫なし。水煮相当は残件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対象外。要IFなら再見積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589788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C65911"/>
                </a:solidFill>
                <a:latin typeface="Yu Gothic"/>
              </a:rPr>
              <a:t>明細は Excel「見積前提条件」シート。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Yu Gothic"/>
              </a:rPr>
              <a:t>西友MD基幹統合｜生鮮IF増分見積｜2026-09-30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3796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Yu Gothic"/>
              </a:rPr>
              <a:t>3/11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64592"/>
          <a:lstStyle/>
          <a:p>
            <a:pPr algn="l"/>
            <a:r>
              <a:rPr sz="2200" b="1">
                <a:solidFill>
                  <a:srgbClr val="FFFFFF"/>
                </a:solidFill>
                <a:latin typeface="Yu Gothic"/>
              </a:rPr>
              <a:t>3. ブロック構成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841248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Yu Gothic"/>
              </a:rPr>
              <a:t>Aが本体。B2は0。入荷予定・発注スケジュールにDBGETを加算。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280160"/>
          <a:ext cx="11338560" cy="2340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560320"/>
                <a:gridCol w="1005840"/>
                <a:gridCol w="1463040"/>
                <a:gridCol w="32004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Yu Gothic"/>
                        </a:rPr>
                        <a:t>ブロック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Yu Gothic"/>
                        </a:rPr>
                        <a:t>内訳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Yu Gothic"/>
                        </a:rPr>
                        <a:t>人日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Yu Gothic"/>
                        </a:rPr>
                        <a:t>金額（円）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Yu Gothic"/>
                        </a:rPr>
                        <a:t>備考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A（新規／差分IF）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勧告1.5＋変換1＋入荷2＋日程1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125.5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3,782,500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入荷予定・発注スケジュールにDBGET</a:t>
                      </a:r>
                    </a:p>
                  </a:txBody>
                  <a:tcPr anchor="ctr"/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B1（流用確認・残件）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突合・倉庫対象外・GCS・水煮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15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600,000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Phase1単価4万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B2（マスタ本体IF）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先方協議では流用。当社未確認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仮置き</a:t>
                      </a:r>
                    </a:p>
                  </a:txBody>
                  <a:tcPr anchor="ctr"/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B3（非生鮮Phase2波及）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伝票区分・振替の軽微注記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5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137,500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Phase2直接2.75万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直接小計（A＋B1＋B2＋B3）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145.5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4,520,000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/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C（PJ管理按分）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直接×50／499.5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15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600,000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既存比率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合計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160.5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5,120,000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580644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2F2F2F"/>
                </a:solidFill>
                <a:latin typeface="Yu Gothic"/>
              </a:rPr>
              <a:t>B1〜B3は確認・残件・波及。Aだけ見せると残件が見えない。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Yu Gothic"/>
              </a:rPr>
              <a:t>西友MD基幹統合｜生鮮IF増分見積｜2026-09-30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3796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Yu Gothic"/>
              </a:rPr>
              <a:t>4/11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64592"/>
          <a:lstStyle/>
          <a:p>
            <a:pPr algn="l"/>
            <a:r>
              <a:rPr sz="2200" b="1">
                <a:solidFill>
                  <a:srgbClr val="FFFFFF"/>
                </a:solidFill>
                <a:latin typeface="Yu Gothic"/>
              </a:rPr>
              <a:t>4. A（新規／差分IF）｜勧告は1.5本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841248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Yu Gothic"/>
              </a:rPr>
              <a:t>当日1本＋翌日0.5本。発注統合変換は別1本。入荷・日程は差分。S番号は仮採番。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234440"/>
          <a:ext cx="11521440" cy="2340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914400"/>
                <a:gridCol w="914400"/>
                <a:gridCol w="914400"/>
                <a:gridCol w="914400"/>
                <a:gridCol w="42062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IF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Phase1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Layer①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Layer③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計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備考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発注勧告（当日）S24（仮採番）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5.0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17.0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4.5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26.5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1.0本</a:t>
                      </a:r>
                    </a:p>
                  </a:txBody>
                  <a:tcPr anchor="ctr"/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発注勧告（翌日以降）S25（仮採番）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2.5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8.5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2.5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13.5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当日類似。0.5本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勧告→発注統合変換 S26（仮採番）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5.0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14.0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3.0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22.0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現行生鮮→統合IFは使わない</a:t>
                      </a:r>
                    </a:p>
                  </a:txBody>
                  <a:tcPr anchor="ctr"/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入荷実績 S11（仮採番）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4.0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12.0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2.5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18.5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伝票区分差分＋PC/CK振替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入荷予定 S12（仮採番）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5.0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15.0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2.5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22.5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PC/CKは別SQL。DBGET＋待ち合わせ</a:t>
                      </a:r>
                    </a:p>
                  </a:txBody>
                  <a:tcPr anchor="ctr"/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発注スケジュール S13（仮採番）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5.0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15.0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2.5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22.5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PC/CKは別SQL。DBGET＋待ち合わせ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A小計</a:t>
                      </a:r>
                    </a:p>
                  </a:txBody>
                  <a:tcPr anchor="ctr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26.5</a:t>
                      </a:r>
                    </a:p>
                  </a:txBody>
                  <a:tcPr anchor="ctr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81.5</a:t>
                      </a:r>
                    </a:p>
                  </a:txBody>
                  <a:tcPr anchor="ctr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17.5</a:t>
                      </a:r>
                    </a:p>
                  </a:txBody>
                  <a:tcPr anchor="ctr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125.5</a:t>
                      </a:r>
                    </a:p>
                  </a:txBody>
                  <a:tcPr anchor="ctr"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F2F2F"/>
                          </a:solidFill>
                          <a:latin typeface="Yu Gothic"/>
                        </a:rPr>
                        <a:t>勧告2ファイル＝1.5本。Layer②＝0</a:t>
                      </a:r>
                    </a:p>
                  </a:txBody>
                  <a:tcPr anchor="ctr">
                    <a:solidFill>
                      <a:srgbClr val="E2F0D9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365760" y="5029200"/>
            <a:ext cx="11430000" cy="1234440"/>
          </a:xfrm>
          <a:prstGeom prst="roundRect">
            <a:avLst>
              <a:gd name="adj" fmla="val 8000"/>
            </a:avLst>
          </a:prstGeom>
          <a:solidFill>
            <a:srgbClr val="D6E3F0"/>
          </a:solidFill>
          <a:ln>
            <a:solidFill>
              <a:srgbClr val="B0C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1F4E78"/>
                </a:solidFill>
                <a:latin typeface="Yu Gothic"/>
              </a:rPr>
              <a:t>Aの上振れを大きく載せていない理由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300" b="0">
                <a:solidFill>
                  <a:srgbClr val="2F2F2F"/>
                </a:solidFill>
                <a:latin typeface="Yu Gothic"/>
              </a:rPr>
              <a:t>要件の骨格は 9/18 会議。本数は 9/29。残件は項目精査・伝票区分・GCS、発注統合レイアウト差、入荷予定・発注スケジュールのSQLと作成時刻。覆りは再見積。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Yu Gothic"/>
              </a:rPr>
              <a:t>西友MD基幹統合｜生鮮IF増分見積｜2026-09-30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3796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Yu Gothic"/>
              </a:rPr>
              <a:t>5/11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64592"/>
          <a:lstStyle/>
          <a:p>
            <a:pPr algn="l"/>
            <a:r>
              <a:rPr sz="2200" b="1">
                <a:solidFill>
                  <a:srgbClr val="FFFFFF"/>
                </a:solidFill>
                <a:latin typeface="Yu Gothic"/>
              </a:rPr>
              <a:t>5. 流用は未確認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841248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Yu Gothic"/>
              </a:rPr>
              <a:t>先方協議では12本流用可。当社未同席。残件はGCS・伝票区分・水煮・SQL作成時刻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234440"/>
            <a:ext cx="5669280" cy="4937760"/>
          </a:xfrm>
          <a:prstGeom prst="roundRect">
            <a:avLst>
              <a:gd name="adj" fmla="val 8000"/>
            </a:avLst>
          </a:prstGeom>
          <a:solidFill>
            <a:srgbClr val="FCE4D6"/>
          </a:solidFill>
          <a:ln>
            <a:solidFill>
              <a:srgbClr val="B0C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37160"/>
          <a:lstStyle/>
          <a:p>
            <a:pPr algn="l"/>
            <a:r>
              <a:rPr sz="1600" b="1">
                <a:solidFill>
                  <a:srgbClr val="C65911"/>
                </a:solidFill>
                <a:latin typeface="Yu Gothic"/>
              </a:rPr>
              <a:t>判定で決まったこと</a:t>
            </a:r>
          </a:p>
          <a:p>
            <a:pPr algn="l">
              <a:spcBef>
                <a:spcPts val="8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・店舗系12本は先方協議では非生鮮と同じ（流用）。当社は未同席</a:t>
            </a:r>
          </a:p>
          <a:p>
            <a:pPr algn="l">
              <a:spcBef>
                <a:spcPts val="8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・本体IFは置かない（B2＝0）</a:t>
            </a:r>
          </a:p>
          <a:p>
            <a:pPr algn="l">
              <a:spcBef>
                <a:spcPts val="8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・勧告ファイル2本は新規。発注統合変換も新規</a:t>
            </a:r>
          </a:p>
          <a:p>
            <a:pPr algn="l">
              <a:spcBef>
                <a:spcPts val="8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・入荷・スケジュールはベンダー流用＋差分</a:t>
            </a:r>
          </a:p>
          <a:p>
            <a:pPr algn="l">
              <a:spcBef>
                <a:spcPts val="8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・倉庫系はDC在庫なしで対象外</a:t>
            </a:r>
          </a:p>
          <a:p>
            <a:pPr algn="l">
              <a:spcBef>
                <a:spcPts val="8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・影響は先行IFに閉じないが、</a:t>
            </a:r>
          </a:p>
          <a:p>
            <a:pPr algn="l">
              <a:spcBef>
                <a:spcPts val="8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　流用前提が覆ったときだけ横断が増える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234440"/>
            <a:ext cx="5577840" cy="4937760"/>
          </a:xfrm>
          <a:prstGeom prst="roundRect">
            <a:avLst>
              <a:gd name="adj" fmla="val 8000"/>
            </a:avLst>
          </a:prstGeom>
          <a:solidFill>
            <a:srgbClr val="D6E3F0"/>
          </a:solidFill>
          <a:ln>
            <a:solidFill>
              <a:srgbClr val="B0C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37160"/>
          <a:lstStyle/>
          <a:p>
            <a:pPr algn="l"/>
            <a:r>
              <a:rPr sz="1600" b="1">
                <a:solidFill>
                  <a:srgbClr val="1F4E78"/>
                </a:solidFill>
                <a:latin typeface="Yu Gothic"/>
              </a:rPr>
              <a:t>見積上どう織り込んだか</a:t>
            </a:r>
          </a:p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B1（流用確認・残件） 15人日＝突合と残件</a:t>
            </a:r>
          </a:p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　流用12本突合8／倉庫対象外2／</a:t>
            </a:r>
          </a:p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　GCS確認3／水煮残件2</a:t>
            </a:r>
          </a:p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 </a:t>
            </a:r>
          </a:p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B2（マスタ本体IF） 0人日</a:t>
            </a:r>
          </a:p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 </a:t>
            </a:r>
          </a:p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B3（非生鮮Phase2波及） 5人日＝伝票区分・振替の軽微注記</a:t>
            </a:r>
          </a:p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 </a:t>
            </a:r>
          </a:p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※ 覆ったらリスク込み案で再見積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Yu Gothic"/>
              </a:rPr>
              <a:t>西友MD基幹統合｜生鮮IF増分見積｜2026-09-30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3796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Yu Gothic"/>
              </a:rPr>
              <a:t>6/11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64592"/>
          <a:lstStyle/>
          <a:p>
            <a:pPr algn="l"/>
            <a:r>
              <a:rPr sz="2200" b="1">
                <a:solidFill>
                  <a:srgbClr val="FFFFFF"/>
                </a:solidFill>
                <a:latin typeface="Yu Gothic"/>
              </a:rPr>
              <a:t>6. B3（非生鮮Phase2波及）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841248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Yu Gothic"/>
              </a:rPr>
              <a:t>非生鮮Phase2の契約額は据え置き。手戻りは増分側に計上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234440"/>
          <a:ext cx="11704320" cy="2340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572000"/>
                <a:gridCol w="45720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Yu Gothic"/>
                        </a:rPr>
                        <a:t>対象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Yu Gothic"/>
                        </a:rPr>
                        <a:t>なぜ効くか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Yu Gothic"/>
                        </a:rPr>
                        <a:t>見積上の扱い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店舗系マスタ・実績12本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先方協議では非生鮮と同じ。当社未確認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流用仮置き。本体IFなし。B1で突合</a:t>
                      </a:r>
                    </a:p>
                  </a:txBody>
                  <a:tcPr anchor="ctr"/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入荷実績 S11（仮採番）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伝票区分差分／PC・CK振替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A 差分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入荷予定 S12（仮採番）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ベンダー同じ／PC・CKは別SQL・DBGET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A 差分。Layer①に加算</a:t>
                      </a:r>
                    </a:p>
                  </a:txBody>
                  <a:tcPr anchor="ctr"/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発注スケジュール S13（仮採番）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ベンダー同じ／PC・CKは別SQL・DBGET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A 差分。Layer①に加算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発注勧告 当日・翌日 S24／S25（仮採番）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2ファイル／1.5本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当日1本、翌日0.5本</a:t>
                      </a:r>
                    </a:p>
                  </a:txBody>
                  <a:tcPr anchor="ctr"/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勧告→発注統合 S26（仮採番）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現行生鮮IFは流用不可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A 新規。参照は非生鮮発注勧告</a:t>
                      </a:r>
                    </a:p>
                  </a:txBody>
                  <a:tcPr anchor="ctr">
                    <a:solidFill>
                      <a:srgbClr val="F5F8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倉庫系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DC在庫なし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F2F2F"/>
                          </a:solidFill>
                          <a:latin typeface="Yu Gothic"/>
                        </a:rPr>
                        <a:t>対象外。水煮相当は午後MT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Yu Gothic"/>
              </a:rPr>
              <a:t>西友MD基幹統合｜生鮮IF増分見積｜2026-09-30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53796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Yu Gothic"/>
              </a:rPr>
              <a:t>7/11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64592"/>
          <a:lstStyle/>
          <a:p>
            <a:pPr algn="l"/>
            <a:r>
              <a:rPr sz="2200" b="1">
                <a:solidFill>
                  <a:srgbClr val="FFFFFF"/>
                </a:solidFill>
                <a:latin typeface="Yu Gothic"/>
              </a:rPr>
              <a:t>7. 進め方と再見積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841248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Yu Gothic"/>
              </a:rPr>
              <a:t>提示値は確定請負ではない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371600"/>
            <a:ext cx="2788920" cy="2194560"/>
          </a:xfrm>
          <a:prstGeom prst="roundRect">
            <a:avLst>
              <a:gd name="adj" fmla="val 8000"/>
            </a:avLst>
          </a:prstGeom>
          <a:solidFill>
            <a:srgbClr val="D6E3F0"/>
          </a:solidFill>
          <a:ln>
            <a:solidFill>
              <a:srgbClr val="B0C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l"/>
            <a:r>
              <a:rPr sz="1600" b="1">
                <a:solidFill>
                  <a:srgbClr val="1F4E78"/>
                </a:solidFill>
                <a:latin typeface="Yu Gothic"/>
              </a:rPr>
              <a:t>① B1（流用確認・残件）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300" b="0">
                <a:solidFill>
                  <a:srgbClr val="2F2F2F"/>
                </a:solidFill>
                <a:latin typeface="Yu Gothic"/>
              </a:rPr>
              <a:t>流用12本の突合
倉庫対象外の整理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91840" y="1371600"/>
            <a:ext cx="2788920" cy="2194560"/>
          </a:xfrm>
          <a:prstGeom prst="roundRect">
            <a:avLst>
              <a:gd name="adj" fmla="val 8000"/>
            </a:avLst>
          </a:prstGeom>
          <a:solidFill>
            <a:srgbClr val="D6E3F0"/>
          </a:solidFill>
          <a:ln>
            <a:solidFill>
              <a:srgbClr val="B0C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l"/>
            <a:r>
              <a:rPr sz="1600" b="1">
                <a:solidFill>
                  <a:srgbClr val="1F4E78"/>
                </a:solidFill>
                <a:latin typeface="Yu Gothic"/>
              </a:rPr>
              <a:t>② A（新規／差分IF）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300" b="0">
                <a:solidFill>
                  <a:srgbClr val="2F2F2F"/>
                </a:solidFill>
                <a:latin typeface="Yu Gothic"/>
              </a:rPr>
              <a:t>差分／新規6本は
Mappingから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71600"/>
            <a:ext cx="2788920" cy="2194560"/>
          </a:xfrm>
          <a:prstGeom prst="roundRect">
            <a:avLst>
              <a:gd name="adj" fmla="val 8000"/>
            </a:avLst>
          </a:prstGeom>
          <a:solidFill>
            <a:srgbClr val="D6E3F0"/>
          </a:solidFill>
          <a:ln>
            <a:solidFill>
              <a:srgbClr val="B0C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l"/>
            <a:r>
              <a:rPr sz="1600" b="1">
                <a:solidFill>
                  <a:srgbClr val="1F4E78"/>
                </a:solidFill>
                <a:latin typeface="Yu Gothic"/>
              </a:rPr>
              <a:t>③ B2（マスタ本体IF）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300" b="0">
                <a:solidFill>
                  <a:srgbClr val="2F2F2F"/>
                </a:solidFill>
                <a:latin typeface="Yu Gothic"/>
              </a:rPr>
              <a:t>本体IFは0のまま
覆ったら再見積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35440" y="1371600"/>
            <a:ext cx="2788920" cy="2194560"/>
          </a:xfrm>
          <a:prstGeom prst="roundRect">
            <a:avLst>
              <a:gd name="adj" fmla="val 8000"/>
            </a:avLst>
          </a:prstGeom>
          <a:solidFill>
            <a:srgbClr val="D6E3F0"/>
          </a:solidFill>
          <a:ln>
            <a:solidFill>
              <a:srgbClr val="B0C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l"/>
            <a:r>
              <a:rPr sz="1600" b="1">
                <a:solidFill>
                  <a:srgbClr val="1F4E78"/>
                </a:solidFill>
                <a:latin typeface="Yu Gothic"/>
              </a:rPr>
              <a:t>④ 手戻り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300" b="0">
                <a:solidFill>
                  <a:srgbClr val="2F2F2F"/>
                </a:solidFill>
                <a:latin typeface="Yu Gothic"/>
              </a:rPr>
              <a:t>軽微は B3＝5人日
超過なら再見積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3840480"/>
            <a:ext cx="11521440" cy="2286000"/>
          </a:xfrm>
          <a:prstGeom prst="roundRect">
            <a:avLst>
              <a:gd name="adj" fmla="val 8000"/>
            </a:avLst>
          </a:prstGeom>
          <a:solidFill>
            <a:srgbClr val="FCE4D6"/>
          </a:solidFill>
          <a:ln>
            <a:solidFill>
              <a:srgbClr val="B0C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 algn="l"/>
            <a:r>
              <a:rPr sz="1500" b="1">
                <a:solidFill>
                  <a:srgbClr val="C65911"/>
                </a:solidFill>
                <a:latin typeface="Yu Gothic"/>
              </a:rPr>
              <a:t>再見積になるとき</a:t>
            </a:r>
          </a:p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300" b="0">
                <a:solidFill>
                  <a:srgbClr val="2F2F2F"/>
                </a:solidFill>
                <a:latin typeface="Yu Gothic"/>
              </a:rPr>
              <a:t>・流用12本の一部が差分／新規に戻る</a:t>
            </a:r>
          </a:p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300" b="0">
                <a:solidFill>
                  <a:srgbClr val="2F2F2F"/>
                </a:solidFill>
                <a:latin typeface="Yu Gothic"/>
              </a:rPr>
              <a:t>・倉庫商品マスタ（水煮相当）が要IF（午後MT）</a:t>
            </a:r>
          </a:p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300" b="0">
                <a:solidFill>
                  <a:srgbClr val="2F2F2F"/>
                </a:solidFill>
                <a:latin typeface="Yu Gothic"/>
              </a:rPr>
              <a:t>・GCSアップロード・接続が想定より重い／伝票区分差分が大きい</a:t>
            </a:r>
          </a:p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300" b="0">
                <a:solidFill>
                  <a:srgbClr val="2F2F2F"/>
                </a:solidFill>
                <a:latin typeface="Yu Gothic"/>
              </a:rPr>
              <a:t>・入荷予定・発注スケジュールのSQL接続が重い、生鮮データの作成時刻が待ち合わせでは収まらない</a:t>
            </a:r>
          </a:p>
          <a:p>
            <a:pPr algn="l">
              <a:spcBef>
                <a:spcPts val="500"/>
              </a:spcBef>
              <a:spcAft>
                <a:spcPts val="200"/>
              </a:spcAft>
            </a:pPr>
            <a:r>
              <a:rPr sz="1300" b="0">
                <a:solidFill>
                  <a:srgbClr val="2F2F2F"/>
                </a:solidFill>
                <a:latin typeface="Yu Gothic"/>
              </a:rPr>
              <a:t>・直接工数が本案想定を大きく超える場合は増分再見積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Yu Gothic"/>
              </a:rPr>
              <a:t>西友MD基幹統合｜生鮮IF増分見積｜2026-09-30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53796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Yu Gothic"/>
              </a:rPr>
              <a:t>8/11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64592"/>
          <a:lstStyle/>
          <a:p>
            <a:pPr algn="l"/>
            <a:r>
              <a:rPr sz="2200" b="1">
                <a:solidFill>
                  <a:srgbClr val="FFFFFF"/>
                </a:solidFill>
                <a:latin typeface="Yu Gothic"/>
              </a:rPr>
              <a:t>8. 含むもの／含まないもの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841248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Yu Gothic"/>
              </a:rPr>
              <a:t>Phase2は詳細設計・開発・単体まで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280160"/>
            <a:ext cx="5669280" cy="4846320"/>
          </a:xfrm>
          <a:prstGeom prst="roundRect">
            <a:avLst>
              <a:gd name="adj" fmla="val 8000"/>
            </a:avLst>
          </a:prstGeom>
          <a:solidFill>
            <a:srgbClr val="E2F0D9"/>
          </a:solidFill>
          <a:ln>
            <a:solidFill>
              <a:srgbClr val="B0C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600" b="1">
                <a:solidFill>
                  <a:srgbClr val="548935"/>
                </a:solidFill>
                <a:latin typeface="Yu Gothic"/>
              </a:rPr>
              <a:t>含む</a:t>
            </a:r>
          </a:p>
          <a:p>
            <a:pPr algn="l">
              <a:spcBef>
                <a:spcPts val="8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・調査用表・①②③ Mapping（Phase1）</a:t>
            </a:r>
          </a:p>
          <a:p>
            <a:pPr algn="l">
              <a:spcBef>
                <a:spcPts val="8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・詳細設計・開発・単体（Phase2）</a:t>
            </a:r>
          </a:p>
          <a:p>
            <a:pPr algn="l">
              <a:spcBef>
                <a:spcPts val="8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・Aの6本（勧告・変換・入荷・日程）</a:t>
            </a:r>
          </a:p>
          <a:p>
            <a:pPr algn="l">
              <a:spcBef>
                <a:spcPts val="8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・流用突合・倉庫対象外整理（B1）</a:t>
            </a:r>
          </a:p>
          <a:p>
            <a:pPr algn="l">
              <a:spcBef>
                <a:spcPts val="8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・B2＝0。軽微波及（B3）</a:t>
            </a:r>
          </a:p>
          <a:p>
            <a:pPr algn="l">
              <a:spcBef>
                <a:spcPts val="8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・PJ管理按分（C）</a:t>
            </a:r>
          </a:p>
          <a:p>
            <a:pPr algn="l">
              <a:spcBef>
                <a:spcPts val="8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・生鮮マスタのGCS確認・作業前提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280160"/>
            <a:ext cx="5577840" cy="4846320"/>
          </a:xfrm>
          <a:prstGeom prst="roundRect">
            <a:avLst>
              <a:gd name="adj" fmla="val 8000"/>
            </a:avLst>
          </a:prstGeom>
          <a:solidFill>
            <a:srgbClr val="FCE4D6"/>
          </a:solidFill>
          <a:ln>
            <a:solidFill>
              <a:srgbClr val="B0C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600" b="1">
                <a:solidFill>
                  <a:srgbClr val="C65911"/>
                </a:solidFill>
                <a:latin typeface="Yu Gothic"/>
              </a:rPr>
              <a:t>含まない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・結合・総合・移行・運用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・生鮮基幹／生鮮発注統合本体改修（先方）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・青果@rms／鮮魚市場EOS（自動補充対象外）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・共通基盤の二重構築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・倉庫系（DC在庫なし）</a:t>
            </a:r>
          </a:p>
          <a:p>
            <a:pPr algn="l">
              <a:spcBef>
                <a:spcPts val="10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・非生鮮Phase2・共通基盤43・既存PJ50の契約変更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Yu Gothic"/>
              </a:rPr>
              <a:t>西友MD基幹統合｜生鮮IF増分見積｜2026-09-30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3796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Yu Gothic"/>
              </a:rPr>
              <a:t>9/11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64592"/>
          <a:lstStyle/>
          <a:p>
            <a:pPr algn="l"/>
            <a:r>
              <a:rPr sz="2200" b="1">
                <a:solidFill>
                  <a:srgbClr val="FFFFFF"/>
                </a:solidFill>
                <a:latin typeface="Yu Gothic"/>
              </a:rPr>
              <a:t>9. 話し方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841248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Yu Gothic"/>
              </a:rPr>
              <a:t>数字の前に前提。崩れたら再見積。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234440"/>
            <a:ext cx="1554480" cy="658368"/>
          </a:xfrm>
          <a:prstGeom prst="roundRect">
            <a:avLst>
              <a:gd name="adj" fmla="val 20000"/>
            </a:avLst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導入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234440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2F2F2F"/>
                </a:solidFill>
                <a:latin typeface="Yu Gothic"/>
              </a:rPr>
              <a:t>生鮮は非生鮮Phase2の外の増分。提示は160.5人日／512万円（税抜）。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2011680"/>
            <a:ext cx="1554480" cy="658368"/>
          </a:xfrm>
          <a:prstGeom prst="roundRect">
            <a:avLst>
              <a:gd name="adj" fmla="val 20000"/>
            </a:avLst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前提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2011680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2F2F2F"/>
                </a:solidFill>
                <a:latin typeface="Yu Gothic"/>
              </a:rPr>
              <a:t>流用は先方協議の仮置き。当社未同席。確定請負ではない。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2788920"/>
            <a:ext cx="1554480" cy="658368"/>
          </a:xfrm>
          <a:prstGeom prst="roundRect">
            <a:avLst>
              <a:gd name="adj" fmla="val 20000"/>
            </a:avLst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判定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788920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2F2F2F"/>
                </a:solidFill>
                <a:latin typeface="Yu Gothic"/>
              </a:rPr>
              <a:t>店舗系12本は流用前提でB1突合。勧告2ファイルは1.5本。発注統合変換は新規。入荷・日程は差分。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566160"/>
            <a:ext cx="1554480" cy="658368"/>
          </a:xfrm>
          <a:prstGeom prst="roundRect">
            <a:avLst>
              <a:gd name="adj" fmla="val 20000"/>
            </a:avLst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覆り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3566160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2F2F2F"/>
                </a:solidFill>
                <a:latin typeface="Yu Gothic"/>
              </a:rPr>
              <a:t>流用が覆ったら本日の数字は無効。再見積。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" y="4343400"/>
            <a:ext cx="1554480" cy="658368"/>
          </a:xfrm>
          <a:prstGeom prst="roundRect">
            <a:avLst>
              <a:gd name="adj" fmla="val 20000"/>
            </a:avLst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B2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4343400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2F2F2F"/>
                </a:solidFill>
                <a:latin typeface="Yu Gothic"/>
              </a:rPr>
              <a:t>マスタ本体IFは0。水煮相当は午後MTの残件。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" y="5120640"/>
            <a:ext cx="1554480" cy="658368"/>
          </a:xfrm>
          <a:prstGeom prst="roundRect">
            <a:avLst>
              <a:gd name="adj" fmla="val 20000"/>
            </a:avLst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進め方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5120640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2F2F2F"/>
                </a:solidFill>
                <a:latin typeface="Yu Gothic"/>
              </a:rPr>
              <a:t>12本は突合、6本はMappingから。B2は0のまま。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0040" y="5897879"/>
            <a:ext cx="1554480" cy="658368"/>
          </a:xfrm>
          <a:prstGeom prst="roundRect">
            <a:avLst>
              <a:gd name="adj" fmla="val 20000"/>
            </a:avLst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範囲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5897879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2F2F2F"/>
                </a:solidFill>
                <a:latin typeface="Yu Gothic"/>
              </a:rPr>
              <a:t>Phase2は詳細設計・開発・単体まで。結合以降は含まない。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Yu Gothic"/>
              </a:rPr>
              <a:t>西友MD基幹統合｜生鮮IF増分見積｜2026-09-30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53796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Yu Gothic"/>
              </a:rPr>
              <a:t>10/11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64592"/>
          <a:lstStyle/>
          <a:p>
            <a:pPr algn="l"/>
            <a:r>
              <a:rPr sz="2200" b="1">
                <a:solidFill>
                  <a:srgbClr val="FFFFFF"/>
                </a:solidFill>
                <a:latin typeface="Yu Gothic"/>
              </a:rPr>
              <a:t>10. まとめ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371600"/>
            <a:ext cx="3657600" cy="2377440"/>
          </a:xfrm>
          <a:prstGeom prst="roundRect">
            <a:avLst>
              <a:gd name="adj" fmla="val 8000"/>
            </a:avLst>
          </a:prstGeom>
          <a:solidFill>
            <a:srgbClr val="D6E3F0"/>
          </a:solidFill>
          <a:ln>
            <a:solidFill>
              <a:srgbClr val="B0C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l"/>
            <a:r>
              <a:rPr sz="1600" b="1">
                <a:solidFill>
                  <a:srgbClr val="1F4E78"/>
                </a:solidFill>
                <a:latin typeface="Yu Gothic"/>
              </a:rPr>
              <a:t>① 提示値</a:t>
            </a:r>
          </a:p>
          <a:p>
            <a:pPr algn="l">
              <a:spcBef>
                <a:spcPts val="12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160.5人日／¥5,120,000（税抜）
非生鮮Phase2は据え置き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06240" y="1371600"/>
            <a:ext cx="3657600" cy="2377440"/>
          </a:xfrm>
          <a:prstGeom prst="roundRect">
            <a:avLst>
              <a:gd name="adj" fmla="val 8000"/>
            </a:avLst>
          </a:prstGeom>
          <a:solidFill>
            <a:srgbClr val="D6E3F0"/>
          </a:solidFill>
          <a:ln>
            <a:solidFill>
              <a:srgbClr val="B0C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l"/>
            <a:r>
              <a:rPr sz="1600" b="1">
                <a:solidFill>
                  <a:srgbClr val="1F4E78"/>
                </a:solidFill>
                <a:latin typeface="Yu Gothic"/>
              </a:rPr>
              <a:t>② 前提</a:t>
            </a:r>
          </a:p>
          <a:p>
            <a:pPr algn="l">
              <a:spcBef>
                <a:spcPts val="12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先方協議の流用は未確認
B1で突合。覆ったら再見積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371600"/>
            <a:ext cx="3657600" cy="2377440"/>
          </a:xfrm>
          <a:prstGeom prst="roundRect">
            <a:avLst>
              <a:gd name="adj" fmla="val 8000"/>
            </a:avLst>
          </a:prstGeom>
          <a:solidFill>
            <a:srgbClr val="D6E3F0"/>
          </a:solidFill>
          <a:ln>
            <a:solidFill>
              <a:srgbClr val="B0C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l"/>
            <a:r>
              <a:rPr sz="1600" b="1">
                <a:solidFill>
                  <a:srgbClr val="1F4E78"/>
                </a:solidFill>
                <a:latin typeface="Yu Gothic"/>
              </a:rPr>
              <a:t>③ 進め方</a:t>
            </a:r>
          </a:p>
          <a:p>
            <a:pPr algn="l">
              <a:spcBef>
                <a:spcPts val="1200"/>
              </a:spcBef>
              <a:spcAft>
                <a:spcPts val="200"/>
              </a:spcAft>
            </a:pPr>
            <a:r>
              <a:rPr sz="1400" b="0">
                <a:solidFill>
                  <a:srgbClr val="2F2F2F"/>
                </a:solidFill>
                <a:latin typeface="Yu Gothic"/>
              </a:rPr>
              <a:t>12本突合／6本Mapping／B2＝0
超過時は再見積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4023360"/>
            <a:ext cx="11430000" cy="2103120"/>
          </a:xfrm>
          <a:prstGeom prst="roundRect">
            <a:avLst>
              <a:gd name="adj" fmla="val 8000"/>
            </a:avLst>
          </a:prstGeom>
          <a:solidFill>
            <a:srgbClr val="FCE4D6"/>
          </a:solidFill>
          <a:ln>
            <a:solidFill>
              <a:srgbClr val="B0C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l"/>
            <a:r>
              <a:rPr sz="1400" b="1">
                <a:solidFill>
                  <a:srgbClr val="C65911"/>
                </a:solidFill>
                <a:latin typeface="Yu Gothic"/>
              </a:rPr>
              <a:t>添付・参照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300" b="0">
                <a:solidFill>
                  <a:srgbClr val="2F2F2F"/>
                </a:solidFill>
                <a:latin typeface="Yu Gothic"/>
              </a:rPr>
              <a:t>・【見積】生鮮IF増分_標準案_…_20260921.xlsx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300" b="0">
                <a:solidFill>
                  <a:srgbClr val="2F2F2F"/>
                </a:solidFill>
                <a:latin typeface="Yu Gothic"/>
              </a:rPr>
              <a:t>・20260929_sinops生鮮IF_マスタ部門判定.xlsx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300" b="0">
                <a:solidFill>
                  <a:srgbClr val="2F2F2F"/>
                </a:solidFill>
                <a:latin typeface="Yu Gothic"/>
              </a:rPr>
              <a:t>・本フォルダ README.md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Yu Gothic"/>
              </a:rPr>
              <a:t>西友MD基幹統合｜生鮮IF増分見積｜2026-09-30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53796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Yu Gothic"/>
              </a:rPr>
              <a:t>11/11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