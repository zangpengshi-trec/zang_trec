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Yu Gothic"/>
              </a:rPr>
              <a:t>生鮮 IF 増分見積　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D6E3F0"/>
                </a:solidFill>
                <a:latin typeface="Yu Gothic"/>
              </a:rPr>
              <a:t>標準案｜調査・Mapping → 詳細設計・開発・単体（＋PJ按分）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CE4D6"/>
                </a:solidFill>
                <a:latin typeface="Yu Gothic"/>
              </a:rPr>
              <a:t>焦点：生鮮の不確実性を見積前提として明示し、提示値の読み方を揃える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</a:rPr>
              <a:t>西友 MD基幹統合　／　Sinops 自動補充 PMI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D6E3F0"/>
                </a:solidFill>
                <a:latin typeface="Yu Gothic"/>
              </a:rPr>
              <a:t>資料日 2026-09-30（Rev.i）　出典：マスタデータ判定・標準案 Excel・20260918 生鮮IF会議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1. 結論（本見積の提示値）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PMI課題 Sinops非生鮮のPhase2は契約据え置き。本見積は生鮮増分のみ。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人日合計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160.5 人日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直接145.5（P1 41.5＋P2 104）＋PJ15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金額（税抜）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¥5,120,000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Phase1×40,000＋Phase2×27,500＋PJ×40,000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本見積の前提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本数は判定済み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12本流用・勧告1.5本
S26新規・入荷は差分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7472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説明時に最初に伝えること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・提示値は確定請負ではない。9/29判定が覆ったら再見積。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・店舗系12本は流用。勧告2ファイルは1.5本換算。発注統合向け変換（S26）は新規。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・B2（マスタIF本体）は0。倉庫はDC在庫なしで対象外。水煮相当は残件。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・PMI課題 Sinops非生鮮のPhase2の契約額は据え置き。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2. 見積前提条件（判定済みと残件・必読）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マスタ本数は9/29判定済み。残るのは水煮・GCS・伝票区分・S26項目差・S12/S13のSQLと作成時刻。確定請負ではない。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1188720"/>
          <a:ext cx="117957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6692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区分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前提として明示すること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見積上の扱い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マスタ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9/29判定：店舗系12本は非生鮮と同じ（流用）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本体IFは置かない。B1は突合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横断影響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判定覆りは PMI課題 Sinops非生鮮のPhase2 にも波及し得る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B3に軽微バッファ。非生鮮Phase2契約額は据え置き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源・GCS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生鮮側サーバー→GCS。GCS無ければアップロードが必要（無い見込み）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確認・アップロードを本見積に含む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ベンダー流用。実績＝伝票区分差分＋PC/CK振替。予定・日程＝PC/CKは別SQLでDBGET。作成時刻はやや不安定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Aで差分IF。Layer①にDBGETと待ち合わせ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勧告の連携先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現行生鮮→統合IFは流用不可。非生鮮24/25発注IFを参照して変換IFを新規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AでS26を計上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倉庫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DC在庫なし。倉庫商品マスタ（水煮相当）は残件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倉庫系は対象外。要IFなら再見積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本案前提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9/29判定が成り立つ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この条件が崩れたら提示値は無効→再見積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897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Yu Gothic"/>
              </a:rPr>
              <a:t>Excel「見積前提条件・注記」シートに全文あり。説明時は本頁を数字より先に置く。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3. 見積のブロック構成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A（確定IF）が本体。B2は0。S12/S13にDBGETを加算。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3385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1188720"/>
                <a:gridCol w="1645920"/>
                <a:gridCol w="4572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#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ブロック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人日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金額（円）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リスク感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確定IF（勧告1.5＋変換1＋入荷2＋日程1）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125.5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3,782,500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中（S12/S13にDBGET）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B1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流用突合・倉庫対象外・GCS・残件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600,000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中（Phase1単価40,000）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マスタIF本体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流用確定のため0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B3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非生鮮Phase2（PMI課題）への波及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137,500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低（Phase2直接27,500）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直接小計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145.5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4,520,000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C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PJ管理（按分）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600,000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既存比率 50/499.5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合計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本見積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160.5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5,120,000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Yu Gothic"/>
              </a:rPr>
              <a:t>オレンジ相当の B1〜B3 が「見積リスクを数値化した場所」。A だけ見せるとリスクを過小評価する。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4. A｜確定IF（勧告は1.5本換算）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当日1本＋翌日0.5本。発注統合変換は別1本。入荷・スケジュールは差分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52144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822960"/>
                <a:gridCol w="822960"/>
                <a:gridCol w="822960"/>
                <a:gridCol w="914400"/>
                <a:gridCol w="5029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IF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仮No.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Phase1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Layer①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Layer③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計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なぜ置くか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発注勧告（当日）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Sinops勧告。1.0本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発注勧告（翌日以降）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S25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8.5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13.5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当日類似。0.5本換算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勧告→発注統合変換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現行生鮮→統合IFは使わない。非生鮮24/25参照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入荷実績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S11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12.0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18.5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ベンダー流用。伝票区分差分＋PC/CK振替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入荷予定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ベンダー流用。PC/CKは別SQL。DBGET2系統＋待ち合わせ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発注スケジュール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S13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15.0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ベンダー流用。PC/CKは別SQL。DBGET2系統＋待ち合わせ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A小計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26.5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81.5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125.5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勧告2ファイル＝1.5本。Layer②＝0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5029200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1F4E78"/>
                </a:solidFill>
                <a:latin typeface="Yu Gothic"/>
              </a:rPr>
              <a:t>A の見積リスク（本案で上振れを大きく載せない理由）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要件の骨格は 9/18 会議。本数判定は 9/29。残リスクは項目精査・伝票区分・GCS、発注統合レイアウト差、S12/S13のSQLと作成時刻。覆りは再見積。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5. 最重要リスク｜判定後に残るもの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12本流用は確定。残件はGCS・伝票区分・水煮・SQL作成時刻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5669280" cy="4937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判定で決まったこと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・店舗系12本は非生鮮と同じ（流用）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・本体IFは置かない（B2＝0）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・勧告ファイル2本は新規。発注統合変換も新規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・入荷・スケジュールはベンダー流用＋差分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・倉庫系はDC在庫なしで対象外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・影響は先行IFに閉じないが、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流用前提が覆ったときだけ横断が増える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見積上どう織り込んだか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B1 15人日＝突合と残件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流用12本突合8／倉庫対象外2／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GCS確認3／水煮残件2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B2 0人日＝マスタ本体IFなし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B3 5人日＝伝票区分・振替の軽微注記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※ 覆ったらリスク込み案で再見積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6. 非生鮮Phase2への波及リスク（B3）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PMI課題 Sinops非生鮮のPhase2。契約額は据え置き。手戻り工数は増分側に計上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7043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572000"/>
                <a:gridCol w="4572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既存IF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なぜ効くか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顕在化したときの姿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01–05／06–10／14/15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9/29判定では非生鮮と同じ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流用。本体IFなし。B1で突合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11 入荷実績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伝票区分差分／PC・CK振替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差分IF（A）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12 入荷予定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ベンダー同じ／PC・CKは別SQL・DBGET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差分IF（A）Layer①に加算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13 発注スケジュール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ベンダー同じ／PC・CKは別SQL・DBGET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差分IF（A）Layer①に加算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24/25 勧告ファイル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2ファイル／1.5本換算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S24=1本、S25=0.5本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勧告→発注統合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現行生鮮IFは流用不可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新規IF（A）S26。参照は非生鮮24/25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倉庫系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DC在庫なし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対象外。水煮相当は午後MT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7. 判定ゲートと再見積トリガー（リスク管理の運用）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数字を固定契約にしすぎないための説明スライド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B1 突合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流用12本の突合
倉庫対象外の整理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A 着手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差分／新規6本は
マッピングから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B2 維持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本体IFは0のまま
覆ったら再見積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④ 手戻り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軽微は B3＝5
超過なら再見積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840480"/>
            <a:ext cx="11521440" cy="228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再見積を上げるトリガー（説明用）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・流用12本の一部が差分／新規に戻る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・倉庫商品マスタ（水煮相当）が要IF（午後MT）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・GCSアップロード・接続が想定より重い／伝票区分差分が大きい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・S12/S13のSQL接続が重い、生鮮データの作成時刻が待ち合わせでは収まらない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・目安：直接工数が本案想定を大きく超える場合は増分再見積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8. 含むもの／含まないもの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スコープ外を明示しないと、後から「全部入り」に読まれる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80160"/>
            <a:ext cx="5669280" cy="484632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548935"/>
                </a:solidFill>
                <a:latin typeface="Yu Gothic"/>
              </a:rPr>
              <a:t>含む（本案の範囲）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・調査用表・Mapping（Phase1）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・詳細設計・開発・単体（Phase2）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・先行トラン確定IF 6本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・流用突合・倉庫対象外整理（B1）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・マスタ本体IFは0（B2）。軽微波及（B3）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・増分PJ管理按分（C）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・生鮮マスタのGCSアップロード確認・作業前提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577840" cy="48463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含まない（明示除外）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・結合・総合・移行・運用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・生鮮基幹／生鮮発注統合本体改修（先方）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・青果@rms／鮮魚市場EOS（自動補充対象外）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・共通基盤の二重構築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・倉庫系（DC在庫なし）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・PMI課題 Sinops非生鮮のPhase2・共通基盤43・既存PJ50の契約変更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9. 説明トーク（前提を先に言う）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数字の前に「不確実性の置き方」を置く。前提が崩れたら再見積。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2344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「生鮮は PMI課題 Sinops非生鮮のPhase2 の外の増分です。本日の提示は160.5人日／5,120,000円です。」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01168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前提先出し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01168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「提示値は 9/29 マスタデータの判定が成り立つ場合の工数で、確定請負ではありません。」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78892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判定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8892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「店舗系12本は流用。勧告2ファイルは1.5本換算。発注統合変換は新規。入荷とスケジュールは差分です。」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56616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本案の前提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6616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「判定が覆ったら、本日の数字は無効です。再見積です。」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34340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B2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34340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「マスタ本体IFは0です。水煮相当は午後MTの残件です。」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1206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進め方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1206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「12本は突合、6本はマッピングから。B2は0のまま進めます。」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897879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範囲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97879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「Phase2は詳細設計・開発・単体まで。結合以降は含みません。」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10.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本案を説明するとき、必ず一緒に伝える3点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提示値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160.5人日／¥5,120,000（税抜）
非生鮮Phase2（PMI課題）は据え置き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見積前提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9/29マスタデータ判定
覆ったら再見積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運用条件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12本突合／6本Mapping／B2＝0
超過時は再見積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02336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l"/>
            <a:r>
              <a:rPr sz="1400" b="1">
                <a:solidFill>
                  <a:srgbClr val="C65911"/>
                </a:solidFill>
                <a:latin typeface="Yu Gothic"/>
              </a:rPr>
              <a:t>添付・参照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・【見積】生鮮IF増分_標準案_…_20260921.xlsx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・20260929_sinops生鮮IF_マスタ部門判定.xlsx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・本フォルダ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