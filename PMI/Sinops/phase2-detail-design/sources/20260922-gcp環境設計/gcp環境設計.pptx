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12192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GCP データ処理申請アーキテクチャ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789920" y="6565392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9184"/>
            <a:ext cx="74066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E79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集計GCS → 東京で処理 → 東京GCS</a:t>
            </a:r>
            <a:endParaRPr lang="en-US" sz="2500" b="1" dirty="0">
              <a:solidFill>
                <a:srgbClr val="1F4E79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38912" y="786384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日次バッチ処理申請アーキテクチャ｜大阪 asia-northeast2 → 東京 asia-northeast1</a:t>
            </a:r>
            <a:endParaRPr lang="en-US" sz="1100" dirty="0">
              <a:solidFill>
                <a:srgbClr val="667085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863840" y="402590"/>
            <a:ext cx="3428365" cy="375285"/>
          </a:xfrm>
          <a:prstGeom prst="roundRect">
            <a:avLst>
              <a:gd name="adj" fmla="val 42857"/>
            </a:avLst>
          </a:prstGeom>
          <a:solidFill>
            <a:srgbClr val="E2F0D9"/>
          </a:solidFill>
          <a:ln w="8890">
            <a:solidFill>
              <a:srgbClr val="70AD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975" y="485140"/>
            <a:ext cx="3357245" cy="20955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4E13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landing = 東京の入力スナップショット + バックアップ</a:t>
            </a:r>
            <a:endParaRPr lang="en-US" sz="1000" b="1" dirty="0">
              <a:solidFill>
                <a:srgbClr val="274E13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8912" y="1170432"/>
            <a:ext cx="11292840" cy="987552"/>
          </a:xfrm>
          <a:prstGeom prst="roundRect">
            <a:avLst>
              <a:gd name="adj" fmla="val 5556"/>
            </a:avLst>
          </a:prstGeom>
          <a:solidFill>
            <a:srgbClr val="FFF2CC">
              <a:alpha val="96000"/>
            </a:srgbClr>
          </a:solidFill>
          <a:ln w="14605">
            <a:solidFill>
              <a:srgbClr val="BF9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98448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F9000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制御フロー</a:t>
            </a:r>
            <a:endParaRPr lang="en-US" sz="1200" b="1" dirty="0">
              <a:solidFill>
                <a:srgbClr val="BF9000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63040" y="1307592"/>
            <a:ext cx="18288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5875">
            <a:solidFill>
              <a:srgbClr val="BF9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1426464"/>
            <a:ext cx="1554480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Cloud Scheduler</a:t>
            </a:r>
            <a:endParaRPr lang="en-US" sz="13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00200" y="1746504"/>
            <a:ext cx="1554480" cy="9144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1 Job｜指定時刻</a:t>
            </a:r>
            <a:endParaRPr lang="en-US" sz="950" dirty="0">
              <a:solidFill>
                <a:srgbClr val="667085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83280" y="1618488"/>
            <a:ext cx="384048" cy="0"/>
          </a:xfrm>
          <a:prstGeom prst="line">
            <a:avLst/>
          </a:prstGeom>
          <a:noFill/>
          <a:ln w="21590">
            <a:solidFill>
              <a:srgbClr val="BF900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0" y="1307592"/>
            <a:ext cx="2743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5875">
            <a:solidFill>
              <a:srgbClr val="BF9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426464"/>
            <a:ext cx="2468880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Workflows</a:t>
            </a:r>
            <a:endParaRPr lang="en-US" sz="13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77640" y="1746504"/>
            <a:ext cx="2468880" cy="9144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READY確認 → 同期完了待ち → Job起動</a:t>
            </a:r>
            <a:endParaRPr lang="en-US" sz="920" dirty="0">
              <a:solidFill>
                <a:srgbClr val="667085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95160" y="1408176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制御フローはオーケストレーションのみ；データフローは下の主経路</a:t>
            </a:r>
            <a:endParaRPr lang="en-US" sz="1050" i="1" dirty="0">
              <a:solidFill>
                <a:srgbClr val="667085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8912" y="2487168"/>
            <a:ext cx="2148840" cy="2788920"/>
          </a:xfrm>
          <a:prstGeom prst="roundRect">
            <a:avLst>
              <a:gd name="adj" fmla="val 2553"/>
            </a:avLst>
          </a:prstGeom>
          <a:solidFill>
            <a:srgbClr val="FFF9F5">
              <a:alpha val="97000"/>
            </a:srgbClr>
          </a:solidFill>
          <a:ln w="15875">
            <a:solidFill>
              <a:srgbClr val="C55A1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58368" y="267004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5A11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既存 / 外部</a:t>
            </a:r>
            <a:endParaRPr lang="en-US" sz="1200" b="1" dirty="0">
              <a:solidFill>
                <a:srgbClr val="C55A11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" y="29443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大阪 GCS</a:t>
            </a:r>
            <a:endParaRPr lang="en-US" sz="18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8368" y="3236976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asia-northeast2</a:t>
            </a:r>
            <a:endParaRPr lang="en-US" sz="1000" dirty="0">
              <a:solidFill>
                <a:srgbClr val="667085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88920" y="2487168"/>
            <a:ext cx="8942832" cy="2788920"/>
          </a:xfrm>
          <a:prstGeom prst="roundRect">
            <a:avLst>
              <a:gd name="adj" fmla="val 1967"/>
            </a:avLst>
          </a:prstGeom>
          <a:solidFill>
            <a:srgbClr val="EAF2FB">
              <a:alpha val="97000"/>
            </a:srgbClr>
          </a:solidFill>
          <a:ln w="17145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267004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今回申請：GCP 東京｜asia-northeast1</a:t>
            </a:r>
            <a:endParaRPr lang="en-US" sz="1200" b="1" dirty="0">
              <a:solidFill>
                <a:srgbClr val="1F4E79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8368" y="3730752"/>
            <a:ext cx="1700784" cy="1051560"/>
          </a:xfrm>
          <a:prstGeom prst="roundRect">
            <a:avLst>
              <a:gd name="adj" fmla="val 5217"/>
            </a:avLst>
          </a:prstGeom>
          <a:solidFill>
            <a:srgbClr val="FCE4D6"/>
          </a:solidFill>
          <a:ln w="15875">
            <a:solidFill>
              <a:srgbClr val="C55A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3849624"/>
            <a:ext cx="1426464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入力データ</a:t>
            </a:r>
            <a:endParaRPr lang="en-US" sz="14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5528" y="4169664"/>
            <a:ext cx="1426464" cy="521208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TBL / MAT / DM / TANA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毎日更新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_READY + manifest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127248" y="3730752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DDEBF7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849624"/>
            <a:ext cx="1298448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Transfer</a:t>
            </a:r>
            <a:endParaRPr lang="en-US" sz="13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64408" y="4169664"/>
            <a:ext cx="1298448" cy="521208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prefix / manifest指定</a:t>
            </a:r>
            <a:endParaRPr lang="en-US" sz="97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7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差分コピー</a:t>
            </a:r>
            <a:endParaRPr lang="en-US" sz="97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321808" y="3730752"/>
            <a:ext cx="1755648" cy="1051560"/>
          </a:xfrm>
          <a:prstGeom prst="roundRect">
            <a:avLst>
              <a:gd name="adj" fmla="val 5217"/>
            </a:avLst>
          </a:prstGeom>
          <a:solidFill>
            <a:srgbClr val="E2F0D9"/>
          </a:solidFill>
          <a:ln w="15875">
            <a:solidFill>
              <a:srgbClr val="70AD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58968" y="3849624"/>
            <a:ext cx="1481328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 fontScale="60000"/>
          </a:bodyPr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1F4E79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  <a:sym typeface="+mn-ea"/>
              </a:rPr>
              <a:t>申請クラウド</a:t>
            </a:r>
            <a:r>
              <a:rPr lang="en-US" sz="1400" b="1" dirty="0">
                <a:solidFill>
                  <a:srgbClr val="1F4E79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  <a:sym typeface="+mn-ea"/>
              </a:rPr>
              <a:t>GCS </a:t>
            </a:r>
            <a:r>
              <a:rPr lang="en-US" sz="14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landing</a:t>
            </a:r>
            <a:endParaRPr lang="en-US" sz="14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58968" y="4169664"/>
            <a:ext cx="1481328" cy="521208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YYYYMMDD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入力スナップショット / バックアップ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726680" y="3730752"/>
            <a:ext cx="1755648" cy="1051560"/>
          </a:xfrm>
          <a:prstGeom prst="roundRect">
            <a:avLst>
              <a:gd name="adj" fmla="val 5217"/>
            </a:avLst>
          </a:prstGeom>
          <a:solidFill>
            <a:srgbClr val="D9E1F2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3849624"/>
            <a:ext cx="1481328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Cloud Run Job</a:t>
            </a:r>
            <a:endParaRPr lang="en-US" sz="14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863840" y="4169664"/>
            <a:ext cx="1481328" cy="521208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4 vCPU / 16 GiB </a:t>
            </a:r>
            <a:endParaRPr lang="en-US" sz="960" dirty="0">
              <a:solidFill>
                <a:srgbClr val="667085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6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分割処理</a:t>
            </a:r>
            <a:endParaRPr lang="en-US" sz="96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039985" y="3730625"/>
            <a:ext cx="1518920" cy="1051560"/>
          </a:xfrm>
          <a:prstGeom prst="roundRect">
            <a:avLst>
              <a:gd name="adj" fmla="val 5217"/>
            </a:avLst>
          </a:prstGeom>
          <a:solidFill>
            <a:srgbClr val="E2F0D9"/>
          </a:solidFill>
          <a:ln w="15875">
            <a:solidFill>
              <a:srgbClr val="70AD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77145" y="3783330"/>
            <a:ext cx="1381760" cy="313055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 fontScale="80000"/>
          </a:bodyPr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1F4E79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  <a:sym typeface="+mn-ea"/>
              </a:rPr>
              <a:t>西友連携</a:t>
            </a:r>
            <a:r>
              <a:rPr lang="en-US" sz="1400" b="1" dirty="0">
                <a:solidFill>
                  <a:srgbClr val="1F4E79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  <a:sym typeface="+mn-ea"/>
              </a:rPr>
              <a:t>GCS </a:t>
            </a:r>
            <a:r>
              <a:rPr lang="en-US" sz="14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output</a:t>
            </a:r>
            <a:endParaRPr lang="en-US" sz="14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177272" y="4169664"/>
            <a:ext cx="1115568" cy="521208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YYYYMMDD</a:t>
            </a:r>
            <a:endParaRPr lang="en-US" sz="970" dirty="0">
              <a:latin typeface="MS Mincho" panose="02020609040205080304" charset="-128"/>
              <a:ea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7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_SUCCESS</a:t>
            </a:r>
            <a:endParaRPr lang="en-US" sz="970" dirty="0">
              <a:latin typeface="MS Mincho" panose="02020609040205080304" charset="-128"/>
              <a:ea typeface="MS Mincho" panose="02020609040205080304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395728" y="4251960"/>
            <a:ext cx="658368" cy="0"/>
          </a:xfrm>
          <a:prstGeom prst="line">
            <a:avLst/>
          </a:prstGeom>
          <a:noFill/>
          <a:ln w="27940">
            <a:solidFill>
              <a:srgbClr val="2F855A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718304" y="4251960"/>
            <a:ext cx="530352" cy="0"/>
          </a:xfrm>
          <a:prstGeom prst="line">
            <a:avLst/>
          </a:prstGeom>
          <a:noFill/>
          <a:ln w="27940">
            <a:solidFill>
              <a:srgbClr val="2F855A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114032" y="4251960"/>
            <a:ext cx="539496" cy="0"/>
          </a:xfrm>
          <a:prstGeom prst="line">
            <a:avLst/>
          </a:prstGeom>
          <a:noFill/>
          <a:ln w="27940">
            <a:solidFill>
              <a:srgbClr val="2F855A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509760" y="4251960"/>
            <a:ext cx="457200" cy="0"/>
          </a:xfrm>
          <a:prstGeom prst="line">
            <a:avLst/>
          </a:prstGeom>
          <a:noFill/>
          <a:ln w="27940">
            <a:solidFill>
              <a:srgbClr val="2F855A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2285365" y="3954145"/>
            <a:ext cx="869315" cy="2152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5A11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リージョン間</a:t>
            </a:r>
            <a:endParaRPr lang="en-US" sz="900" b="1" dirty="0">
              <a:solidFill>
                <a:srgbClr val="C55A11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864985" y="4562475"/>
            <a:ext cx="1062990" cy="488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AD4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東京</a:t>
            </a:r>
            <a:endParaRPr lang="en-US" sz="900" b="1" dirty="0">
              <a:solidFill>
                <a:srgbClr val="70AD4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70AD4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リージョン内</a:t>
            </a:r>
            <a:endParaRPr lang="en-US" sz="900" b="1" dirty="0">
              <a:solidFill>
                <a:srgbClr val="70AD4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399905" y="4584065"/>
            <a:ext cx="747395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AD4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東京</a:t>
            </a:r>
            <a:endParaRPr lang="en-US" sz="900" b="1" dirty="0">
              <a:solidFill>
                <a:srgbClr val="70AD4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70AD4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リージョン内</a:t>
            </a:r>
            <a:endParaRPr lang="en-US" sz="900" b="1" dirty="0">
              <a:solidFill>
                <a:srgbClr val="70AD4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83780" y="2898775"/>
            <a:ext cx="0" cy="877824"/>
          </a:xfrm>
          <a:prstGeom prst="line">
            <a:avLst/>
          </a:prstGeom>
          <a:noFill/>
          <a:ln w="15875">
            <a:solidFill>
              <a:srgbClr val="BF9000"/>
            </a:solidFill>
            <a:prstDash val="dash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738360" y="2898775"/>
            <a:ext cx="0" cy="877824"/>
          </a:xfrm>
          <a:prstGeom prst="line">
            <a:avLst/>
          </a:prstGeom>
          <a:noFill/>
          <a:ln w="15875">
            <a:solidFill>
              <a:srgbClr val="BF9000"/>
            </a:solidFill>
            <a:prstDash val="dash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6662420" y="2644140"/>
            <a:ext cx="1468755" cy="24511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F9000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転送完了後に処理を起動</a:t>
            </a:r>
            <a:endParaRPr lang="en-US" sz="1000" dirty="0">
              <a:solidFill>
                <a:srgbClr val="BF9000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796528" y="2670175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F9000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出力成功後に _SUCCESS を作成</a:t>
            </a:r>
            <a:endParaRPr lang="en-US" sz="1000" dirty="0">
              <a:solidFill>
                <a:srgbClr val="BF9000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58368" y="55321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主な原則</a:t>
            </a:r>
            <a:endParaRPr lang="en-US" sz="1200" b="1" dirty="0">
              <a:solidFill>
                <a:srgbClr val="1F4E79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508760" y="5532120"/>
            <a:ext cx="9692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大阪 → 東京のリージョン間転送は同期時のみ；東京landingの読込・計算・output書込はすべて東京で実行。</a:t>
            </a:r>
            <a:endParaRPr lang="en-US" sz="1100" dirty="0">
              <a:solidFill>
                <a:srgbClr val="667085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MS Mincho" panose="02020609040205080304" charset="-128"/>
                <a:ea typeface="MS Mincho" panose="02020609040205080304" charset="-128"/>
              </a:rPr>
            </a:fld>
            <a:endParaRPr lang="en-US" b="0">
              <a:latin typeface="MS Mincho" panose="02020609040205080304" charset="-128"/>
              <a:ea typeface="MS Mincho" panose="0202060904020508030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9184"/>
            <a:ext cx="69494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E79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日次実行シーケンスと境界</a:t>
            </a:r>
            <a:endParaRPr lang="en-US" sz="2500" b="1" dirty="0">
              <a:solidFill>
                <a:srgbClr val="1F4E79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38912" y="786384"/>
            <a:ext cx="7680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すべての処理を一方向に実行；失敗時は該当ステップを再試行し、全体を重複起動しない</a:t>
            </a:r>
            <a:endParaRPr lang="en-US" sz="1100" dirty="0">
              <a:solidFill>
                <a:srgbClr val="667085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24128" y="13898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47218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01</a:t>
            </a:r>
            <a:endParaRPr lang="en-US" sz="950" b="1" dirty="0">
              <a:solidFill>
                <a:srgbClr val="FFFFFF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17904" y="1618488"/>
            <a:ext cx="1316736" cy="0"/>
          </a:xfrm>
          <a:prstGeom prst="line">
            <a:avLst/>
          </a:prstGeom>
          <a:noFill/>
          <a:ln w="20320">
            <a:solidFill>
              <a:srgbClr val="B8C4D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66928" y="2057400"/>
            <a:ext cx="1417320" cy="1024128"/>
          </a:xfrm>
          <a:prstGeom prst="roundRect">
            <a:avLst>
              <a:gd name="adj" fmla="val 5357"/>
            </a:avLst>
          </a:prstGeom>
          <a:solidFill>
            <a:srgbClr val="FFF2CC"/>
          </a:solidFill>
          <a:ln w="15875">
            <a:solidFill>
              <a:srgbClr val="BF9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176272"/>
            <a:ext cx="1143000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起動</a:t>
            </a:r>
            <a:endParaRPr lang="en-US" sz="13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4088" y="2496312"/>
            <a:ext cx="1143000" cy="493776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Scheduler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指定時刻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07792" y="13898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147218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02</a:t>
            </a:r>
            <a:endParaRPr lang="en-US" sz="950" b="1" dirty="0">
              <a:solidFill>
                <a:srgbClr val="FFFFFF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01568" y="1618488"/>
            <a:ext cx="1316736" cy="0"/>
          </a:xfrm>
          <a:prstGeom prst="line">
            <a:avLst/>
          </a:prstGeom>
          <a:noFill/>
          <a:ln w="20320">
            <a:solidFill>
              <a:srgbClr val="B8C4D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50592" y="2057400"/>
            <a:ext cx="1417320" cy="1024128"/>
          </a:xfrm>
          <a:prstGeom prst="roundRect">
            <a:avLst>
              <a:gd name="adj" fmla="val 5357"/>
            </a:avLst>
          </a:prstGeom>
          <a:solidFill>
            <a:srgbClr val="FFF2CC"/>
          </a:solidFill>
          <a:ln w="15875">
            <a:solidFill>
              <a:srgbClr val="BF9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2176272"/>
            <a:ext cx="1143000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入力確認</a:t>
            </a:r>
            <a:endParaRPr lang="en-US" sz="13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87752" y="2496312"/>
            <a:ext cx="1143000" cy="493776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大阪の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_READYを確認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91456" y="13898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47218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03</a:t>
            </a:r>
            <a:endParaRPr lang="en-US" sz="950" b="1" dirty="0">
              <a:solidFill>
                <a:srgbClr val="FFFFFF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285232" y="1618488"/>
            <a:ext cx="1316736" cy="0"/>
          </a:xfrm>
          <a:prstGeom prst="line">
            <a:avLst/>
          </a:prstGeom>
          <a:noFill/>
          <a:ln w="20320">
            <a:solidFill>
              <a:srgbClr val="B8C4D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34256" y="2057400"/>
            <a:ext cx="1417320" cy="1024128"/>
          </a:xfrm>
          <a:prstGeom prst="roundRect">
            <a:avLst>
              <a:gd name="adj" fmla="val 5357"/>
            </a:avLst>
          </a:prstGeom>
          <a:solidFill>
            <a:srgbClr val="DDEBF7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71416" y="2176272"/>
            <a:ext cx="1143000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同期</a:t>
            </a:r>
            <a:endParaRPr lang="en-US" sz="13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71416" y="2496312"/>
            <a:ext cx="1143000" cy="493776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STS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差分コピー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75120" y="13898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47218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04</a:t>
            </a:r>
            <a:endParaRPr lang="en-US" sz="950" b="1" dirty="0">
              <a:solidFill>
                <a:srgbClr val="FFFFFF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168896" y="1618488"/>
            <a:ext cx="1316736" cy="0"/>
          </a:xfrm>
          <a:prstGeom prst="line">
            <a:avLst/>
          </a:prstGeom>
          <a:noFill/>
          <a:ln w="20320">
            <a:solidFill>
              <a:srgbClr val="B8C4D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17920" y="2057400"/>
            <a:ext cx="1417320" cy="1024128"/>
          </a:xfrm>
          <a:prstGeom prst="roundRect">
            <a:avLst>
              <a:gd name="adj" fmla="val 5357"/>
            </a:avLst>
          </a:prstGeom>
          <a:solidFill>
            <a:srgbClr val="FFF2CC"/>
          </a:solidFill>
          <a:ln w="15875">
            <a:solidFill>
              <a:srgbClr val="BF9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176272"/>
            <a:ext cx="1143000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同期確認</a:t>
            </a:r>
            <a:endParaRPr lang="en-US" sz="13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55080" y="2496312"/>
            <a:ext cx="1143000" cy="493776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SUCCESS待ち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タイムアウト通知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558784" y="13898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58784" y="147218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05</a:t>
            </a:r>
            <a:endParaRPr lang="en-US" sz="950" b="1" dirty="0">
              <a:solidFill>
                <a:srgbClr val="FFFFFF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052560" y="1618488"/>
            <a:ext cx="1316736" cy="0"/>
          </a:xfrm>
          <a:prstGeom prst="line">
            <a:avLst/>
          </a:prstGeom>
          <a:noFill/>
          <a:ln w="20320">
            <a:solidFill>
              <a:srgbClr val="B8C4D2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101584" y="2057400"/>
            <a:ext cx="1417320" cy="1024128"/>
          </a:xfrm>
          <a:prstGeom prst="roundRect">
            <a:avLst>
              <a:gd name="adj" fmla="val 5357"/>
            </a:avLst>
          </a:prstGeom>
          <a:solidFill>
            <a:srgbClr val="DDEBF7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38744" y="2176272"/>
            <a:ext cx="1143000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計算</a:t>
            </a:r>
            <a:endParaRPr lang="en-US" sz="13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38744" y="2496312"/>
            <a:ext cx="1143000" cy="493776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Cloud Run Job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分割 / ストリーミング</a:t>
            </a:r>
            <a:endParaRPr lang="en-US" sz="98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442448" y="13898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42448" y="147218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06</a:t>
            </a:r>
            <a:endParaRPr lang="en-US" sz="950" b="1" dirty="0">
              <a:solidFill>
                <a:srgbClr val="FFFFFF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985248" y="2057400"/>
            <a:ext cx="1417320" cy="1024128"/>
          </a:xfrm>
          <a:prstGeom prst="roundRect">
            <a:avLst>
              <a:gd name="adj" fmla="val 5357"/>
            </a:avLst>
          </a:prstGeom>
          <a:solidFill>
            <a:srgbClr val="FFF2CC"/>
          </a:solidFill>
          <a:ln w="15875">
            <a:solidFill>
              <a:srgbClr val="BF9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22408" y="2176272"/>
            <a:ext cx="1143000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成果物</a:t>
            </a:r>
            <a:endParaRPr lang="en-US" sz="13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122408" y="2496312"/>
            <a:ext cx="1143000" cy="493776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output</a:t>
            </a:r>
            <a:endParaRPr lang="en-US" sz="980" dirty="0">
              <a:latin typeface="MS Mincho" panose="02020609040205080304" charset="-128"/>
              <a:ea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_SUCCESS</a:t>
            </a:r>
            <a:endParaRPr lang="en-US" sz="980" dirty="0">
              <a:latin typeface="MS Mincho" panose="02020609040205080304" charset="-128"/>
              <a:ea typeface="MS Mincho" panose="02020609040205080304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58368" y="37307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再試行と冪等性</a:t>
            </a:r>
            <a:endParaRPr lang="en-US" sz="1500" b="1" dirty="0">
              <a:solidFill>
                <a:srgbClr val="1F4E79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58368" y="4133088"/>
            <a:ext cx="3493008" cy="1353312"/>
          </a:xfrm>
          <a:prstGeom prst="roundRect">
            <a:avLst>
              <a:gd name="adj" fmla="val 4054"/>
            </a:avLst>
          </a:prstGeom>
          <a:solidFill>
            <a:srgbClr val="DDEBF7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" y="4251960"/>
            <a:ext cx="3218688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入力 / 同期失敗</a:t>
            </a:r>
            <a:endParaRPr lang="en-US" sz="14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95528" y="4572000"/>
            <a:ext cx="3218688" cy="82296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Storage Transfer Serviceを再試行。</a:t>
            </a:r>
            <a:endParaRPr lang="en-US" sz="103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日付ディレクトリと変更オブジェクト単位でコピーし、大阪の原本は削除しない。</a:t>
            </a:r>
            <a:endParaRPr lang="en-US" sz="103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352544" y="4133088"/>
            <a:ext cx="3493008" cy="1353312"/>
          </a:xfrm>
          <a:prstGeom prst="roundRect">
            <a:avLst>
              <a:gd name="adj" fmla="val 4054"/>
            </a:avLst>
          </a:prstGeom>
          <a:solidFill>
            <a:srgbClr val="D9E1F2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9704" y="4251960"/>
            <a:ext cx="3218688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計算失敗</a:t>
            </a:r>
            <a:endParaRPr lang="en-US" sz="14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489704" y="4572000"/>
            <a:ext cx="3218688" cy="82296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Cloud Run Jobを再試行。</a:t>
            </a:r>
            <a:endParaRPr lang="en-US" sz="103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一時出力ディレクトリを使用し、_SUCCESSがある場合のみ完了と判定。</a:t>
            </a:r>
            <a:endParaRPr lang="en-US" sz="103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046720" y="4133088"/>
            <a:ext cx="3493008" cy="1353312"/>
          </a:xfrm>
          <a:prstGeom prst="roundRect">
            <a:avLst>
              <a:gd name="adj" fmla="val 4054"/>
            </a:avLst>
          </a:prstGeom>
          <a:solidFill>
            <a:srgbClr val="E4DFEC"/>
          </a:solidFill>
          <a:ln w="15875">
            <a:solidFill>
              <a:srgbClr val="8064A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83880" y="4251960"/>
            <a:ext cx="3218688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タイムアウト / リソース不足</a:t>
            </a:r>
            <a:endParaRPr lang="en-US" sz="1400" b="1" dirty="0">
              <a:solidFill>
                <a:srgbClr val="1F2937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183880" y="4572000"/>
            <a:ext cx="3218688" cy="82296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Workflowsが通知。</a:t>
            </a:r>
            <a:endParaRPr lang="en-US" sz="103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メモリピーク、実行時間、OOMKilledを監視。</a:t>
            </a:r>
            <a:endParaRPr lang="en-US" sz="103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58368" y="5797296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保持ポリシー</a:t>
            </a:r>
            <a:endParaRPr lang="en-US" sz="1200" b="1" dirty="0">
              <a:solidFill>
                <a:srgbClr val="1F4E79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874520" y="5797296"/>
            <a:ext cx="94183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landing：入力スナップショット / バックアップ｜output：処理結果｜日付単位で保持し、Object Versioning または Lifecycle で自動削除。</a:t>
            </a:r>
            <a:endParaRPr lang="en-US" sz="1050" dirty="0">
              <a:solidFill>
                <a:srgbClr val="667085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MS Mincho" panose="02020609040205080304" charset="-128"/>
                <a:ea typeface="MS Mincho" panose="02020609040205080304" charset="-128"/>
              </a:rPr>
            </a:fld>
            <a:endParaRPr lang="en-US" b="0">
              <a:latin typeface="MS Mincho" panose="02020609040205080304" charset="-128"/>
              <a:ea typeface="MS Mincho" panose="02020609040205080304" charset="-128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MwZjU5OTQyYWRhNzIxMjM4YzhlZDJlZmMzMzJmOWY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1015</Words>
  <Application>WPS 演示</Application>
  <PresentationFormat>On-screen Show (16:9)</PresentationFormat>
  <Paragraphs>139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5" baseType="lpstr">
      <vt:lpstr>Arial</vt:lpstr>
      <vt:lpstr>宋体</vt:lpstr>
      <vt:lpstr>Wingdings</vt:lpstr>
      <vt:lpstr>Aptos</vt:lpstr>
      <vt:lpstr>Helvetica Neue</vt:lpstr>
      <vt:lpstr>Aptos</vt:lpstr>
      <vt:lpstr>Aptos</vt:lpstr>
      <vt:lpstr>Aptos</vt:lpstr>
      <vt:lpstr>MS Mincho</vt:lpstr>
      <vt:lpstr>Hiragino Sans</vt:lpstr>
      <vt:lpstr>MS PGothic</vt:lpstr>
      <vt:lpstr>苹方-简</vt:lpstr>
      <vt:lpstr>宋体</vt:lpstr>
      <vt:lpstr>汉仪书宋二KW</vt:lpstr>
      <vt:lpstr>微软雅黑</vt:lpstr>
      <vt:lpstr>方正雅意黑 GB18030L2</vt:lpstr>
      <vt:lpstr>Arial Unicode MS</vt:lpstr>
      <vt:lpstr>等线</vt:lpstr>
      <vt:lpstr>汉仪中等线KW</vt:lpstr>
      <vt:lpstr>Calibri</vt:lpstr>
      <vt:lpstr>MS Mincho</vt:lpstr>
      <vt:lpstr>游ゴシック</vt:lpstr>
      <vt:lpstr>Office Theme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集計GCSから東京への処理フロー</dc:title>
  <dc:creator>OpenAI</dc:creator>
  <dc:subject>大阪GCSから東京処理環境への日次データ処理アーキテクチャ</dc:subject>
  <cp:lastModifiedBy>空之翼1394263635</cp:lastModifiedBy>
  <cp:revision>3</cp:revision>
  <dcterms:created xsi:type="dcterms:W3CDTF">2026-09-22T04:51:55Z</dcterms:created>
  <dcterms:modified xsi:type="dcterms:W3CDTF">2026-09-22T04:51:55Z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23EC1EE926C14D4D95AE96E84A2DE221_12</vt:lpwstr>
  </property>
  <property fmtid="{D5CDD505-2E9C-101B-9397-08002B2CF9AE}" pid="3" name="KSOProductBuildVer">
    <vt:lpwstr>2052-12.1.26055.26055</vt:lpwstr>
  </property>
</Properties>
</file>