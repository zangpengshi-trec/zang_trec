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9144000" cy="36576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3D4FC"/>
                </a:solidFill>
                <a:latin typeface="Meiryo UI"/>
              </a:defRPr>
            </a:pPr>
            <a:r>
              <a:t>TRIAL  ↔  sinops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 UI"/>
              </a:defRPr>
            </a:pPr>
            <a:r>
              <a:t>IF連携 Review会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3D4FC"/>
                </a:solidFill>
                <a:latin typeface="Meiryo UI"/>
              </a:defRPr>
            </a:pPr>
            <a:r>
              <a:t>項目マッピング表・GAP分析書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2468880" cy="1188720"/>
          </a:xfrm>
          <a:prstGeom prst="round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79476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40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94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 UI"/>
              </a:defRPr>
            </a:pPr>
            <a:r>
              <a:t>受払明細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60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uke.txt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657600"/>
            <a:ext cx="2468880" cy="1188720"/>
          </a:xfrm>
          <a:prstGeom prst="round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3794760"/>
            <a:ext cx="411480" cy="411480"/>
          </a:xfrm>
          <a:prstGeom prst="ellipse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840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794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 UI"/>
              </a:defRPr>
            </a:pPr>
            <a:r>
              <a:t>店舗系発注勧告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160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kankoku.txt / subkankoku.txt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2468880" cy="1188720"/>
          </a:xfrm>
          <a:prstGeom prst="roundRect">
            <a:avLst/>
          </a:prstGeom>
          <a:solidFill>
            <a:srgbClr val="1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5080" y="3794760"/>
            <a:ext cx="411480" cy="411480"/>
          </a:xfrm>
          <a:prstGeom prst="ellipse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840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94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 UI"/>
              </a:defRPr>
            </a:pPr>
            <a:r>
              <a:t>倉庫系発注勧告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1605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ka.txt / subka.txt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アジェンダ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Review会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8229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3619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490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B4E"/>
                </a:solidFill>
                <a:latin typeface="Meiryo UI"/>
              </a:defRPr>
            </a:pPr>
            <a:r>
              <a:t>全体概要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508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Meiryo UI"/>
              </a:defRPr>
            </a:pPr>
            <a:r>
              <a:t>対象IF・資料構成・判定凡例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57400"/>
            <a:ext cx="8229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2148840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7627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資料1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148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Meiryo UI"/>
              </a:defRPr>
            </a:pPr>
            <a:r>
              <a:t>受払明細 項目マッピング表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80"/>
            <a:ext cx="8229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2788920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8163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770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資料2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788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Meiryo UI"/>
              </a:defRPr>
            </a:pPr>
            <a:r>
              <a:t>受払明細 GAP分析書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37560"/>
            <a:ext cx="8229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3429000"/>
            <a:ext cx="384048" cy="384048"/>
          </a:xfrm>
          <a:prstGeom prst="ellipse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45643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410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9E"/>
                </a:solidFill>
                <a:latin typeface="Meiryo UI"/>
              </a:defRPr>
            </a:pPr>
            <a:r>
              <a:t>資料3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429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Meiryo UI"/>
              </a:defRPr>
            </a:pPr>
            <a:r>
              <a:t>発注勧告 項目マッピング表（店舗系）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77640"/>
            <a:ext cx="8229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4069080"/>
            <a:ext cx="384048" cy="384048"/>
          </a:xfrm>
          <a:prstGeom prst="ellipse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0965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050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9E"/>
                </a:solidFill>
                <a:latin typeface="Meiryo UI"/>
              </a:defRPr>
            </a:pPr>
            <a:r>
              <a:t>資料4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069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Meiryo UI"/>
              </a:defRPr>
            </a:pPr>
            <a:r>
              <a:t>発注勧告 GAP分析書（店舗系）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17720"/>
            <a:ext cx="8229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4709160"/>
            <a:ext cx="384048" cy="384048"/>
          </a:xfrm>
          <a:prstGeom prst="ellipse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73659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690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A3D9A"/>
                </a:solidFill>
                <a:latin typeface="Meiryo UI"/>
              </a:defRPr>
            </a:pPr>
            <a:r>
              <a:t>資料5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709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Meiryo UI"/>
              </a:defRPr>
            </a:pPr>
            <a:r>
              <a:t>発注勧告 項目マッピング表（倉庫系）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257800"/>
            <a:ext cx="8229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94360" y="5349240"/>
            <a:ext cx="384048" cy="384048"/>
          </a:xfrm>
          <a:prstGeom prst="ellipse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37667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330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A3D9A"/>
                </a:solidFill>
                <a:latin typeface="Meiryo UI"/>
              </a:defRPr>
            </a:pPr>
            <a:r>
              <a:t>資料6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349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Meiryo UI"/>
              </a:defRPr>
            </a:pPr>
            <a:r>
              <a:t>発注勧告 GAP分析書（倉庫系）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97880"/>
            <a:ext cx="82296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" y="5989320"/>
            <a:ext cx="384048" cy="384048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601675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971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5989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Meiryo UI"/>
              </a:defRPr>
            </a:pPr>
            <a:r>
              <a:t>確認事項・次ステップ・Q&amp;A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全体概要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6資料の位置づけと判定凡例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Review会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25880"/>
            <a:ext cx="40233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4864" cy="18288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9903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9E"/>
                </a:solidFill>
                <a:latin typeface="Meiryo UI"/>
              </a:defRPr>
            </a:pPr>
            <a:r>
              <a:t>資料構成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691640"/>
          <a:ext cx="374904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09728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資料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内容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対象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① マッピング表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項目1対1対応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各IF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② GAP分析書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差異・優先度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各IF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663440" y="1325880"/>
            <a:ext cx="41148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325880"/>
            <a:ext cx="54864" cy="1828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3990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判定凡例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737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直接マッピング可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0848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Meiryo UI"/>
              </a:defRPr>
            </a:pPr>
            <a:r>
              <a:t>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084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変換・加工が必要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4323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32F2F"/>
                </a:solidFill>
                <a:latin typeface="Meiryo UI"/>
              </a:defRPr>
            </a:pPr>
            <a: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323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GAPあり（要対応）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7797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E9E9E"/>
                </a:solidFill>
                <a:latin typeface="Meiryo UI"/>
              </a:defRPr>
            </a:pPr>
            <a:r>
              <a:t>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7797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固定値 / NULL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337560"/>
            <a:ext cx="841248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37560"/>
            <a:ext cx="54864" cy="1645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41071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横断的な重要論点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0332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Meiryo UI"/>
              </a:defRPr>
            </a:pPr>
            <a:r>
              <a:t>●</a:t>
            </a:r>
            <a:r>
              <a:rPr>
                <a:highlight>
                  <a:srgbClr val="808080"/>
                </a:highlight>
              </a:rPr>
              <a:t>  商品コード型矛盾：13桁JAN &gt; int32最大値  →  int64変更要</a:t>
            </a:r>
            <a:endParaRPr>
              <a:highlight>
                <a:srgbClr val="808080"/>
              </a:highlight>
            </a:endParaRP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Meiryo UI"/>
              </a:defRPr>
            </a:pPr>
            <a:r>
              <a:t>●  数量変換：sets = バラ数量 × 1000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Meiryo UI"/>
              </a:defRPr>
            </a:pPr>
            <a:r>
              <a:t>●  原単価変換：cost = 単価 × 1000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Meiryo UI"/>
              </a:defRPr>
            </a:pPr>
            <a:r>
              <a:t>●  発注日：TRIAL本体に「発注日」なし  →  登録日で代替？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資料1・2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3D4FC"/>
                </a:solidFill>
                <a:latin typeface="Meiryo UI"/>
              </a:defRPr>
            </a:pPr>
            <a:r>
              <a:t>受払明細IF（uke.txt）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資料1：項目マッピング表（受払明細）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【倉庫CD】uke.txt（10項目）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受払明細 ① マッピング表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9E9E"/>
                </a:solidFill>
                <a:latin typeface="Meiryo UI"/>
              </a:defRPr>
            </a:pPr>
            <a:r>
              <a:t>検証データ：007452uke.txt（2,356行）実データ確認済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41148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54864" cy="2103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276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サンプル検証の発見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1920240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5681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20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Meiryo UI"/>
              </a:defRPr>
            </a:pPr>
            <a:r>
              <a:t>正値出力（負値0件）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762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Meiryo UI"/>
              </a:defRPr>
            </a:pPr>
            <a:r>
              <a:t>×(-1)は不要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514600"/>
            <a:ext cx="320040" cy="32004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5117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514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Meiryo UI"/>
              </a:defRPr>
            </a:pPr>
            <a:r>
              <a:t>入庫/売上は非排他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70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Meiryo UI"/>
              </a:defRPr>
            </a:pPr>
            <a:r>
              <a:t>排他想定は誤り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145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1089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2121"/>
                </a:solidFill>
                <a:latin typeface="Meiryo UI"/>
              </a:defRPr>
            </a:pPr>
            <a:r>
              <a:t>処理日≠発行日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649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Meiryo UI"/>
              </a:defRPr>
            </a:pPr>
            <a:r>
              <a:t>43.2%で相異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1554480"/>
            <a:ext cx="411480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554480"/>
            <a:ext cx="54864" cy="21031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6276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9E"/>
                </a:solidFill>
                <a:latin typeface="Meiryo UI"/>
              </a:defRPr>
            </a:pPr>
            <a:r>
              <a:t>出力パターン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800600" y="1920240"/>
          <a:ext cx="38404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09728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パターン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行数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比率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出庫のみ → 売上数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2,233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94.8%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入庫のみ → 入庫数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14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0.6%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両方設定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32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1.4%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両方0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77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3.3%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365760" y="3931920"/>
            <a:ext cx="841248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54864" cy="1335024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0507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本日の確認事項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343400"/>
            <a:ext cx="7955279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1.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正値出力の承認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463600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2.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処理日≠発行日時の発行日設定ルール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492861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3.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両方0レコードの出力要否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資料2：GAP分析書（受払明細）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【倉庫CD】uke.txt ｜ 全6件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受払明細 ② GAP分析書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417320"/>
          <a:ext cx="8047355" cy="217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630"/>
                <a:gridCol w="1999615"/>
                <a:gridCol w="519811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優先度</a:t>
                      </a:r>
                    </a:p>
                  </a:txBody>
                  <a:tcPr marL="76200" marR="50800"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GAP</a:t>
                      </a:r>
                    </a:p>
                  </a:txBody>
                  <a:tcPr marL="76200" marR="50800"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要点</a:t>
                      </a:r>
                    </a:p>
                  </a:txBody>
                  <a:tcPr marL="76200" marR="50800" anchor="ctr">
                    <a:solidFill>
                      <a:srgbClr val="00968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★最高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①符号変換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×(-1)不要、正値出力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②非排他性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32行で両方に値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③日付マッピング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43.2%で処理日≠発行日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★低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⑤固定値項目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全5項目 = 0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⑥両方0レコード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77行、除外対象？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3886200"/>
            <a:ext cx="84124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886200"/>
            <a:ext cx="54864" cy="10058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593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旧資料からの訂正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Meiryo UI"/>
              </a:defRPr>
            </a:pPr>
            <a:r>
              <a:t>⟳  納品数×(-1)  →  正値のまま出力（訂正）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Meiryo UI"/>
              </a:defRPr>
            </a:pPr>
            <a:r>
              <a:t>⟳  入庫/売上は排他的  →  非排他的に両方設定可（訂正）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資料3・4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3D4FC"/>
                </a:solidFill>
                <a:latin typeface="Meiryo UI"/>
              </a:defRPr>
            </a:pPr>
            <a:r>
              <a:t>発注勧告IF — 店舗系（kankoku / subkankoku）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資料3：項目マッピング表（店舗系）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kankoku.txt（当日）/ subkankoku.txt（翌日以降）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店舗系 ① マッピング表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9E9E"/>
                </a:solidFill>
                <a:latin typeface="Meiryo UI"/>
              </a:defRPr>
            </a:pPr>
            <a:r>
              <a:t>sinops R6版（15項目）↔ TRIAL数理発注データの項目対応定義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60020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77440"/>
                <a:gridCol w="594360"/>
                <a:gridCol w="434340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区分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項目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判定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変換ルール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Key(5)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店舗・商品・納品日・便・仕入先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○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int(x) で文字→int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Key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発注日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△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登録日(reg_date)で代替？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数量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発注バラ数 → sets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○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sets = バラ数 × 1000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単価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標準仕入単価 → cost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○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cost = 単価 × 1000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sinops余剰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大/中/小/細目分類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―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TRIAL側に対応なし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TRIAL余剰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発注種別・納品先等 7項目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△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設定方針要決定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5120640"/>
            <a:ext cx="841248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5120640"/>
            <a:ext cx="54864" cy="1335024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9379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本日の確認事項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3212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1.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登録日＝発注日としてよいか？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582472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2.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分類コード4項目は連携不要でよいか？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611733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3.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TRIAL余剰7項目の設定方針（固定値 / マスタ参照）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資料4：GAP分析書（店舗系）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kankoku.txt / subkankoku.txt ｜ 全8件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店舗系 ② GAP分析書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41732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960120"/>
                <a:gridCol w="457200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優先度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GAP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ステータス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要点</a:t>
                      </a:r>
                    </a:p>
                  </a:txBody>
                  <a:tcPr marL="76200" marR="50800" anchor="ctr">
                    <a:solidFill>
                      <a:srgbClr val="1A5C9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★最高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①商品コード型矛盾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確認済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13桁JAN &gt; int32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★最高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④数量合成ロジック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未確認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sets = バラ数 × 1000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②発注日データソース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未確認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登録日 = 発注日？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③分類コード余剰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未確認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sinops側4項目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⑧TRIAL余剰7項目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未確認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設定方針要決定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★低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⑤⑥⑦ 型・日付変換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技術対応可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実装時対応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5120640"/>
            <a:ext cx="841248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120640"/>
            <a:ext cx="54864" cy="1335024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9379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本日の確認事項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53212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1.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item_id型を int64 へ変更可能か？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582472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2.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sets計算式の業務妥当性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611733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3.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TRIAL余剰7項目の初期値方針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3D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資料5・6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3D4FC"/>
                </a:solidFill>
                <a:latin typeface="Meiryo UI"/>
              </a:defRPr>
            </a:pPr>
            <a:r>
              <a:t>発注勧告IF — 倉庫系（ka / subka）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資料5：項目マッピング表（倉庫系）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【倉庫ｺｰﾄﾞ】ka.txt（当日）/ subka.txt（翌日以降）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倉庫系 ① マッピング表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9E9E"/>
                </a:solidFill>
                <a:latin typeface="Meiryo UI"/>
              </a:defRPr>
            </a:pPr>
            <a:r>
              <a:t>sinops W版（使用14項目）↔ TRIAL数理発注データの項目対応定義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600200"/>
          <a:ext cx="70408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651760"/>
                <a:gridCol w="2651760"/>
                <a:gridCol w="64008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項目</a:t>
                      </a:r>
                    </a:p>
                  </a:txBody>
                  <a:tcPr marL="76200" marR="508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店舗系(R6版)</a:t>
                      </a:r>
                    </a:p>
                  </a:txBody>
                  <a:tcPr marL="76200" marR="508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倉庫系(W版)</a:t>
                      </a:r>
                    </a:p>
                  </a:txBody>
                  <a:tcPr marL="76200" marR="508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判定</a:t>
                      </a:r>
                    </a:p>
                  </a:txBody>
                  <a:tcPr marL="76200" marR="50800" anchor="ctr">
                    <a:solidFill>
                      <a:srgbClr val="6A3D9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Key構成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店舗+発注日+商品+納品日+便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仕入先+品番+納品日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―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発注日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文字(8)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発行日・整数(8)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○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数量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発注バラ数+発注単位数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注文数量+発注ロット+バラ換算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○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店舗・便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sinops側あり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sinops側なし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△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発注区分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固定値 1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固定値 10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○</a:t>
                      </a:r>
                    </a:p>
                  </a:txBody>
                  <a:tcPr marL="76200" marR="50800" anchor="ctr"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3794760"/>
            <a:ext cx="8412480" cy="50292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8679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Meiryo UI"/>
              </a:rPr>
              <a:t>★  </a:t>
            </a:r>
            <a:r>
              <a:rPr sz="1200" b="0">
                <a:solidFill>
                  <a:srgbClr val="212121"/>
                </a:solidFill>
                <a:latin typeface="Meiryo UI"/>
              </a:rPr>
              <a:t>バラ換算数量 = 注文数量 × 発注ロット  →  sets = バラ換算数量 × 1000　（サンプル348行で100%成立）</a:t>
            </a:r>
            <a:endParaRPr sz="1200" b="0">
              <a:solidFill>
                <a:srgbClr val="212121"/>
              </a:solidFill>
              <a:latin typeface="Meiryo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4572000"/>
            <a:ext cx="841248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54864" cy="1335024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本日の確認事項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8348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1.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店舗コード → 倉庫コード？固定値？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527608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2.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便区分 → 固定値0でよいか？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556869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3.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発注区分=10（本部発注）で確定してよいか？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資料6：GAP分析書（倉庫系）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【倉庫ｺｰﾄﾞ】ka.txt / subka.txt ｜ 全8件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倉庫系 ② GAP分析書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417320"/>
          <a:ext cx="598932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920240"/>
                <a:gridCol w="2377440"/>
                <a:gridCol w="91440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優先度</a:t>
                      </a:r>
                    </a:p>
                  </a:txBody>
                  <a:tcPr marL="76200" marR="508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GAP</a:t>
                      </a:r>
                    </a:p>
                  </a:txBody>
                  <a:tcPr marL="76200" marR="508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店舗系との関係</a:t>
                      </a:r>
                    </a:p>
                  </a:txBody>
                  <a:tcPr marL="76200" marR="50800" anchor="ctr">
                    <a:solidFill>
                      <a:srgbClr val="6A3D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ステータス</a:t>
                      </a:r>
                    </a:p>
                  </a:txBody>
                  <a:tcPr marL="76200" marR="50800" anchor="ctr">
                    <a:solidFill>
                      <a:srgbClr val="6A3D9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★最高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①商品コード型矛盾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同一問題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確認済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★最高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④数量変換ロジック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式異なるが×1000共通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検証済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②発行日→登録日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W版は整数型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未確認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⑧TRIAL余剰10項目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W版固有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未確認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★低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⑤⑥⑦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技術対応可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―</a:t>
                      </a:r>
                    </a:p>
                  </a:txBody>
                  <a:tcPr marL="76200" marR="50800" anchor="ctr"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3703320"/>
            <a:ext cx="84124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703320"/>
            <a:ext cx="54864" cy="12344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Meiryo UI"/>
              </a:defRPr>
            </a:pPr>
            <a:r>
              <a:t>W版固有の論点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Meiryo UI"/>
              </a:defRPr>
            </a:pPr>
            <a:r>
              <a:t>▸  sinopsに店舗・便が存在しない → TRIAL PKとして設定要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Meiryo UI"/>
              </a:defRPr>
            </a:pPr>
            <a:r>
              <a:t>▸  納品日はsinops側で計算済み（サーバー日+調達期間+休日）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Meiryo UI"/>
              </a:defRPr>
            </a:pPr>
            <a:r>
              <a:t>▸  発注区分は 10（本部発注）で設定予定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074920"/>
            <a:ext cx="8412480" cy="10424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074920"/>
            <a:ext cx="54864" cy="104241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4807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eiryo UI"/>
              </a:defRPr>
            </a:pPr>
            <a:r>
              <a:t>本日の確認事項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8640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1.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店舗コード・便区分の固定値ルール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577900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  <a:latin typeface="Meiryo UI"/>
              </a:rPr>
              <a:t>2.  </a:t>
            </a:r>
            <a:r>
              <a:rPr sz="1100" b="0">
                <a:solidFill>
                  <a:srgbClr val="616161"/>
                </a:solidFill>
                <a:latin typeface="Meiryo UI"/>
              </a:rPr>
              <a:t>納品予定日＝sinops納品日で問題ないか</a:t>
            </a:r>
            <a:endParaRPr sz="1100" b="0">
              <a:solidFill>
                <a:srgbClr val="616161"/>
              </a:solidFill>
              <a:latin typeface="Meiryo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確認事項まとめ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D4FC"/>
                </a:solidFill>
                <a:latin typeface="Meiryo UI"/>
              </a:defRPr>
            </a:pPr>
            <a:r>
              <a:t>本日のReviewで方針確定をお願いしたい項目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417320"/>
          <a:ext cx="72237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822960"/>
                <a:gridCol w="5212080"/>
                <a:gridCol w="77724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#</a:t>
                      </a:r>
                    </a:p>
                  </a:txBody>
                  <a:tcPr marL="76200" marR="50800" anchor="ctr"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区分</a:t>
                      </a:r>
                    </a:p>
                  </a:txBody>
                  <a:tcPr marL="76200" marR="50800" anchor="ctr"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確認事項</a:t>
                      </a:r>
                    </a:p>
                  </a:txBody>
                  <a:tcPr marL="76200" marR="50800" anchor="ctr"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優先度</a:t>
                      </a:r>
                    </a:p>
                  </a:txBody>
                  <a:tcPr marL="76200" marR="50800" anchor="ctr">
                    <a:solidFill>
                      <a:srgbClr val="D32F2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1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受払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正値出力・非排他性の承認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★最高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2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受払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処理日≠発行日の扱い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3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受払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両方0レコードの出力要否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4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共通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商品コード型（int32 → int64）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★最高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5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共通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登録日＝発注日の可否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6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共通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sets / cost 変換ルールの最終確認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★最高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7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店舗系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分類コード4項目の要否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marL="76200" marR="50800" anchor="ctr"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8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店舗系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TRIAL余剰7項目の設定方針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★中</a:t>
                      </a:r>
                    </a:p>
                  </a:txBody>
                  <a:tcPr marL="76200" marR="50800" anchor="ctr">
                    <a:solidFill>
                      <a:srgbClr val="E8F0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9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倉庫系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店舗コード・便区分の固定値</a:t>
                      </a:r>
                    </a:p>
                  </a:txBody>
                  <a:tcPr marL="76200" marR="508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Meiryo UI"/>
                        </a:defRPr>
                      </a:pPr>
                      <a:r>
                        <a:t>★高</a:t>
                      </a:r>
                    </a:p>
                  </a:txBody>
                  <a:tcPr marL="76200" marR="508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次ステップ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8229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32F2F"/>
                </a:solidFill>
                <a:latin typeface="Meiryo UI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本日確認事項の方針確定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214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特に★最高・★高のGAP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8229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73152" cy="100584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C9E"/>
                </a:solidFill>
                <a:latin typeface="Meiryo UI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マッピング表・GAP分析書の更新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644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確認結果の反映、個別シート統一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40"/>
            <a:ext cx="8229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73152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Meiryo UI"/>
              </a:defRPr>
            </a:pPr>
            <a: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変換ロジック仕様書の作成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074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確定した変換ルールの詳細化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92040"/>
            <a:ext cx="82296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731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Meiryo UI"/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57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実装設計・開発着手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504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Meiryo UI"/>
              </a:defRPr>
            </a:pPr>
            <a:r>
              <a:t>商品コード型変更はTRIAL側対応が必要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3D4FC"/>
                </a:solidFill>
                <a:latin typeface="Meiryo UI"/>
              </a:defRPr>
            </a:pPr>
            <a:r>
              <a:t>想定質問と回答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入庫数・売上数は正値でよいか？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全2,356行で負値0件。旧資料の×(-1)は誤り。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入庫・売上が両方入るケースは？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32行(1.4%)で確認。非排他的に両方設定可能。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処理日と発行日が異なるケースは？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43.2%で相異。sinops側が期待する発行日の定義を要確認。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両方0のレコードは出力すべきか？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在庫変動なし。出力/除外/発行日=00000000の要否を確認。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登録日を発注日として使ってよいか？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TRIAL本体に「発注日」フィールドなし。登録日を暫定マッピング。</a:t>
            </a:r>
            <a:br/>
            <a:r>
              <a:t>発注指示日かDB登録日かの意味確認が必要。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13桁JANがint32に入らない問題は？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int64への型変更を推奨。TRIAL側DB仕様修正の可否を確認。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sets = バラ数 × 1000 は正しいか？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TRIAL setsは1000倍格納。サンプルデータで検証済み。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大/中/小/細目の分類コードは必要か？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TRIAL DIFPRODUCTSに対応なし。sinops連携で必須か要確認。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TRIAL余剰7項目はどう設定するか？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発注区分=1（確度高）、発注種別・納品先等は要確認。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倉庫系発注の店舗コードは？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倉庫コード設定 / 固定値 / マスタ参照のいずれか要決定。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便区分（mail）はどう設定するか？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固定値0を想定。業務上の正しい設定値を要確認。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W版の数量計算式は店舗系と違うのか？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項目構成は異なるが sets=バラ換算数量×1000 は共通。348行検証済。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00" cy="4572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Q&amp;A  Q20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3D4FC"/>
                </a:solidFill>
                <a:latin typeface="Meiryo UI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4124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" cy="77724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121"/>
                </a:solidFill>
                <a:latin typeface="Meiryo UI"/>
              </a:defRPr>
            </a:pPr>
            <a:r>
              <a:t>次のステップは？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8412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4864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eiryo UI"/>
              </a:defRPr>
            </a:pPr>
            <a:r>
              <a:t>回答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Meiryo UI"/>
              </a:defRPr>
            </a:pPr>
            <a:r>
              <a:t>方針確定 → 資料更新 → 変換ロジック仕様書 → 実装着手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eiryo UI"/>
              </a:defRPr>
            </a:pPr>
            <a:r>
              <a:t>ご清聴ありがとうございました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3D4FC"/>
                </a:solidFill>
                <a:latin typeface="Meiryo UI"/>
              </a:defRPr>
            </a:pPr>
            <a:r>
              <a:t>ご確認・ご指摘をいただければ、次回までに資料を更新いたします。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3759</Words>
  <Application>WPS 演示</Application>
  <PresentationFormat>On-screen Show (4:3)</PresentationFormat>
  <Paragraphs>852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7" baseType="lpstr">
      <vt:lpstr>Arial</vt:lpstr>
      <vt:lpstr>宋体</vt:lpstr>
      <vt:lpstr>Wingdings</vt:lpstr>
      <vt:lpstr>Arial</vt:lpstr>
      <vt:lpstr>Meiryo UI</vt:lpstr>
      <vt:lpstr>Hiragino Sans</vt:lpstr>
      <vt:lpstr>Calibri</vt:lpstr>
      <vt:lpstr>Helvetica Neue</vt:lpstr>
      <vt:lpstr>宋体</vt:lpstr>
      <vt:lpstr>汉仪书宋二KW</vt:lpstr>
      <vt:lpstr>MS PGothic</vt:lpstr>
      <vt:lpstr>苹方-简</vt:lpstr>
      <vt:lpstr>微软雅黑</vt:lpstr>
      <vt:lpstr>方正雅意黑 GB18030L2</vt:lpstr>
      <vt:lpstr>Arial Unicode MS</vt:lpstr>
      <vt:lpstr>Meiryo UI</vt:lpstr>
      <vt:lpstr>Apple Symbols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空之翼1394263635</cp:lastModifiedBy>
  <cp:revision>2</cp:revision>
  <dcterms:created xsi:type="dcterms:W3CDTF">2026-07-21T01:06:08Z</dcterms:created>
  <dcterms:modified xsi:type="dcterms:W3CDTF">2026-07-21T01:06:08Z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08B1584A31FD7A25FFC55E6A15D8DA35_42</vt:lpwstr>
  </property>
</Properties>
</file>