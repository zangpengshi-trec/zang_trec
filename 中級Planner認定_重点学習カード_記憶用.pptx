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78992"/>
            <a:ext cx="106070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Yu Gothic"/>
              </a:rPr>
              <a:t>中級Planner認定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106070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"/>
              </a:rPr>
              <a:t>重点学習カード｜記憶用PPT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697480"/>
            <a:ext cx="1965960" cy="64008"/>
          </a:xfrm>
          <a:prstGeom prst="rect">
            <a:avLst/>
          </a:prstGeom>
          <a:solidFill>
            <a:srgbClr val="2D67AF"/>
          </a:solidFill>
          <a:ln>
            <a:solidFill>
              <a:srgbClr val="2D6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017520"/>
            <a:ext cx="98755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Yu Gothic"/>
              </a:rPr>
              <a:t>80重点用語 × BABOK第10章50技術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03320"/>
            <a:ext cx="98755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CBD8E8"/>
                </a:solidFill>
                <a:latin typeface="Yu Gothic"/>
              </a:rPr>
              <a:t>試験日 2026/6/29 ｜ 日本語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754880"/>
            <a:ext cx="1024128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Yu Gothic"/>
              </a:rPr>
              <a:t>先看图式和对比 → 再背日语定义 → 最后用自测页回忆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このPPTの使い方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146304"/>
            <a:ext cx="1143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Yu Gothic"/>
              </a:rPr>
              <a:t>導入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1155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7707C"/>
                </a:solidFill>
                <a:latin typeface="Yu Gothic"/>
              </a:rPr>
              <a:t>一页30–60秒：先看关键词，再遮住右侧回忆定义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383280" cy="18288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73152" cy="1828800"/>
          </a:xfrm>
          <a:prstGeom prst="rect">
            <a:avLst/>
          </a:prstGeom>
          <a:solidFill>
            <a:srgbClr val="2D67AF"/>
          </a:solidFill>
          <a:ln>
            <a:solidFill>
              <a:srgbClr val="2D6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44168"/>
            <a:ext cx="3063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252B34"/>
                </a:solidFill>
                <a:latin typeface="Yu Gothic"/>
              </a:rPr>
              <a:t>1｜先搭骨架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28216"/>
            <a:ext cx="3063240" cy="1252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52B34"/>
                </a:solidFill>
                <a:latin typeface="Yu Gothic"/>
              </a:rPr>
              <a:t>先记5个高频模式、7组用语分类、50技术10组地图。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34440"/>
            <a:ext cx="3383280" cy="18288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34440"/>
            <a:ext cx="73152" cy="1828800"/>
          </a:xfrm>
          <a:prstGeom prst="rect">
            <a:avLst/>
          </a:prstGeom>
          <a:solidFill>
            <a:srgbClr val="447E56"/>
          </a:solidFill>
          <a:ln>
            <a:solidFill>
              <a:srgbClr val="447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344168"/>
            <a:ext cx="3063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252B34"/>
                </a:solidFill>
                <a:latin typeface="Yu Gothic"/>
              </a:rPr>
              <a:t>2｜再记日语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28216"/>
            <a:ext cx="3063240" cy="1252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52B34"/>
                </a:solidFill>
                <a:latin typeface="Yu Gothic"/>
              </a:rPr>
              <a:t>看到日本語名，能用一句日语说目的/意味；中文只辅助。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234440"/>
            <a:ext cx="3383280" cy="18288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234440"/>
            <a:ext cx="73152" cy="1828800"/>
          </a:xfrm>
          <a:prstGeom prst="rect">
            <a:avLst/>
          </a:prstGeom>
          <a:solidFill>
            <a:srgbClr val="B4872D"/>
          </a:solidFill>
          <a:ln>
            <a:solidFill>
              <a:srgbClr val="B4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1344168"/>
            <a:ext cx="3063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252B34"/>
                </a:solidFill>
                <a:latin typeface="Yu Gothic"/>
              </a:rPr>
              <a:t>3｜主动回忆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1728216"/>
            <a:ext cx="3063240" cy="1252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252B34"/>
                </a:solidFill>
                <a:latin typeface="Yu Gothic"/>
              </a:rPr>
              <a:t>每个章节后有Quick Check；答不出再回看，不反复被动阅读。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822191"/>
            <a:ext cx="73152" cy="73152"/>
          </a:xfrm>
          <a:prstGeom prst="rect">
            <a:avLst/>
          </a:prstGeom>
          <a:solidFill>
            <a:srgbClr val="2D67AF"/>
          </a:solidFill>
          <a:ln>
            <a:solidFill>
              <a:srgbClr val="2D6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3749039"/>
            <a:ext cx="1044244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252B34"/>
                </a:solidFill>
                <a:latin typeface="Yu Gothic"/>
              </a:rPr>
              <a:t>考试配分：BABOKテクニック60% / 用語30% / トライアル戦略10%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4169663"/>
            <a:ext cx="73152" cy="73152"/>
          </a:xfrm>
          <a:prstGeom prst="rect">
            <a:avLst/>
          </a:prstGeom>
          <a:solidFill>
            <a:srgbClr val="2D67AF"/>
          </a:solidFill>
          <a:ln>
            <a:solidFill>
              <a:srgbClr val="2D6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" y="4096511"/>
            <a:ext cx="1044244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252B34"/>
                </a:solidFill>
                <a:latin typeface="Yu Gothic"/>
              </a:rPr>
              <a:t>目标：80词“见名知义”；重要20技术“目的+要点”；其余30技术“见名知用途”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52881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7707C"/>
                </a:solidFill>
                <a:latin typeface="Yu Gothic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Yu Gothic"/>
              </a:rPr>
              <a:t>中級Planner認定｜記憶用スライド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全体記憶マップ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146304"/>
            <a:ext cx="1143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Yu Gothic"/>
              </a:rPr>
              <a:t>導入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1155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7707C"/>
                </a:solidFill>
                <a:latin typeface="Yu Gothic"/>
              </a:rPr>
              <a:t>五块内容：词汇 → 技术 → 对应关系 → 高频模式 → 临考检查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28800"/>
            <a:ext cx="2011680" cy="22402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828800"/>
            <a:ext cx="2011680" cy="164592"/>
          </a:xfrm>
          <a:prstGeom prst="rect">
            <a:avLst/>
          </a:prstGeom>
          <a:solidFill>
            <a:srgbClr val="2D67AF"/>
          </a:solidFill>
          <a:ln>
            <a:solidFill>
              <a:srgbClr val="2D6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240280"/>
            <a:ext cx="1737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252B34"/>
                </a:solidFill>
                <a:latin typeface="Yu Gothic"/>
              </a:rPr>
              <a:t>80用語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17373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67707C"/>
                </a:solidFill>
                <a:latin typeface="Yu Gothic"/>
              </a:rPr>
              <a:t>7组分类
考试语言底座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61488" y="1828800"/>
            <a:ext cx="2011680" cy="22402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61488" y="1828800"/>
            <a:ext cx="2011680" cy="164592"/>
          </a:xfrm>
          <a:prstGeom prst="rect">
            <a:avLst/>
          </a:prstGeom>
          <a:solidFill>
            <a:srgbClr val="447E56"/>
          </a:solidFill>
          <a:ln>
            <a:solidFill>
              <a:srgbClr val="447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98648" y="2240280"/>
            <a:ext cx="1737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252B34"/>
                </a:solidFill>
                <a:latin typeface="Yu Gothic"/>
              </a:rPr>
              <a:t>50技術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8648" y="2926080"/>
            <a:ext cx="17373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67707C"/>
                </a:solidFill>
                <a:latin typeface="Yu Gothic"/>
              </a:rPr>
              <a:t>10组方法地图
“怎么做”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11496" y="1828800"/>
            <a:ext cx="2011680" cy="22402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11496" y="1828800"/>
            <a:ext cx="2011680" cy="164592"/>
          </a:xfrm>
          <a:prstGeom prst="rect">
            <a:avLst/>
          </a:prstGeom>
          <a:solidFill>
            <a:srgbClr val="B4872D"/>
          </a:solidFill>
          <a:ln>
            <a:solidFill>
              <a:srgbClr val="B4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48656" y="2240280"/>
            <a:ext cx="1737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252B34"/>
                </a:solidFill>
                <a:latin typeface="Yu Gothic"/>
              </a:rPr>
              <a:t>対応マトリクス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8656" y="2926080"/>
            <a:ext cx="17373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67707C"/>
                </a:solidFill>
                <a:latin typeface="Yu Gothic"/>
              </a:rPr>
              <a:t>技術↔概念
“什么时候用”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61503" y="1828800"/>
            <a:ext cx="2011680" cy="22402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61503" y="1828800"/>
            <a:ext cx="2011680" cy="164592"/>
          </a:xfrm>
          <a:prstGeom prst="rect">
            <a:avLst/>
          </a:prstGeom>
          <a:solidFill>
            <a:srgbClr val="B43237"/>
          </a:solidFill>
          <a:ln>
            <a:solidFill>
              <a:srgbClr val="B43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98663" y="2240280"/>
            <a:ext cx="1737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252B34"/>
                </a:solidFill>
                <a:latin typeface="Yu Gothic"/>
              </a:rPr>
              <a:t>頻出5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98663" y="2926080"/>
            <a:ext cx="17373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67707C"/>
                </a:solidFill>
                <a:latin typeface="Yu Gothic"/>
              </a:rPr>
              <a:t>对比与图式
“最容易考混”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11511" y="1828800"/>
            <a:ext cx="2011680" cy="22402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811511" y="1828800"/>
            <a:ext cx="2011680" cy="164592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48672" y="2240280"/>
            <a:ext cx="17373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252B34"/>
                </a:solidFill>
                <a:latin typeface="Yu Gothic"/>
              </a:rPr>
              <a:t>直前10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48672" y="2926080"/>
            <a:ext cx="173736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67707C"/>
                </a:solidFill>
                <a:latin typeface="Yu Gothic"/>
              </a:rPr>
              <a:t>上场前检查
“缺一就补”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1A2A44"/>
                </a:solidFill>
                <a:latin typeface="Yu Gothic"/>
              </a:rPr>
              <a:t>记忆主线：名词（是什么） → 技术（怎么做） → 情境（何时用）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52881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7707C"/>
                </a:solidFill>
                <a:latin typeface="Yu Gothic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Yu Gothic"/>
              </a:rPr>
              <a:t>中級Planner認定｜記憶用スライド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頻出1｜検証 vs 妥当性確認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146304"/>
            <a:ext cx="1143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Yu Gothic"/>
              </a:rPr>
              <a:t>頻出5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1155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7707C"/>
                </a:solidFill>
                <a:latin typeface="Yu Gothic"/>
              </a:rPr>
              <a:t>最常混淆：质量适配 vs 价值适配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212080" cy="329184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73152" cy="3291840"/>
          </a:xfrm>
          <a:prstGeom prst="rect">
            <a:avLst/>
          </a:prstGeom>
          <a:solidFill>
            <a:srgbClr val="2D67AF"/>
          </a:solidFill>
          <a:ln>
            <a:solidFill>
              <a:srgbClr val="2D6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435607"/>
            <a:ext cx="48920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252B34"/>
                </a:solidFill>
                <a:latin typeface="Yu Gothic"/>
              </a:rPr>
              <a:t>検証（Verification）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19656"/>
            <a:ext cx="4892040" cy="2715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252B34"/>
                </a:solidFill>
                <a:latin typeface="Yu Gothic"/>
              </a:rPr>
              <a:t>質問：正しく作られているか？
焦点：品質標準への適合
視点：開発側
记忆：把东西“做对”了吗？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325880"/>
            <a:ext cx="5212080" cy="329184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325880"/>
            <a:ext cx="73152" cy="3291840"/>
          </a:xfrm>
          <a:prstGeom prst="rect">
            <a:avLst/>
          </a:prstGeom>
          <a:solidFill>
            <a:srgbClr val="447E56"/>
          </a:solidFill>
          <a:ln>
            <a:solidFill>
              <a:srgbClr val="447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435607"/>
            <a:ext cx="48920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200" b="1">
                <a:solidFill>
                  <a:srgbClr val="252B34"/>
                </a:solidFill>
                <a:latin typeface="Yu Gothic"/>
              </a:rPr>
              <a:t>妥当性確認（Validation）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819656"/>
            <a:ext cx="4892040" cy="27157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0">
                <a:solidFill>
                  <a:srgbClr val="252B34"/>
                </a:solidFill>
                <a:latin typeface="Yu Gothic"/>
              </a:rPr>
              <a:t>質問：正しいものを作っているか？
焦点：期待便益への貢献
視点：ステークホルダー側
记忆：做的是“对的东西”吗？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166360"/>
            <a:ext cx="10149840" cy="4754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300" b="1">
                <a:solidFill>
                  <a:srgbClr val="B43237"/>
                </a:solidFill>
                <a:latin typeface="Yu Gothic"/>
              </a:rPr>
              <a:t>口诀：検証看质量｜妥当性确认看价值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52881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7707C"/>
                </a:solidFill>
                <a:latin typeface="Yu Gothic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Yu Gothic"/>
              </a:rPr>
              <a:t>中級Planner認定｜記憶用スライド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頻出2｜予測型 vs 適応型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146304"/>
            <a:ext cx="1143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Yu Gothic"/>
              </a:rPr>
              <a:t>頻出5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1155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7707C"/>
                </a:solidFill>
                <a:latin typeface="Yu Gothic"/>
              </a:rPr>
              <a:t>计划、变更、风险、代表方法四维对照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20116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67707C"/>
                </a:solidFill>
                <a:latin typeface="Yu Gothic"/>
              </a:rPr>
              <a:t>観点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188720"/>
            <a:ext cx="38404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2D67AF"/>
                </a:solidFill>
                <a:latin typeface="Yu Gothic"/>
              </a:rPr>
              <a:t>予測型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188720"/>
            <a:ext cx="38404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447E56"/>
                </a:solidFill>
                <a:latin typeface="Yu Gothic"/>
              </a:rPr>
              <a:t>適応型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783080"/>
            <a:ext cx="2057400" cy="621792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11095"/>
            <a:ext cx="187451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52B34"/>
                </a:solidFill>
                <a:latin typeface="Yu Gothic"/>
              </a:rPr>
              <a:t>計画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783080"/>
            <a:ext cx="40690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1911095"/>
            <a:ext cx="37947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0">
                <a:solidFill>
                  <a:srgbClr val="252B34"/>
                </a:solidFill>
                <a:latin typeface="Yu Gothic"/>
              </a:rPr>
              <a:t>早期確定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78040" y="1783080"/>
            <a:ext cx="40690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0" y="1911095"/>
            <a:ext cx="37947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0">
                <a:solidFill>
                  <a:srgbClr val="252B34"/>
                </a:solidFill>
                <a:latin typeface="Yu Gothic"/>
              </a:rPr>
              <a:t>漸進的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606040"/>
            <a:ext cx="2057400" cy="621792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734056"/>
            <a:ext cx="187451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52B34"/>
                </a:solidFill>
                <a:latin typeface="Yu Gothic"/>
              </a:rPr>
              <a:t>変更対応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88920" y="2606040"/>
            <a:ext cx="40690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2734056"/>
            <a:ext cx="37947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0">
                <a:solidFill>
                  <a:srgbClr val="252B34"/>
                </a:solidFill>
                <a:latin typeface="Yu Gothic"/>
              </a:rPr>
              <a:t>困難（基準固定）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78040" y="2606040"/>
            <a:ext cx="40690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2734056"/>
            <a:ext cx="37947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0">
                <a:solidFill>
                  <a:srgbClr val="252B34"/>
                </a:solidFill>
                <a:latin typeface="Yu Gothic"/>
              </a:rPr>
              <a:t>容易（反馈循环）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429000"/>
            <a:ext cx="2057400" cy="621792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557016"/>
            <a:ext cx="187451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52B34"/>
                </a:solidFill>
                <a:latin typeface="Yu Gothic"/>
              </a:rPr>
              <a:t>リスク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88920" y="3429000"/>
            <a:ext cx="40690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26080" y="3557016"/>
            <a:ext cx="37947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0">
                <a:solidFill>
                  <a:srgbClr val="252B34"/>
                </a:solidFill>
                <a:latin typeface="Yu Gothic"/>
              </a:rPr>
              <a:t>最小化を狙う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78040" y="3429000"/>
            <a:ext cx="40690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0" y="3557016"/>
            <a:ext cx="37947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0">
                <a:solidFill>
                  <a:srgbClr val="252B34"/>
                </a:solidFill>
                <a:latin typeface="Yu Gothic"/>
              </a:rPr>
              <a:t>受け入れ・学習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251960"/>
            <a:ext cx="2057400" cy="621792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379976"/>
            <a:ext cx="187451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52B34"/>
                </a:solidFill>
                <a:latin typeface="Yu Gothic"/>
              </a:rPr>
              <a:t>代表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88920" y="4251960"/>
            <a:ext cx="40690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26080" y="4379976"/>
            <a:ext cx="37947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0">
                <a:solidFill>
                  <a:srgbClr val="252B34"/>
                </a:solidFill>
                <a:latin typeface="Yu Gothic"/>
              </a:rPr>
              <a:t>ウォーターフォール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78040" y="4251960"/>
            <a:ext cx="40690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0" y="4379976"/>
            <a:ext cx="37947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0">
                <a:solidFill>
                  <a:srgbClr val="252B34"/>
                </a:solidFill>
                <a:latin typeface="Yu Gothic"/>
              </a:rPr>
              <a:t>アジャイル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394960"/>
            <a:ext cx="103327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1A2A44"/>
                </a:solidFill>
                <a:latin typeface="Yu Gothic"/>
              </a:rPr>
              <a:t>口诀：予測＝先定｜適応＝边学边改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52881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7707C"/>
                </a:solidFill>
                <a:latin typeface="Yu Gothi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Yu Gothic"/>
              </a:rPr>
              <a:t>中級Planner認定｜記憶用スライド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頻出3｜要求3階層＋移行要求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146304"/>
            <a:ext cx="1143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Yu Gothic"/>
              </a:rPr>
              <a:t>頻出5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1155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7707C"/>
                </a:solidFill>
                <a:latin typeface="Yu Gothic"/>
              </a:rPr>
              <a:t>从“为什么”逐层落到“怎么实现与迁移”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64127" y="1097280"/>
            <a:ext cx="4663440" cy="658368"/>
          </a:xfrm>
          <a:prstGeom prst="roundRect">
            <a:avLst/>
          </a:prstGeom>
          <a:solidFill>
            <a:srgbClr val="1A2A44"/>
          </a:solidFill>
          <a:ln w="12700"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01287" y="1188720"/>
            <a:ext cx="438912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Yu Gothic"/>
              </a:rPr>
              <a:t>ビジネス要求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01287" y="1435607"/>
            <a:ext cx="43891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Yu Gothic"/>
              </a:rPr>
              <a:t>なぜ変えるか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01287" y="1920240"/>
            <a:ext cx="4389120" cy="658368"/>
          </a:xfrm>
          <a:prstGeom prst="roundRect">
            <a:avLst/>
          </a:prstGeom>
          <a:solidFill>
            <a:srgbClr val="2D67AF"/>
          </a:solidFill>
          <a:ln w="12700">
            <a:solidFill>
              <a:srgbClr val="2D6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38447" y="2011680"/>
            <a:ext cx="411480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Yu Gothic"/>
              </a:rPr>
              <a:t>ステークホルダー要求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38447" y="2258568"/>
            <a:ext cx="41148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Yu Gothic"/>
              </a:rPr>
              <a:t>誰が何を必要としているか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38447" y="2743200"/>
            <a:ext cx="4114800" cy="658368"/>
          </a:xfrm>
          <a:prstGeom prst="roundRect">
            <a:avLst/>
          </a:prstGeom>
          <a:solidFill>
            <a:srgbClr val="447E56"/>
          </a:solidFill>
          <a:ln w="12700">
            <a:solidFill>
              <a:srgbClr val="447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5607" y="2834640"/>
            <a:ext cx="3840480" cy="2103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Yu Gothic"/>
              </a:rPr>
              <a:t>ソリューション要求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5607" y="3081528"/>
            <a:ext cx="3840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Yu Gothic"/>
              </a:rPr>
              <a:t>何を作るか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3840480"/>
            <a:ext cx="3063240" cy="13258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" y="3840480"/>
            <a:ext cx="73152" cy="1325880"/>
          </a:xfrm>
          <a:prstGeom prst="rect">
            <a:avLst/>
          </a:prstGeom>
          <a:solidFill>
            <a:srgbClr val="2D67AF"/>
          </a:solidFill>
          <a:ln>
            <a:solidFill>
              <a:srgbClr val="2D6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3950208"/>
            <a:ext cx="2743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52B34"/>
                </a:solidFill>
                <a:latin typeface="Yu Gothic"/>
              </a:rPr>
              <a:t>機能要求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334256"/>
            <a:ext cx="274320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52B34"/>
                </a:solidFill>
                <a:latin typeface="Yu Gothic"/>
              </a:rPr>
              <a:t>何ができるか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53712" y="3840480"/>
            <a:ext cx="3063240" cy="13258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53712" y="3840480"/>
            <a:ext cx="73152" cy="1325880"/>
          </a:xfrm>
          <a:prstGeom prst="rect">
            <a:avLst/>
          </a:prstGeom>
          <a:solidFill>
            <a:srgbClr val="447E56"/>
          </a:solidFill>
          <a:ln>
            <a:solidFill>
              <a:srgbClr val="447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36592" y="3950208"/>
            <a:ext cx="2743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52B34"/>
                </a:solidFill>
                <a:latin typeface="Yu Gothic"/>
              </a:rPr>
              <a:t>非機能要求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36592" y="4334256"/>
            <a:ext cx="274320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52B34"/>
                </a:solidFill>
                <a:latin typeface="Yu Gothic"/>
              </a:rPr>
              <a:t>どの程度うまく動くか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3840480"/>
            <a:ext cx="3063240" cy="13258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01000" y="3840480"/>
            <a:ext cx="73152" cy="1325880"/>
          </a:xfrm>
          <a:prstGeom prst="rect">
            <a:avLst/>
          </a:prstGeom>
          <a:solidFill>
            <a:srgbClr val="B4872D"/>
          </a:solidFill>
          <a:ln>
            <a:solidFill>
              <a:srgbClr val="B4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9" y="3950208"/>
            <a:ext cx="27432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252B34"/>
                </a:solidFill>
                <a:latin typeface="Yu Gothic"/>
              </a:rPr>
              <a:t>移行要求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4334256"/>
            <a:ext cx="274320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252B34"/>
                </a:solidFill>
                <a:latin typeface="Yu Gothic"/>
              </a:rPr>
              <a:t>どう移行するか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623560"/>
            <a:ext cx="10332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100" b="1">
                <a:solidFill>
                  <a:srgbClr val="B43237"/>
                </a:solidFill>
                <a:latin typeface="Yu Gothic"/>
              </a:rPr>
              <a:t>口诀：业 → 干 → 解（功能 / 非功能）＋移行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52881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7707C"/>
                </a:solidFill>
                <a:latin typeface="Yu Gothic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Yu Gothic"/>
              </a:rPr>
              <a:t>中級Planner認定｜記憶用スライド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頻出4｜コア・コンセプト6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146304"/>
            <a:ext cx="1143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Yu Gothic"/>
              </a:rPr>
              <a:t>頻出5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1155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7707C"/>
                </a:solidFill>
                <a:latin typeface="Yu Gothic"/>
              </a:rPr>
              <a:t>六概念不是孤立名词，要记住关系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417320"/>
            <a:ext cx="2880360" cy="749808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2D6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609344"/>
            <a:ext cx="2697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252B34"/>
                </a:solidFill>
                <a:latin typeface="Yu Gothic"/>
              </a:rPr>
              <a:t>ニーズ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417320"/>
            <a:ext cx="2880360" cy="749808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447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09344"/>
            <a:ext cx="2697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252B34"/>
                </a:solidFill>
                <a:latin typeface="Yu Gothic"/>
              </a:rPr>
              <a:t>ソリューション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251960"/>
            <a:ext cx="2880360" cy="749808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B4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443984"/>
            <a:ext cx="2697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252B34"/>
                </a:solidFill>
                <a:latin typeface="Yu Gothic"/>
              </a:rPr>
              <a:t>価値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4251960"/>
            <a:ext cx="2880360" cy="749808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B43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443984"/>
            <a:ext cx="2697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252B34"/>
                </a:solidFill>
                <a:latin typeface="Yu Gothic"/>
              </a:rPr>
              <a:t>チェンジ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834640"/>
            <a:ext cx="2880360" cy="749808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026664"/>
            <a:ext cx="2697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252B34"/>
                </a:solidFill>
                <a:latin typeface="Yu Gothic"/>
              </a:rPr>
              <a:t>コンテキスト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834640"/>
            <a:ext cx="2880360" cy="749808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2D6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3026664"/>
            <a:ext cx="26974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252B34"/>
                </a:solidFill>
                <a:latin typeface="Yu Gothic"/>
              </a:rPr>
              <a:t>ステークホルダー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487168"/>
            <a:ext cx="2651760" cy="11430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2200" b="1">
                <a:solidFill>
                  <a:srgbClr val="1A2A44"/>
                </a:solidFill>
                <a:latin typeface="Yu Gothic"/>
              </a:rPr>
              <a:t>BABOK
Core Concept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1463040"/>
            <a:ext cx="4297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67707C"/>
                </a:solidFill>
                <a:latin typeface="Yu Gothic"/>
              </a:rPr>
              <a:t>ニーズ → ソリューション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617720"/>
            <a:ext cx="4297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67707C"/>
                </a:solidFill>
                <a:latin typeface="Yu Gothic"/>
              </a:rPr>
              <a:t>価値 ← チェンジ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623560"/>
            <a:ext cx="48463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B43237"/>
                </a:solidFill>
                <a:latin typeface="Yu Gothic"/>
              </a:rPr>
              <a:t>口诀：变需解｜境人值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52881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7707C"/>
                </a:solidFill>
                <a:latin typeface="Yu Gothic"/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Yu Gothic"/>
              </a:rPr>
              <a:t>中級Planner認定｜記憶用スライド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頻出5｜プロトタイプ使い分け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146304"/>
            <a:ext cx="1143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Yu Gothic"/>
              </a:rPr>
              <a:t>頻出5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1155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7707C"/>
                </a:solidFill>
                <a:latin typeface="Yu Gothic"/>
              </a:rPr>
              <a:t>两个维度：是否保留 × 看一层还是打穿多层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2560320" cy="347472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2560320" cy="146304"/>
          </a:xfrm>
          <a:prstGeom prst="rect">
            <a:avLst/>
          </a:prstGeom>
          <a:solidFill>
            <a:srgbClr val="B43237"/>
          </a:solidFill>
          <a:ln>
            <a:solidFill>
              <a:srgbClr val="B43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10512"/>
            <a:ext cx="22860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252B34"/>
                </a:solidFill>
                <a:latin typeface="Yu Gothic"/>
              </a:rPr>
              <a:t>使い捨て型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606040"/>
            <a:ext cx="2231136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0">
                <a:solidFill>
                  <a:srgbClr val="252B34"/>
                </a:solidFill>
                <a:latin typeface="Yu Gothic"/>
              </a:rPr>
              <a:t>素早く要求発見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3429000"/>
            <a:ext cx="2231136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67707C"/>
                </a:solidFill>
                <a:latin typeface="Yu Gothic"/>
              </a:rPr>
              <a:t>廃棄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206240"/>
            <a:ext cx="15544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B43237"/>
                </a:solidFill>
                <a:latin typeface="Yu Gothic"/>
              </a:rPr>
              <a:t>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417320"/>
            <a:ext cx="2560320" cy="347472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417320"/>
            <a:ext cx="2560320" cy="146304"/>
          </a:xfrm>
          <a:prstGeom prst="rect">
            <a:avLst/>
          </a:prstGeom>
          <a:solidFill>
            <a:srgbClr val="447E56"/>
          </a:solidFill>
          <a:ln>
            <a:solidFill>
              <a:srgbClr val="447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20440" y="1810512"/>
            <a:ext cx="22860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252B34"/>
                </a:solidFill>
                <a:latin typeface="Yu Gothic"/>
              </a:rPr>
              <a:t>進化型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2606040"/>
            <a:ext cx="2231136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0">
                <a:solidFill>
                  <a:srgbClr val="252B34"/>
                </a:solidFill>
                <a:latin typeface="Yu Gothic"/>
              </a:rPr>
              <a:t>反馈を反映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3429000"/>
            <a:ext cx="2231136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67707C"/>
                </a:solidFill>
                <a:latin typeface="Yu Gothic"/>
              </a:rPr>
              <a:t>最終系统に発展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4206240"/>
            <a:ext cx="15544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447E56"/>
                </a:solidFill>
                <a:latin typeface="Yu Gothic"/>
              </a:rPr>
              <a:t>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417320"/>
            <a:ext cx="2560320" cy="347472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417320"/>
            <a:ext cx="2560320" cy="146304"/>
          </a:xfrm>
          <a:prstGeom prst="rect">
            <a:avLst/>
          </a:prstGeom>
          <a:solidFill>
            <a:srgbClr val="2D67AF"/>
          </a:solidFill>
          <a:ln>
            <a:solidFill>
              <a:srgbClr val="2D6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810512"/>
            <a:ext cx="22860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252B34"/>
                </a:solidFill>
                <a:latin typeface="Yu Gothic"/>
              </a:rPr>
              <a:t>水平型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1" y="2606040"/>
            <a:ext cx="2231136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0">
                <a:solidFill>
                  <a:srgbClr val="252B34"/>
                </a:solidFill>
                <a:latin typeface="Yu Gothic"/>
              </a:rPr>
              <a:t>一层UI/接口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1" y="3429000"/>
            <a:ext cx="2231136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67707C"/>
                </a:solidFill>
                <a:latin typeface="Yu Gothic"/>
              </a:rPr>
              <a:t>見た目確認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59" y="4206240"/>
            <a:ext cx="15544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2D67AF"/>
                </a:solidFill>
                <a:latin typeface="Yu Gothic"/>
              </a:rPr>
              <a:t>一层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1417320"/>
            <a:ext cx="2560320" cy="347472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0" y="1417320"/>
            <a:ext cx="2560320" cy="146304"/>
          </a:xfrm>
          <a:prstGeom prst="rect">
            <a:avLst/>
          </a:prstGeom>
          <a:solidFill>
            <a:srgbClr val="B4872D"/>
          </a:solidFill>
          <a:ln>
            <a:solidFill>
              <a:srgbClr val="B4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60" y="1810512"/>
            <a:ext cx="22860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900" b="1">
                <a:solidFill>
                  <a:srgbClr val="252B34"/>
                </a:solidFill>
                <a:latin typeface="Yu Gothic"/>
              </a:rPr>
              <a:t>垂直型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2606040"/>
            <a:ext cx="2231136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0">
                <a:solidFill>
                  <a:srgbClr val="252B34"/>
                </a:solidFill>
                <a:latin typeface="Yu Gothic"/>
              </a:rPr>
              <a:t>多层深掘り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3429000"/>
            <a:ext cx="2231136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0">
                <a:solidFill>
                  <a:srgbClr val="67707C"/>
                </a:solidFill>
                <a:latin typeface="Yu Gothic"/>
              </a:rPr>
              <a:t>技術的妥当性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4206240"/>
            <a:ext cx="15544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B4872D"/>
                </a:solidFill>
                <a:latin typeface="Yu Gothic"/>
              </a:rPr>
              <a:t>打穿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440680"/>
            <a:ext cx="103327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>
                <a:solidFill>
                  <a:srgbClr val="1A2A44"/>
                </a:solidFill>
                <a:latin typeface="Yu Gothic"/>
              </a:rPr>
              <a:t>PoC＝概念/可行性验证，不等于四种原型本身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2881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7707C"/>
                </a:solidFill>
                <a:latin typeface="Yu Gothic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Yu Gothic"/>
              </a:rPr>
              <a:t>中級Planner認定｜記憶用スライド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80重点用語｜7組の地図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146304"/>
            <a:ext cx="1143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Yu Gothic"/>
              </a:rPr>
              <a:t>用語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1155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7707C"/>
                </a:solidFill>
                <a:latin typeface="Yu Gothic"/>
              </a:rPr>
              <a:t>先记组，再记组内词；避免80个散点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3246120" cy="123444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25880"/>
            <a:ext cx="73152" cy="1234440"/>
          </a:xfrm>
          <a:prstGeom prst="rect">
            <a:avLst/>
          </a:prstGeom>
          <a:solidFill>
            <a:srgbClr val="2D67AF"/>
          </a:solidFill>
          <a:ln>
            <a:solidFill>
              <a:srgbClr val="2D6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435607"/>
            <a:ext cx="292607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52B34"/>
                </a:solidFill>
                <a:latin typeface="Yu Gothic"/>
              </a:rPr>
              <a:t>1 分析手法・モデル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19656"/>
            <a:ext cx="2926079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52B34"/>
                </a:solidFill>
                <a:latin typeface="Yu Gothic"/>
              </a:rPr>
              <a:t>20語｜分析、图、模型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325880"/>
            <a:ext cx="3246120" cy="123444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325880"/>
            <a:ext cx="73152" cy="1234440"/>
          </a:xfrm>
          <a:prstGeom prst="rect">
            <a:avLst/>
          </a:prstGeom>
          <a:solidFill>
            <a:srgbClr val="447E56"/>
          </a:solidFill>
          <a:ln>
            <a:solidFill>
              <a:srgbClr val="447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435607"/>
            <a:ext cx="292607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52B34"/>
                </a:solidFill>
                <a:latin typeface="Yu Gothic"/>
              </a:rPr>
              <a:t>2 要求管理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819656"/>
            <a:ext cx="2926079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52B34"/>
                </a:solidFill>
                <a:latin typeface="Yu Gothic"/>
              </a:rPr>
              <a:t>12語｜要求、追踪、原型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325880"/>
            <a:ext cx="3246120" cy="123444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18120" y="1325880"/>
            <a:ext cx="73152" cy="1234440"/>
          </a:xfrm>
          <a:prstGeom prst="rect">
            <a:avLst/>
          </a:prstGeom>
          <a:solidFill>
            <a:srgbClr val="B4872D"/>
          </a:solidFill>
          <a:ln>
            <a:solidFill>
              <a:srgbClr val="B4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1435607"/>
            <a:ext cx="292607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52B34"/>
                </a:solidFill>
                <a:latin typeface="Yu Gothic"/>
              </a:rPr>
              <a:t>3 ビジネス戦略・概念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1819656"/>
            <a:ext cx="2926079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52B34"/>
                </a:solidFill>
                <a:latin typeface="Yu Gothic"/>
              </a:rPr>
              <a:t>16語｜核心、范围、价值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880360"/>
            <a:ext cx="3246120" cy="123444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880360"/>
            <a:ext cx="73152" cy="1234440"/>
          </a:xfrm>
          <a:prstGeom prst="rect">
            <a:avLst/>
          </a:prstGeom>
          <a:solidFill>
            <a:srgbClr val="B43237"/>
          </a:solidFill>
          <a:ln>
            <a:solidFill>
              <a:srgbClr val="B43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990088"/>
            <a:ext cx="292607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52B34"/>
                </a:solidFill>
                <a:latin typeface="Yu Gothic"/>
              </a:rPr>
              <a:t>4 プロセス・手法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374136"/>
            <a:ext cx="2926079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52B34"/>
                </a:solidFill>
                <a:latin typeface="Yu Gothic"/>
              </a:rPr>
              <a:t>8語｜方法与生命周期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2880360"/>
            <a:ext cx="3246120" cy="123444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60520" y="2880360"/>
            <a:ext cx="73152" cy="1234440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2990088"/>
            <a:ext cx="292607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52B34"/>
                </a:solidFill>
                <a:latin typeface="Yu Gothic"/>
              </a:rPr>
              <a:t>5 ステークホルダー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374136"/>
            <a:ext cx="2926079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52B34"/>
                </a:solidFill>
                <a:latin typeface="Yu Gothic"/>
              </a:rPr>
              <a:t>7語｜角色与合意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2880360"/>
            <a:ext cx="3246120" cy="123444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18120" y="2880360"/>
            <a:ext cx="73152" cy="1234440"/>
          </a:xfrm>
          <a:prstGeom prst="rect">
            <a:avLst/>
          </a:prstGeom>
          <a:solidFill>
            <a:srgbClr val="2D67AF"/>
          </a:solidFill>
          <a:ln>
            <a:solidFill>
              <a:srgbClr val="2D6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2990088"/>
            <a:ext cx="292607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52B34"/>
                </a:solidFill>
                <a:latin typeface="Yu Gothic"/>
              </a:rPr>
              <a:t>6 引出し・確認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3374136"/>
            <a:ext cx="2926079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52B34"/>
                </a:solidFill>
                <a:latin typeface="Yu Gothic"/>
              </a:rPr>
              <a:t>8語｜访谈、评审、PoC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60520" y="4434840"/>
            <a:ext cx="3246120" cy="123444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60520" y="4434840"/>
            <a:ext cx="73152" cy="1234440"/>
          </a:xfrm>
          <a:prstGeom prst="rect">
            <a:avLst/>
          </a:prstGeom>
          <a:solidFill>
            <a:srgbClr val="447E56"/>
          </a:solidFill>
          <a:ln>
            <a:solidFill>
              <a:srgbClr val="447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43400" y="4544568"/>
            <a:ext cx="292607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252B34"/>
                </a:solidFill>
                <a:latin typeface="Yu Gothic"/>
              </a:rPr>
              <a:t>7 プロジェクト・その他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43400" y="4928616"/>
            <a:ext cx="2926079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52B34"/>
                </a:solidFill>
                <a:latin typeface="Yu Gothic"/>
              </a:rPr>
              <a:t>9語｜WBS/ROI/RFP等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52881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7707C"/>
                </a:solidFill>
                <a:latin typeface="Yu Gothic"/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Yu Gothic"/>
              </a:rPr>
              <a:t>中級Planner認定｜記憶用スライド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用語｜分析手法・モデル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146304"/>
            <a:ext cx="1143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Yu Gothic"/>
              </a:rPr>
              <a:t>用語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1155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7707C"/>
                </a:solidFill>
                <a:latin typeface="Yu Gothic"/>
              </a:rPr>
              <a:t>日本語 → 一句定义；中文仅用于确认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207008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207008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CRUDマトリクス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197864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CRUD矩阵｜ユーザー役割が情報エンティティーに対して持つ権限（作成・読取・更新・削除）を示す2次元マトリクス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57984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221991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21991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ER図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12848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ER图/实体关系图｜問題領域のエンティティーとその関係を図で表現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72968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236975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236975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SWOT分析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227832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SWOT分析｜強み(S)・弱み(W)・機会(O)・脅威(T)の4象限で組織の内外の状態を評価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187952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4251960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251960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ギャップ分析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242816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差距分析｜現状(As-Is)と将来(To-Be)を比較し、対処すべき差異を特定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202936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5266944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266944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競合分析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5257799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竞争分析｜業界の構造的評価で競合者のやり方と長期的収益性を判断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1143000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1207008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7999" y="1207008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根本原因分析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1197864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根本原因分析｜問題の根本的な原因を体系的に調査。フィッシュボーン図や5Whyを使用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59" y="2157984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2221991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7999" y="2221991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フィッシュボーン・ダイヤグラム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2212848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鱼骨图/特性要因图｜根本原因とその関係を図解。別名：特性要因図・石川ダイヤグラム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59" y="3172968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088" y="3236975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7999" y="3236975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特性要因図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3227832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特性要因图｜= フィッシュボーン・ダイヤグラム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59" y="4187952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088" y="4251960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7999" y="4251960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影響分析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400" y="4242816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影响分析｜チェンジがステークホルダーやシステムに及ぼす影響の評価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59" y="5202936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19088" y="5266944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7999" y="5266944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決定分析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15400" y="5257799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决策分析｜決定がもたらす結果を調査・モデリングする意思決定アプローチ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81360" y="652881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7707C"/>
                </a:solidFill>
                <a:latin typeface="Yu Gothic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Yu Gothic"/>
              </a:rPr>
              <a:t>中級Planner認定｜記憶用スライド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用語｜分析手法・モデル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146304"/>
            <a:ext cx="1143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Yu Gothic"/>
              </a:rPr>
              <a:t>用語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1155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7707C"/>
                </a:solidFill>
                <a:latin typeface="Yu Gothic"/>
              </a:rPr>
              <a:t>日本語 → 一句定义；中文仅用于确认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207008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207008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コスト便益分析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197864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成本效益分析｜コストと便益を定量化して比較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57984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221991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21991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コンセプト・モデル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12848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概念模型｜問題領域の中核的概念の意味と構造を定義する分析モデル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72968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236975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236975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プロセス・モデル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227832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过程模型｜プロセスと影響要素の図と支援情報の集合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187952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4251960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251960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状態遷移図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242816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状态图/状态转换图｜データエンティティーのライフサイクルを示す分析モデル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202936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5266944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266944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シーケンス図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5257799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序列图｜オブジェクト間の相互作用とメッセージ交換を示す図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1143000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1207008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7999" y="1207008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スコープ・モデル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1197864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范围模型｜業務領域またはソリューションの境界を定義するモデル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59" y="2157984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2221991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17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7999" y="2221991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ベンチマーク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2212848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标杆分析｜業界トップレベル他社と比較して改善機会を特定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59" y="3172968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088" y="3236975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18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7999" y="3236975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バリュー・ストリーム・マッピング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3227832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价值流映射｜プロダクト提供のアクティビティー流れを時系列表現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59" y="4187952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088" y="4251960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19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7999" y="4251960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ユースケース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400" y="4242816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用例｜アクターとソリューションの観察可能な相互作用を記述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59" y="5202936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19088" y="5266944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7999" y="5266944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スイムレーン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15400" y="5257799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泳道｜プロセス図中の区域。アクターや役割がどのアクティビティーを実行するかを示す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81360" y="652881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7707C"/>
                </a:solidFill>
                <a:latin typeface="Yu Gothic"/>
              </a:rPr>
              <a:t>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Yu Gothic"/>
              </a:rPr>
              <a:t>中級Planner認定｜記憶用スライド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用語｜要求管理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146304"/>
            <a:ext cx="1143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Yu Gothic"/>
              </a:rPr>
              <a:t>用語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1155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7707C"/>
                </a:solidFill>
                <a:latin typeface="Yu Gothic"/>
              </a:rPr>
              <a:t>日本語 → 一句定义；中文仅用于确认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207008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207008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受け入れ基準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197864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验收标准｜ステークホルダーの受け入れを得るために満たさなければならない基準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57984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221991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21991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要求のトレーサビリティ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12848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需求可追踪性｜ニーズからソリューションまで要求の関係を追跡する能力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72968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236975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236975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要求欠陥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227832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需求缺陷｜要求の問題または誤り。品質低下一または価値提供不足が原因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187952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4251960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251960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優先順位付け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242816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优先级｜一連の項目の相対的重要度を決定し対処順序を決めること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202936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5266944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266944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ユーザー・ストーリー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5257799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用户故事｜特定ステークホルダーに価値を提供する機能/品質を簡潔に記述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1143000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1207008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7999" y="1207008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プロダクト・バックログ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1197864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产品待办列表｜優先順位付きのユーザーストーリー・要求・フィーチャーの集合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59" y="2157984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2221991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7999" y="2221991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トレーサビリティ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2212848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可追踪性｜= 要求のトレーサビリティ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59" y="3172968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088" y="3236975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28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7999" y="3236975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ワークショップ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3227832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研讨会/车间｜ファシリテーション付きの焦点を絞ったイベント。ステークホルダー出席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59" y="4187952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088" y="4251960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29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7999" y="4251960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プロトタイプ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400" y="4242816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原型｜要求を引き出す/検証する目的でソリューションを部分的に模擬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59" y="5202936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19088" y="5266944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30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7999" y="5266944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進化的プロトタイプ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15400" y="5257799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进化型原型｜フィードバックを反映して継続的に修正・更新するプロトタイプ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81360" y="652881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7707C"/>
                </a:solidFill>
                <a:latin typeface="Yu Gothic"/>
              </a:rPr>
              <a:t>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Yu Gothic"/>
              </a:rPr>
              <a:t>中級Planner認定｜記憶用スライド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用語｜要求管理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146304"/>
            <a:ext cx="1143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Yu Gothic"/>
              </a:rPr>
              <a:t>用語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1155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7707C"/>
                </a:solidFill>
                <a:latin typeface="Yu Gothic"/>
              </a:rPr>
              <a:t>日本語 → 一句定义；中文仅用于确认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207008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207008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使い捨て型プロトタイプ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197864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一次性原型｜紙と鉛筆等で素早く要求を発見。最終システム開発後に廃棄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143000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207008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7999" y="1207008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垂直プロトタイプ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1197864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垂直原型｜ソリューションの複数レイヤーを通して深く掘り下げるプロトタイプ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52881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7707C"/>
                </a:solidFill>
                <a:latin typeface="Yu Gothic"/>
              </a:rPr>
              <a:t>13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Yu Gothic"/>
              </a:rPr>
              <a:t>中級Planner認定｜記憶用スライド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用語｜ビジネス戦略・概念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146304"/>
            <a:ext cx="1143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Yu Gothic"/>
              </a:rPr>
              <a:t>用語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1155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7707C"/>
                </a:solidFill>
                <a:latin typeface="Yu Gothic"/>
              </a:rPr>
              <a:t>日本語 → 一句定义；中文仅用于确认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207008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207008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コア・コンセプト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197864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核心概念｜ビジネスアナリシスの6個の基本アイデア：**チェンジ・ニーズ・ソリューション・コンテキスト・ステークホルダー・価値**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57984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221991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21991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ビジネスアナリシス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12848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商业分析｜ニーズを定義しソリューションを推奨してチェンジを引き起こす専門活動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72968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236975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236975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ビジネスアナリスト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227832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业务分析师｜職名・組織上の役割に関係なくビジネスアナリシスを実施する人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187952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4251960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251960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コンテキスト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242816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上下文/语境｜チェンジに影響を及ぼし/受け/理解できる周囲環境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202936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5266944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37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266944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ビジネス・アーキテクチャー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5257799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业务架构｜エンタープライズの現状/将来のデザイン・構造・振る舞いの集合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1143000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1207008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38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7999" y="1207008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ソリューション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1197864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解决方案｜コンテキストでニーズを満たす具体的な方法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59" y="2157984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2221991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39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7999" y="2221991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ソリューション・コンポーネント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2212848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解决方案组件｜人・インフラ・ハードウェア・ソフトウェア等の構成要素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59" y="3172968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088" y="3236975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7999" y="3236975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ソリューション・スコープ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3227832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解决方案范围｜ビジネスニーズを満たすためにソリューションが提供すべき一連の能力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59" y="4187952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088" y="4251960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41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7999" y="4251960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ソリューション・ライフサイクル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400" y="4242816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解决方案生命周期｜ソリューションが着手から廃棄まで進展する過程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59" y="5202936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19088" y="5266944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42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7999" y="5266944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制約条件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15400" y="5257799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约束条件｜ソリューション候補に制限を課す変更不能な影響要因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81360" y="652881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7707C"/>
                </a:solidFill>
                <a:latin typeface="Yu Gothic"/>
              </a:rPr>
              <a:t>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Yu Gothic"/>
              </a:rPr>
              <a:t>中級Planner認定｜記憶用スライド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用語｜ビジネス戦略・概念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146304"/>
            <a:ext cx="1143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Yu Gothic"/>
              </a:rPr>
              <a:t>用語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1155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7707C"/>
                </a:solidFill>
                <a:latin typeface="Yu Gothic"/>
              </a:rPr>
              <a:t>日本語 → 一句定义；中文仅用于确认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207008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207008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ビジネス・ポリシー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197864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业务策略｜エンタープライズの行動を制御する非実行型の指示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34639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898647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898647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フィージビリティ・スタディ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889503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可行性研究｜代替案が技術的・組織的・経済的に実現可能かを判断する評価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526279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4590288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590288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フィーチャー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581143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特性｜関連の強い一連の要求を実行し価値を提供するソリューションの特性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1143000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1207008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46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7999" y="1207008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プロダクト・ビジョン・ステートメント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1197864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产品愿景声明｜ソリューションのゴールと戦略支援方法を簡潔に記述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2834639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2898647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7999" y="2898647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ミッション・ステートメント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2889503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使命声明｜エンタープライズの中核目的を表現する価値観とゴールの宣言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4526279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4590288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7999" y="4590288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チェンジ・エージェント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4581143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变革代理人｜チェンジの触媒となる人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0" y="652881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7707C"/>
                </a:solidFill>
                <a:latin typeface="Yu Gothic"/>
              </a:rPr>
              <a:t>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Yu Gothic"/>
              </a:rPr>
              <a:t>中級Planner認定｜記憶用スライド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用語｜プロセス・手法 1/1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146304"/>
            <a:ext cx="1143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Yu Gothic"/>
              </a:rPr>
              <a:t>用語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1155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7707C"/>
                </a:solidFill>
                <a:latin typeface="Yu Gothic"/>
              </a:rPr>
              <a:t>日本語 → 一句定义；中文仅用于确认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207008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207008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BPM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197864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业务流程管理｜手作業/自動化プロセスを構築・修正・管理するマネジメント分野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11730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475738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475738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予測型アプローチ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466594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预测型方法｜早期に計画確定→コントロール最大化・リスク最小化（ウォーターフォール型）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680460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744468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51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744468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ダイナミック・システム開発方法論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735324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动态系统开发方法｜コスト・品質・時間を固定し成果形態を変えるプロジェクトフレームワーク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949190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5013198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52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013198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タイムボックス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5004053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时间盒｜アクティビティー実施や成果物作成の意図された時間枠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1143000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1207008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53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7999" y="1207008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ガバナンス・プロセス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1197864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治理流程｜適切な意思決定者が情報を使ってチェンジ/ソリューションに関する意思決定を行うプロセス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2411730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75738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54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7999" y="2475738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ガイドライン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2466594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指南｜タスクを実行する理由や方法に関する指示または記述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59" y="3680460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744468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55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7999" y="3744468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ライフサイクル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3735324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生命周期｜発生から廃棄まで経由する一連の変化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59" y="4949190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088" y="5013198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56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7999" y="5013198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妥当性確認(ビジネスアナリシス)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5004053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确认/验证｜成果物が意図した用途に適しているかチェックするプロセス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652881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7707C"/>
                </a:solidFill>
                <a:latin typeface="Yu Gothic"/>
              </a:rPr>
              <a:t>16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Yu Gothic"/>
              </a:rPr>
              <a:t>中級Planner認定｜記憶用スライド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用語｜ステークホルダー関連 1/1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146304"/>
            <a:ext cx="1143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Yu Gothic"/>
              </a:rPr>
              <a:t>用語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1155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7707C"/>
                </a:solidFill>
                <a:latin typeface="Yu Gothic"/>
              </a:rPr>
              <a:t>日本語 → 一句定义；中文仅用于确认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207008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207008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ステークホルダー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197864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利益相关者｜チーム・ニーズ・ソリューションに関係を持つ個人またはグループ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11730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475738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58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475738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ステークホルダー・プロキシー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466594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利益相关者代理人｜ステークホルダーのニーズを代表するBAの役割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680460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744468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59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744468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エンド・ユーザー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735324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最终用户｜ソリューションと直接的な関わりを持つステークホルダー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949190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5013198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013198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アクター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5004053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参与者/角色｜ソリューションと相互作用する人・装置・システム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1143000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1207008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61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7999" y="1207008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コンポーネント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1197864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组件｜より大きな全体の中で一意的に特定可能な要素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2411730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75738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62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7999" y="2475738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ビジネス・プロセス・マネジメント(BPM)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2466594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业务流程管理(BPM)｜プロセスを構築・修正・中止・管理する方法を決定する分野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59" y="3680460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744468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63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7999" y="3744468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ファシリテーション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3735324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引导/促进｜合意された目標に向かって参加者を励まし導く体系的な技術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52881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7707C"/>
                </a:solidFill>
                <a:latin typeface="Yu Gothic"/>
              </a:rPr>
              <a:t>17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Yu Gothic"/>
              </a:rPr>
              <a:t>中級Planner認定｜記憶用スライド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用語｜引出し・確認手法 1/1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146304"/>
            <a:ext cx="1143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Yu Gothic"/>
              </a:rPr>
              <a:t>用語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1155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7707C"/>
                </a:solidFill>
                <a:latin typeface="Yu Gothic"/>
              </a:rPr>
              <a:t>日本語 → 一句定义；中文仅用于确认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207008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207008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インタビュー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197864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采访｜個人/グループに質問し回答を記録して情報を引き出す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11730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475738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475738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ウォークスルー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466594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走查｜成果物を通して誤り・不整合・脱落を見つけるレビュー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680460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744468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66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744468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ブレーンストーミング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735324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头脑风暴｜批判なしでアイデアを素早く出すチームアクティビティー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949190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5013198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013198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ビア・レビュー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5004053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同行评审｜ワークプロダクトの公式/非公式なレビュー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1143000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1207008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68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7999" y="1207008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概念実証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1197864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概念验证｜ソリューションのデザインの妥当性を確認するモデル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2411730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75738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69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7999" y="2475738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水平プロトタイプ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2466594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水平原型｜ソリューションの一つのレベルにおける要求とデザインを調査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59" y="3680460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3744468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70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7999" y="3744468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イベント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3735324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事件｜組織ユニット・システム・プロセスが対応すべき発生事象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52881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7707C"/>
                </a:solidFill>
                <a:latin typeface="Yu Gothic"/>
              </a:rPr>
              <a:t>18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Yu Gothic"/>
              </a:rPr>
              <a:t>中級Planner認定｜記憶用スライド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用語｜プロジェクト・その他 1/1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146304"/>
            <a:ext cx="1143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Yu Gothic"/>
              </a:rPr>
              <a:t>用語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1155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7707C"/>
                </a:solidFill>
                <a:latin typeface="Yu Gothic"/>
              </a:rPr>
              <a:t>日本語 → 一句定义；中文仅用于确认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207008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207008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WBS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197864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工作分解结构｜作業を成果物指向で階層的に分解したもの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57984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221991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72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221991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ROI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12848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投资回报率｜投資の収益性の評価指標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172968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3236975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73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236975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SOW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227832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工作说明书｜実行を要求されるサービス/タスクを文章で記述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187952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4251960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74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251960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UAT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242816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用户验收测试｜ソリューションがステークホルダーのニーズを満たすか評価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202936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5266944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75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5266944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RFP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08960" y="5257799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提案要求書｜ベンダーに正式な見積提案を求める要求文書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1143000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1207008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76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7999" y="1207008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UML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1197864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统一建模语言｜ソフトウェアの構造・振る舞い・アーキテクチャーを記述する表記法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59" y="2157984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19088" y="2221991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77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7999" y="2221991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プロジェクト・スコープ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2212848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项目范围｜指定されたプロダクト/サービスを提供するために実行すべき作業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59" y="3172968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088" y="3236975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78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7999" y="3236975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リスク・アセスメント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3227832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风险评估｜リスクの特定・分析・評価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59" y="4187952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9088" y="4251960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79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7999" y="4251960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リポジトリ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15400" y="4242816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存储库｜特定トピックの情報が格納され検索可能な設備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59" y="5202936"/>
            <a:ext cx="5486400" cy="9144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19088" y="5266944"/>
            <a:ext cx="384048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7707C"/>
                </a:solidFill>
                <a:latin typeface="Yu Gothic"/>
              </a:rPr>
              <a:t>80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7999" y="5266944"/>
            <a:ext cx="20574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領域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15400" y="5257799"/>
            <a:ext cx="2743200" cy="8046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领域/域｜共通する要求・用語・機能を定義する知識の範囲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81360" y="652881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7707C"/>
                </a:solidFill>
                <a:latin typeface="Yu Gothic"/>
              </a:rPr>
              <a:t>19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Yu Gothic"/>
              </a:rPr>
              <a:t>中級Planner認定｜記憶用スライド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Quick Check｜80用語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146304"/>
            <a:ext cx="1143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Yu Gothic"/>
              </a:rPr>
              <a:t>用語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1155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7707C"/>
                </a:solidFill>
                <a:latin typeface="Yu Gothic"/>
              </a:rPr>
              <a:t>看到中文/定义，先说日语名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88720"/>
            <a:ext cx="521208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98448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67707C"/>
                </a:solidFill>
                <a:latin typeface="Yu Gothic"/>
              </a:rPr>
              <a:t>差距分析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298448"/>
            <a:ext cx="29718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A2A44"/>
                </a:solidFill>
                <a:latin typeface="Yu Gothic"/>
              </a:rPr>
              <a:t>→ ギャップ分析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188720"/>
            <a:ext cx="521208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98448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67707C"/>
                </a:solidFill>
                <a:latin typeface="Yu Gothic"/>
              </a:rPr>
              <a:t>验收标准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298448"/>
            <a:ext cx="29718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A2A44"/>
                </a:solidFill>
                <a:latin typeface="Yu Gothic"/>
              </a:rPr>
              <a:t>→ 受け入れ基準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377440"/>
            <a:ext cx="521208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87168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67707C"/>
                </a:solidFill>
                <a:latin typeface="Yu Gothic"/>
              </a:rPr>
              <a:t>需求可追踪性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487168"/>
            <a:ext cx="29718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A2A44"/>
                </a:solidFill>
                <a:latin typeface="Yu Gothic"/>
              </a:rPr>
              <a:t>→ 要求のトレーサビリティ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2377440"/>
            <a:ext cx="521208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487168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67707C"/>
                </a:solidFill>
                <a:latin typeface="Yu Gothic"/>
              </a:rPr>
              <a:t>最终用户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487168"/>
            <a:ext cx="29718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A2A44"/>
                </a:solidFill>
                <a:latin typeface="Yu Gothic"/>
              </a:rPr>
              <a:t>→ エンド・ユーザー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566160"/>
            <a:ext cx="521208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675888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67707C"/>
                </a:solidFill>
                <a:latin typeface="Yu Gothic"/>
              </a:rPr>
              <a:t>概念验证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3675888"/>
            <a:ext cx="29718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A2A44"/>
                </a:solidFill>
                <a:latin typeface="Yu Gothic"/>
              </a:rPr>
              <a:t>→ 概念実証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80" y="3566160"/>
            <a:ext cx="521208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675888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67707C"/>
                </a:solidFill>
                <a:latin typeface="Yu Gothic"/>
              </a:rPr>
              <a:t>治理过程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675888"/>
            <a:ext cx="29718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A2A44"/>
                </a:solidFill>
                <a:latin typeface="Yu Gothic"/>
              </a:rPr>
              <a:t>→ ガバナンス・プロセス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754880"/>
            <a:ext cx="521208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864608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67707C"/>
                </a:solidFill>
                <a:latin typeface="Yu Gothic"/>
              </a:rPr>
              <a:t>产品愿景声明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4864608"/>
            <a:ext cx="29718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A2A44"/>
                </a:solidFill>
                <a:latin typeface="Yu Gothic"/>
              </a:rPr>
              <a:t>→ プロダクト・ビジョン・ステートメント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55080" y="4754880"/>
            <a:ext cx="5212080" cy="8778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864608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67707C"/>
                </a:solidFill>
                <a:latin typeface="Yu Gothic"/>
              </a:rPr>
              <a:t>状态转换图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864608"/>
            <a:ext cx="29718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1A2A44"/>
                </a:solidFill>
                <a:latin typeface="Yu Gothic"/>
              </a:rPr>
              <a:t>→ 状態遷移図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897880"/>
            <a:ext cx="10515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B43237"/>
                </a:solidFill>
                <a:latin typeface="Yu Gothic"/>
              </a:rPr>
              <a:t>答题时先说日本語，再补一句意味。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2881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7707C"/>
                </a:solidFill>
                <a:latin typeface="Yu Gothic"/>
              </a:rPr>
              <a:t>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Yu Gothic"/>
              </a:rPr>
              <a:t>中級Planner認定｜記憶用スライド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BABOK第10章｜50技術の10組地図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146304"/>
            <a:ext cx="1143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Yu Gothic"/>
              </a:rPr>
              <a:t>50技術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1155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7707C"/>
                </a:solidFill>
                <a:latin typeface="Yu Gothic"/>
              </a:rPr>
              <a:t>方法不是50个散点：按用途分组更好记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5486400" cy="749808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73152" cy="749808"/>
          </a:xfrm>
          <a:prstGeom prst="rect">
            <a:avLst/>
          </a:prstGeom>
          <a:solidFill>
            <a:srgbClr val="2D67AF"/>
          </a:solidFill>
          <a:ln>
            <a:solidFill>
              <a:srgbClr val="2D6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52728"/>
            <a:ext cx="5166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A 评价与决策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36776"/>
            <a:ext cx="5166360" cy="17373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252B34"/>
                </a:solidFill>
                <a:latin typeface="Yu Gothic"/>
              </a:rPr>
              <a:t>1,7,16,17,20,28,33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143000"/>
            <a:ext cx="5486400" cy="749808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143000"/>
            <a:ext cx="73152" cy="749808"/>
          </a:xfrm>
          <a:prstGeom prst="rect">
            <a:avLst/>
          </a:prstGeom>
          <a:solidFill>
            <a:srgbClr val="447E56"/>
          </a:solidFill>
          <a:ln>
            <a:solidFill>
              <a:srgbClr val="447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52728"/>
            <a:ext cx="5166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B 战略与市场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36776"/>
            <a:ext cx="5166360" cy="17373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252B34"/>
                </a:solidFill>
                <a:latin typeface="Yu Gothic"/>
              </a:rPr>
              <a:t>3,4,6,8,46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103120"/>
            <a:ext cx="5486400" cy="749808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103120"/>
            <a:ext cx="73152" cy="749808"/>
          </a:xfrm>
          <a:prstGeom prst="rect">
            <a:avLst/>
          </a:prstGeom>
          <a:solidFill>
            <a:srgbClr val="B4872D"/>
          </a:solidFill>
          <a:ln>
            <a:solidFill>
              <a:srgbClr val="B4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212848"/>
            <a:ext cx="5166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C 引出与协作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596896"/>
            <a:ext cx="5166360" cy="17373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252B34"/>
                </a:solidFill>
                <a:latin typeface="Yu Gothic"/>
              </a:rPr>
              <a:t>5,10,21,25,31,45,50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2103120"/>
            <a:ext cx="5486400" cy="749808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59" y="2103120"/>
            <a:ext cx="73152" cy="74980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212848"/>
            <a:ext cx="5166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D 数据与概念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596896"/>
            <a:ext cx="5166360" cy="17373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252B34"/>
                </a:solidFill>
                <a:latin typeface="Yu Gothic"/>
              </a:rPr>
              <a:t>11–15,23,24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063240"/>
            <a:ext cx="5486400" cy="749808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063240"/>
            <a:ext cx="73152" cy="749808"/>
          </a:xfrm>
          <a:prstGeom prst="rect">
            <a:avLst/>
          </a:prstGeom>
          <a:solidFill>
            <a:srgbClr val="B43237"/>
          </a:solidFill>
          <a:ln>
            <a:solidFill>
              <a:srgbClr val="B43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172968"/>
            <a:ext cx="5166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E 流程与范围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557016"/>
            <a:ext cx="5166360" cy="17373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252B34"/>
                </a:solidFill>
                <a:latin typeface="Yu Gothic"/>
              </a:rPr>
              <a:t>22,34,35,41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3063240"/>
            <a:ext cx="5486400" cy="749808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59" y="3063240"/>
            <a:ext cx="73152" cy="749808"/>
          </a:xfrm>
          <a:prstGeom prst="rect">
            <a:avLst/>
          </a:prstGeom>
          <a:solidFill>
            <a:srgbClr val="2D67AF"/>
          </a:solidFill>
          <a:ln>
            <a:solidFill>
              <a:srgbClr val="2D6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172968"/>
            <a:ext cx="5166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F 需求表达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557016"/>
            <a:ext cx="5166360" cy="17373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252B34"/>
                </a:solidFill>
                <a:latin typeface="Yu Gothic"/>
              </a:rPr>
              <a:t>2,9,30,47,48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4023360"/>
            <a:ext cx="5486400" cy="749808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4023360"/>
            <a:ext cx="73152" cy="749808"/>
          </a:xfrm>
          <a:prstGeom prst="rect">
            <a:avLst/>
          </a:prstGeom>
          <a:solidFill>
            <a:srgbClr val="447E56"/>
          </a:solidFill>
          <a:ln>
            <a:solidFill>
              <a:srgbClr val="447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133088"/>
            <a:ext cx="5166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G 模型与原型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517136"/>
            <a:ext cx="5166360" cy="17373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252B34"/>
                </a:solidFill>
                <a:latin typeface="Yu Gothic"/>
              </a:rPr>
              <a:t>29,36,42,44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59" y="4023360"/>
            <a:ext cx="5486400" cy="749808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59" y="4023360"/>
            <a:ext cx="73152" cy="749808"/>
          </a:xfrm>
          <a:prstGeom prst="rect">
            <a:avLst/>
          </a:prstGeom>
          <a:solidFill>
            <a:srgbClr val="B4872D"/>
          </a:solidFill>
          <a:ln>
            <a:solidFill>
              <a:srgbClr val="B4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4133088"/>
            <a:ext cx="5166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H 组织与干系人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517136"/>
            <a:ext cx="5166360" cy="17373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252B34"/>
                </a:solidFill>
                <a:latin typeface="Yu Gothic"/>
              </a:rPr>
              <a:t>32,39,43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4983480"/>
            <a:ext cx="5486400" cy="749808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4983480"/>
            <a:ext cx="73152" cy="74980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093208"/>
            <a:ext cx="5166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I 管理与治理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477256"/>
            <a:ext cx="5166360" cy="17373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252B34"/>
                </a:solidFill>
                <a:latin typeface="Yu Gothic"/>
              </a:rPr>
              <a:t>19,26,27,38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59" y="4983480"/>
            <a:ext cx="5486400" cy="749808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9359" y="4983480"/>
            <a:ext cx="73152" cy="749808"/>
          </a:xfrm>
          <a:prstGeom prst="rect">
            <a:avLst/>
          </a:prstGeom>
          <a:solidFill>
            <a:srgbClr val="B43237"/>
          </a:solidFill>
          <a:ln>
            <a:solidFill>
              <a:srgbClr val="B43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5093208"/>
            <a:ext cx="51663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J 审查与供应商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5477256"/>
            <a:ext cx="5166360" cy="173735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0">
                <a:solidFill>
                  <a:srgbClr val="252B34"/>
                </a:solidFill>
                <a:latin typeface="Yu Gothic"/>
              </a:rPr>
              <a:t>18,37,40,49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81360" y="652881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7707C"/>
                </a:solidFill>
                <a:latin typeface="Yu Gothic"/>
              </a:rPr>
              <a:t>21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Yu Gothic"/>
              </a:rPr>
              <a:t>中級Planner認定｜記憶用スライド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50技術｜1–5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146304"/>
            <a:ext cx="1143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Yu Gothic"/>
              </a:rPr>
              <a:t>50技術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1155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7707C"/>
                </a:solidFill>
                <a:latin typeface="Yu Gothic"/>
              </a:rPr>
              <a:t>目的先行：技术名 → 目的 → 关键词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78992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161288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152144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アクセプタンス＆評価基準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143000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アクセプタンス基準はソリューションが受け入れ可能となる最低条件を定義。評価基準は複数ソリューション間で比較選択するための測定措置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42832" y="1143000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要素:価値属性（ソリューションの特徴で価値を決定/影響するもの）、可測定性、可試験性 / 長所:契約義務の表現に必要、ROI達成の支援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03120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185415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176272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バックログ管理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167127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残作業項目の記録・追跡・優先順位付け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2832" y="2167127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要素:ユーザーストーリー、変更要求、欠陥、機能要求、非機能要求、リスク等を含む / ポイント:アジャイル開発の中核ツール。プロダクトバックログとスプリントバックログの2レベル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27248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209544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200400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バランススコアカード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191256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ビジネスモデル・組織構造・業務プロセスのパフォーマンス管理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2832" y="3191256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4視点:①学習と成長 ②業務プロセス ③顧客 ④財務 / ポイント:戦略を4つの視点から測定可能な指標に変換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151376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233672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224528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ベンチマーク＆市場分析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4215384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組織の能力を他社/市場と比較して改善機会を特定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4215384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要素:ベンチマーク（他社との比較）、市場分析（市場の傾向とパターン）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175504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5257800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248656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ブレーンストーミング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5239512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多様な新しいアイデアを大量に生成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42832" y="5239512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ルール:批判禁止、量重視、自由連想、他者のアイデアへの乗り推奨 / 要素:準備→セッション実施→アイデアの絞り込み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2881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7707C"/>
                </a:solidFill>
                <a:latin typeface="Yu Gothic"/>
              </a:rPr>
              <a:t>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Yu Gothic"/>
              </a:rPr>
              <a:t>中級Planner認定｜記憶用スライド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50技術｜6–10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146304"/>
            <a:ext cx="1143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Yu Gothic"/>
              </a:rPr>
              <a:t>50技術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1155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7707C"/>
                </a:solidFill>
                <a:latin typeface="Yu Gothic"/>
              </a:rPr>
              <a:t>目的先行：技术名 → 目的 → 关键词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78992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161288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152144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ビジネス能力分析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143000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企業が何をできるか（何をすべきか）を表す能力を戦略的視点で分析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42832" y="1143000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要素:能力マップ、能力の階層化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03120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185415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176272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ビジネス・ケース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167127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提案ソリューションの便益をコスト等と比較して行動を論証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2832" y="2167127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要素:必要な変更、推奨ソリューション、期待価値、タイムライン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27248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209544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200400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ビジネスモデルキャンバス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191256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企業が顧客に価値をどう創造・提供・獲得するかを記述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2832" y="3191256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9要素:①主要パートナー ②主要活動 ③価値提案 ④顧客との関係 ⑤顧客セグメント ⑥主要リソース ⑦チャネル ⑧コスト構造 ⑨収益の流れ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151376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233672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224528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ビジネスルール分析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4215384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日常の業務行動を形成し運用上の意思決定を導くルールの特定・表現・検証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4215384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2種類:行動ビジネスルール（義務を課す/禁止する）、定義付けビジネスルール（何かが正しい/正しくないことを示す）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175504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5257800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248656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コラボレーション・ゲーム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5239512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参加者が協力して問題/ソリューションの共通理解を構築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42832" y="5239512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ポイント:ゲームのルールで参加者を特定目標に集中させる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2881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7707C"/>
                </a:solidFill>
                <a:latin typeface="Yu Gothic"/>
              </a:rPr>
              <a:t>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Yu Gothic"/>
              </a:rPr>
              <a:t>中級Planner認定｜記憶用スライド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50技術｜11–15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146304"/>
            <a:ext cx="1143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Yu Gothic"/>
              </a:rPr>
              <a:t>50技術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1155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7707C"/>
                </a:solidFill>
                <a:latin typeface="Yu Gothic"/>
              </a:rPr>
              <a:t>目的先行：技术名 → 目的 → 关键词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78992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161288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152144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コンセプト・モデリング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143000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領域知識を伝達するためのビジネス用語集を組織化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42832" y="1143000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ポイント:データ/実装バイアスのない高品質な定義を重視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03120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185415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176272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データ辞書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167127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データ要素の定義を標準化し共通解釈を実現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2832" y="2167127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要素:データ要素の定義、意味、許容値、複合データ要素の構成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27248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209544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200400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データフロー図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191256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データの出所、処理アクティビティー、出力先を表示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2832" y="3191256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要素:外部エンティティー、プロセス、データストア、データフロー / レベル:コンテキスト図（Level 0）→ レベル1、2...と段階的に詳細化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151376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233672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224528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データマイニング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4215384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データから有用なパターンと洞察を発見して意思決定を改善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4215384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ポイント:数学的モデル/方程式でパターンと関係を記述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175504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5257800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248656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データ・モデリング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5239512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ドメイン関連のエンティティー・属性・関係を記述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42832" y="5239512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3レベル:概念データモデル → 論理データモデル → 物理データモデル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2881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7707C"/>
                </a:solidFill>
                <a:latin typeface="Yu Gothic"/>
              </a:rPr>
              <a:t>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Yu Gothic"/>
              </a:rPr>
              <a:t>中級Planner認定｜記憶用スライド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50技術｜16–20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146304"/>
            <a:ext cx="1143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Yu Gothic"/>
              </a:rPr>
              <a:t>50技術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1155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7707C"/>
                </a:solidFill>
                <a:latin typeface="Yu Gothic"/>
              </a:rPr>
              <a:t>目的先行：技术名 → 目的 → 关键词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78992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161288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152144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決定分析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143000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異なる決定がもたらす結果を調査・モデリング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42832" y="1143000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要素:決定ツリー、期待値計算、不確実性下での最適化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03120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185415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176272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ディシジョン・モデリング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167127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繰り返し可能なビジネス上の意思決定がどう行われるかを表示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2832" y="2167127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要素:決定表、決定ツリー、複合ディシジョンモデル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27248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209544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18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200400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ドキュメント分析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191256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既存の文書から要求を引き出す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2832" y="3191256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対象:マニュアル、フォーム、レポート、契約書等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151376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233672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224528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見積り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4215384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不確実性を考慮した計画成果・リソース・スケジュールの定量的評価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4215384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/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175504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5257800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248656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財務分析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5239512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投資/ソリューションの財務的側面を理解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42832" y="5239512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手法:ROI、NPV（正味現在価値）、IRR（内部収益率）、回収期間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2881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7707C"/>
                </a:solidFill>
                <a:latin typeface="Yu Gothic"/>
              </a:rPr>
              <a:t>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Yu Gothic"/>
              </a:rPr>
              <a:t>中級Planner認定｜記憶用スライド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50技術｜21–25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146304"/>
            <a:ext cx="1143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Yu Gothic"/>
              </a:rPr>
              <a:t>50技術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1155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7707C"/>
                </a:solidFill>
                <a:latin typeface="Yu Gothic"/>
              </a:rPr>
              <a:t>目的先行：技术名 → 目的 → 关键词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78992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161288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152144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フォーカス・グループ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143000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対話型グループ環境で特定プロダクト/サービスに関する意見を引き出す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42832" y="1143000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ポイント:モデレーターが主導、資格審査済み参加者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03120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185415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176272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機能分解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167127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問題を構成要素に分解して分析と理解を促進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2832" y="2167127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ポイント:階層的に分解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27248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209544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200400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用語集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191256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業務領域のキー用語を定義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2832" y="3191256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ポイント:全ステークホルダーが共通言語でコミュニケーション可能に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151376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233672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224528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インターフェース分析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4215384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ソリューションコンポーネント間でどこで・何を・なぜ・いつ・どうやって情報交換するかを特定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4215384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タイプ:ユーザーインターフェース、システム間インターフェース、ハードウェアインターフェース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175504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5257800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248656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インタビュー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5239512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質問と回答記録でビジネス分析情報を取得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42832" y="5239512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2種類:構造化（事前定義の質問）、非構造化/半構造化（自由な対話）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2881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7707C"/>
                </a:solidFill>
                <a:latin typeface="Yu Gothic"/>
              </a:rPr>
              <a:t>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Yu Gothic"/>
              </a:rPr>
              <a:t>中級Planner認定｜記憶用スライド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50技術｜26–30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146304"/>
            <a:ext cx="1143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Yu Gothic"/>
              </a:rPr>
              <a:t>50技術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1155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7707C"/>
                </a:solidFill>
                <a:latin typeface="Yu Gothic"/>
              </a:rPr>
              <a:t>目的先行：技术名 → 目的 → 关键词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78992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161288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152144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プロジェクト追跡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143000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プロジェクトの進捗と成果物の状態を追跡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42832" y="1143000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03120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185415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176272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レッスンラーンド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167127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プロセス/プロジェクトの学習と改善に使用するテクニック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2832" y="2167127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27248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209544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200400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メトリクス＆KPI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191256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ソリューション/コンポーネントのパフォーマンスを測定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2832" y="3191256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要素:指標（測定値）、KPI（重要な指標）、目標値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151376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233672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224528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マインドマップ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4215384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思想・アイデア・情報を非線形図で表現・捕捉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4215384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構造:中心の主要思想→二次的思想→階層的な下位思想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175504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5257800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248656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非機能要件分析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5239512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機能要件がどの程度うまく実行されなければならないかを定義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42832" y="5239512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要素:パフォーマンス、セキュリティ、可用性、信頼性、保守性等 / ポイント:測定可能で、機能要件に制約を課す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2881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7707C"/>
                </a:solidFill>
                <a:latin typeface="Yu Gothic"/>
              </a:rPr>
              <a:t>27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Yu Gothic"/>
              </a:rPr>
              <a:t>中級Planner認定｜記憶用スライド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50技術｜31–35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146304"/>
            <a:ext cx="1143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Yu Gothic"/>
              </a:rPr>
              <a:t>50技術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1155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7707C"/>
                </a:solidFill>
                <a:latin typeface="Yu Gothic"/>
              </a:rPr>
              <a:t>目的先行：技术名 → 目的 → 关键词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78992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161288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152144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観察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143000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作業環境のステークホルダーを調査・分析して要求を引き出す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42832" y="1143000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2種類:パッシブ観察（見るだけ）、アクティブ観察（質問しながら）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03120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185415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176272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組織モデリング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167127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組織の役割・責任・報告構造を記述し目標と整合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2832" y="2167127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要素:組織図、役割定義、報告ライン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27248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209544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200400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優先順位付け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191256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項目の相対的重要度を決定し対処順序を決める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2832" y="3191256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手法:MoSCoW（Must/Should/Could/Won't）、投票、コスト便益比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151376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233672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34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224528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プロセス分析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4215384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プロセスの現状を理解し改善機会を特定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4215384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要素:As-Is分析、ボトルネック特定、無駄の除去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175504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5257800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35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248656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プロセス・モデリング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5239512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プロセスと影響要素を図と支援情報で表現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42832" y="5239512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表記法:フローチャート、BPMN等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2881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7707C"/>
                </a:solidFill>
                <a:latin typeface="Yu Gothic"/>
              </a:rPr>
              <a:t>28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Yu Gothic"/>
              </a:rPr>
              <a:t>中級Planner認定｜記憶用スライド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50技術｜36–40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146304"/>
            <a:ext cx="1143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Yu Gothic"/>
              </a:rPr>
              <a:t>50技術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1155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7707C"/>
                </a:solidFill>
                <a:latin typeface="Yu Gothic"/>
              </a:rPr>
              <a:t>目的先行：技术名 → 目的 → 关键词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78992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161288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152144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プロトタイプ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143000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ソリューションを部分的に模擬して要求を引き出し/検証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42832" y="1143000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3種類:使い捨て型、進化型、水平/垂直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03120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185415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176272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レビュー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167127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ワークプロダクトの内容を評価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2832" y="2167127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種類:インスペクション（公式）、ウォークスルー（非公式）、ビアレビュー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27248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209544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200400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リスク分析と管理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191256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価値に負の影響を及ぼす不確実性を特定・分析・評価し対応策を策定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2832" y="3191256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流れ:リスク特定→分析→評価→対応策→監視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151376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233672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39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224528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ロール＆パーミッションマトリクス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4215384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ユーザー役割とアクセス権限の対応を定義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4215384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ポイント:RACIマトリクスの派生。CRUDマトリクスと組み合わせ可能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175504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5257800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40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248656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根本原因分析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5239512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問題の潜在的な原因を特定・評価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42832" y="5239512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手法:5Why、フィッシュボーン図、Pareto分析 / 原因の種類:人員、物理、組織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2881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7707C"/>
                </a:solidFill>
                <a:latin typeface="Yu Gothic"/>
              </a:rPr>
              <a:t>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Yu Gothic"/>
              </a:rPr>
              <a:t>中級Planner認定｜記憶用スライド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50技術｜41–45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146304"/>
            <a:ext cx="1143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Yu Gothic"/>
              </a:rPr>
              <a:t>50技術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1155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7707C"/>
                </a:solidFill>
                <a:latin typeface="Yu Gothic"/>
              </a:rPr>
              <a:t>目的先行：技术名 → 目的 → 关键词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78992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161288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152144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スコープ・モデリング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143000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業務領域/ソリューションの境界を定義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42832" y="1143000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表現:内部/外部、含む/含まない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03120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185415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176272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シーケンス図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167127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シナリオ実行時のオブジェクト間メッセージで使用シナリオの論理をモデリング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2832" y="2167127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要素:ライフライン、メッセージ、アクティベーション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27248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209544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43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200400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ステークホルダー・リスト/マップ/ペルソナ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191256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ステークホルダーとその特徴を分析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2832" y="3191256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要素:リスト（一覧）、マップ（影響度/関心度）、ペルソナ（人物像）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151376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233672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44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224528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状態モデリング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4215384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エンティティーの可能な状態と状態遷移を記述・分析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4215384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要素:状態の集合、遷移順序、遷移トリガー（イベント/条件）、各状態での動作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175504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5257800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45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248656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調査・アンケート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5239512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短時間で構造化された方法で多数人から情報収集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42832" y="5239512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質問タイプ:閉じた形式（選択式）、開いた形式（自由記述）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2881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7707C"/>
                </a:solidFill>
                <a:latin typeface="Yu Gothic"/>
              </a:rPr>
              <a:t>30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Yu Gothic"/>
              </a:rPr>
              <a:t>中級Planner認定｜記憶用スライド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50技術｜46–50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146304"/>
            <a:ext cx="1143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Yu Gothic"/>
              </a:rPr>
              <a:t>50技術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1155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7707C"/>
                </a:solidFill>
                <a:latin typeface="Yu Gothic"/>
              </a:rPr>
              <a:t>目的先行：技术名 → 目的 → 关键词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78992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161288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152144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SWOT分析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69080" y="1143000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組織の強み・弱み・機会・脅威を評価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42832" y="1143000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ポイント:内部（S/W）×外部（O/T）の4象限。言語は簡短・具体・現実的・証拠付き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103120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185415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176272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ユースケース＆シナリオ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69080" y="2167127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アクターとソリューションの相互作用を記述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42832" y="2167127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要素:主系列（正常フロー）、代替系列、例外系列、前提条件、事後条件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127248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" y="3209544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48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200400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ユーザーストーリー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69080" y="3191256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ステークホルダーに価値を提供する機能/品質を簡潔に記述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2832" y="3191256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形式:[誰]として、[何]をしたい。なぜなら[理由]だから。（As a [role], I want [goal], so that [benefit]）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151376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4233672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49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224528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サプライヤー評価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4215384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ソリューション/サービスの提供候補を評価・選択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4215384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評価基準:機能適合性、コスト、経験、評判、財務安定性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175504"/>
            <a:ext cx="11155680" cy="8686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5257800"/>
            <a:ext cx="56692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2D67AF"/>
                </a:solidFill>
                <a:latin typeface="Yu Gothic"/>
              </a:rPr>
              <a:t>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248656"/>
            <a:ext cx="27889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52B34"/>
                </a:solidFill>
                <a:latin typeface="Yu Gothic"/>
              </a:rPr>
              <a:t>ワークショップ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5239512"/>
            <a:ext cx="475488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50" b="0">
                <a:solidFill>
                  <a:srgbClr val="252B34"/>
                </a:solidFill>
                <a:latin typeface="Yu Gothic"/>
              </a:rPr>
              <a:t>主要ステークホルダーがファシリテーション付きで共同作業し規定ゴールを達成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42832" y="5239512"/>
            <a:ext cx="2514600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ポイント:熟練した中立のファシリテーターが必須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2881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7707C"/>
                </a:solidFill>
                <a:latin typeface="Yu Gothic"/>
              </a:rPr>
              <a:t>31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Yu Gothic"/>
              </a:rPr>
              <a:t>中級Planner認定｜記憶用スライド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重要20技術｜直前優先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146304"/>
            <a:ext cx="1143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Yu Gothic"/>
              </a:rPr>
              <a:t>50技術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1155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7707C"/>
                </a:solidFill>
                <a:latin typeface="Yu Gothic"/>
              </a:rPr>
              <a:t>先掌握这20项的目的，覆盖报告和高频考点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5943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2D67AF"/>
                </a:solidFill>
                <a:latin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05156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52B34"/>
                </a:solidFill>
                <a:latin typeface="Yu Gothic"/>
              </a:rPr>
              <a:t>アクセプタンス＆評価基準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051560"/>
            <a:ext cx="1920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アクセプタンス基準はソリューションが受け入れ可能となる最低条件を定義。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59" y="1051560"/>
            <a:ext cx="5943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2D67AF"/>
                </a:solidFill>
                <a:latin typeface="Yu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05156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52B34"/>
                </a:solidFill>
                <a:latin typeface="Yu Gothic"/>
              </a:rPr>
              <a:t>バックログ管理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29800" y="1051560"/>
            <a:ext cx="1920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残作業項目の記録・追跡・優先順位付け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554480"/>
            <a:ext cx="5943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2D67AF"/>
                </a:solidFill>
                <a:latin typeface="Yu Gothi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155448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52B34"/>
                </a:solidFill>
                <a:latin typeface="Yu Gothic"/>
              </a:rPr>
              <a:t>バランススコアカード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1554480"/>
            <a:ext cx="1920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ビジネスモデル・組織構造・業務プロセスのパフォーマンス管理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1554480"/>
            <a:ext cx="5943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2D67AF"/>
                </a:solidFill>
                <a:latin typeface="Yu Gothic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155448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52B34"/>
                </a:solidFill>
                <a:latin typeface="Yu Gothic"/>
              </a:rPr>
              <a:t>ベンチマーク＆市場分析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1554480"/>
            <a:ext cx="1920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組織の能力を他社/市場と比較して改善機会を特定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057400"/>
            <a:ext cx="5943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2D67AF"/>
                </a:solidFill>
                <a:latin typeface="Yu Gothic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20574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52B34"/>
                </a:solidFill>
                <a:latin typeface="Yu Gothic"/>
              </a:rPr>
              <a:t>ビジネス・ケース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2057400"/>
            <a:ext cx="1920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提案ソリューションの便益をコスト等と比較して行動を論証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59" y="2057400"/>
            <a:ext cx="5943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2D67AF"/>
                </a:solidFill>
                <a:latin typeface="Yu Gothic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0574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52B34"/>
                </a:solidFill>
                <a:latin typeface="Yu Gothic"/>
              </a:rPr>
              <a:t>ビジネスモデルキャンバス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057400"/>
            <a:ext cx="1920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企業が顧客に価値をどう創造・提供・獲得するかを記述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2560320"/>
            <a:ext cx="5943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2D67AF"/>
                </a:solidFill>
                <a:latin typeface="Yu Gothic"/>
              </a:rPr>
              <a:t>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256032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52B34"/>
                </a:solidFill>
                <a:latin typeface="Yu Gothic"/>
              </a:rPr>
              <a:t>インタビュー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2560320"/>
            <a:ext cx="1920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質問と回答記録でビジネス分析情報を取得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2560320"/>
            <a:ext cx="5943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2D67AF"/>
                </a:solidFill>
                <a:latin typeface="Yu Gothic"/>
              </a:rPr>
              <a:t>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56032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52B34"/>
                </a:solidFill>
                <a:latin typeface="Yu Gothic"/>
              </a:rPr>
              <a:t>メトリクス＆KPI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2560320"/>
            <a:ext cx="1920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ソリューション/コンポーネントのパフォーマンスを測定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3063240"/>
            <a:ext cx="5943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2D67AF"/>
                </a:solidFill>
                <a:latin typeface="Yu Gothic"/>
              </a:rPr>
              <a:t>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306324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52B34"/>
                </a:solidFill>
                <a:latin typeface="Yu Gothic"/>
              </a:rPr>
              <a:t>非機能要件分析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3063240"/>
            <a:ext cx="1920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機能要件がどの程度うまく実行されなければならないかを定義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59" y="3063240"/>
            <a:ext cx="5943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2D67AF"/>
                </a:solidFill>
                <a:latin typeface="Yu Gothic"/>
              </a:rPr>
              <a:t>33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06324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52B34"/>
                </a:solidFill>
                <a:latin typeface="Yu Gothic"/>
              </a:rPr>
              <a:t>優先順位付け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9800" y="3063240"/>
            <a:ext cx="1920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項目の相対的重要度を決定し対処順序を決める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3566160"/>
            <a:ext cx="5943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2D67AF"/>
                </a:solidFill>
                <a:latin typeface="Yu Gothic"/>
              </a:rPr>
              <a:t>35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356616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52B34"/>
                </a:solidFill>
                <a:latin typeface="Yu Gothic"/>
              </a:rPr>
              <a:t>プロセス・モデリング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23360" y="3566160"/>
            <a:ext cx="1920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プロセスと影響要素を図と支援情報で表現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59" y="3566160"/>
            <a:ext cx="5943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2D67AF"/>
                </a:solidFill>
                <a:latin typeface="Yu Gothic"/>
              </a:rPr>
              <a:t>36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356616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52B34"/>
                </a:solidFill>
                <a:latin typeface="Yu Gothic"/>
              </a:rPr>
              <a:t>プロトタイプ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29800" y="3566160"/>
            <a:ext cx="1920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ソリューションを部分的に模擬して要求を引き出し/検証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4069080"/>
            <a:ext cx="5943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2D67AF"/>
                </a:solidFill>
                <a:latin typeface="Yu Gothic"/>
              </a:rPr>
              <a:t>38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406908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52B34"/>
                </a:solidFill>
                <a:latin typeface="Yu Gothic"/>
              </a:rPr>
              <a:t>リスク分析と管理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23360" y="4069080"/>
            <a:ext cx="1920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価値に負の影響を及ぼす不確実性を特定・分析・評価し対応策を策定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59" y="4069080"/>
            <a:ext cx="5943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2D67AF"/>
                </a:solidFill>
                <a:latin typeface="Yu Gothic"/>
              </a:rPr>
              <a:t>40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406908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52B34"/>
                </a:solidFill>
                <a:latin typeface="Yu Gothic"/>
              </a:rPr>
              <a:t>根本原因分析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29800" y="4069080"/>
            <a:ext cx="1920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問題の潜在的な原因を特定・評価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4572000"/>
            <a:ext cx="5943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2D67AF"/>
                </a:solidFill>
                <a:latin typeface="Yu Gothic"/>
              </a:rPr>
              <a:t>41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" y="45720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52B34"/>
                </a:solidFill>
                <a:latin typeface="Yu Gothic"/>
              </a:rPr>
              <a:t>スコープ・モデリング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023360" y="4572000"/>
            <a:ext cx="1920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業務領域/ソリューションの境界を定義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59" y="4572000"/>
            <a:ext cx="5943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2D67AF"/>
                </a:solidFill>
                <a:latin typeface="Yu Gothic"/>
              </a:rPr>
              <a:t>43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0" y="457200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52B34"/>
                </a:solidFill>
                <a:latin typeface="Yu Gothic"/>
              </a:rPr>
              <a:t>ステークホルダー・リスト/マップ/ペルソナ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29800" y="4572000"/>
            <a:ext cx="1920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ステークホルダーとその特徴を分析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5074920"/>
            <a:ext cx="5943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2D67AF"/>
                </a:solidFill>
                <a:latin typeface="Yu Gothic"/>
              </a:rPr>
              <a:t>46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3000" y="507492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52B34"/>
                </a:solidFill>
                <a:latin typeface="Yu Gothic"/>
              </a:rPr>
              <a:t>SWOT分析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023360" y="5074920"/>
            <a:ext cx="1920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組織の強み・弱み・機会・脅威を評価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9359" y="5074920"/>
            <a:ext cx="5943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2D67AF"/>
                </a:solidFill>
                <a:latin typeface="Yu Gothic"/>
              </a:rPr>
              <a:t>47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49440" y="507492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52B34"/>
                </a:solidFill>
                <a:latin typeface="Yu Gothic"/>
              </a:rPr>
              <a:t>ユースケース＆シナリオ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29800" y="5074920"/>
            <a:ext cx="1920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アクターとソリューションの相互作用を記述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02920" y="5577840"/>
            <a:ext cx="5943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2D67AF"/>
                </a:solidFill>
                <a:latin typeface="Yu Gothic"/>
              </a:rPr>
              <a:t>48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43000" y="557784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52B34"/>
                </a:solidFill>
                <a:latin typeface="Yu Gothic"/>
              </a:rPr>
              <a:t>ユーザーストーリー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023360" y="5577840"/>
            <a:ext cx="1920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ステークホルダーに価値を提供する機能/品質を簡潔に記述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9359" y="5577840"/>
            <a:ext cx="5943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2D67AF"/>
                </a:solidFill>
                <a:latin typeface="Yu Gothic"/>
              </a:rPr>
              <a:t>50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49440" y="5577840"/>
            <a:ext cx="28346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50" b="1">
                <a:solidFill>
                  <a:srgbClr val="252B34"/>
                </a:solidFill>
                <a:latin typeface="Yu Gothic"/>
              </a:rPr>
              <a:t>ワークショップ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829800" y="5577840"/>
            <a:ext cx="1920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50" b="0">
                <a:solidFill>
                  <a:srgbClr val="67707C"/>
                </a:solidFill>
                <a:latin typeface="Yu Gothic"/>
              </a:rPr>
              <a:t>主要ステークホルダーがファシリテーション付きで共同作業し規定ゴールを達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881360" y="652881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7707C"/>
                </a:solidFill>
                <a:latin typeface="Yu Gothic"/>
              </a:rPr>
              <a:t>32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1480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Yu Gothic"/>
              </a:rPr>
              <a:t>中級Planner認定｜記憶用スライド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技術 ↔ 用語｜対応を覚える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146304"/>
            <a:ext cx="1143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Yu Gothic"/>
              </a:rPr>
              <a:t>対応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1155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7707C"/>
                </a:solidFill>
                <a:latin typeface="Yu Gothic"/>
              </a:rPr>
              <a:t>“哪个技术用哪个概念”——用成对记忆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97280"/>
            <a:ext cx="5257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207007"/>
            <a:ext cx="21488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根本原因分析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207007"/>
            <a:ext cx="2788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2D67AF"/>
                </a:solidFill>
                <a:latin typeface="Yu Gothic"/>
              </a:rPr>
              <a:t>→ フィッシュボーン／特性要因図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97280"/>
            <a:ext cx="5257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207007"/>
            <a:ext cx="21488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プロセス・モデリング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1207007"/>
            <a:ext cx="2788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2D67AF"/>
                </a:solidFill>
                <a:latin typeface="Yu Gothic"/>
              </a:rPr>
              <a:t>→ スイムレーン／イベント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057400"/>
            <a:ext cx="5257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2167128"/>
            <a:ext cx="21488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プロトタイピング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167128"/>
            <a:ext cx="2788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2D67AF"/>
                </a:solidFill>
                <a:latin typeface="Yu Gothic"/>
              </a:rPr>
              <a:t>→ 使い捨て／進化／水平／垂直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057400"/>
            <a:ext cx="5257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2167128"/>
            <a:ext cx="21488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データ・モデリング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167128"/>
            <a:ext cx="2788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2D67AF"/>
                </a:solidFill>
                <a:latin typeface="Yu Gothic"/>
              </a:rPr>
              <a:t>→ ER図／CRUDマトリクス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017520"/>
            <a:ext cx="5257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127248"/>
            <a:ext cx="21488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インタビュー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127248"/>
            <a:ext cx="2788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2D67AF"/>
                </a:solidFill>
                <a:latin typeface="Yu Gothic"/>
              </a:rPr>
              <a:t>→ ステークホルダー／アクター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017520"/>
            <a:ext cx="5257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3127248"/>
            <a:ext cx="21488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メトリクス＆KPI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127248"/>
            <a:ext cx="2788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2D67AF"/>
                </a:solidFill>
                <a:latin typeface="Yu Gothic"/>
              </a:rPr>
              <a:t>→ 受け入れ基準／ROI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977640"/>
            <a:ext cx="5257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4087368"/>
            <a:ext cx="21488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スコープ・モデリング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087368"/>
            <a:ext cx="2788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2D67AF"/>
                </a:solidFill>
                <a:latin typeface="Yu Gothic"/>
              </a:rPr>
              <a:t>→ ソリューション・スコープ／コンテキスト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3977640"/>
            <a:ext cx="5257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4087368"/>
            <a:ext cx="21488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ビジネスルール分析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0" y="4087368"/>
            <a:ext cx="2788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2D67AF"/>
                </a:solidFill>
                <a:latin typeface="Yu Gothic"/>
              </a:rPr>
              <a:t>→ ビジネス・ポリシー／制約条件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4937760"/>
            <a:ext cx="5257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" y="5047488"/>
            <a:ext cx="21488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ユースケース＆シナリオ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5047488"/>
            <a:ext cx="2788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2D67AF"/>
                </a:solidFill>
                <a:latin typeface="Yu Gothic"/>
              </a:rPr>
              <a:t>→ ユースケース／アクター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937760"/>
            <a:ext cx="525780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5047488"/>
            <a:ext cx="21488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52B34"/>
                </a:solidFill>
                <a:latin typeface="Yu Gothic"/>
              </a:rPr>
              <a:t>レビュー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5047488"/>
            <a:ext cx="2788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>
                <a:solidFill>
                  <a:srgbClr val="2D67AF"/>
                </a:solidFill>
                <a:latin typeface="Yu Gothic"/>
              </a:rPr>
              <a:t>→ ウォークスルー／ビア・レビュー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52881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7707C"/>
                </a:solidFill>
                <a:latin typeface="Yu Gothic"/>
              </a:rPr>
              <a:t>33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Yu Gothic"/>
              </a:rPr>
              <a:t>中級Planner認定｜記憶用スライド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特別暗記｜バランススコアカード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146304"/>
            <a:ext cx="1143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Yu Gothic"/>
              </a:rPr>
              <a:t>応用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1155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7707C"/>
                </a:solidFill>
                <a:latin typeface="Yu Gothic"/>
              </a:rPr>
              <a:t>学习与成长 → 流程 → 顾客 → 财务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54480"/>
            <a:ext cx="2560320" cy="283464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54480"/>
            <a:ext cx="73152" cy="2834640"/>
          </a:xfrm>
          <a:prstGeom prst="rect">
            <a:avLst/>
          </a:prstGeom>
          <a:solidFill>
            <a:srgbClr val="447E56"/>
          </a:solidFill>
          <a:ln>
            <a:solidFill>
              <a:srgbClr val="447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64207"/>
            <a:ext cx="224027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252B34"/>
                </a:solidFill>
                <a:latin typeface="Yu Gothic"/>
              </a:rPr>
              <a:t>学習と成長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48256"/>
            <a:ext cx="2240279" cy="22585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52B34"/>
                </a:solidFill>
                <a:latin typeface="Yu Gothic"/>
              </a:rPr>
              <a:t>能力・動機
従業員満足度／資格者数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554480"/>
            <a:ext cx="2560320" cy="283464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554480"/>
            <a:ext cx="73152" cy="2834640"/>
          </a:xfrm>
          <a:prstGeom prst="rect">
            <a:avLst/>
          </a:prstGeom>
          <a:solidFill>
            <a:srgbClr val="2D67AF"/>
          </a:solidFill>
          <a:ln>
            <a:solidFill>
              <a:srgbClr val="2D6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664207"/>
            <a:ext cx="224027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252B34"/>
                </a:solidFill>
                <a:latin typeface="Yu Gothic"/>
              </a:rPr>
              <a:t>業務プロセス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048256"/>
            <a:ext cx="2240279" cy="22585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52B34"/>
                </a:solidFill>
                <a:latin typeface="Yu Gothic"/>
              </a:rPr>
              <a:t>效率与质量
LT／不良率／响应时间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554480"/>
            <a:ext cx="2560320" cy="283464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5080" y="1554480"/>
            <a:ext cx="73152" cy="2834640"/>
          </a:xfrm>
          <a:prstGeom prst="rect">
            <a:avLst/>
          </a:prstGeom>
          <a:solidFill>
            <a:srgbClr val="B4872D"/>
          </a:solidFill>
          <a:ln>
            <a:solidFill>
              <a:srgbClr val="B4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664207"/>
            <a:ext cx="224027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252B34"/>
                </a:solidFill>
                <a:latin typeface="Yu Gothic"/>
              </a:rPr>
              <a:t>顧客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048256"/>
            <a:ext cx="2240279" cy="22585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52B34"/>
                </a:solidFill>
                <a:latin typeface="Yu Gothic"/>
              </a:rPr>
              <a:t>满意与复购
満足度／シェア／リピート率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554480"/>
            <a:ext cx="2560320" cy="283464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1554480"/>
            <a:ext cx="73152" cy="2834640"/>
          </a:xfrm>
          <a:prstGeom prst="rect">
            <a:avLst/>
          </a:prstGeom>
          <a:solidFill>
            <a:srgbClr val="B43237"/>
          </a:solidFill>
          <a:ln>
            <a:solidFill>
              <a:srgbClr val="B43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19" y="1664207"/>
            <a:ext cx="224027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700" b="1">
                <a:solidFill>
                  <a:srgbClr val="252B34"/>
                </a:solidFill>
                <a:latin typeface="Yu Gothic"/>
              </a:rPr>
              <a:t>財務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19" y="2048256"/>
            <a:ext cx="2240279" cy="22585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252B34"/>
                </a:solidFill>
                <a:latin typeface="Yu Gothic"/>
              </a:rPr>
              <a:t>财务成果
売上／利益率／ROE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983480"/>
            <a:ext cx="1014984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100" b="1">
                <a:solidFill>
                  <a:srgbClr val="1A2A44"/>
                </a:solidFill>
                <a:latin typeface="Yu Gothic"/>
              </a:rPr>
              <a:t>因果链：学習と成長 → 業務プロセス → 顧客 → 財務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52881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7707C"/>
                </a:solidFill>
                <a:latin typeface="Yu Gothic"/>
              </a:rPr>
              <a:t>34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Yu Gothic"/>
              </a:rPr>
              <a:t>中級Planner認定｜記憶用スライド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特別暗記｜ビジネスモデルキャンバス9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146304"/>
            <a:ext cx="1143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Yu Gothic"/>
              </a:rPr>
              <a:t>応用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1155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7707C"/>
                </a:solidFill>
                <a:latin typeface="Yu Gothic"/>
              </a:rPr>
              <a:t>按价值主张为中心，左右记客户与基础设施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3474720" cy="105156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73152" cy="1051560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52728"/>
            <a:ext cx="315467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52B34"/>
                </a:solidFill>
                <a:latin typeface="Yu Gothic"/>
              </a:rPr>
              <a:t>主要パートナー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636776"/>
            <a:ext cx="3154679" cy="47548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52B34"/>
                </a:solidFill>
                <a:latin typeface="Yu Gothic"/>
              </a:rPr>
              <a:t>伙伴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143000"/>
            <a:ext cx="3474720" cy="105156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143000"/>
            <a:ext cx="73152" cy="1051560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252728"/>
            <a:ext cx="315467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52B34"/>
                </a:solidFill>
                <a:latin typeface="Yu Gothic"/>
              </a:rPr>
              <a:t>主要活動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636776"/>
            <a:ext cx="3154679" cy="47548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52B34"/>
                </a:solidFill>
                <a:latin typeface="Yu Gothic"/>
              </a:rPr>
              <a:t>活动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1143000"/>
            <a:ext cx="3474720" cy="105156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80" y="1143000"/>
            <a:ext cx="73152" cy="1051560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252728"/>
            <a:ext cx="315467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52B34"/>
                </a:solidFill>
                <a:latin typeface="Yu Gothic"/>
              </a:rPr>
              <a:t>主要リソース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636776"/>
            <a:ext cx="3154679" cy="47548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52B34"/>
                </a:solidFill>
                <a:latin typeface="Yu Gothic"/>
              </a:rPr>
              <a:t>资源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560320"/>
            <a:ext cx="3474720" cy="105156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560320"/>
            <a:ext cx="73152" cy="1051560"/>
          </a:xfrm>
          <a:prstGeom prst="rect">
            <a:avLst/>
          </a:prstGeom>
          <a:solidFill>
            <a:srgbClr val="2D67AF"/>
          </a:solidFill>
          <a:ln>
            <a:solidFill>
              <a:srgbClr val="2D6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670048"/>
            <a:ext cx="315467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52B34"/>
                </a:solidFill>
                <a:latin typeface="Yu Gothic"/>
              </a:rPr>
              <a:t>価値提案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054096"/>
            <a:ext cx="3154679" cy="47548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52B34"/>
                </a:solidFill>
                <a:latin typeface="Yu Gothic"/>
              </a:rPr>
              <a:t>价值主张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2560320"/>
            <a:ext cx="3474720" cy="105156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2560320"/>
            <a:ext cx="73152" cy="1051560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2670048"/>
            <a:ext cx="315467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52B34"/>
                </a:solidFill>
                <a:latin typeface="Yu Gothic"/>
              </a:rPr>
              <a:t>顧客との関係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054096"/>
            <a:ext cx="3154679" cy="47548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52B34"/>
                </a:solidFill>
                <a:latin typeface="Yu Gothic"/>
              </a:rPr>
              <a:t>客户关系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80" y="2560320"/>
            <a:ext cx="3474720" cy="105156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83880" y="2560320"/>
            <a:ext cx="73152" cy="1051560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66760" y="2670048"/>
            <a:ext cx="315467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52B34"/>
                </a:solidFill>
                <a:latin typeface="Yu Gothic"/>
              </a:rPr>
              <a:t>チャネル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054096"/>
            <a:ext cx="3154679" cy="47548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52B34"/>
                </a:solidFill>
                <a:latin typeface="Yu Gothic"/>
              </a:rPr>
              <a:t>渠道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977639"/>
            <a:ext cx="3474720" cy="105156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3977639"/>
            <a:ext cx="73152" cy="1051560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4087368"/>
            <a:ext cx="315467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52B34"/>
                </a:solidFill>
                <a:latin typeface="Yu Gothic"/>
              </a:rPr>
              <a:t>顧客セグメント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471416"/>
            <a:ext cx="3154679" cy="47548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52B34"/>
                </a:solidFill>
                <a:latin typeface="Yu Gothic"/>
              </a:rPr>
              <a:t>客户细分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3977639"/>
            <a:ext cx="3474720" cy="105156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43400" y="3977639"/>
            <a:ext cx="73152" cy="1051560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26280" y="4087368"/>
            <a:ext cx="315467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52B34"/>
                </a:solidFill>
                <a:latin typeface="Yu Gothic"/>
              </a:rPr>
              <a:t>コスト構造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4471416"/>
            <a:ext cx="3154679" cy="47548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52B34"/>
                </a:solidFill>
                <a:latin typeface="Yu Gothic"/>
              </a:rPr>
              <a:t>成本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83880" y="3977639"/>
            <a:ext cx="3474720" cy="105156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83880" y="3977639"/>
            <a:ext cx="73152" cy="1051560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66760" y="4087368"/>
            <a:ext cx="3154679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252B34"/>
                </a:solidFill>
                <a:latin typeface="Yu Gothic"/>
              </a:rPr>
              <a:t>収益の流れ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4471416"/>
            <a:ext cx="3154679" cy="47548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0">
                <a:solidFill>
                  <a:srgbClr val="252B34"/>
                </a:solidFill>
                <a:latin typeface="Yu Gothic"/>
              </a:rPr>
              <a:t>收入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23560"/>
            <a:ext cx="103327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1">
                <a:solidFill>
                  <a:srgbClr val="B43237"/>
                </a:solidFill>
                <a:latin typeface="Yu Gothic"/>
              </a:rPr>
              <a:t>口诀：伙伴・活动・资源｜价值主张｜关系・渠道・客户｜成本・收入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652881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7707C"/>
                </a:solidFill>
                <a:latin typeface="Yu Gothic"/>
              </a:rPr>
              <a:t>35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Yu Gothic"/>
              </a:rPr>
              <a:t>中級Planner認定｜記憶用スライド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特別暗記｜RACI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146304"/>
            <a:ext cx="1143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Yu Gothic"/>
              </a:rPr>
              <a:t>応用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1155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7707C"/>
                </a:solidFill>
                <a:latin typeface="Yu Gothic"/>
              </a:rPr>
              <a:t>报告推进体制与合意形成的基本框架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63040"/>
            <a:ext cx="2560320" cy="33832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737360"/>
            <a:ext cx="100584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3800" b="1">
                <a:solidFill>
                  <a:srgbClr val="2D67AF"/>
                </a:solidFill>
                <a:latin typeface="Yu Gothic"/>
              </a:rPr>
              <a:t>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21945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52B34"/>
                </a:solidFill>
                <a:latin typeface="Yu Gothic"/>
              </a:rPr>
              <a:t>Responsible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21945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A2A44"/>
                </a:solidFill>
                <a:latin typeface="Yu Gothic"/>
              </a:rPr>
              <a:t>実行責任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22191"/>
            <a:ext cx="21945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67707C"/>
                </a:solidFill>
                <a:latin typeface="Yu Gothic"/>
              </a:rPr>
              <a:t>谁实际做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463040"/>
            <a:ext cx="2560320" cy="33832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59" y="1737360"/>
            <a:ext cx="100584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3800" b="1">
                <a:solidFill>
                  <a:srgbClr val="B43237"/>
                </a:solidFill>
                <a:latin typeface="Yu Gothic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606040"/>
            <a:ext cx="21945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52B34"/>
                </a:solidFill>
                <a:latin typeface="Yu Gothic"/>
              </a:rPr>
              <a:t>Accountable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154680"/>
            <a:ext cx="21945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A2A44"/>
                </a:solidFill>
                <a:latin typeface="Yu Gothic"/>
              </a:rPr>
              <a:t>説明責任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822191"/>
            <a:ext cx="21945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67707C"/>
                </a:solidFill>
                <a:latin typeface="Yu Gothic"/>
              </a:rPr>
              <a:t>谁最终负责/拍板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463040"/>
            <a:ext cx="2560320" cy="33832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0" y="1737360"/>
            <a:ext cx="100584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3800" b="1">
                <a:solidFill>
                  <a:srgbClr val="447E56"/>
                </a:solidFill>
                <a:latin typeface="Yu Gothic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606040"/>
            <a:ext cx="21945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52B34"/>
                </a:solidFill>
                <a:latin typeface="Yu Gothic"/>
              </a:rPr>
              <a:t>Consulted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154680"/>
            <a:ext cx="21945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A2A44"/>
                </a:solidFill>
                <a:latin typeface="Yu Gothic"/>
              </a:rPr>
              <a:t>協議先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822191"/>
            <a:ext cx="21945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67707C"/>
                </a:solidFill>
                <a:latin typeface="Yu Gothic"/>
              </a:rPr>
              <a:t>做前要咨询谁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1463040"/>
            <a:ext cx="2560320" cy="338328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12680" y="1737360"/>
            <a:ext cx="100584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3800" b="1">
                <a:solidFill>
                  <a:srgbClr val="B4872D"/>
                </a:solidFill>
                <a:latin typeface="Yu Gothic"/>
              </a:rPr>
              <a:t>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19" y="2606040"/>
            <a:ext cx="21945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>
                <a:solidFill>
                  <a:srgbClr val="252B34"/>
                </a:solidFill>
                <a:latin typeface="Yu Gothic"/>
              </a:rPr>
              <a:t>Informed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19" y="3154680"/>
            <a:ext cx="21945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>
                <a:solidFill>
                  <a:srgbClr val="1A2A44"/>
                </a:solidFill>
                <a:latin typeface="Yu Gothic"/>
              </a:rPr>
              <a:t>報告先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19" y="3822191"/>
            <a:ext cx="219456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0">
                <a:solidFill>
                  <a:srgbClr val="67707C"/>
                </a:solidFill>
                <a:latin typeface="Yu Gothic"/>
              </a:rPr>
              <a:t>结果要告知谁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52881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7707C"/>
                </a:solidFill>
                <a:latin typeface="Yu Gothic"/>
              </a:rPr>
              <a:t>36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Yu Gothic"/>
              </a:rPr>
              <a:t>中級Planner認定｜記憶用スライド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直前チェック｜1–5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146304"/>
            <a:ext cx="1143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Yu Gothic"/>
              </a:rPr>
              <a:t>直前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1155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7707C"/>
                </a:solidFill>
                <a:latin typeface="Yu Gothic"/>
              </a:rPr>
              <a:t>答えられない项だけ戻って复习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438912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170432"/>
            <a:ext cx="96926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252B34"/>
                </a:solidFill>
                <a:latin typeface="Yu Gothic"/>
              </a:rPr>
              <a:t>80語：日本語＋意味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438912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084831"/>
            <a:ext cx="96926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252B34"/>
                </a:solidFill>
                <a:latin typeface="Yu Gothic"/>
              </a:rPr>
              <a:t>重要20技術：目的を日本語で説明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438912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999232"/>
            <a:ext cx="96926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252B34"/>
                </a:solidFill>
                <a:latin typeface="Yu Gothic"/>
              </a:rPr>
              <a:t>検証 vs 妥当性確認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438912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913632"/>
            <a:ext cx="96926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252B34"/>
                </a:solidFill>
                <a:latin typeface="Yu Gothic"/>
              </a:rPr>
              <a:t>要求階層を図示（移行含む）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46320"/>
            <a:ext cx="438912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4828032"/>
            <a:ext cx="96926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252B34"/>
                </a:solidFill>
                <a:latin typeface="Yu Gothic"/>
              </a:rPr>
              <a:t>コア6を列挙/関係図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52881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7707C"/>
                </a:solidFill>
                <a:latin typeface="Yu Gothic"/>
              </a:rPr>
              <a:t>37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Yu Gothic"/>
              </a:rPr>
              <a:t>中級Planner認定｜記憶用スライド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直前チェック｜6–10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146304"/>
            <a:ext cx="1143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Yu Gothic"/>
              </a:rPr>
              <a:t>直前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1155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7707C"/>
                </a:solidFill>
                <a:latin typeface="Yu Gothic"/>
              </a:rPr>
              <a:t>答えられない项だけ戻って复习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438912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170432"/>
            <a:ext cx="96926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252B34"/>
                </a:solidFill>
                <a:latin typeface="Yu Gothic"/>
              </a:rPr>
              <a:t>RACI 4文字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103120"/>
            <a:ext cx="438912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2084831"/>
            <a:ext cx="96926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252B34"/>
                </a:solidFill>
                <a:latin typeface="Yu Gothic"/>
              </a:rPr>
              <a:t>予測型 vs 適応型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438912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999232"/>
            <a:ext cx="96926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252B34"/>
                </a:solidFill>
                <a:latin typeface="Yu Gothic"/>
              </a:rPr>
              <a:t>BSC 4視点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438912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17320" y="3913632"/>
            <a:ext cx="96926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252B34"/>
                </a:solidFill>
                <a:latin typeface="Yu Gothic"/>
              </a:rPr>
              <a:t>SWOT 4象限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46320"/>
            <a:ext cx="438912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17320" y="4828032"/>
            <a:ext cx="969264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800" b="1">
                <a:solidFill>
                  <a:srgbClr val="252B34"/>
                </a:solidFill>
                <a:latin typeface="Yu Gothic"/>
              </a:rPr>
              <a:t>BMC 9要素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52881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7707C"/>
                </a:solidFill>
                <a:latin typeface="Yu Gothic"/>
              </a:rPr>
              <a:t>38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Yu Gothic"/>
              </a:rPr>
              <a:t>中級Planner認定｜記憶用スライド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A2A44"/>
          </a:solidFill>
          <a:ln>
            <a:solidFill>
              <a:srgbClr val="1A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98755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Yu Gothic"/>
              </a:rPr>
              <a:t>最終1分まとめ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61320" y="146304"/>
            <a:ext cx="1143000" cy="31089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/>
            <a:r>
              <a:rPr sz="1000" b="1">
                <a:solidFill>
                  <a:srgbClr val="FFFFFF"/>
                </a:solidFill>
                <a:latin typeface="Yu Gothic"/>
              </a:rPr>
              <a:t>直前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40664"/>
            <a:ext cx="11155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7707C"/>
                </a:solidFill>
                <a:latin typeface="Yu Gothic"/>
              </a:rPr>
              <a:t>最后不是再看一遍，而是闭眼回忆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383280" cy="18288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73152" cy="1828800"/>
          </a:xfrm>
          <a:prstGeom prst="rect">
            <a:avLst/>
          </a:prstGeom>
          <a:solidFill>
            <a:srgbClr val="2D67AF"/>
          </a:solidFill>
          <a:ln>
            <a:solidFill>
              <a:srgbClr val="2D67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44168"/>
            <a:ext cx="3063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252B34"/>
                </a:solidFill>
                <a:latin typeface="Yu Gothic"/>
              </a:rPr>
              <a:t>名詞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28216"/>
            <a:ext cx="3063240" cy="1252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252B34"/>
                </a:solidFill>
                <a:latin typeface="Yu Gothic"/>
              </a:rPr>
              <a:t>80用語：7组地图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34440"/>
            <a:ext cx="3383280" cy="18288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34440"/>
            <a:ext cx="73152" cy="1828800"/>
          </a:xfrm>
          <a:prstGeom prst="rect">
            <a:avLst/>
          </a:prstGeom>
          <a:solidFill>
            <a:srgbClr val="447E56"/>
          </a:solidFill>
          <a:ln>
            <a:solidFill>
              <a:srgbClr val="447E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344168"/>
            <a:ext cx="3063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252B34"/>
                </a:solidFill>
                <a:latin typeface="Yu Gothic"/>
              </a:rPr>
              <a:t>技法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28216"/>
            <a:ext cx="3063240" cy="1252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252B34"/>
                </a:solidFill>
                <a:latin typeface="Yu Gothic"/>
              </a:rPr>
              <a:t>50技術：重要20优先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234440"/>
            <a:ext cx="3383280" cy="1828800"/>
          </a:xfrm>
          <a:prstGeom prst="roundRect">
            <a:avLst/>
          </a:prstGeom>
          <a:solidFill>
            <a:srgbClr val="EEF3F9"/>
          </a:solidFill>
          <a:ln w="12700">
            <a:solidFill>
              <a:srgbClr val="C8C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234440"/>
            <a:ext cx="73152" cy="1828800"/>
          </a:xfrm>
          <a:prstGeom prst="rect">
            <a:avLst/>
          </a:prstGeom>
          <a:solidFill>
            <a:srgbClr val="B4872D"/>
          </a:solidFill>
          <a:ln>
            <a:solidFill>
              <a:srgbClr val="B48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1344168"/>
            <a:ext cx="30632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>
                <a:solidFill>
                  <a:srgbClr val="252B34"/>
                </a:solidFill>
                <a:latin typeface="Yu Gothic"/>
              </a:rPr>
              <a:t>情境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1728216"/>
            <a:ext cx="3063240" cy="1252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252B34"/>
                </a:solidFill>
                <a:latin typeface="Yu Gothic"/>
              </a:rPr>
              <a:t>技術↔用語：成对使用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794760"/>
            <a:ext cx="105156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200" b="1">
                <a:solidFill>
                  <a:srgbClr val="B43237"/>
                </a:solidFill>
                <a:latin typeface="Yu Gothic"/>
              </a:rPr>
              <a:t>検証/妥当性｜予測/適応｜要求階層｜コア6｜原型4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09160"/>
            <a:ext cx="105156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000" b="1">
                <a:solidFill>
                  <a:srgbClr val="1A2A44"/>
                </a:solidFill>
                <a:latin typeface="Yu Gothic"/>
              </a:rPr>
              <a:t>BSC4｜SWOT4｜BMC9｜RACI4｜直前10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15000"/>
            <a:ext cx="1051560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600" b="0">
                <a:solidFill>
                  <a:srgbClr val="67707C"/>
                </a:solidFill>
                <a:latin typeface="Yu Gothic"/>
              </a:rPr>
              <a:t>答不出的一页，就是下一轮最值得复习的一页。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528816"/>
            <a:ext cx="7315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800" b="0">
                <a:solidFill>
                  <a:srgbClr val="67707C"/>
                </a:solidFill>
                <a:latin typeface="Yu Gothic"/>
              </a:rPr>
              <a:t>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528816"/>
            <a:ext cx="3657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800" b="0">
                <a:solidFill>
                  <a:srgbClr val="67707C"/>
                </a:solidFill>
                <a:latin typeface="Yu Gothic"/>
              </a:rPr>
              <a:t>中級Planner認定｜記憶用スライド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